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4"/>
  </p:sldMasterIdLst>
  <p:notesMasterIdLst>
    <p:notesMasterId r:id="rId15"/>
  </p:notesMasterIdLst>
  <p:sldIdLst>
    <p:sldId id="256" r:id="rId5"/>
    <p:sldId id="283" r:id="rId6"/>
    <p:sldId id="284" r:id="rId7"/>
    <p:sldId id="264" r:id="rId8"/>
    <p:sldId id="266" r:id="rId9"/>
    <p:sldId id="287" r:id="rId10"/>
    <p:sldId id="285" r:id="rId11"/>
    <p:sldId id="286" r:id="rId12"/>
    <p:sldId id="263" r:id="rId13"/>
    <p:sldId id="262" r:id="rId14"/>
  </p:sldIdLst>
  <p:sldSz cx="9144000" cy="5143500" type="screen16x9"/>
  <p:notesSz cx="6858000" cy="9144000"/>
  <p:embeddedFontLst>
    <p:embeddedFont>
      <p:font typeface="Roboto" panose="020000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357" autoAdjust="0"/>
  </p:normalViewPr>
  <p:slideViewPr>
    <p:cSldViewPr snapToGrid="0">
      <p:cViewPr varScale="1">
        <p:scale>
          <a:sx n="107" d="100"/>
          <a:sy n="107" d="100"/>
        </p:scale>
        <p:origin x="1008" y="7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325c34e8b66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6" name="Google Shape;46;g325c34e8b6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5f61e1cf2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8" name="Google Shape;78;g5f61e1cf2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5f61e1cf2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2" name="Google Shape;52;g5f61e1cf2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a:extLst>
            <a:ext uri="{FF2B5EF4-FFF2-40B4-BE49-F238E27FC236}">
              <a16:creationId xmlns:a16="http://schemas.microsoft.com/office/drawing/2014/main" id="{1178CA22-4533-D936-8FB4-17879885A69F}"/>
            </a:ext>
          </a:extLst>
        </p:cNvPr>
        <p:cNvGrpSpPr/>
        <p:nvPr/>
      </p:nvGrpSpPr>
      <p:grpSpPr>
        <a:xfrm>
          <a:off x="0" y="0"/>
          <a:ext cx="0" cy="0"/>
          <a:chOff x="0" y="0"/>
          <a:chExt cx="0" cy="0"/>
        </a:xfrm>
      </p:grpSpPr>
      <p:sp>
        <p:nvSpPr>
          <p:cNvPr id="52" name="Google Shape;52;g5f61e1cf29_0_31:notes">
            <a:extLst>
              <a:ext uri="{FF2B5EF4-FFF2-40B4-BE49-F238E27FC236}">
                <a16:creationId xmlns:a16="http://schemas.microsoft.com/office/drawing/2014/main" id="{C7325E6B-3257-C2E5-68F3-75496BF460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 name="Google Shape;53;g5f61e1cf29_0_31:notes">
            <a:extLst>
              <a:ext uri="{FF2B5EF4-FFF2-40B4-BE49-F238E27FC236}">
                <a16:creationId xmlns:a16="http://schemas.microsoft.com/office/drawing/2014/main" id="{5F8C3A14-B1C9-6800-DCF9-8BE91E9FFC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14124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a:extLst>
            <a:ext uri="{FF2B5EF4-FFF2-40B4-BE49-F238E27FC236}">
              <a16:creationId xmlns:a16="http://schemas.microsoft.com/office/drawing/2014/main" id="{E2BFC584-9975-6B23-40E2-3289390DE731}"/>
            </a:ext>
          </a:extLst>
        </p:cNvPr>
        <p:cNvGrpSpPr/>
        <p:nvPr/>
      </p:nvGrpSpPr>
      <p:grpSpPr>
        <a:xfrm>
          <a:off x="0" y="0"/>
          <a:ext cx="0" cy="0"/>
          <a:chOff x="0" y="0"/>
          <a:chExt cx="0" cy="0"/>
        </a:xfrm>
      </p:grpSpPr>
      <p:sp>
        <p:nvSpPr>
          <p:cNvPr id="52" name="Google Shape;52;g5f61e1cf29_0_31:notes">
            <a:extLst>
              <a:ext uri="{FF2B5EF4-FFF2-40B4-BE49-F238E27FC236}">
                <a16:creationId xmlns:a16="http://schemas.microsoft.com/office/drawing/2014/main" id="{EA182346-6809-B077-3B3A-37EF8DFDAE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 name="Google Shape;53;g5f61e1cf29_0_31:notes">
            <a:extLst>
              <a:ext uri="{FF2B5EF4-FFF2-40B4-BE49-F238E27FC236}">
                <a16:creationId xmlns:a16="http://schemas.microsoft.com/office/drawing/2014/main" id="{8158D2B2-A0B4-3216-3B0F-BA1BD7524F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24168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a:extLst>
            <a:ext uri="{FF2B5EF4-FFF2-40B4-BE49-F238E27FC236}">
              <a16:creationId xmlns:a16="http://schemas.microsoft.com/office/drawing/2014/main" id="{647904DB-9D96-4138-711B-3A0A27A82E5C}"/>
            </a:ext>
          </a:extLst>
        </p:cNvPr>
        <p:cNvGrpSpPr/>
        <p:nvPr/>
      </p:nvGrpSpPr>
      <p:grpSpPr>
        <a:xfrm>
          <a:off x="0" y="0"/>
          <a:ext cx="0" cy="0"/>
          <a:chOff x="0" y="0"/>
          <a:chExt cx="0" cy="0"/>
        </a:xfrm>
      </p:grpSpPr>
      <p:sp>
        <p:nvSpPr>
          <p:cNvPr id="52" name="Google Shape;52;g5f61e1cf29_0_31:notes">
            <a:extLst>
              <a:ext uri="{FF2B5EF4-FFF2-40B4-BE49-F238E27FC236}">
                <a16:creationId xmlns:a16="http://schemas.microsoft.com/office/drawing/2014/main" id="{6406223D-09F9-1F82-6628-D6B3EF5D3F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 name="Google Shape;53;g5f61e1cf29_0_31:notes">
            <a:extLst>
              <a:ext uri="{FF2B5EF4-FFF2-40B4-BE49-F238E27FC236}">
                <a16:creationId xmlns:a16="http://schemas.microsoft.com/office/drawing/2014/main" id="{378937D6-FCDF-8A93-4390-43B37FEF06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94481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a:extLst>
            <a:ext uri="{FF2B5EF4-FFF2-40B4-BE49-F238E27FC236}">
              <a16:creationId xmlns:a16="http://schemas.microsoft.com/office/drawing/2014/main" id="{2B1A601A-4D9C-D793-05EC-42D192C9C127}"/>
            </a:ext>
          </a:extLst>
        </p:cNvPr>
        <p:cNvGrpSpPr/>
        <p:nvPr/>
      </p:nvGrpSpPr>
      <p:grpSpPr>
        <a:xfrm>
          <a:off x="0" y="0"/>
          <a:ext cx="0" cy="0"/>
          <a:chOff x="0" y="0"/>
          <a:chExt cx="0" cy="0"/>
        </a:xfrm>
      </p:grpSpPr>
      <p:sp>
        <p:nvSpPr>
          <p:cNvPr id="52" name="Google Shape;52;g5f61e1cf29_0_31:notes">
            <a:extLst>
              <a:ext uri="{FF2B5EF4-FFF2-40B4-BE49-F238E27FC236}">
                <a16:creationId xmlns:a16="http://schemas.microsoft.com/office/drawing/2014/main" id="{F664C97E-80A0-C36E-B687-0775369563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 name="Google Shape;53;g5f61e1cf29_0_31:notes">
            <a:extLst>
              <a:ext uri="{FF2B5EF4-FFF2-40B4-BE49-F238E27FC236}">
                <a16:creationId xmlns:a16="http://schemas.microsoft.com/office/drawing/2014/main" id="{61F83348-9891-B3DF-4A2E-6E2AE5C27D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16118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a:extLst>
            <a:ext uri="{FF2B5EF4-FFF2-40B4-BE49-F238E27FC236}">
              <a16:creationId xmlns:a16="http://schemas.microsoft.com/office/drawing/2014/main" id="{176CA6F4-2636-5F79-F393-6F363FFE3D92}"/>
            </a:ext>
          </a:extLst>
        </p:cNvPr>
        <p:cNvGrpSpPr/>
        <p:nvPr/>
      </p:nvGrpSpPr>
      <p:grpSpPr>
        <a:xfrm>
          <a:off x="0" y="0"/>
          <a:ext cx="0" cy="0"/>
          <a:chOff x="0" y="0"/>
          <a:chExt cx="0" cy="0"/>
        </a:xfrm>
      </p:grpSpPr>
      <p:sp>
        <p:nvSpPr>
          <p:cNvPr id="52" name="Google Shape;52;g5f61e1cf29_0_31:notes">
            <a:extLst>
              <a:ext uri="{FF2B5EF4-FFF2-40B4-BE49-F238E27FC236}">
                <a16:creationId xmlns:a16="http://schemas.microsoft.com/office/drawing/2014/main" id="{E2EEDA39-4E4C-A549-96D3-ACDA4F6921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 name="Google Shape;53;g5f61e1cf29_0_31:notes">
            <a:extLst>
              <a:ext uri="{FF2B5EF4-FFF2-40B4-BE49-F238E27FC236}">
                <a16:creationId xmlns:a16="http://schemas.microsoft.com/office/drawing/2014/main" id="{173E6F56-8F39-7BBB-3558-7922740ADE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550542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a:extLst>
            <a:ext uri="{FF2B5EF4-FFF2-40B4-BE49-F238E27FC236}">
              <a16:creationId xmlns:a16="http://schemas.microsoft.com/office/drawing/2014/main" id="{DC76A670-5193-43C2-3489-406560FC86BF}"/>
            </a:ext>
          </a:extLst>
        </p:cNvPr>
        <p:cNvGrpSpPr/>
        <p:nvPr/>
      </p:nvGrpSpPr>
      <p:grpSpPr>
        <a:xfrm>
          <a:off x="0" y="0"/>
          <a:ext cx="0" cy="0"/>
          <a:chOff x="0" y="0"/>
          <a:chExt cx="0" cy="0"/>
        </a:xfrm>
      </p:grpSpPr>
      <p:sp>
        <p:nvSpPr>
          <p:cNvPr id="52" name="Google Shape;52;g5f61e1cf29_0_31:notes">
            <a:extLst>
              <a:ext uri="{FF2B5EF4-FFF2-40B4-BE49-F238E27FC236}">
                <a16:creationId xmlns:a16="http://schemas.microsoft.com/office/drawing/2014/main" id="{AD6328E8-FF09-0D67-773C-62601D3181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 name="Google Shape;53;g5f61e1cf29_0_31:notes">
            <a:extLst>
              <a:ext uri="{FF2B5EF4-FFF2-40B4-BE49-F238E27FC236}">
                <a16:creationId xmlns:a16="http://schemas.microsoft.com/office/drawing/2014/main" id="{FA66BE8D-35DE-08A8-7900-ACE1ABB00D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05432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a:extLst>
            <a:ext uri="{FF2B5EF4-FFF2-40B4-BE49-F238E27FC236}">
              <a16:creationId xmlns:a16="http://schemas.microsoft.com/office/drawing/2014/main" id="{92395C17-B90A-F63F-2FAC-4944E53DDBF5}"/>
            </a:ext>
          </a:extLst>
        </p:cNvPr>
        <p:cNvGrpSpPr/>
        <p:nvPr/>
      </p:nvGrpSpPr>
      <p:grpSpPr>
        <a:xfrm>
          <a:off x="0" y="0"/>
          <a:ext cx="0" cy="0"/>
          <a:chOff x="0" y="0"/>
          <a:chExt cx="0" cy="0"/>
        </a:xfrm>
      </p:grpSpPr>
      <p:sp>
        <p:nvSpPr>
          <p:cNvPr id="52" name="Google Shape;52;g5f61e1cf29_0_31:notes">
            <a:extLst>
              <a:ext uri="{FF2B5EF4-FFF2-40B4-BE49-F238E27FC236}">
                <a16:creationId xmlns:a16="http://schemas.microsoft.com/office/drawing/2014/main" id="{AA9899A8-1AED-2E6C-538D-23E8A908EC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 name="Google Shape;53;g5f61e1cf29_0_31:notes">
            <a:extLst>
              <a:ext uri="{FF2B5EF4-FFF2-40B4-BE49-F238E27FC236}">
                <a16:creationId xmlns:a16="http://schemas.microsoft.com/office/drawing/2014/main" id="{22F8EA95-9B62-53B0-5F24-16277CD384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482797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1 1">
  <p:cSld name="TITLE_1_2_1">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29800" y="202700"/>
            <a:ext cx="4514100" cy="2052600"/>
          </a:xfrm>
          <a:prstGeom prst="rect">
            <a:avLst/>
          </a:prstGeom>
        </p:spPr>
        <p:txBody>
          <a:bodyPr spcFirstLastPara="1" wrap="square" lIns="91425" tIns="91425" rIns="91425" bIns="91425" anchor="b" anchorCtr="0">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5200"/>
              <a:buNone/>
              <a:defRPr sz="5200">
                <a:solidFill>
                  <a:srgbClr val="FFFFFF"/>
                </a:solidFill>
              </a:defRPr>
            </a:lvl2pPr>
            <a:lvl3pPr lvl="2">
              <a:spcBef>
                <a:spcPts val="0"/>
              </a:spcBef>
              <a:spcAft>
                <a:spcPts val="0"/>
              </a:spcAft>
              <a:buClr>
                <a:srgbClr val="FFFFFF"/>
              </a:buClr>
              <a:buSzPts val="5200"/>
              <a:buNone/>
              <a:defRPr sz="5200">
                <a:solidFill>
                  <a:srgbClr val="FFFFFF"/>
                </a:solidFill>
              </a:defRPr>
            </a:lvl3pPr>
            <a:lvl4pPr lvl="3">
              <a:spcBef>
                <a:spcPts val="0"/>
              </a:spcBef>
              <a:spcAft>
                <a:spcPts val="0"/>
              </a:spcAft>
              <a:buClr>
                <a:srgbClr val="FFFFFF"/>
              </a:buClr>
              <a:buSzPts val="5200"/>
              <a:buNone/>
              <a:defRPr sz="5200">
                <a:solidFill>
                  <a:srgbClr val="FFFFFF"/>
                </a:solidFill>
              </a:defRPr>
            </a:lvl4pPr>
            <a:lvl5pPr lvl="4">
              <a:spcBef>
                <a:spcPts val="0"/>
              </a:spcBef>
              <a:spcAft>
                <a:spcPts val="0"/>
              </a:spcAft>
              <a:buClr>
                <a:srgbClr val="FFFFFF"/>
              </a:buClr>
              <a:buSzPts val="5200"/>
              <a:buNone/>
              <a:defRPr sz="5200">
                <a:solidFill>
                  <a:srgbClr val="FFFFFF"/>
                </a:solidFill>
              </a:defRPr>
            </a:lvl5pPr>
            <a:lvl6pPr lvl="5">
              <a:spcBef>
                <a:spcPts val="0"/>
              </a:spcBef>
              <a:spcAft>
                <a:spcPts val="0"/>
              </a:spcAft>
              <a:buClr>
                <a:srgbClr val="FFFFFF"/>
              </a:buClr>
              <a:buSzPts val="5200"/>
              <a:buNone/>
              <a:defRPr sz="5200">
                <a:solidFill>
                  <a:srgbClr val="FFFFFF"/>
                </a:solidFill>
              </a:defRPr>
            </a:lvl6pPr>
            <a:lvl7pPr lvl="6">
              <a:spcBef>
                <a:spcPts val="0"/>
              </a:spcBef>
              <a:spcAft>
                <a:spcPts val="0"/>
              </a:spcAft>
              <a:buClr>
                <a:srgbClr val="FFFFFF"/>
              </a:buClr>
              <a:buSzPts val="5200"/>
              <a:buNone/>
              <a:defRPr sz="5200">
                <a:solidFill>
                  <a:srgbClr val="FFFFFF"/>
                </a:solidFill>
              </a:defRPr>
            </a:lvl7pPr>
            <a:lvl8pPr lvl="7">
              <a:spcBef>
                <a:spcPts val="0"/>
              </a:spcBef>
              <a:spcAft>
                <a:spcPts val="0"/>
              </a:spcAft>
              <a:buClr>
                <a:srgbClr val="FFFFFF"/>
              </a:buClr>
              <a:buSzPts val="5200"/>
              <a:buNone/>
              <a:defRPr sz="5200">
                <a:solidFill>
                  <a:srgbClr val="FFFFFF"/>
                </a:solidFill>
              </a:defRPr>
            </a:lvl8pPr>
            <a:lvl9pPr lvl="8">
              <a:spcBef>
                <a:spcPts val="0"/>
              </a:spcBef>
              <a:spcAft>
                <a:spcPts val="0"/>
              </a:spcAft>
              <a:buClr>
                <a:srgbClr val="FFFFFF"/>
              </a:buClr>
              <a:buSzPts val="5200"/>
              <a:buNone/>
              <a:defRPr sz="5200">
                <a:solidFill>
                  <a:srgbClr val="FFFFFF"/>
                </a:solidFill>
              </a:defRPr>
            </a:lvl9pPr>
          </a:lstStyle>
          <a:p>
            <a:endParaRPr/>
          </a:p>
        </p:txBody>
      </p:sp>
      <p:sp>
        <p:nvSpPr>
          <p:cNvPr id="11" name="Google Shape;11;p2"/>
          <p:cNvSpPr txBox="1">
            <a:spLocks noGrp="1"/>
          </p:cNvSpPr>
          <p:nvPr>
            <p:ph type="subTitle" idx="1"/>
          </p:nvPr>
        </p:nvSpPr>
        <p:spPr>
          <a:xfrm>
            <a:off x="229800" y="2255300"/>
            <a:ext cx="4514100" cy="79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2000"/>
              <a:buNone/>
              <a:defRPr sz="2000">
                <a:solidFill>
                  <a:schemeClr val="lt2"/>
                </a:solidFill>
              </a:defRPr>
            </a:lvl1pPr>
            <a:lvl2pPr lvl="1">
              <a:lnSpc>
                <a:spcPct val="100000"/>
              </a:lnSpc>
              <a:spcBef>
                <a:spcPts val="0"/>
              </a:spcBef>
              <a:spcAft>
                <a:spcPts val="0"/>
              </a:spcAft>
              <a:buClr>
                <a:schemeClr val="lt2"/>
              </a:buClr>
              <a:buSzPts val="2400"/>
              <a:buNone/>
              <a:defRPr sz="2400">
                <a:solidFill>
                  <a:schemeClr val="lt2"/>
                </a:solidFill>
              </a:defRPr>
            </a:lvl2pPr>
            <a:lvl3pPr lvl="2">
              <a:lnSpc>
                <a:spcPct val="100000"/>
              </a:lnSpc>
              <a:spcBef>
                <a:spcPts val="0"/>
              </a:spcBef>
              <a:spcAft>
                <a:spcPts val="0"/>
              </a:spcAft>
              <a:buClr>
                <a:schemeClr val="lt2"/>
              </a:buClr>
              <a:buSzPts val="2400"/>
              <a:buNone/>
              <a:defRPr sz="2400">
                <a:solidFill>
                  <a:schemeClr val="lt2"/>
                </a:solidFill>
              </a:defRPr>
            </a:lvl3pPr>
            <a:lvl4pPr lvl="3">
              <a:lnSpc>
                <a:spcPct val="100000"/>
              </a:lnSpc>
              <a:spcBef>
                <a:spcPts val="0"/>
              </a:spcBef>
              <a:spcAft>
                <a:spcPts val="0"/>
              </a:spcAft>
              <a:buClr>
                <a:schemeClr val="lt2"/>
              </a:buClr>
              <a:buSzPts val="2400"/>
              <a:buNone/>
              <a:defRPr sz="2400">
                <a:solidFill>
                  <a:schemeClr val="lt2"/>
                </a:solidFill>
              </a:defRPr>
            </a:lvl4pPr>
            <a:lvl5pPr lvl="4">
              <a:lnSpc>
                <a:spcPct val="100000"/>
              </a:lnSpc>
              <a:spcBef>
                <a:spcPts val="0"/>
              </a:spcBef>
              <a:spcAft>
                <a:spcPts val="0"/>
              </a:spcAft>
              <a:buClr>
                <a:schemeClr val="lt2"/>
              </a:buClr>
              <a:buSzPts val="2400"/>
              <a:buNone/>
              <a:defRPr sz="2400">
                <a:solidFill>
                  <a:schemeClr val="lt2"/>
                </a:solidFill>
              </a:defRPr>
            </a:lvl5pPr>
            <a:lvl6pPr lvl="5">
              <a:lnSpc>
                <a:spcPct val="100000"/>
              </a:lnSpc>
              <a:spcBef>
                <a:spcPts val="0"/>
              </a:spcBef>
              <a:spcAft>
                <a:spcPts val="0"/>
              </a:spcAft>
              <a:buClr>
                <a:schemeClr val="lt2"/>
              </a:buClr>
              <a:buSzPts val="2400"/>
              <a:buNone/>
              <a:defRPr sz="2400">
                <a:solidFill>
                  <a:schemeClr val="lt2"/>
                </a:solidFill>
              </a:defRPr>
            </a:lvl6pPr>
            <a:lvl7pPr lvl="6">
              <a:lnSpc>
                <a:spcPct val="100000"/>
              </a:lnSpc>
              <a:spcBef>
                <a:spcPts val="0"/>
              </a:spcBef>
              <a:spcAft>
                <a:spcPts val="0"/>
              </a:spcAft>
              <a:buClr>
                <a:schemeClr val="lt2"/>
              </a:buClr>
              <a:buSzPts val="2400"/>
              <a:buNone/>
              <a:defRPr sz="2400">
                <a:solidFill>
                  <a:schemeClr val="lt2"/>
                </a:solidFill>
              </a:defRPr>
            </a:lvl7pPr>
            <a:lvl8pPr lvl="7">
              <a:lnSpc>
                <a:spcPct val="100000"/>
              </a:lnSpc>
              <a:spcBef>
                <a:spcPts val="0"/>
              </a:spcBef>
              <a:spcAft>
                <a:spcPts val="0"/>
              </a:spcAft>
              <a:buClr>
                <a:schemeClr val="lt2"/>
              </a:buClr>
              <a:buSzPts val="2400"/>
              <a:buNone/>
              <a:defRPr sz="2400">
                <a:solidFill>
                  <a:schemeClr val="lt2"/>
                </a:solidFill>
              </a:defRPr>
            </a:lvl8pPr>
            <a:lvl9pPr lvl="8">
              <a:lnSpc>
                <a:spcPct val="100000"/>
              </a:lnSpc>
              <a:spcBef>
                <a:spcPts val="0"/>
              </a:spcBef>
              <a:spcAft>
                <a:spcPts val="0"/>
              </a:spcAft>
              <a:buClr>
                <a:schemeClr val="lt2"/>
              </a:buClr>
              <a:buSzPts val="2400"/>
              <a:buNone/>
              <a:defRPr sz="2400">
                <a:solidFill>
                  <a:schemeClr val="lt2"/>
                </a:solidFill>
              </a:defRPr>
            </a:lvl9pPr>
          </a:lstStyle>
          <a:p>
            <a:endParaRPr/>
          </a:p>
        </p:txBody>
      </p:sp>
      <p:cxnSp>
        <p:nvCxnSpPr>
          <p:cNvPr id="12" name="Google Shape;12;p2"/>
          <p:cNvCxnSpPr/>
          <p:nvPr/>
        </p:nvCxnSpPr>
        <p:spPr>
          <a:xfrm rot="10800000">
            <a:off x="2631008" y="4091550"/>
            <a:ext cx="0" cy="818700"/>
          </a:xfrm>
          <a:prstGeom prst="straightConnector1">
            <a:avLst/>
          </a:prstGeom>
          <a:noFill/>
          <a:ln w="9525" cap="flat" cmpd="sng">
            <a:solidFill>
              <a:schemeClr val="lt1"/>
            </a:solidFill>
            <a:prstDash val="solid"/>
            <a:round/>
            <a:headEnd type="none" w="med" len="med"/>
            <a:tailEnd type="none" w="med" len="med"/>
          </a:ln>
        </p:spPr>
      </p:cxnSp>
      <p:pic>
        <p:nvPicPr>
          <p:cNvPr id="13" name="Google Shape;13;p2"/>
          <p:cNvPicPr preferRelativeResize="0"/>
          <p:nvPr/>
        </p:nvPicPr>
        <p:blipFill>
          <a:blip r:embed="rId3">
            <a:alphaModFix/>
          </a:blip>
          <a:stretch>
            <a:fillRect/>
          </a:stretch>
        </p:blipFill>
        <p:spPr>
          <a:xfrm>
            <a:off x="229800" y="4091550"/>
            <a:ext cx="2214642" cy="8187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a:off x="225" y="4628700"/>
            <a:ext cx="9144000" cy="514800"/>
          </a:xfrm>
          <a:prstGeom prst="rect">
            <a:avLst/>
          </a:prstGeom>
          <a:gradFill>
            <a:gsLst>
              <a:gs pos="0">
                <a:srgbClr val="008E61"/>
              </a:gs>
              <a:gs pos="100000">
                <a:srgbClr val="00707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Font typeface="Roboto"/>
              <a:buNone/>
              <a:defRPr>
                <a:latin typeface="Roboto"/>
                <a:ea typeface="Roboto"/>
                <a:cs typeface="Roboto"/>
                <a:sym typeface="Robo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4"/>
          <p:cNvSpPr txBox="1">
            <a:spLocks noGrp="1"/>
          </p:cNvSpPr>
          <p:nvPr>
            <p:ph type="body" idx="1"/>
          </p:nvPr>
        </p:nvSpPr>
        <p:spPr>
          <a:xfrm>
            <a:off x="311700" y="1152475"/>
            <a:ext cx="8520600" cy="30501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Font typeface="Roboto"/>
              <a:buChar char="●"/>
              <a:defRPr>
                <a:latin typeface="Roboto"/>
                <a:ea typeface="Roboto"/>
                <a:cs typeface="Roboto"/>
                <a:sym typeface="Roboto"/>
              </a:defRPr>
            </a:lvl1pPr>
            <a:lvl2pPr marL="914400" lvl="1" indent="-317500">
              <a:spcBef>
                <a:spcPts val="800"/>
              </a:spcBef>
              <a:spcAft>
                <a:spcPts val="0"/>
              </a:spcAft>
              <a:buSzPts val="1400"/>
              <a:buFont typeface="Roboto"/>
              <a:buChar char="○"/>
              <a:defRPr>
                <a:latin typeface="Roboto"/>
                <a:ea typeface="Roboto"/>
                <a:cs typeface="Roboto"/>
                <a:sym typeface="Roboto"/>
              </a:defRPr>
            </a:lvl2pPr>
            <a:lvl3pPr marL="1371600" lvl="2" indent="-317500">
              <a:spcBef>
                <a:spcPts val="800"/>
              </a:spcBef>
              <a:spcAft>
                <a:spcPts val="0"/>
              </a:spcAft>
              <a:buSzPts val="1400"/>
              <a:buFont typeface="Roboto"/>
              <a:buChar char="■"/>
              <a:defRPr>
                <a:latin typeface="Roboto"/>
                <a:ea typeface="Roboto"/>
                <a:cs typeface="Roboto"/>
                <a:sym typeface="Roboto"/>
              </a:defRPr>
            </a:lvl3pPr>
            <a:lvl4pPr marL="1828800" lvl="3" indent="-317500">
              <a:spcBef>
                <a:spcPts val="800"/>
              </a:spcBef>
              <a:spcAft>
                <a:spcPts val="0"/>
              </a:spcAft>
              <a:buSzPts val="1400"/>
              <a:buFont typeface="Roboto"/>
              <a:buChar char="●"/>
              <a:defRPr>
                <a:latin typeface="Roboto"/>
                <a:ea typeface="Roboto"/>
                <a:cs typeface="Roboto"/>
                <a:sym typeface="Roboto"/>
              </a:defRPr>
            </a:lvl4pPr>
            <a:lvl5pPr marL="2286000" lvl="4" indent="-317500">
              <a:spcBef>
                <a:spcPts val="800"/>
              </a:spcBef>
              <a:spcAft>
                <a:spcPts val="0"/>
              </a:spcAft>
              <a:buSzPts val="1400"/>
              <a:buFont typeface="Roboto"/>
              <a:buChar char="○"/>
              <a:defRPr>
                <a:latin typeface="Roboto"/>
                <a:ea typeface="Roboto"/>
                <a:cs typeface="Roboto"/>
                <a:sym typeface="Roboto"/>
              </a:defRPr>
            </a:lvl5pPr>
            <a:lvl6pPr marL="2743200" lvl="5" indent="-317500">
              <a:spcBef>
                <a:spcPts val="800"/>
              </a:spcBef>
              <a:spcAft>
                <a:spcPts val="0"/>
              </a:spcAft>
              <a:buSzPts val="1400"/>
              <a:buFont typeface="Roboto"/>
              <a:buChar char="■"/>
              <a:defRPr>
                <a:latin typeface="Roboto"/>
                <a:ea typeface="Roboto"/>
                <a:cs typeface="Roboto"/>
                <a:sym typeface="Roboto"/>
              </a:defRPr>
            </a:lvl6pPr>
            <a:lvl7pPr marL="3200400" lvl="6" indent="-317500">
              <a:spcBef>
                <a:spcPts val="800"/>
              </a:spcBef>
              <a:spcAft>
                <a:spcPts val="0"/>
              </a:spcAft>
              <a:buSzPts val="1400"/>
              <a:buFont typeface="Roboto"/>
              <a:buChar char="●"/>
              <a:defRPr>
                <a:latin typeface="Roboto"/>
                <a:ea typeface="Roboto"/>
                <a:cs typeface="Roboto"/>
                <a:sym typeface="Roboto"/>
              </a:defRPr>
            </a:lvl7pPr>
            <a:lvl8pPr marL="3657600" lvl="7" indent="-317500">
              <a:spcBef>
                <a:spcPts val="800"/>
              </a:spcBef>
              <a:spcAft>
                <a:spcPts val="0"/>
              </a:spcAft>
              <a:buSzPts val="1400"/>
              <a:buFont typeface="Roboto"/>
              <a:buChar char="○"/>
              <a:defRPr>
                <a:latin typeface="Roboto"/>
                <a:ea typeface="Roboto"/>
                <a:cs typeface="Roboto"/>
                <a:sym typeface="Roboto"/>
              </a:defRPr>
            </a:lvl8pPr>
            <a:lvl9pPr marL="4114800" lvl="8" indent="-317500">
              <a:spcBef>
                <a:spcPts val="800"/>
              </a:spcBef>
              <a:spcAft>
                <a:spcPts val="800"/>
              </a:spcAft>
              <a:buSzPts val="1400"/>
              <a:buFont typeface="Roboto"/>
              <a:buChar char="■"/>
              <a:defRPr>
                <a:latin typeface="Roboto"/>
                <a:ea typeface="Roboto"/>
                <a:cs typeface="Roboto"/>
                <a:sym typeface="Roboto"/>
              </a:defRPr>
            </a:lvl9pPr>
          </a:lstStyle>
          <a:p>
            <a:endParaRPr/>
          </a:p>
        </p:txBody>
      </p:sp>
      <p:sp>
        <p:nvSpPr>
          <p:cNvPr id="22" name="Google Shape;22;p4"/>
          <p:cNvSpPr txBox="1">
            <a:spLocks noGrp="1"/>
          </p:cNvSpPr>
          <p:nvPr>
            <p:ph type="sldNum" idx="12"/>
          </p:nvPr>
        </p:nvSpPr>
        <p:spPr>
          <a:xfrm>
            <a:off x="8532925" y="4760100"/>
            <a:ext cx="505200" cy="252000"/>
          </a:xfrm>
          <a:prstGeom prst="rect">
            <a:avLst/>
          </a:prstGeom>
        </p:spPr>
        <p:txBody>
          <a:bodyPr spcFirstLastPara="1" wrap="square" lIns="91425" tIns="91425" rIns="91425" bIns="91425" anchor="ctr" anchorCtr="0">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cxnSp>
        <p:nvCxnSpPr>
          <p:cNvPr id="23" name="Google Shape;23;p4"/>
          <p:cNvCxnSpPr/>
          <p:nvPr/>
        </p:nvCxnSpPr>
        <p:spPr>
          <a:xfrm rot="10800000">
            <a:off x="1091700" y="4718406"/>
            <a:ext cx="0" cy="335400"/>
          </a:xfrm>
          <a:prstGeom prst="straightConnector1">
            <a:avLst/>
          </a:prstGeom>
          <a:noFill/>
          <a:ln w="9525" cap="flat" cmpd="sng">
            <a:solidFill>
              <a:schemeClr val="lt1"/>
            </a:solidFill>
            <a:prstDash val="solid"/>
            <a:round/>
            <a:headEnd type="none" w="med" len="med"/>
            <a:tailEnd type="none" w="med" len="med"/>
          </a:ln>
        </p:spPr>
      </p:cxnSp>
      <p:pic>
        <p:nvPicPr>
          <p:cNvPr id="24" name="Google Shape;24;p4"/>
          <p:cNvPicPr preferRelativeResize="0"/>
          <p:nvPr/>
        </p:nvPicPr>
        <p:blipFill>
          <a:blip r:embed="rId2">
            <a:alphaModFix/>
          </a:blip>
          <a:stretch>
            <a:fillRect/>
          </a:stretch>
        </p:blipFill>
        <p:spPr>
          <a:xfrm>
            <a:off x="99625" y="4718400"/>
            <a:ext cx="907286" cy="3354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434343"/>
              </a:buClr>
              <a:buSzPts val="2800"/>
              <a:buFont typeface="Roboto"/>
              <a:buNone/>
              <a:defRPr sz="2800" b="1">
                <a:solidFill>
                  <a:srgbClr val="434343"/>
                </a:solidFill>
                <a:latin typeface="Roboto"/>
                <a:ea typeface="Roboto"/>
                <a:cs typeface="Roboto"/>
                <a:sym typeface="Roboto"/>
              </a:defRPr>
            </a:lvl1pPr>
            <a:lvl2pPr lvl="1">
              <a:spcBef>
                <a:spcPts val="0"/>
              </a:spcBef>
              <a:spcAft>
                <a:spcPts val="0"/>
              </a:spcAft>
              <a:buClr>
                <a:srgbClr val="434343"/>
              </a:buClr>
              <a:buSzPts val="2800"/>
              <a:buFont typeface="Roboto"/>
              <a:buNone/>
              <a:defRPr sz="2800" b="1">
                <a:solidFill>
                  <a:srgbClr val="434343"/>
                </a:solidFill>
                <a:latin typeface="Roboto"/>
                <a:ea typeface="Roboto"/>
                <a:cs typeface="Roboto"/>
                <a:sym typeface="Roboto"/>
              </a:defRPr>
            </a:lvl2pPr>
            <a:lvl3pPr lvl="2">
              <a:spcBef>
                <a:spcPts val="0"/>
              </a:spcBef>
              <a:spcAft>
                <a:spcPts val="0"/>
              </a:spcAft>
              <a:buClr>
                <a:srgbClr val="434343"/>
              </a:buClr>
              <a:buSzPts val="2800"/>
              <a:buFont typeface="Roboto"/>
              <a:buNone/>
              <a:defRPr sz="2800" b="1">
                <a:solidFill>
                  <a:srgbClr val="434343"/>
                </a:solidFill>
                <a:latin typeface="Roboto"/>
                <a:ea typeface="Roboto"/>
                <a:cs typeface="Roboto"/>
                <a:sym typeface="Roboto"/>
              </a:defRPr>
            </a:lvl3pPr>
            <a:lvl4pPr lvl="3">
              <a:spcBef>
                <a:spcPts val="0"/>
              </a:spcBef>
              <a:spcAft>
                <a:spcPts val="0"/>
              </a:spcAft>
              <a:buClr>
                <a:srgbClr val="434343"/>
              </a:buClr>
              <a:buSzPts val="2800"/>
              <a:buFont typeface="Roboto"/>
              <a:buNone/>
              <a:defRPr sz="2800" b="1">
                <a:solidFill>
                  <a:srgbClr val="434343"/>
                </a:solidFill>
                <a:latin typeface="Roboto"/>
                <a:ea typeface="Roboto"/>
                <a:cs typeface="Roboto"/>
                <a:sym typeface="Roboto"/>
              </a:defRPr>
            </a:lvl4pPr>
            <a:lvl5pPr lvl="4">
              <a:spcBef>
                <a:spcPts val="0"/>
              </a:spcBef>
              <a:spcAft>
                <a:spcPts val="0"/>
              </a:spcAft>
              <a:buClr>
                <a:srgbClr val="434343"/>
              </a:buClr>
              <a:buSzPts val="2800"/>
              <a:buFont typeface="Roboto"/>
              <a:buNone/>
              <a:defRPr sz="2800" b="1">
                <a:solidFill>
                  <a:srgbClr val="434343"/>
                </a:solidFill>
                <a:latin typeface="Roboto"/>
                <a:ea typeface="Roboto"/>
                <a:cs typeface="Roboto"/>
                <a:sym typeface="Roboto"/>
              </a:defRPr>
            </a:lvl5pPr>
            <a:lvl6pPr lvl="5">
              <a:spcBef>
                <a:spcPts val="0"/>
              </a:spcBef>
              <a:spcAft>
                <a:spcPts val="0"/>
              </a:spcAft>
              <a:buClr>
                <a:srgbClr val="434343"/>
              </a:buClr>
              <a:buSzPts val="2800"/>
              <a:buFont typeface="Roboto"/>
              <a:buNone/>
              <a:defRPr sz="2800" b="1">
                <a:solidFill>
                  <a:srgbClr val="434343"/>
                </a:solidFill>
                <a:latin typeface="Roboto"/>
                <a:ea typeface="Roboto"/>
                <a:cs typeface="Roboto"/>
                <a:sym typeface="Roboto"/>
              </a:defRPr>
            </a:lvl6pPr>
            <a:lvl7pPr lvl="6">
              <a:spcBef>
                <a:spcPts val="0"/>
              </a:spcBef>
              <a:spcAft>
                <a:spcPts val="0"/>
              </a:spcAft>
              <a:buClr>
                <a:srgbClr val="434343"/>
              </a:buClr>
              <a:buSzPts val="2800"/>
              <a:buFont typeface="Roboto"/>
              <a:buNone/>
              <a:defRPr sz="2800" b="1">
                <a:solidFill>
                  <a:srgbClr val="434343"/>
                </a:solidFill>
                <a:latin typeface="Roboto"/>
                <a:ea typeface="Roboto"/>
                <a:cs typeface="Roboto"/>
                <a:sym typeface="Roboto"/>
              </a:defRPr>
            </a:lvl7pPr>
            <a:lvl8pPr lvl="7">
              <a:spcBef>
                <a:spcPts val="0"/>
              </a:spcBef>
              <a:spcAft>
                <a:spcPts val="0"/>
              </a:spcAft>
              <a:buClr>
                <a:srgbClr val="434343"/>
              </a:buClr>
              <a:buSzPts val="2800"/>
              <a:buFont typeface="Roboto"/>
              <a:buNone/>
              <a:defRPr sz="2800" b="1">
                <a:solidFill>
                  <a:srgbClr val="434343"/>
                </a:solidFill>
                <a:latin typeface="Roboto"/>
                <a:ea typeface="Roboto"/>
                <a:cs typeface="Roboto"/>
                <a:sym typeface="Roboto"/>
              </a:defRPr>
            </a:lvl8pPr>
            <a:lvl9pPr lvl="8">
              <a:spcBef>
                <a:spcPts val="0"/>
              </a:spcBef>
              <a:spcAft>
                <a:spcPts val="0"/>
              </a:spcAft>
              <a:buClr>
                <a:srgbClr val="434343"/>
              </a:buClr>
              <a:buSzPts val="2800"/>
              <a:buFont typeface="Roboto"/>
              <a:buNone/>
              <a:defRPr sz="2800" b="1">
                <a:solidFill>
                  <a:srgbClr val="434343"/>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4000"/>
              </a:lnSpc>
              <a:spcBef>
                <a:spcPts val="0"/>
              </a:spcBef>
              <a:spcAft>
                <a:spcPts val="0"/>
              </a:spcAft>
              <a:buClr>
                <a:srgbClr val="434343"/>
              </a:buClr>
              <a:buSzPts val="1800"/>
              <a:buFont typeface="Roboto"/>
              <a:buChar char="●"/>
              <a:defRPr sz="1800">
                <a:solidFill>
                  <a:srgbClr val="434343"/>
                </a:solidFill>
                <a:latin typeface="Roboto"/>
                <a:ea typeface="Roboto"/>
                <a:cs typeface="Roboto"/>
                <a:sym typeface="Roboto"/>
              </a:defRPr>
            </a:lvl1pPr>
            <a:lvl2pPr marL="914400" lvl="1" indent="-317500">
              <a:lnSpc>
                <a:spcPct val="114000"/>
              </a:lnSpc>
              <a:spcBef>
                <a:spcPts val="800"/>
              </a:spcBef>
              <a:spcAft>
                <a:spcPts val="0"/>
              </a:spcAft>
              <a:buClr>
                <a:srgbClr val="434343"/>
              </a:buClr>
              <a:buSzPts val="1400"/>
              <a:buFont typeface="Roboto"/>
              <a:buChar char="○"/>
              <a:defRPr>
                <a:solidFill>
                  <a:srgbClr val="434343"/>
                </a:solidFill>
                <a:latin typeface="Roboto"/>
                <a:ea typeface="Roboto"/>
                <a:cs typeface="Roboto"/>
                <a:sym typeface="Roboto"/>
              </a:defRPr>
            </a:lvl2pPr>
            <a:lvl3pPr marL="1371600" lvl="2" indent="-317500">
              <a:lnSpc>
                <a:spcPct val="114000"/>
              </a:lnSpc>
              <a:spcBef>
                <a:spcPts val="800"/>
              </a:spcBef>
              <a:spcAft>
                <a:spcPts val="0"/>
              </a:spcAft>
              <a:buClr>
                <a:srgbClr val="434343"/>
              </a:buClr>
              <a:buSzPts val="1400"/>
              <a:buFont typeface="Roboto"/>
              <a:buChar char="■"/>
              <a:defRPr>
                <a:solidFill>
                  <a:srgbClr val="434343"/>
                </a:solidFill>
                <a:latin typeface="Roboto"/>
                <a:ea typeface="Roboto"/>
                <a:cs typeface="Roboto"/>
                <a:sym typeface="Roboto"/>
              </a:defRPr>
            </a:lvl3pPr>
            <a:lvl4pPr marL="1828800" lvl="3" indent="-317500">
              <a:lnSpc>
                <a:spcPct val="114000"/>
              </a:lnSpc>
              <a:spcBef>
                <a:spcPts val="800"/>
              </a:spcBef>
              <a:spcAft>
                <a:spcPts val="0"/>
              </a:spcAft>
              <a:buClr>
                <a:srgbClr val="434343"/>
              </a:buClr>
              <a:buSzPts val="1400"/>
              <a:buFont typeface="Roboto"/>
              <a:buChar char="●"/>
              <a:defRPr>
                <a:solidFill>
                  <a:srgbClr val="434343"/>
                </a:solidFill>
                <a:latin typeface="Roboto"/>
                <a:ea typeface="Roboto"/>
                <a:cs typeface="Roboto"/>
                <a:sym typeface="Roboto"/>
              </a:defRPr>
            </a:lvl4pPr>
            <a:lvl5pPr marL="2286000" lvl="4" indent="-317500">
              <a:lnSpc>
                <a:spcPct val="114000"/>
              </a:lnSpc>
              <a:spcBef>
                <a:spcPts val="800"/>
              </a:spcBef>
              <a:spcAft>
                <a:spcPts val="0"/>
              </a:spcAft>
              <a:buClr>
                <a:srgbClr val="434343"/>
              </a:buClr>
              <a:buSzPts val="1400"/>
              <a:buFont typeface="Roboto"/>
              <a:buChar char="○"/>
              <a:defRPr>
                <a:solidFill>
                  <a:srgbClr val="434343"/>
                </a:solidFill>
                <a:latin typeface="Roboto"/>
                <a:ea typeface="Roboto"/>
                <a:cs typeface="Roboto"/>
                <a:sym typeface="Roboto"/>
              </a:defRPr>
            </a:lvl5pPr>
            <a:lvl6pPr marL="2743200" lvl="5" indent="-317500">
              <a:lnSpc>
                <a:spcPct val="114000"/>
              </a:lnSpc>
              <a:spcBef>
                <a:spcPts val="800"/>
              </a:spcBef>
              <a:spcAft>
                <a:spcPts val="0"/>
              </a:spcAft>
              <a:buClr>
                <a:srgbClr val="434343"/>
              </a:buClr>
              <a:buSzPts val="1400"/>
              <a:buFont typeface="Roboto"/>
              <a:buChar char="■"/>
              <a:defRPr>
                <a:solidFill>
                  <a:srgbClr val="434343"/>
                </a:solidFill>
                <a:latin typeface="Roboto"/>
                <a:ea typeface="Roboto"/>
                <a:cs typeface="Roboto"/>
                <a:sym typeface="Roboto"/>
              </a:defRPr>
            </a:lvl6pPr>
            <a:lvl7pPr marL="3200400" lvl="6" indent="-317500">
              <a:lnSpc>
                <a:spcPct val="114000"/>
              </a:lnSpc>
              <a:spcBef>
                <a:spcPts val="800"/>
              </a:spcBef>
              <a:spcAft>
                <a:spcPts val="0"/>
              </a:spcAft>
              <a:buClr>
                <a:srgbClr val="434343"/>
              </a:buClr>
              <a:buSzPts val="1400"/>
              <a:buFont typeface="Roboto"/>
              <a:buChar char="●"/>
              <a:defRPr>
                <a:solidFill>
                  <a:srgbClr val="434343"/>
                </a:solidFill>
                <a:latin typeface="Roboto"/>
                <a:ea typeface="Roboto"/>
                <a:cs typeface="Roboto"/>
                <a:sym typeface="Roboto"/>
              </a:defRPr>
            </a:lvl7pPr>
            <a:lvl8pPr marL="3657600" lvl="7" indent="-317500">
              <a:lnSpc>
                <a:spcPct val="114000"/>
              </a:lnSpc>
              <a:spcBef>
                <a:spcPts val="800"/>
              </a:spcBef>
              <a:spcAft>
                <a:spcPts val="0"/>
              </a:spcAft>
              <a:buClr>
                <a:srgbClr val="434343"/>
              </a:buClr>
              <a:buSzPts val="1400"/>
              <a:buFont typeface="Roboto"/>
              <a:buChar char="○"/>
              <a:defRPr>
                <a:solidFill>
                  <a:srgbClr val="434343"/>
                </a:solidFill>
                <a:latin typeface="Roboto"/>
                <a:ea typeface="Roboto"/>
                <a:cs typeface="Roboto"/>
                <a:sym typeface="Roboto"/>
              </a:defRPr>
            </a:lvl8pPr>
            <a:lvl9pPr marL="4114800" lvl="8" indent="-317500">
              <a:lnSpc>
                <a:spcPct val="114000"/>
              </a:lnSpc>
              <a:spcBef>
                <a:spcPts val="800"/>
              </a:spcBef>
              <a:spcAft>
                <a:spcPts val="800"/>
              </a:spcAft>
              <a:buClr>
                <a:srgbClr val="434343"/>
              </a:buClr>
              <a:buSzPts val="1400"/>
              <a:buFont typeface="Roboto"/>
              <a:buChar char="■"/>
              <a:defRPr>
                <a:solidFill>
                  <a:srgbClr val="434343"/>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192875" y="4404325"/>
            <a:ext cx="311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automotivelinux.org/announcements/sodev/" TargetMode="External"/><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directory.elisa.tech/workshops/index.html#november-2025-munich"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sv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s://elisa.tech/community/meetings/" TargetMode="External"/><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github.com/elisa-tech/wg-aerospace" TargetMode="External"/><Relationship Id="rId5" Type="http://schemas.openxmlformats.org/officeDocument/2006/relationships/hyperlink" Target="https://chat.elisa.tech/" TargetMode="External"/><Relationship Id="rId4" Type="http://schemas.openxmlformats.org/officeDocument/2006/relationships/hyperlink" Target="https://lists.elisa.tech/g/aerospace" TargetMode="External"/><Relationship Id="rId9"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8"/>
          <p:cNvSpPr txBox="1">
            <a:spLocks noGrp="1"/>
          </p:cNvSpPr>
          <p:nvPr>
            <p:ph type="ctrTitle"/>
          </p:nvPr>
        </p:nvSpPr>
        <p:spPr>
          <a:xfrm>
            <a:off x="229800" y="202700"/>
            <a:ext cx="4514100" cy="205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Aerospace Working Group</a:t>
            </a:r>
            <a:endParaRPr dirty="0"/>
          </a:p>
        </p:txBody>
      </p:sp>
      <p:sp>
        <p:nvSpPr>
          <p:cNvPr id="50" name="Google Shape;50;p8"/>
          <p:cNvSpPr txBox="1">
            <a:spLocks noGrp="1"/>
          </p:cNvSpPr>
          <p:nvPr>
            <p:ph type="subTitle" idx="1"/>
          </p:nvPr>
        </p:nvSpPr>
        <p:spPr>
          <a:xfrm>
            <a:off x="229800" y="2255299"/>
            <a:ext cx="4514100" cy="120635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2026 Annual Update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Matthew Weber &amp; Dr. Martin Halle</a:t>
            </a:r>
            <a:endParaRPr dirty="0"/>
          </a:p>
        </p:txBody>
      </p:sp>
      <p:pic>
        <p:nvPicPr>
          <p:cNvPr id="4" name="Picture 3">
            <a:extLst>
              <a:ext uri="{FF2B5EF4-FFF2-40B4-BE49-F238E27FC236}">
                <a16:creationId xmlns:a16="http://schemas.microsoft.com/office/drawing/2014/main" id="{51B42C24-B636-F2EB-82D0-A74E7A00A61C}"/>
              </a:ext>
            </a:extLst>
          </p:cNvPr>
          <p:cNvPicPr>
            <a:picLocks noChangeAspect="1"/>
          </p:cNvPicPr>
          <p:nvPr/>
        </p:nvPicPr>
        <p:blipFill>
          <a:blip r:embed="rId3"/>
          <a:stretch>
            <a:fillRect/>
          </a:stretch>
        </p:blipFill>
        <p:spPr>
          <a:xfrm>
            <a:off x="7880325" y="300878"/>
            <a:ext cx="854100" cy="854100"/>
          </a:xfrm>
          <a:prstGeom prst="rect">
            <a:avLst/>
          </a:prstGeom>
        </p:spPr>
      </p:pic>
      <p:sp>
        <p:nvSpPr>
          <p:cNvPr id="2" name="TextBox 1">
            <a:extLst>
              <a:ext uri="{FF2B5EF4-FFF2-40B4-BE49-F238E27FC236}">
                <a16:creationId xmlns:a16="http://schemas.microsoft.com/office/drawing/2014/main" id="{03ED8831-A095-9799-B918-FA5F56D21530}"/>
              </a:ext>
            </a:extLst>
          </p:cNvPr>
          <p:cNvSpPr txBox="1"/>
          <p:nvPr/>
        </p:nvSpPr>
        <p:spPr>
          <a:xfrm>
            <a:off x="7620000" y="466165"/>
            <a:ext cx="1294200" cy="523220"/>
          </a:xfrm>
          <a:prstGeom prst="rect">
            <a:avLst/>
          </a:prstGeom>
          <a:solidFill>
            <a:schemeClr val="accent6">
              <a:lumMod val="40000"/>
              <a:lumOff val="60000"/>
            </a:schemeClr>
          </a:solidFill>
        </p:spPr>
        <p:txBody>
          <a:bodyPr wrap="square" rtlCol="0">
            <a:spAutoFit/>
          </a:bodyPr>
          <a:lstStyle/>
          <a:p>
            <a:r>
              <a:rPr lang="en-US" dirty="0">
                <a:solidFill>
                  <a:srgbClr val="FF0000"/>
                </a:solidFill>
              </a:rPr>
              <a:t>FIX to point at new slides</a:t>
            </a:r>
          </a:p>
        </p:txBody>
      </p:sp>
      <p:sp>
        <p:nvSpPr>
          <p:cNvPr id="3" name="Google Shape;49;p8">
            <a:extLst>
              <a:ext uri="{FF2B5EF4-FFF2-40B4-BE49-F238E27FC236}">
                <a16:creationId xmlns:a16="http://schemas.microsoft.com/office/drawing/2014/main" id="{2A67DBE7-2B5F-AD09-1419-2CB3F86C3DD9}"/>
              </a:ext>
            </a:extLst>
          </p:cNvPr>
          <p:cNvSpPr txBox="1"/>
          <p:nvPr/>
        </p:nvSpPr>
        <p:spPr>
          <a:xfrm>
            <a:off x="2817575" y="4091550"/>
            <a:ext cx="4941900" cy="854100"/>
          </a:xfrm>
          <a:prstGeom prst="rect">
            <a:avLst/>
          </a:prstGeom>
          <a:noFill/>
          <a:ln>
            <a:noFill/>
          </a:ln>
        </p:spPr>
        <p:txBody>
          <a:bodyPr spcFirstLastPara="1" wrap="square" lIns="91425" tIns="91425" rIns="91425" bIns="91425" anchor="t" anchorCtr="0">
            <a:spAutoFit/>
          </a:bodyPr>
          <a:lstStyle/>
          <a:p>
            <a:pPr marL="0" lvl="0" indent="0" algn="l" rtl="0">
              <a:lnSpc>
                <a:spcPct val="157142"/>
              </a:lnSpc>
              <a:spcBef>
                <a:spcPts val="0"/>
              </a:spcBef>
              <a:spcAft>
                <a:spcPts val="0"/>
              </a:spcAft>
              <a:buNone/>
            </a:pPr>
            <a:r>
              <a:rPr lang="en" sz="1050" b="1" dirty="0">
                <a:solidFill>
                  <a:srgbClr val="F5F4F3"/>
                </a:solidFill>
                <a:latin typeface="Roboto"/>
                <a:ea typeface="Roboto"/>
                <a:cs typeface="Roboto"/>
                <a:sym typeface="Roboto"/>
              </a:rPr>
              <a:t>Aerospace</a:t>
            </a:r>
            <a:r>
              <a:rPr lang="en" sz="1050" b="1" dirty="0">
                <a:solidFill>
                  <a:srgbClr val="1993B4"/>
                </a:solidFill>
                <a:latin typeface="Roboto"/>
                <a:ea typeface="Roboto"/>
                <a:cs typeface="Roboto"/>
                <a:sym typeface="Roboto"/>
              </a:rPr>
              <a:t> </a:t>
            </a:r>
            <a:r>
              <a:rPr lang="en" sz="1050" b="1" dirty="0">
                <a:solidFill>
                  <a:schemeClr val="accent6"/>
                </a:solidFill>
                <a:latin typeface="Roboto"/>
                <a:ea typeface="Roboto"/>
                <a:cs typeface="Roboto"/>
                <a:sym typeface="Roboto"/>
              </a:rPr>
              <a:t>·</a:t>
            </a:r>
            <a:r>
              <a:rPr lang="en" sz="1050" b="1" dirty="0">
                <a:solidFill>
                  <a:srgbClr val="1993B4"/>
                </a:solidFill>
                <a:latin typeface="Roboto"/>
                <a:ea typeface="Roboto"/>
                <a:cs typeface="Roboto"/>
                <a:sym typeface="Roboto"/>
              </a:rPr>
              <a:t> </a:t>
            </a:r>
            <a:r>
              <a:rPr lang="en" sz="1050" b="1" dirty="0">
                <a:solidFill>
                  <a:srgbClr val="F5F4F3"/>
                </a:solidFill>
                <a:latin typeface="Roboto"/>
                <a:ea typeface="Roboto"/>
                <a:cs typeface="Roboto"/>
                <a:sym typeface="Roboto"/>
              </a:rPr>
              <a:t>Automotive</a:t>
            </a:r>
            <a:r>
              <a:rPr lang="en" sz="1050" b="1" dirty="0">
                <a:solidFill>
                  <a:srgbClr val="1993B4"/>
                </a:solidFill>
                <a:latin typeface="Roboto"/>
                <a:ea typeface="Roboto"/>
                <a:cs typeface="Roboto"/>
                <a:sym typeface="Roboto"/>
              </a:rPr>
              <a:t> </a:t>
            </a:r>
            <a:r>
              <a:rPr lang="en" sz="1050" b="1" dirty="0">
                <a:solidFill>
                  <a:srgbClr val="F5F4F3"/>
                </a:solidFill>
                <a:latin typeface="Roboto"/>
                <a:ea typeface="Roboto"/>
                <a:cs typeface="Roboto"/>
                <a:sym typeface="Roboto"/>
              </a:rPr>
              <a:t>· Linux Features</a:t>
            </a:r>
            <a:endParaRPr sz="1050" b="1" dirty="0">
              <a:solidFill>
                <a:srgbClr val="1993B4"/>
              </a:solidFill>
              <a:latin typeface="Roboto"/>
              <a:ea typeface="Roboto"/>
              <a:cs typeface="Roboto"/>
              <a:sym typeface="Roboto"/>
            </a:endParaRPr>
          </a:p>
          <a:p>
            <a:pPr marL="0" lvl="0" indent="0" algn="l" rtl="0">
              <a:lnSpc>
                <a:spcPct val="157142"/>
              </a:lnSpc>
              <a:spcBef>
                <a:spcPts val="0"/>
              </a:spcBef>
              <a:spcAft>
                <a:spcPts val="0"/>
              </a:spcAft>
              <a:buNone/>
            </a:pPr>
            <a:r>
              <a:rPr lang="en" sz="1050" b="1" dirty="0">
                <a:solidFill>
                  <a:srgbClr val="F5F4F3"/>
                </a:solidFill>
                <a:latin typeface="Roboto"/>
                <a:ea typeface="Roboto"/>
                <a:cs typeface="Roboto"/>
                <a:sym typeface="Roboto"/>
              </a:rPr>
              <a:t>OS Engineering Process · Safety Architecture</a:t>
            </a:r>
            <a:r>
              <a:rPr lang="en" sz="1050" b="1" dirty="0">
                <a:solidFill>
                  <a:srgbClr val="1993B4"/>
                </a:solidFill>
                <a:latin typeface="Roboto"/>
                <a:ea typeface="Roboto"/>
                <a:cs typeface="Roboto"/>
                <a:sym typeface="Roboto"/>
              </a:rPr>
              <a:t> </a:t>
            </a:r>
            <a:r>
              <a:rPr lang="en" sz="1050" b="1" dirty="0">
                <a:solidFill>
                  <a:srgbClr val="F5F4F3"/>
                </a:solidFill>
                <a:latin typeface="Roboto"/>
                <a:ea typeface="Roboto"/>
                <a:cs typeface="Roboto"/>
                <a:sym typeface="Roboto"/>
              </a:rPr>
              <a:t> · Systems</a:t>
            </a:r>
            <a:r>
              <a:rPr lang="en" sz="1050" b="1" dirty="0">
                <a:solidFill>
                  <a:srgbClr val="1993B4"/>
                </a:solidFill>
                <a:latin typeface="Roboto"/>
                <a:ea typeface="Roboto"/>
                <a:cs typeface="Roboto"/>
                <a:sym typeface="Roboto"/>
              </a:rPr>
              <a:t> </a:t>
            </a:r>
            <a:r>
              <a:rPr lang="en" sz="1050" b="1" dirty="0">
                <a:solidFill>
                  <a:schemeClr val="accent6"/>
                </a:solidFill>
                <a:latin typeface="Roboto"/>
                <a:ea typeface="Roboto"/>
                <a:cs typeface="Roboto"/>
                <a:sym typeface="Roboto"/>
              </a:rPr>
              <a:t>·</a:t>
            </a:r>
            <a:r>
              <a:rPr lang="en" sz="1050" b="1" dirty="0">
                <a:solidFill>
                  <a:srgbClr val="1993B4"/>
                </a:solidFill>
                <a:latin typeface="Roboto"/>
                <a:ea typeface="Roboto"/>
                <a:cs typeface="Roboto"/>
                <a:sym typeface="Roboto"/>
              </a:rPr>
              <a:t> </a:t>
            </a:r>
            <a:r>
              <a:rPr lang="en" sz="1050" b="1" dirty="0">
                <a:solidFill>
                  <a:srgbClr val="F5F4F3"/>
                </a:solidFill>
                <a:latin typeface="Roboto"/>
                <a:ea typeface="Roboto"/>
                <a:cs typeface="Roboto"/>
                <a:sym typeface="Roboto"/>
              </a:rPr>
              <a:t>Tools</a:t>
            </a:r>
            <a:endParaRPr sz="1050" b="1" dirty="0">
              <a:solidFill>
                <a:srgbClr val="1993B4"/>
              </a:solidFill>
              <a:latin typeface="Roboto"/>
              <a:ea typeface="Roboto"/>
              <a:cs typeface="Roboto"/>
              <a:sym typeface="Roboto"/>
            </a:endParaRPr>
          </a:p>
          <a:p>
            <a:pPr marL="0" lvl="0" indent="0" algn="l" rtl="0">
              <a:lnSpc>
                <a:spcPct val="157142"/>
              </a:lnSpc>
              <a:spcBef>
                <a:spcPts val="0"/>
              </a:spcBef>
              <a:spcAft>
                <a:spcPts val="0"/>
              </a:spcAft>
              <a:buNone/>
            </a:pPr>
            <a:r>
              <a:rPr lang="en" sz="1050" b="1" dirty="0">
                <a:solidFill>
                  <a:srgbClr val="F5F4F3"/>
                </a:solidFill>
                <a:latin typeface="Roboto"/>
                <a:ea typeface="Roboto"/>
                <a:cs typeface="Roboto"/>
                <a:sym typeface="Roboto"/>
              </a:rPr>
              <a:t>Lighthouse ·  Space Grade Linux </a:t>
            </a:r>
            <a:r>
              <a:rPr lang="en" sz="1050" b="1" dirty="0">
                <a:solidFill>
                  <a:srgbClr val="1993B4"/>
                </a:solidFill>
                <a:latin typeface="Roboto"/>
                <a:ea typeface="Roboto"/>
                <a:cs typeface="Roboto"/>
                <a:sym typeface="Roboto"/>
              </a:rPr>
              <a:t> </a:t>
            </a:r>
            <a:endParaRPr sz="1050" b="1" dirty="0">
              <a:solidFill>
                <a:srgbClr val="F5F4F3"/>
              </a:solidFill>
              <a:latin typeface="Roboto"/>
              <a:ea typeface="Roboto"/>
              <a:cs typeface="Roboto"/>
              <a:sym typeface="Roboto"/>
            </a:endParaRPr>
          </a:p>
        </p:txBody>
      </p:sp>
      <p:sp>
        <p:nvSpPr>
          <p:cNvPr id="82" name="Google Shape;82;p11"/>
          <p:cNvSpPr txBox="1"/>
          <p:nvPr/>
        </p:nvSpPr>
        <p:spPr>
          <a:xfrm>
            <a:off x="7288305" y="4804800"/>
            <a:ext cx="1666069" cy="462660"/>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800"/>
              </a:spcAft>
              <a:buNone/>
            </a:pPr>
            <a:r>
              <a:rPr lang="en" sz="1000" i="1" dirty="0">
                <a:solidFill>
                  <a:srgbClr val="B7B7B7"/>
                </a:solidFill>
              </a:rPr>
              <a:t>License: CC-BY-4.0</a:t>
            </a:r>
            <a:endParaRPr sz="600" dirty="0">
              <a:solidFill>
                <a:srgbClr val="B7B7B7"/>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2" name="Google Shape;61;p11">
            <a:extLst>
              <a:ext uri="{FF2B5EF4-FFF2-40B4-BE49-F238E27FC236}">
                <a16:creationId xmlns:a16="http://schemas.microsoft.com/office/drawing/2014/main" id="{00A62B50-C199-C271-7B38-2B760B718910}"/>
              </a:ext>
            </a:extLst>
          </p:cNvPr>
          <p:cNvSpPr txBox="1">
            <a:spLocks/>
          </p:cNvSpPr>
          <p:nvPr/>
        </p:nvSpPr>
        <p:spPr>
          <a:xfrm>
            <a:off x="2392615" y="1206131"/>
            <a:ext cx="3999900" cy="260676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4000"/>
              </a:lnSpc>
              <a:spcBef>
                <a:spcPts val="0"/>
              </a:spcBef>
              <a:spcAft>
                <a:spcPts val="0"/>
              </a:spcAft>
              <a:buClr>
                <a:srgbClr val="434343"/>
              </a:buClr>
              <a:buSzPts val="1800"/>
              <a:buFont typeface="Arial"/>
              <a:buChar char="●"/>
              <a:defRPr sz="1800" b="0" i="0" u="none" strike="noStrike" cap="none">
                <a:solidFill>
                  <a:srgbClr val="434343"/>
                </a:solidFill>
                <a:latin typeface="Arial"/>
                <a:ea typeface="Arial"/>
                <a:cs typeface="Arial"/>
                <a:sym typeface="Arial"/>
              </a:defRPr>
            </a:lvl1pPr>
            <a:lvl2pPr marL="914400" marR="0" lvl="1" indent="-317500" algn="l" rtl="0">
              <a:lnSpc>
                <a:spcPct val="114000"/>
              </a:lnSpc>
              <a:spcBef>
                <a:spcPts val="800"/>
              </a:spcBef>
              <a:spcAft>
                <a:spcPts val="0"/>
              </a:spcAft>
              <a:buClr>
                <a:srgbClr val="434343"/>
              </a:buClr>
              <a:buSzPts val="1400"/>
              <a:buFont typeface="Arial"/>
              <a:buChar char="○"/>
              <a:defRPr sz="1400" b="0" i="0" u="none" strike="noStrike" cap="none">
                <a:solidFill>
                  <a:srgbClr val="434343"/>
                </a:solidFill>
                <a:latin typeface="Arial"/>
                <a:ea typeface="Arial"/>
                <a:cs typeface="Arial"/>
                <a:sym typeface="Arial"/>
              </a:defRPr>
            </a:lvl2pPr>
            <a:lvl3pPr marL="1371600" marR="0" lvl="2" indent="-317500" algn="l" rtl="0">
              <a:lnSpc>
                <a:spcPct val="114000"/>
              </a:lnSpc>
              <a:spcBef>
                <a:spcPts val="800"/>
              </a:spcBef>
              <a:spcAft>
                <a:spcPts val="0"/>
              </a:spcAft>
              <a:buClr>
                <a:srgbClr val="434343"/>
              </a:buClr>
              <a:buSzPts val="1400"/>
              <a:buFont typeface="Arial"/>
              <a:buChar char="■"/>
              <a:defRPr sz="1400" b="0" i="0" u="none" strike="noStrike" cap="none">
                <a:solidFill>
                  <a:srgbClr val="434343"/>
                </a:solidFill>
                <a:latin typeface="Arial"/>
                <a:ea typeface="Arial"/>
                <a:cs typeface="Arial"/>
                <a:sym typeface="Arial"/>
              </a:defRPr>
            </a:lvl3pPr>
            <a:lvl4pPr marL="1828800" marR="0" lvl="3" indent="-317500" algn="l" rtl="0">
              <a:lnSpc>
                <a:spcPct val="114000"/>
              </a:lnSpc>
              <a:spcBef>
                <a:spcPts val="800"/>
              </a:spcBef>
              <a:spcAft>
                <a:spcPts val="0"/>
              </a:spcAft>
              <a:buClr>
                <a:srgbClr val="434343"/>
              </a:buClr>
              <a:buSzPts val="1400"/>
              <a:buFont typeface="Arial"/>
              <a:buChar char="●"/>
              <a:defRPr sz="1400" b="0" i="0" u="none" strike="noStrike" cap="none">
                <a:solidFill>
                  <a:srgbClr val="434343"/>
                </a:solidFill>
                <a:latin typeface="Arial"/>
                <a:ea typeface="Arial"/>
                <a:cs typeface="Arial"/>
                <a:sym typeface="Arial"/>
              </a:defRPr>
            </a:lvl4pPr>
            <a:lvl5pPr marL="2286000" marR="0" lvl="4" indent="-317500" algn="l" rtl="0">
              <a:lnSpc>
                <a:spcPct val="114000"/>
              </a:lnSpc>
              <a:spcBef>
                <a:spcPts val="800"/>
              </a:spcBef>
              <a:spcAft>
                <a:spcPts val="0"/>
              </a:spcAft>
              <a:buClr>
                <a:srgbClr val="434343"/>
              </a:buClr>
              <a:buSzPts val="1400"/>
              <a:buFont typeface="Arial"/>
              <a:buChar char="○"/>
              <a:defRPr sz="1400" b="0" i="0" u="none" strike="noStrike" cap="none">
                <a:solidFill>
                  <a:srgbClr val="434343"/>
                </a:solidFill>
                <a:latin typeface="Arial"/>
                <a:ea typeface="Arial"/>
                <a:cs typeface="Arial"/>
                <a:sym typeface="Arial"/>
              </a:defRPr>
            </a:lvl5pPr>
            <a:lvl6pPr marL="2743200" marR="0" lvl="5" indent="-317500" algn="l" rtl="0">
              <a:lnSpc>
                <a:spcPct val="114000"/>
              </a:lnSpc>
              <a:spcBef>
                <a:spcPts val="800"/>
              </a:spcBef>
              <a:spcAft>
                <a:spcPts val="0"/>
              </a:spcAft>
              <a:buClr>
                <a:srgbClr val="434343"/>
              </a:buClr>
              <a:buSzPts val="1400"/>
              <a:buFont typeface="Arial"/>
              <a:buChar char="■"/>
              <a:defRPr sz="1400" b="0" i="0" u="none" strike="noStrike" cap="none">
                <a:solidFill>
                  <a:srgbClr val="434343"/>
                </a:solidFill>
                <a:latin typeface="Arial"/>
                <a:ea typeface="Arial"/>
                <a:cs typeface="Arial"/>
                <a:sym typeface="Arial"/>
              </a:defRPr>
            </a:lvl6pPr>
            <a:lvl7pPr marL="3200400" marR="0" lvl="6" indent="-317500" algn="l" rtl="0">
              <a:lnSpc>
                <a:spcPct val="114000"/>
              </a:lnSpc>
              <a:spcBef>
                <a:spcPts val="800"/>
              </a:spcBef>
              <a:spcAft>
                <a:spcPts val="0"/>
              </a:spcAft>
              <a:buClr>
                <a:srgbClr val="434343"/>
              </a:buClr>
              <a:buSzPts val="1400"/>
              <a:buFont typeface="Arial"/>
              <a:buChar char="●"/>
              <a:defRPr sz="1400" b="0" i="0" u="none" strike="noStrike" cap="none">
                <a:solidFill>
                  <a:srgbClr val="434343"/>
                </a:solidFill>
                <a:latin typeface="Arial"/>
                <a:ea typeface="Arial"/>
                <a:cs typeface="Arial"/>
                <a:sym typeface="Arial"/>
              </a:defRPr>
            </a:lvl7pPr>
            <a:lvl8pPr marL="3657600" marR="0" lvl="7" indent="-317500" algn="l" rtl="0">
              <a:lnSpc>
                <a:spcPct val="114000"/>
              </a:lnSpc>
              <a:spcBef>
                <a:spcPts val="800"/>
              </a:spcBef>
              <a:spcAft>
                <a:spcPts val="0"/>
              </a:spcAft>
              <a:buClr>
                <a:srgbClr val="434343"/>
              </a:buClr>
              <a:buSzPts val="1400"/>
              <a:buFont typeface="Arial"/>
              <a:buChar char="○"/>
              <a:defRPr sz="1400" b="0" i="0" u="none" strike="noStrike" cap="none">
                <a:solidFill>
                  <a:srgbClr val="434343"/>
                </a:solidFill>
                <a:latin typeface="Arial"/>
                <a:ea typeface="Arial"/>
                <a:cs typeface="Arial"/>
                <a:sym typeface="Arial"/>
              </a:defRPr>
            </a:lvl8pPr>
            <a:lvl9pPr marL="4114800" marR="0" lvl="8" indent="-317500" algn="l" rtl="0">
              <a:lnSpc>
                <a:spcPct val="114000"/>
              </a:lnSpc>
              <a:spcBef>
                <a:spcPts val="800"/>
              </a:spcBef>
              <a:spcAft>
                <a:spcPts val="800"/>
              </a:spcAft>
              <a:buClr>
                <a:srgbClr val="434343"/>
              </a:buClr>
              <a:buSzPts val="1400"/>
              <a:buFont typeface="Arial"/>
              <a:buChar char="■"/>
              <a:defRPr sz="1400" b="0" i="0" u="none" strike="noStrike" cap="none">
                <a:solidFill>
                  <a:srgbClr val="434343"/>
                </a:solidFill>
                <a:latin typeface="Arial"/>
                <a:ea typeface="Arial"/>
                <a:cs typeface="Arial"/>
                <a:sym typeface="Arial"/>
              </a:defRPr>
            </a:lvl9pPr>
          </a:lstStyle>
          <a:p>
            <a:pPr marL="0" indent="0" algn="ctr">
              <a:buFont typeface="Arial"/>
              <a:buNone/>
            </a:pPr>
            <a:r>
              <a:rPr lang="en-US" u="sng"/>
              <a:t>Matthew Weber</a:t>
            </a:r>
          </a:p>
          <a:p>
            <a:pPr marL="0" indent="0" algn="ctr">
              <a:spcBef>
                <a:spcPts val="800"/>
              </a:spcBef>
              <a:spcAft>
                <a:spcPts val="800"/>
              </a:spcAft>
              <a:buFont typeface="Arial"/>
              <a:buNone/>
            </a:pPr>
            <a:r>
              <a:rPr lang="en-US" b="1"/>
              <a:t>Associate Technical Fellow @</a:t>
            </a:r>
            <a:br>
              <a:rPr lang="en-US" b="1"/>
            </a:br>
            <a:r>
              <a:rPr lang="en-US" b="1"/>
              <a:t> The Boeing Company</a:t>
            </a:r>
            <a:endParaRPr lang="en-US" dirty="0"/>
          </a:p>
        </p:txBody>
      </p:sp>
      <p:pic>
        <p:nvPicPr>
          <p:cNvPr id="3" name="Picture 2">
            <a:extLst>
              <a:ext uri="{FF2B5EF4-FFF2-40B4-BE49-F238E27FC236}">
                <a16:creationId xmlns:a16="http://schemas.microsoft.com/office/drawing/2014/main" id="{84ACF2F5-8D64-07CC-4E6C-2ACBF5FB1393}"/>
              </a:ext>
            </a:extLst>
          </p:cNvPr>
          <p:cNvPicPr>
            <a:picLocks noChangeAspect="1"/>
          </p:cNvPicPr>
          <p:nvPr/>
        </p:nvPicPr>
        <p:blipFill>
          <a:blip r:embed="rId3"/>
          <a:stretch>
            <a:fillRect/>
          </a:stretch>
        </p:blipFill>
        <p:spPr>
          <a:xfrm>
            <a:off x="3436643" y="2509514"/>
            <a:ext cx="1911843" cy="1878104"/>
          </a:xfrm>
          <a:prstGeom prst="flowChartConnector">
            <a:avLst/>
          </a:prstGeom>
        </p:spPr>
      </p:pic>
      <p:pic>
        <p:nvPicPr>
          <p:cNvPr id="4" name="Picture 3">
            <a:extLst>
              <a:ext uri="{FF2B5EF4-FFF2-40B4-BE49-F238E27FC236}">
                <a16:creationId xmlns:a16="http://schemas.microsoft.com/office/drawing/2014/main" id="{DEF467CB-70CC-DED5-7E2A-B26820D80BC9}"/>
              </a:ext>
            </a:extLst>
          </p:cNvPr>
          <p:cNvPicPr>
            <a:picLocks noChangeAspect="1"/>
          </p:cNvPicPr>
          <p:nvPr/>
        </p:nvPicPr>
        <p:blipFill>
          <a:blip r:embed="rId4"/>
          <a:stretch>
            <a:fillRect/>
          </a:stretch>
        </p:blipFill>
        <p:spPr>
          <a:xfrm>
            <a:off x="6346790" y="1436270"/>
            <a:ext cx="1135480" cy="1135480"/>
          </a:xfrm>
          <a:prstGeom prst="rect">
            <a:avLst/>
          </a:prstGeom>
        </p:spPr>
      </p:pic>
      <p:sp>
        <p:nvSpPr>
          <p:cNvPr id="6" name="Google Shape;70;p11">
            <a:extLst>
              <a:ext uri="{FF2B5EF4-FFF2-40B4-BE49-F238E27FC236}">
                <a16:creationId xmlns:a16="http://schemas.microsoft.com/office/drawing/2014/main" id="{7F4A098B-3D20-6915-5D1A-4BBAEA3007F3}"/>
              </a:ext>
            </a:extLst>
          </p:cNvPr>
          <p:cNvSpPr txBox="1"/>
          <p:nvPr/>
        </p:nvSpPr>
        <p:spPr>
          <a:xfrm>
            <a:off x="1091700" y="4720650"/>
            <a:ext cx="7558500" cy="323100"/>
          </a:xfrm>
          <a:prstGeom prst="rect">
            <a:avLst/>
          </a:prstGeom>
          <a:noFill/>
          <a:ln>
            <a:noFill/>
          </a:ln>
        </p:spPr>
        <p:txBody>
          <a:bodyPr spcFirstLastPara="1" wrap="square" lIns="91425" tIns="91425" rIns="91425" bIns="91425" anchor="t" anchorCtr="0">
            <a:spAutoFit/>
          </a:bodyPr>
          <a:lstStyle/>
          <a:p>
            <a:pPr marL="0" lvl="0" indent="0" algn="l" rtl="0">
              <a:lnSpc>
                <a:spcPct val="157142"/>
              </a:lnSpc>
              <a:spcBef>
                <a:spcPts val="0"/>
              </a:spcBef>
              <a:spcAft>
                <a:spcPts val="0"/>
              </a:spcAft>
              <a:buNone/>
            </a:pPr>
            <a:r>
              <a:rPr lang="en" sz="900" dirty="0">
                <a:solidFill>
                  <a:srgbClr val="F5F4F3"/>
                </a:solidFill>
                <a:latin typeface="Roboto"/>
                <a:ea typeface="Roboto"/>
                <a:cs typeface="Roboto"/>
                <a:sym typeface="Roboto"/>
              </a:rPr>
              <a:t>Aerospace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Automotive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Linux Features</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OS Engineering Process</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Safety Architecture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Systems</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 Tools ·</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Lighthouse ·</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Space Grade Linux</a:t>
            </a:r>
            <a:r>
              <a:rPr lang="en" sz="900" dirty="0">
                <a:solidFill>
                  <a:schemeClr val="accent6"/>
                </a:solidFill>
                <a:latin typeface="Roboto"/>
                <a:ea typeface="Roboto"/>
                <a:cs typeface="Roboto"/>
                <a:sym typeface="Roboto"/>
              </a:rPr>
              <a:t> </a:t>
            </a:r>
            <a:endParaRPr sz="900" dirty="0">
              <a:solidFill>
                <a:srgbClr val="F5F4F3"/>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Aerospace Working Group</a:t>
            </a:r>
            <a:endParaRPr dirty="0"/>
          </a:p>
        </p:txBody>
      </p:sp>
      <p:sp>
        <p:nvSpPr>
          <p:cNvPr id="55" name="Google Shape;55;p10"/>
          <p:cNvSpPr txBox="1">
            <a:spLocks noGrp="1"/>
          </p:cNvSpPr>
          <p:nvPr>
            <p:ph type="body" idx="1"/>
          </p:nvPr>
        </p:nvSpPr>
        <p:spPr>
          <a:xfrm>
            <a:off x="311700" y="1152475"/>
            <a:ext cx="8520600" cy="30501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US" dirty="0"/>
              <a:t>Charter:</a:t>
            </a:r>
          </a:p>
          <a:p>
            <a:pPr marL="0" lvl="0" indent="0" algn="l" rtl="0">
              <a:spcBef>
                <a:spcPts val="0"/>
              </a:spcBef>
              <a:spcAft>
                <a:spcPts val="800"/>
              </a:spcAft>
              <a:buNone/>
            </a:pPr>
            <a:r>
              <a:rPr lang="en-US" sz="1600" i="1" dirty="0"/>
              <a:t>“… shall develop use cases to inform and influence Linux architecture and related tools, work to derive technical requirements for avionics operating systems, and seek to enhance and expand avionics software lifecycle processes, practices, and tools to enable use of Linux in avionics systems that are certified to high design assurance levels.”</a:t>
            </a:r>
          </a:p>
          <a:p>
            <a:pPr marL="0" lvl="0" indent="0" algn="l" rtl="0">
              <a:spcBef>
                <a:spcPts val="0"/>
              </a:spcBef>
              <a:spcAft>
                <a:spcPts val="800"/>
              </a:spcAft>
              <a:buNone/>
            </a:pPr>
            <a:endParaRPr i="1" dirty="0"/>
          </a:p>
        </p:txBody>
      </p:sp>
      <p:pic>
        <p:nvPicPr>
          <p:cNvPr id="4" name="Picture 3">
            <a:extLst>
              <a:ext uri="{FF2B5EF4-FFF2-40B4-BE49-F238E27FC236}">
                <a16:creationId xmlns:a16="http://schemas.microsoft.com/office/drawing/2014/main" id="{9AA2C157-7889-83E8-C87B-9FDDDE8D6793}"/>
              </a:ext>
            </a:extLst>
          </p:cNvPr>
          <p:cNvPicPr>
            <a:picLocks noChangeAspect="1"/>
          </p:cNvPicPr>
          <p:nvPr/>
        </p:nvPicPr>
        <p:blipFill>
          <a:blip r:embed="rId3"/>
          <a:stretch>
            <a:fillRect/>
          </a:stretch>
        </p:blipFill>
        <p:spPr>
          <a:xfrm>
            <a:off x="7871540" y="80964"/>
            <a:ext cx="1004136" cy="1004136"/>
          </a:xfrm>
          <a:prstGeom prst="rect">
            <a:avLst/>
          </a:prstGeom>
        </p:spPr>
      </p:pic>
      <p:sp>
        <p:nvSpPr>
          <p:cNvPr id="3" name="Google Shape;70;p11">
            <a:extLst>
              <a:ext uri="{FF2B5EF4-FFF2-40B4-BE49-F238E27FC236}">
                <a16:creationId xmlns:a16="http://schemas.microsoft.com/office/drawing/2014/main" id="{AF145066-02E2-E31C-B70F-6D693B91BCE9}"/>
              </a:ext>
            </a:extLst>
          </p:cNvPr>
          <p:cNvSpPr txBox="1"/>
          <p:nvPr/>
        </p:nvSpPr>
        <p:spPr>
          <a:xfrm>
            <a:off x="1091700" y="4720650"/>
            <a:ext cx="7558500" cy="323100"/>
          </a:xfrm>
          <a:prstGeom prst="rect">
            <a:avLst/>
          </a:prstGeom>
          <a:noFill/>
          <a:ln>
            <a:noFill/>
          </a:ln>
        </p:spPr>
        <p:txBody>
          <a:bodyPr spcFirstLastPara="1" wrap="square" lIns="91425" tIns="91425" rIns="91425" bIns="91425" anchor="t" anchorCtr="0">
            <a:spAutoFit/>
          </a:bodyPr>
          <a:lstStyle/>
          <a:p>
            <a:pPr marL="0" lvl="0" indent="0" algn="l" rtl="0">
              <a:lnSpc>
                <a:spcPct val="157142"/>
              </a:lnSpc>
              <a:spcBef>
                <a:spcPts val="0"/>
              </a:spcBef>
              <a:spcAft>
                <a:spcPts val="0"/>
              </a:spcAft>
              <a:buNone/>
            </a:pPr>
            <a:r>
              <a:rPr lang="en" sz="900" dirty="0">
                <a:solidFill>
                  <a:srgbClr val="F5F4F3"/>
                </a:solidFill>
                <a:latin typeface="Roboto"/>
                <a:ea typeface="Roboto"/>
                <a:cs typeface="Roboto"/>
                <a:sym typeface="Roboto"/>
              </a:rPr>
              <a:t>Aerospace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Automotive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Linux Features</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OS Engineering Process</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Safety Architecture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Systems</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 Tools ·</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Lighthouse ·</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Space Grade Linux</a:t>
            </a:r>
            <a:r>
              <a:rPr lang="en" sz="900" dirty="0">
                <a:solidFill>
                  <a:schemeClr val="accent6"/>
                </a:solidFill>
                <a:latin typeface="Roboto"/>
                <a:ea typeface="Roboto"/>
                <a:cs typeface="Roboto"/>
                <a:sym typeface="Roboto"/>
              </a:rPr>
              <a:t> </a:t>
            </a:r>
            <a:endParaRPr sz="900" dirty="0">
              <a:solidFill>
                <a:srgbClr val="F5F4F3"/>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5DAD23F4-6EE8-4843-6B55-6CA3FB0D059B}"/>
            </a:ext>
          </a:extLst>
        </p:cNvPr>
        <p:cNvGrpSpPr/>
        <p:nvPr/>
      </p:nvGrpSpPr>
      <p:grpSpPr>
        <a:xfrm>
          <a:off x="0" y="0"/>
          <a:ext cx="0" cy="0"/>
          <a:chOff x="0" y="0"/>
          <a:chExt cx="0" cy="0"/>
        </a:xfrm>
      </p:grpSpPr>
      <p:sp>
        <p:nvSpPr>
          <p:cNvPr id="55" name="Google Shape;55;p9">
            <a:extLst>
              <a:ext uri="{FF2B5EF4-FFF2-40B4-BE49-F238E27FC236}">
                <a16:creationId xmlns:a16="http://schemas.microsoft.com/office/drawing/2014/main" id="{5B54DD13-1A35-59B5-C2BF-4E9A491C799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2025 Contributions</a:t>
            </a:r>
            <a:endParaRPr dirty="0"/>
          </a:p>
        </p:txBody>
      </p:sp>
      <p:sp>
        <p:nvSpPr>
          <p:cNvPr id="56" name="Google Shape;56;p9">
            <a:extLst>
              <a:ext uri="{FF2B5EF4-FFF2-40B4-BE49-F238E27FC236}">
                <a16:creationId xmlns:a16="http://schemas.microsoft.com/office/drawing/2014/main" id="{944C1739-20F6-C3F1-E982-B16472023A2B}"/>
              </a:ext>
            </a:extLst>
          </p:cNvPr>
          <p:cNvSpPr txBox="1">
            <a:spLocks noGrp="1"/>
          </p:cNvSpPr>
          <p:nvPr>
            <p:ph type="body" idx="1"/>
          </p:nvPr>
        </p:nvSpPr>
        <p:spPr>
          <a:xfrm>
            <a:off x="311700" y="1017725"/>
            <a:ext cx="8520600" cy="3565672"/>
          </a:xfrm>
          <a:prstGeom prst="rect">
            <a:avLst/>
          </a:prstGeom>
        </p:spPr>
        <p:txBody>
          <a:bodyPr spcFirstLastPara="1" wrap="square" lIns="91425" tIns="91425" rIns="91425" bIns="91425" anchor="t" anchorCtr="0">
            <a:noAutofit/>
          </a:bodyPr>
          <a:lstStyle/>
          <a:p>
            <a:pPr marL="285750" indent="-285750">
              <a:spcAft>
                <a:spcPts val="800"/>
              </a:spcAft>
            </a:pPr>
            <a:r>
              <a:rPr lang="en-US" sz="1800" b="0" i="0" u="none" strike="noStrike" baseline="0" dirty="0">
                <a:solidFill>
                  <a:srgbClr val="434343"/>
                </a:solidFill>
                <a:latin typeface="Roboto" panose="02000000000000000000" pitchFamily="2" charset="0"/>
                <a:ea typeface="Roboto" panose="02000000000000000000" pitchFamily="2" charset="0"/>
                <a:cs typeface="Roboto" panose="02000000000000000000" pitchFamily="2" charset="0"/>
              </a:rPr>
              <a:t>Active participation: (2024 vs. 2025)</a:t>
            </a:r>
          </a:p>
          <a:p>
            <a:pPr marL="742950" lvl="1" indent="-285750">
              <a:lnSpc>
                <a:spcPct val="100000"/>
              </a:lnSpc>
              <a:spcBef>
                <a:spcPts val="100"/>
              </a:spcBef>
              <a:spcAft>
                <a:spcPts val="100"/>
              </a:spcAft>
            </a:pPr>
            <a:r>
              <a:rPr lang="en-US" b="0" i="0" u="none" strike="noStrike" baseline="0" dirty="0">
                <a:solidFill>
                  <a:srgbClr val="434343"/>
                </a:solidFill>
                <a:latin typeface="Roboto" panose="02000000000000000000" pitchFamily="2" charset="0"/>
                <a:ea typeface="Roboto" panose="02000000000000000000" pitchFamily="2" charset="0"/>
                <a:cs typeface="Roboto" panose="02000000000000000000" pitchFamily="2" charset="0"/>
              </a:rPr>
              <a:t>46 </a:t>
            </a:r>
            <a:r>
              <a:rPr lang="en-US" dirty="0">
                <a:latin typeface="Roboto" panose="02000000000000000000" pitchFamily="2" charset="0"/>
                <a:ea typeface="Roboto" panose="02000000000000000000" pitchFamily="2" charset="0"/>
                <a:cs typeface="Roboto" panose="02000000000000000000" pitchFamily="2" charset="0"/>
                <a:sym typeface="Wingdings" panose="05000000000000000000" pitchFamily="2" charset="2"/>
              </a:rPr>
              <a:t> </a:t>
            </a:r>
            <a:r>
              <a:rPr lang="en-US" b="0" i="0" u="none" strike="noStrike" baseline="0" dirty="0">
                <a:solidFill>
                  <a:srgbClr val="434343"/>
                </a:solidFill>
                <a:latin typeface="Roboto" panose="02000000000000000000" pitchFamily="2" charset="0"/>
                <a:ea typeface="Roboto" panose="02000000000000000000" pitchFamily="2" charset="0"/>
                <a:cs typeface="Roboto" panose="02000000000000000000" pitchFamily="2" charset="0"/>
              </a:rPr>
              <a:t>48 unique members attended meetings</a:t>
            </a:r>
            <a:endParaRPr lang="en-US" dirty="0">
              <a:latin typeface="Roboto" panose="02000000000000000000" pitchFamily="2" charset="0"/>
              <a:ea typeface="Roboto" panose="02000000000000000000" pitchFamily="2" charset="0"/>
              <a:cs typeface="Roboto" panose="02000000000000000000" pitchFamily="2" charset="0"/>
            </a:endParaRPr>
          </a:p>
          <a:p>
            <a:pPr marL="1200150" lvl="2" indent="-285750">
              <a:lnSpc>
                <a:spcPct val="100000"/>
              </a:lnSpc>
              <a:spcBef>
                <a:spcPts val="100"/>
              </a:spcBef>
              <a:spcAft>
                <a:spcPts val="100"/>
              </a:spcAft>
            </a:pPr>
            <a:r>
              <a:rPr lang="en-US" b="0" i="0" u="none" strike="noStrike" baseline="0" dirty="0">
                <a:solidFill>
                  <a:srgbClr val="434343"/>
                </a:solidFill>
                <a:latin typeface="Roboto" panose="02000000000000000000" pitchFamily="2" charset="0"/>
                <a:ea typeface="Roboto" panose="02000000000000000000" pitchFamily="2" charset="0"/>
                <a:cs typeface="Roboto" panose="02000000000000000000" pitchFamily="2" charset="0"/>
              </a:rPr>
              <a:t>23</a:t>
            </a:r>
            <a:r>
              <a:rPr lang="en-US" b="0" i="0" u="none" strike="noStrike" baseline="0" dirty="0">
                <a:solidFill>
                  <a:srgbClr val="434343"/>
                </a:solidFill>
                <a:latin typeface="Roboto" panose="02000000000000000000" pitchFamily="2" charset="0"/>
                <a:ea typeface="Roboto" panose="02000000000000000000" pitchFamily="2" charset="0"/>
                <a:cs typeface="Roboto" panose="02000000000000000000" pitchFamily="2" charset="0"/>
                <a:sym typeface="Wingdings" panose="05000000000000000000" pitchFamily="2" charset="2"/>
              </a:rPr>
              <a:t>  </a:t>
            </a:r>
            <a:r>
              <a:rPr lang="en-US" b="0" i="0" u="none" strike="noStrike" baseline="0" dirty="0">
                <a:solidFill>
                  <a:srgbClr val="434343"/>
                </a:solidFill>
                <a:highlight>
                  <a:srgbClr val="00FF00"/>
                </a:highlight>
                <a:latin typeface="Roboto" panose="02000000000000000000" pitchFamily="2" charset="0"/>
                <a:ea typeface="Roboto" panose="02000000000000000000" pitchFamily="2" charset="0"/>
                <a:cs typeface="Roboto" panose="02000000000000000000" pitchFamily="2" charset="0"/>
                <a:sym typeface="Wingdings" panose="05000000000000000000" pitchFamily="2" charset="2"/>
              </a:rPr>
              <a:t>26</a:t>
            </a:r>
            <a:r>
              <a:rPr lang="en-US" b="0" i="0" u="none" strike="noStrike" baseline="0" dirty="0">
                <a:solidFill>
                  <a:srgbClr val="434343"/>
                </a:solidFill>
                <a:latin typeface="Roboto" panose="02000000000000000000" pitchFamily="2" charset="0"/>
                <a:ea typeface="Roboto" panose="02000000000000000000" pitchFamily="2" charset="0"/>
                <a:cs typeface="Roboto" panose="02000000000000000000" pitchFamily="2" charset="0"/>
              </a:rPr>
              <a:t> meetings (Combined Aerospace + SGL)</a:t>
            </a:r>
          </a:p>
          <a:p>
            <a:pPr marL="1200150" lvl="2" indent="-285750">
              <a:lnSpc>
                <a:spcPct val="100000"/>
              </a:lnSpc>
              <a:spcBef>
                <a:spcPts val="100"/>
              </a:spcBef>
              <a:spcAft>
                <a:spcPts val="100"/>
              </a:spcAft>
            </a:pPr>
            <a:r>
              <a:rPr lang="en-US" b="0" i="0" u="none" strike="noStrike" baseline="0" dirty="0">
                <a:solidFill>
                  <a:srgbClr val="434343"/>
                </a:solidFill>
                <a:latin typeface="Roboto" panose="02000000000000000000" pitchFamily="2" charset="0"/>
                <a:ea typeface="Roboto" panose="02000000000000000000" pitchFamily="2" charset="0"/>
                <a:cs typeface="Roboto" panose="02000000000000000000" pitchFamily="2" charset="0"/>
              </a:rPr>
              <a:t>Aerospace average meeting attendance is 8.91 </a:t>
            </a:r>
            <a:r>
              <a:rPr lang="en-US" b="0" i="0" u="none" strike="noStrike" baseline="0" dirty="0">
                <a:solidFill>
                  <a:srgbClr val="434343"/>
                </a:solidFill>
                <a:latin typeface="Roboto" panose="02000000000000000000" pitchFamily="2" charset="0"/>
                <a:ea typeface="Roboto" panose="02000000000000000000" pitchFamily="2" charset="0"/>
                <a:cs typeface="Roboto" panose="02000000000000000000" pitchFamily="2" charset="0"/>
                <a:sym typeface="Wingdings" panose="05000000000000000000" pitchFamily="2" charset="2"/>
              </a:rPr>
              <a:t></a:t>
            </a:r>
            <a:r>
              <a:rPr lang="en-US" b="0" i="0" u="none" strike="noStrike" baseline="0" dirty="0">
                <a:solidFill>
                  <a:srgbClr val="434343"/>
                </a:solidFill>
                <a:latin typeface="Roboto" panose="02000000000000000000" pitchFamily="2" charset="0"/>
                <a:ea typeface="Roboto" panose="02000000000000000000" pitchFamily="2" charset="0"/>
                <a:cs typeface="Roboto" panose="02000000000000000000" pitchFamily="2" charset="0"/>
              </a:rPr>
              <a:t> </a:t>
            </a:r>
            <a:r>
              <a:rPr lang="en-US" b="0" i="0" u="none" strike="noStrike" baseline="0" dirty="0">
                <a:solidFill>
                  <a:srgbClr val="434343"/>
                </a:solidFill>
                <a:highlight>
                  <a:srgbClr val="00FF00"/>
                </a:highlight>
                <a:latin typeface="Roboto" panose="02000000000000000000" pitchFamily="2" charset="0"/>
                <a:ea typeface="Roboto" panose="02000000000000000000" pitchFamily="2" charset="0"/>
                <a:cs typeface="Roboto" panose="02000000000000000000" pitchFamily="2" charset="0"/>
              </a:rPr>
              <a:t>8.7</a:t>
            </a:r>
          </a:p>
          <a:p>
            <a:pPr marL="742950" lvl="1" indent="-285750">
              <a:lnSpc>
                <a:spcPct val="100000"/>
              </a:lnSpc>
              <a:spcBef>
                <a:spcPts val="100"/>
              </a:spcBef>
              <a:spcAft>
                <a:spcPts val="100"/>
              </a:spcAft>
            </a:pPr>
            <a:r>
              <a:rPr lang="en-US" dirty="0">
                <a:highlight>
                  <a:srgbClr val="00FF00"/>
                </a:highlight>
                <a:latin typeface="Roboto" panose="02000000000000000000" pitchFamily="2" charset="0"/>
                <a:ea typeface="Roboto" panose="02000000000000000000" pitchFamily="2" charset="0"/>
                <a:cs typeface="Roboto" panose="02000000000000000000" pitchFamily="2" charset="0"/>
              </a:rPr>
              <a:t>Added a weekly use case demo development call – Average attendance of 4.5</a:t>
            </a:r>
          </a:p>
          <a:p>
            <a:pPr marL="742950" lvl="1" indent="-285750">
              <a:lnSpc>
                <a:spcPct val="100000"/>
              </a:lnSpc>
              <a:spcBef>
                <a:spcPts val="100"/>
              </a:spcBef>
              <a:spcAft>
                <a:spcPts val="100"/>
              </a:spcAft>
            </a:pPr>
            <a:r>
              <a:rPr lang="en-US" b="0" i="0" u="none" strike="noStrike" baseline="0" dirty="0">
                <a:solidFill>
                  <a:srgbClr val="434343"/>
                </a:solidFill>
                <a:highlight>
                  <a:srgbClr val="00FF00"/>
                </a:highlight>
                <a:latin typeface="Roboto" panose="02000000000000000000" pitchFamily="2" charset="0"/>
                <a:ea typeface="Roboto" panose="02000000000000000000" pitchFamily="2" charset="0"/>
                <a:cs typeface="Roboto" panose="02000000000000000000" pitchFamily="2" charset="0"/>
              </a:rPr>
              <a:t>Overall 295 commits from 9 contributors</a:t>
            </a:r>
            <a:endParaRPr lang="en-US" b="0" i="0" u="none" strike="noStrike" baseline="0" dirty="0">
              <a:solidFill>
                <a:srgbClr val="434343"/>
              </a:solidFill>
              <a:latin typeface="Roboto" panose="02000000000000000000" pitchFamily="2" charset="0"/>
              <a:ea typeface="Roboto" panose="02000000000000000000" pitchFamily="2" charset="0"/>
              <a:cs typeface="Roboto" panose="02000000000000000000" pitchFamily="2" charset="0"/>
            </a:endParaRPr>
          </a:p>
          <a:p>
            <a:pPr marL="742950" lvl="1" indent="-285750">
              <a:lnSpc>
                <a:spcPct val="100000"/>
              </a:lnSpc>
              <a:spcBef>
                <a:spcPts val="100"/>
              </a:spcBef>
              <a:spcAft>
                <a:spcPts val="100"/>
              </a:spcAft>
            </a:pPr>
            <a:endParaRPr lang="en-US" sz="800" dirty="0">
              <a:latin typeface="Roboto" panose="02000000000000000000" pitchFamily="2" charset="0"/>
              <a:ea typeface="Roboto" panose="02000000000000000000" pitchFamily="2" charset="0"/>
              <a:cs typeface="Roboto" panose="02000000000000000000" pitchFamily="2" charset="0"/>
            </a:endParaRPr>
          </a:p>
          <a:p>
            <a:pPr marL="285750" indent="-285750">
              <a:lnSpc>
                <a:spcPct val="100000"/>
              </a:lnSpc>
              <a:spcBef>
                <a:spcPts val="100"/>
              </a:spcBef>
              <a:spcAft>
                <a:spcPts val="100"/>
              </a:spcAft>
            </a:pPr>
            <a:r>
              <a:rPr lang="en-US" dirty="0">
                <a:latin typeface="Roboto" panose="02000000000000000000" pitchFamily="2" charset="0"/>
                <a:ea typeface="Roboto" panose="02000000000000000000" pitchFamily="2" charset="0"/>
                <a:cs typeface="Roboto" panose="02000000000000000000" pitchFamily="2" charset="0"/>
              </a:rPr>
              <a:t>Thank you for your contributions of time and knowledge this year!</a:t>
            </a:r>
          </a:p>
          <a:p>
            <a:pPr marL="457200" lvl="1" indent="0">
              <a:lnSpc>
                <a:spcPct val="100000"/>
              </a:lnSpc>
              <a:spcBef>
                <a:spcPts val="100"/>
              </a:spcBef>
              <a:spcAft>
                <a:spcPts val="100"/>
              </a:spcAft>
              <a:buNone/>
            </a:pPr>
            <a:r>
              <a:rPr lang="en-US" sz="800" i="1" dirty="0">
                <a:latin typeface="Roboto" panose="02000000000000000000" pitchFamily="2" charset="0"/>
                <a:ea typeface="Roboto" panose="02000000000000000000" pitchFamily="2" charset="0"/>
                <a:cs typeface="Roboto" panose="02000000000000000000" pitchFamily="2" charset="0"/>
              </a:rPr>
              <a:t>Aerospace Corporation, Astro </a:t>
            </a:r>
            <a:r>
              <a:rPr lang="en-US" sz="800" i="1" dirty="0" err="1">
                <a:latin typeface="Roboto" panose="02000000000000000000" pitchFamily="2" charset="0"/>
                <a:ea typeface="Roboto" panose="02000000000000000000" pitchFamily="2" charset="0"/>
                <a:cs typeface="Roboto" panose="02000000000000000000" pitchFamily="2" charset="0"/>
              </a:rPr>
              <a:t>Mechanica</a:t>
            </a:r>
            <a:r>
              <a:rPr lang="en-US" sz="800" i="1" dirty="0">
                <a:latin typeface="Roboto" panose="02000000000000000000" pitchFamily="2" charset="0"/>
                <a:ea typeface="Roboto" panose="02000000000000000000" pitchFamily="2" charset="0"/>
                <a:cs typeface="Roboto" panose="02000000000000000000" pitchFamily="2" charset="0"/>
              </a:rPr>
              <a:t>, Barcelona Supercomputing Center, Boeing, Collins Aerospace, Coros Space, Czech Aerospace Research Centre, </a:t>
            </a:r>
            <a:r>
              <a:rPr lang="en-US" sz="800" i="1" dirty="0" err="1">
                <a:latin typeface="Roboto" panose="02000000000000000000" pitchFamily="2" charset="0"/>
                <a:ea typeface="Roboto" panose="02000000000000000000" pitchFamily="2" charset="0"/>
                <a:cs typeface="Roboto" panose="02000000000000000000" pitchFamily="2" charset="0"/>
              </a:rPr>
              <a:t>Devstringx</a:t>
            </a:r>
            <a:r>
              <a:rPr lang="en-US" sz="800" i="1" dirty="0">
                <a:latin typeface="Roboto" panose="02000000000000000000" pitchFamily="2" charset="0"/>
                <a:ea typeface="Roboto" panose="02000000000000000000" pitchFamily="2" charset="0"/>
                <a:cs typeface="Roboto" panose="02000000000000000000" pitchFamily="2" charset="0"/>
              </a:rPr>
              <a:t> Technologies, DLR (German Aerospace Center), ESA (European Space Agency), ETAS GmbH, Hamburg University of Technology, KBR @ NASA Ames Research Center, L3Harris, </a:t>
            </a:r>
            <a:r>
              <a:rPr lang="en-US" sz="800" i="1" dirty="0" err="1">
                <a:latin typeface="Roboto" panose="02000000000000000000" pitchFamily="2" charset="0"/>
                <a:ea typeface="Roboto" panose="02000000000000000000" pitchFamily="2" charset="0"/>
                <a:cs typeface="Roboto" panose="02000000000000000000" pitchFamily="2" charset="0"/>
              </a:rPr>
              <a:t>Timesys</a:t>
            </a:r>
            <a:r>
              <a:rPr lang="en-US" sz="800" i="1" dirty="0">
                <a:latin typeface="Roboto" panose="02000000000000000000" pitchFamily="2" charset="0"/>
                <a:ea typeface="Roboto" panose="02000000000000000000" pitchFamily="2" charset="0"/>
                <a:cs typeface="Roboto" panose="02000000000000000000" pitchFamily="2" charset="0"/>
              </a:rPr>
              <a:t>/Lynx Software, Microchip Technology Inc., NASA (various centers including Ames, Goddard, Langley), NXP Semiconductors, </a:t>
            </a:r>
            <a:r>
              <a:rPr lang="en-US" sz="800" i="1" dirty="0" err="1">
                <a:latin typeface="Roboto" panose="02000000000000000000" pitchFamily="2" charset="0"/>
                <a:ea typeface="Roboto" panose="02000000000000000000" pitchFamily="2" charset="0"/>
                <a:cs typeface="Roboto" panose="02000000000000000000" pitchFamily="2" charset="0"/>
              </a:rPr>
              <a:t>OpenEmbedded</a:t>
            </a:r>
            <a:r>
              <a:rPr lang="en-US" sz="800" i="1" dirty="0">
                <a:latin typeface="Roboto" panose="02000000000000000000" pitchFamily="2" charset="0"/>
                <a:ea typeface="Roboto" panose="02000000000000000000" pitchFamily="2" charset="0"/>
                <a:cs typeface="Roboto" panose="02000000000000000000" pitchFamily="2" charset="0"/>
              </a:rPr>
              <a:t>, </a:t>
            </a:r>
            <a:r>
              <a:rPr lang="en-US" sz="800" i="1" dirty="0" err="1">
                <a:latin typeface="Roboto" panose="02000000000000000000" pitchFamily="2" charset="0"/>
                <a:ea typeface="Roboto" panose="02000000000000000000" pitchFamily="2" charset="0"/>
                <a:cs typeface="Roboto" panose="02000000000000000000" pitchFamily="2" charset="0"/>
              </a:rPr>
              <a:t>Rapita</a:t>
            </a:r>
            <a:r>
              <a:rPr lang="en-US" sz="800" i="1" dirty="0">
                <a:latin typeface="Roboto" panose="02000000000000000000" pitchFamily="2" charset="0"/>
                <a:ea typeface="Roboto" panose="02000000000000000000" pitchFamily="2" charset="0"/>
                <a:cs typeface="Roboto" panose="02000000000000000000" pitchFamily="2" charset="0"/>
              </a:rPr>
              <a:t> Systems, Red Hat, Sony, Space </a:t>
            </a:r>
            <a:r>
              <a:rPr lang="en-US" sz="800" i="1" dirty="0" err="1">
                <a:latin typeface="Roboto" panose="02000000000000000000" pitchFamily="2" charset="0"/>
                <a:ea typeface="Roboto" panose="02000000000000000000" pitchFamily="2" charset="0"/>
                <a:cs typeface="Roboto" panose="02000000000000000000" pitchFamily="2" charset="0"/>
              </a:rPr>
              <a:t>Cubics</a:t>
            </a:r>
            <a:r>
              <a:rPr lang="en-US" sz="800" i="1" dirty="0">
                <a:latin typeface="Roboto" panose="02000000000000000000" pitchFamily="2" charset="0"/>
                <a:ea typeface="Roboto" panose="02000000000000000000" pitchFamily="2" charset="0"/>
                <a:cs typeface="Roboto" panose="02000000000000000000" pitchFamily="2" charset="0"/>
              </a:rPr>
              <a:t>, Stoke Space, TII (Technology Innovation Institute), Voyager, Vorago Technologies, Wind River</a:t>
            </a:r>
          </a:p>
          <a:p>
            <a:pPr marL="0" indent="0">
              <a:lnSpc>
                <a:spcPct val="100000"/>
              </a:lnSpc>
              <a:spcBef>
                <a:spcPts val="100"/>
              </a:spcBef>
              <a:spcAft>
                <a:spcPts val="100"/>
              </a:spcAft>
              <a:buNone/>
            </a:pPr>
            <a:endParaRPr lang="en-US" dirty="0">
              <a:latin typeface="Roboto" panose="02000000000000000000" pitchFamily="2" charset="0"/>
              <a:ea typeface="Roboto" panose="02000000000000000000" pitchFamily="2" charset="0"/>
              <a:cs typeface="Roboto" panose="02000000000000000000" pitchFamily="2" charset="0"/>
            </a:endParaRPr>
          </a:p>
          <a:p>
            <a:pPr marL="285750" indent="-285750">
              <a:lnSpc>
                <a:spcPct val="100000"/>
              </a:lnSpc>
              <a:spcBef>
                <a:spcPts val="100"/>
              </a:spcBef>
              <a:spcAft>
                <a:spcPts val="100"/>
              </a:spcAft>
            </a:pPr>
            <a:r>
              <a:rPr lang="en-US" b="0" i="0" u="none" strike="noStrike" baseline="0" dirty="0">
                <a:solidFill>
                  <a:srgbClr val="434343"/>
                </a:solidFill>
                <a:latin typeface="Roboto" panose="02000000000000000000" pitchFamily="2" charset="0"/>
                <a:ea typeface="Roboto" panose="02000000000000000000" pitchFamily="2" charset="0"/>
                <a:cs typeface="Roboto" panose="02000000000000000000" pitchFamily="2" charset="0"/>
              </a:rPr>
              <a:t>Special thanks to those contributing to paper and demo development!</a:t>
            </a:r>
          </a:p>
          <a:p>
            <a:pPr marL="457200" lvl="1" indent="0">
              <a:lnSpc>
                <a:spcPct val="100000"/>
              </a:lnSpc>
              <a:spcBef>
                <a:spcPts val="100"/>
              </a:spcBef>
              <a:spcAft>
                <a:spcPts val="100"/>
              </a:spcAft>
              <a:buNone/>
              <a:defRPr/>
            </a:pPr>
            <a:r>
              <a:rPr lang="en-US" sz="800" i="1" dirty="0">
                <a:latin typeface="Roboto" panose="02000000000000000000" pitchFamily="2" charset="0"/>
                <a:ea typeface="Roboto" panose="02000000000000000000" pitchFamily="2" charset="0"/>
                <a:cs typeface="Roboto" panose="02000000000000000000" pitchFamily="2" charset="0"/>
              </a:rPr>
              <a:t>Barcelona Supercomputing Center, </a:t>
            </a:r>
            <a:r>
              <a:rPr kumimoji="0" lang="en-US" sz="800" b="0" i="1" u="none" strike="noStrike" kern="0" cap="none" spc="0" normalizeH="0" baseline="0" noProof="0" dirty="0">
                <a:ln>
                  <a:noFill/>
                </a:ln>
                <a:solidFill>
                  <a:srgbClr val="434343"/>
                </a:solidFill>
                <a:effectLst/>
                <a:uLnTx/>
                <a:uFillTx/>
                <a:latin typeface="Roboto" panose="02000000000000000000" pitchFamily="2" charset="0"/>
                <a:ea typeface="Roboto" panose="02000000000000000000" pitchFamily="2" charset="0"/>
                <a:cs typeface="Roboto" panose="02000000000000000000" pitchFamily="2" charset="0"/>
                <a:sym typeface="Roboto"/>
              </a:rPr>
              <a:t>Boeing, Collins Aerospace, </a:t>
            </a:r>
            <a:r>
              <a:rPr lang="en-US" sz="800" i="1" dirty="0">
                <a:latin typeface="Roboto" panose="02000000000000000000" pitchFamily="2" charset="0"/>
                <a:ea typeface="Roboto" panose="02000000000000000000" pitchFamily="2" charset="0"/>
                <a:cs typeface="Roboto" panose="02000000000000000000" pitchFamily="2" charset="0"/>
              </a:rPr>
              <a:t>Coros Space, </a:t>
            </a:r>
            <a:r>
              <a:rPr kumimoji="0" lang="en-US" sz="800" b="0" i="1" u="none" strike="noStrike" kern="0" cap="none" spc="0" normalizeH="0" baseline="0" noProof="0" dirty="0" err="1">
                <a:ln>
                  <a:noFill/>
                </a:ln>
                <a:solidFill>
                  <a:srgbClr val="434343"/>
                </a:solidFill>
                <a:effectLst/>
                <a:uLnTx/>
                <a:uFillTx/>
                <a:latin typeface="Roboto" panose="02000000000000000000" pitchFamily="2" charset="0"/>
                <a:ea typeface="Roboto" panose="02000000000000000000" pitchFamily="2" charset="0"/>
                <a:cs typeface="Roboto" panose="02000000000000000000" pitchFamily="2" charset="0"/>
                <a:sym typeface="Roboto"/>
              </a:rPr>
              <a:t>Devstringx</a:t>
            </a:r>
            <a:r>
              <a:rPr kumimoji="0" lang="en-US" sz="800" b="0" i="1" u="none" strike="noStrike" kern="0" cap="none" spc="0" normalizeH="0" baseline="0" noProof="0" dirty="0">
                <a:ln>
                  <a:noFill/>
                </a:ln>
                <a:solidFill>
                  <a:srgbClr val="434343"/>
                </a:solidFill>
                <a:effectLst/>
                <a:uLnTx/>
                <a:uFillTx/>
                <a:latin typeface="Roboto" panose="02000000000000000000" pitchFamily="2" charset="0"/>
                <a:ea typeface="Roboto" panose="02000000000000000000" pitchFamily="2" charset="0"/>
                <a:cs typeface="Roboto" panose="02000000000000000000" pitchFamily="2" charset="0"/>
                <a:sym typeface="Roboto"/>
              </a:rPr>
              <a:t> Technologies, DLR (German Aerospace Center), </a:t>
            </a:r>
            <a:r>
              <a:rPr lang="en-US" sz="800" i="1" dirty="0">
                <a:latin typeface="Roboto" panose="02000000000000000000" pitchFamily="2" charset="0"/>
                <a:ea typeface="Roboto" panose="02000000000000000000" pitchFamily="2" charset="0"/>
                <a:cs typeface="Roboto" panose="02000000000000000000" pitchFamily="2" charset="0"/>
              </a:rPr>
              <a:t>Hamburg University of Technology, KBR @ NASA Ames Research Center, </a:t>
            </a:r>
            <a:r>
              <a:rPr lang="en-US" sz="800" i="1" dirty="0" err="1">
                <a:latin typeface="Roboto" panose="02000000000000000000" pitchFamily="2" charset="0"/>
                <a:ea typeface="Roboto" panose="02000000000000000000" pitchFamily="2" charset="0"/>
                <a:cs typeface="Roboto" panose="02000000000000000000" pitchFamily="2" charset="0"/>
              </a:rPr>
              <a:t>Timesys</a:t>
            </a:r>
            <a:r>
              <a:rPr lang="en-US" sz="800" i="1" dirty="0">
                <a:latin typeface="Roboto" panose="02000000000000000000" pitchFamily="2" charset="0"/>
                <a:ea typeface="Roboto" panose="02000000000000000000" pitchFamily="2" charset="0"/>
                <a:cs typeface="Roboto" panose="02000000000000000000" pitchFamily="2" charset="0"/>
              </a:rPr>
              <a:t>/Lynx Software</a:t>
            </a:r>
            <a:r>
              <a:rPr kumimoji="0" lang="en-US" sz="800" b="0" i="1" u="none" strike="noStrike" kern="0" cap="none" spc="0" normalizeH="0" baseline="0" noProof="0" dirty="0">
                <a:ln>
                  <a:noFill/>
                </a:ln>
                <a:solidFill>
                  <a:srgbClr val="434343"/>
                </a:solidFill>
                <a:effectLst/>
                <a:uLnTx/>
                <a:uFillTx/>
                <a:latin typeface="Roboto" panose="02000000000000000000" pitchFamily="2" charset="0"/>
                <a:ea typeface="Roboto" panose="02000000000000000000" pitchFamily="2" charset="0"/>
                <a:cs typeface="Roboto" panose="02000000000000000000" pitchFamily="2" charset="0"/>
                <a:sym typeface="Roboto"/>
              </a:rPr>
              <a:t>, Wind River</a:t>
            </a:r>
          </a:p>
          <a:p>
            <a:pPr marL="285750" indent="-285750">
              <a:lnSpc>
                <a:spcPct val="100000"/>
              </a:lnSpc>
              <a:spcBef>
                <a:spcPts val="100"/>
              </a:spcBef>
              <a:spcAft>
                <a:spcPts val="100"/>
              </a:spcAft>
            </a:pP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2" name="Google Shape;70;p11">
            <a:extLst>
              <a:ext uri="{FF2B5EF4-FFF2-40B4-BE49-F238E27FC236}">
                <a16:creationId xmlns:a16="http://schemas.microsoft.com/office/drawing/2014/main" id="{313AA1C7-D075-E98A-B031-866DAA03FB5A}"/>
              </a:ext>
            </a:extLst>
          </p:cNvPr>
          <p:cNvSpPr txBox="1"/>
          <p:nvPr/>
        </p:nvSpPr>
        <p:spPr>
          <a:xfrm>
            <a:off x="1091700" y="4720650"/>
            <a:ext cx="7558500" cy="323100"/>
          </a:xfrm>
          <a:prstGeom prst="rect">
            <a:avLst/>
          </a:prstGeom>
          <a:noFill/>
          <a:ln>
            <a:noFill/>
          </a:ln>
        </p:spPr>
        <p:txBody>
          <a:bodyPr spcFirstLastPara="1" wrap="square" lIns="91425" tIns="91425" rIns="91425" bIns="91425" anchor="t" anchorCtr="0">
            <a:spAutoFit/>
          </a:bodyPr>
          <a:lstStyle/>
          <a:p>
            <a:pPr marL="0" lvl="0" indent="0" algn="l" rtl="0">
              <a:lnSpc>
                <a:spcPct val="157142"/>
              </a:lnSpc>
              <a:spcBef>
                <a:spcPts val="0"/>
              </a:spcBef>
              <a:spcAft>
                <a:spcPts val="0"/>
              </a:spcAft>
              <a:buNone/>
            </a:pPr>
            <a:r>
              <a:rPr lang="en" sz="900">
                <a:solidFill>
                  <a:srgbClr val="F5F4F3"/>
                </a:solidFill>
                <a:latin typeface="Roboto"/>
                <a:ea typeface="Roboto"/>
                <a:cs typeface="Roboto"/>
                <a:sym typeface="Roboto"/>
              </a:rPr>
              <a:t>Aerospace</a:t>
            </a:r>
            <a:r>
              <a:rPr lang="en" sz="900">
                <a:solidFill>
                  <a:schemeClr val="accent6"/>
                </a:solidFill>
                <a:latin typeface="Roboto"/>
                <a:ea typeface="Roboto"/>
                <a:cs typeface="Roboto"/>
                <a:sym typeface="Roboto"/>
              </a:rPr>
              <a:t> · </a:t>
            </a:r>
            <a:r>
              <a:rPr lang="en" sz="900">
                <a:solidFill>
                  <a:srgbClr val="F5F4F3"/>
                </a:solidFill>
                <a:latin typeface="Roboto"/>
                <a:ea typeface="Roboto"/>
                <a:cs typeface="Roboto"/>
                <a:sym typeface="Roboto"/>
              </a:rPr>
              <a:t>Automotive</a:t>
            </a:r>
            <a:r>
              <a:rPr lang="en" sz="900">
                <a:solidFill>
                  <a:schemeClr val="accent6"/>
                </a:solidFill>
                <a:latin typeface="Roboto"/>
                <a:ea typeface="Roboto"/>
                <a:cs typeface="Roboto"/>
                <a:sym typeface="Roboto"/>
              </a:rPr>
              <a:t> · </a:t>
            </a:r>
            <a:r>
              <a:rPr lang="en" sz="900">
                <a:solidFill>
                  <a:srgbClr val="F5F4F3"/>
                </a:solidFill>
                <a:latin typeface="Roboto"/>
                <a:ea typeface="Roboto"/>
                <a:cs typeface="Roboto"/>
                <a:sym typeface="Roboto"/>
              </a:rPr>
              <a:t>Linux Features</a:t>
            </a:r>
            <a:r>
              <a:rPr lang="en" sz="900">
                <a:solidFill>
                  <a:schemeClr val="accent6"/>
                </a:solidFill>
                <a:latin typeface="Roboto"/>
                <a:ea typeface="Roboto"/>
                <a:cs typeface="Roboto"/>
                <a:sym typeface="Roboto"/>
              </a:rPr>
              <a:t> · </a:t>
            </a:r>
            <a:r>
              <a:rPr lang="en" sz="900">
                <a:solidFill>
                  <a:srgbClr val="F5F4F3"/>
                </a:solidFill>
                <a:latin typeface="Roboto"/>
                <a:ea typeface="Roboto"/>
                <a:cs typeface="Roboto"/>
                <a:sym typeface="Roboto"/>
              </a:rPr>
              <a:t>OS Engineering Process</a:t>
            </a:r>
            <a:r>
              <a:rPr lang="en" sz="900">
                <a:solidFill>
                  <a:schemeClr val="accent6"/>
                </a:solidFill>
                <a:latin typeface="Roboto"/>
                <a:ea typeface="Roboto"/>
                <a:cs typeface="Roboto"/>
                <a:sym typeface="Roboto"/>
              </a:rPr>
              <a:t> · </a:t>
            </a:r>
            <a:r>
              <a:rPr lang="en" sz="900">
                <a:solidFill>
                  <a:srgbClr val="F5F4F3"/>
                </a:solidFill>
                <a:latin typeface="Roboto"/>
                <a:ea typeface="Roboto"/>
                <a:cs typeface="Roboto"/>
                <a:sym typeface="Roboto"/>
              </a:rPr>
              <a:t>Safety Architecture</a:t>
            </a:r>
            <a:r>
              <a:rPr lang="en" sz="900">
                <a:solidFill>
                  <a:schemeClr val="accent6"/>
                </a:solidFill>
                <a:latin typeface="Roboto"/>
                <a:ea typeface="Roboto"/>
                <a:cs typeface="Roboto"/>
                <a:sym typeface="Roboto"/>
              </a:rPr>
              <a:t> · </a:t>
            </a:r>
            <a:r>
              <a:rPr lang="en" sz="900">
                <a:solidFill>
                  <a:srgbClr val="F5F4F3"/>
                </a:solidFill>
                <a:latin typeface="Roboto"/>
                <a:ea typeface="Roboto"/>
                <a:cs typeface="Roboto"/>
                <a:sym typeface="Roboto"/>
              </a:rPr>
              <a:t>Systems</a:t>
            </a:r>
            <a:r>
              <a:rPr lang="en" sz="900">
                <a:solidFill>
                  <a:schemeClr val="accent6"/>
                </a:solidFill>
                <a:latin typeface="Roboto"/>
                <a:ea typeface="Roboto"/>
                <a:cs typeface="Roboto"/>
                <a:sym typeface="Roboto"/>
              </a:rPr>
              <a:t> ·</a:t>
            </a:r>
            <a:r>
              <a:rPr lang="en" sz="900">
                <a:solidFill>
                  <a:srgbClr val="F5F4F3"/>
                </a:solidFill>
                <a:latin typeface="Roboto"/>
                <a:ea typeface="Roboto"/>
                <a:cs typeface="Roboto"/>
                <a:sym typeface="Roboto"/>
              </a:rPr>
              <a:t> Tools ·</a:t>
            </a:r>
            <a:r>
              <a:rPr lang="en" sz="900">
                <a:solidFill>
                  <a:schemeClr val="accent6"/>
                </a:solidFill>
                <a:latin typeface="Roboto"/>
                <a:ea typeface="Roboto"/>
                <a:cs typeface="Roboto"/>
                <a:sym typeface="Roboto"/>
              </a:rPr>
              <a:t>  </a:t>
            </a:r>
            <a:r>
              <a:rPr lang="en" sz="900">
                <a:solidFill>
                  <a:srgbClr val="F5F4F3"/>
                </a:solidFill>
                <a:latin typeface="Roboto"/>
                <a:ea typeface="Roboto"/>
                <a:cs typeface="Roboto"/>
                <a:sym typeface="Roboto"/>
              </a:rPr>
              <a:t>Lighthouse ·</a:t>
            </a:r>
            <a:r>
              <a:rPr lang="en" sz="900">
                <a:solidFill>
                  <a:schemeClr val="accent6"/>
                </a:solidFill>
                <a:latin typeface="Roboto"/>
                <a:ea typeface="Roboto"/>
                <a:cs typeface="Roboto"/>
                <a:sym typeface="Roboto"/>
              </a:rPr>
              <a:t> </a:t>
            </a:r>
            <a:r>
              <a:rPr lang="en" sz="900">
                <a:solidFill>
                  <a:srgbClr val="F5F4F3"/>
                </a:solidFill>
                <a:latin typeface="Roboto"/>
                <a:ea typeface="Roboto"/>
                <a:cs typeface="Roboto"/>
                <a:sym typeface="Roboto"/>
              </a:rPr>
              <a:t>Space Grade Linux</a:t>
            </a:r>
            <a:r>
              <a:rPr lang="en" sz="900">
                <a:solidFill>
                  <a:schemeClr val="accent6"/>
                </a:solidFill>
                <a:latin typeface="Roboto"/>
                <a:ea typeface="Roboto"/>
                <a:cs typeface="Roboto"/>
                <a:sym typeface="Roboto"/>
              </a:rPr>
              <a:t> </a:t>
            </a:r>
            <a:endParaRPr sz="900">
              <a:solidFill>
                <a:srgbClr val="F5F4F3"/>
              </a:solidFill>
              <a:latin typeface="Roboto"/>
              <a:ea typeface="Roboto"/>
              <a:cs typeface="Roboto"/>
              <a:sym typeface="Roboto"/>
            </a:endParaRPr>
          </a:p>
        </p:txBody>
      </p:sp>
      <p:pic>
        <p:nvPicPr>
          <p:cNvPr id="5" name="Picture 4">
            <a:extLst>
              <a:ext uri="{FF2B5EF4-FFF2-40B4-BE49-F238E27FC236}">
                <a16:creationId xmlns:a16="http://schemas.microsoft.com/office/drawing/2014/main" id="{831637C9-7BB5-8D16-0DF3-3FC49C0D46B4}"/>
              </a:ext>
            </a:extLst>
          </p:cNvPr>
          <p:cNvPicPr>
            <a:picLocks noChangeAspect="1"/>
          </p:cNvPicPr>
          <p:nvPr/>
        </p:nvPicPr>
        <p:blipFill>
          <a:blip r:embed="rId3"/>
          <a:stretch>
            <a:fillRect/>
          </a:stretch>
        </p:blipFill>
        <p:spPr>
          <a:xfrm>
            <a:off x="5567083" y="357241"/>
            <a:ext cx="3160828" cy="1046461"/>
          </a:xfrm>
          <a:prstGeom prst="rect">
            <a:avLst/>
          </a:prstGeom>
        </p:spPr>
      </p:pic>
    </p:spTree>
    <p:extLst>
      <p:ext uri="{BB962C8B-B14F-4D97-AF65-F5344CB8AC3E}">
        <p14:creationId xmlns:p14="http://schemas.microsoft.com/office/powerpoint/2010/main" val="655663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4425E30B-D7C0-12B3-396C-B0700BFA1642}"/>
            </a:ext>
          </a:extLst>
        </p:cNvPr>
        <p:cNvGrpSpPr/>
        <p:nvPr/>
      </p:nvGrpSpPr>
      <p:grpSpPr>
        <a:xfrm>
          <a:off x="0" y="0"/>
          <a:ext cx="0" cy="0"/>
          <a:chOff x="0" y="0"/>
          <a:chExt cx="0" cy="0"/>
        </a:xfrm>
      </p:grpSpPr>
      <p:sp>
        <p:nvSpPr>
          <p:cNvPr id="15" name="Google Shape;56;p9">
            <a:extLst>
              <a:ext uri="{FF2B5EF4-FFF2-40B4-BE49-F238E27FC236}">
                <a16:creationId xmlns:a16="http://schemas.microsoft.com/office/drawing/2014/main" id="{CD0F4D44-D576-AFB5-EC1F-6DCC0D6661D6}"/>
              </a:ext>
            </a:extLst>
          </p:cNvPr>
          <p:cNvSpPr txBox="1">
            <a:spLocks/>
          </p:cNvSpPr>
          <p:nvPr/>
        </p:nvSpPr>
        <p:spPr>
          <a:xfrm>
            <a:off x="4996542" y="846699"/>
            <a:ext cx="4041321" cy="304766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4000"/>
              </a:lnSpc>
              <a:spcBef>
                <a:spcPts val="0"/>
              </a:spcBef>
              <a:spcAft>
                <a:spcPts val="0"/>
              </a:spcAft>
              <a:buClr>
                <a:srgbClr val="434343"/>
              </a:buClr>
              <a:buSzPts val="1800"/>
              <a:buFont typeface="Roboto"/>
              <a:buChar char="●"/>
              <a:defRPr sz="1800" b="0" i="0" u="none" strike="noStrike" cap="none">
                <a:solidFill>
                  <a:srgbClr val="434343"/>
                </a:solidFill>
                <a:latin typeface="Roboto"/>
                <a:ea typeface="Roboto"/>
                <a:cs typeface="Roboto"/>
                <a:sym typeface="Roboto"/>
              </a:defRPr>
            </a:lvl1pPr>
            <a:lvl2pPr marL="914400" marR="0" lvl="1" indent="-317500" algn="l" rtl="0">
              <a:lnSpc>
                <a:spcPct val="114000"/>
              </a:lnSpc>
              <a:spcBef>
                <a:spcPts val="8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2pPr>
            <a:lvl3pPr marL="1371600" marR="0" lvl="2" indent="-317500" algn="l" rtl="0">
              <a:lnSpc>
                <a:spcPct val="114000"/>
              </a:lnSpc>
              <a:spcBef>
                <a:spcPts val="8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3pPr>
            <a:lvl4pPr marL="1828800" marR="0" lvl="3" indent="-317500" algn="l" rtl="0">
              <a:lnSpc>
                <a:spcPct val="114000"/>
              </a:lnSpc>
              <a:spcBef>
                <a:spcPts val="8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4pPr>
            <a:lvl5pPr marL="2286000" marR="0" lvl="4" indent="-317500" algn="l" rtl="0">
              <a:lnSpc>
                <a:spcPct val="114000"/>
              </a:lnSpc>
              <a:spcBef>
                <a:spcPts val="8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5pPr>
            <a:lvl6pPr marL="2743200" marR="0" lvl="5" indent="-317500" algn="l" rtl="0">
              <a:lnSpc>
                <a:spcPct val="114000"/>
              </a:lnSpc>
              <a:spcBef>
                <a:spcPts val="8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6pPr>
            <a:lvl7pPr marL="3200400" marR="0" lvl="6" indent="-317500" algn="l" rtl="0">
              <a:lnSpc>
                <a:spcPct val="114000"/>
              </a:lnSpc>
              <a:spcBef>
                <a:spcPts val="8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7pPr>
            <a:lvl8pPr marL="3657600" marR="0" lvl="7" indent="-317500" algn="l" rtl="0">
              <a:lnSpc>
                <a:spcPct val="114000"/>
              </a:lnSpc>
              <a:spcBef>
                <a:spcPts val="8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8pPr>
            <a:lvl9pPr marL="4114800" marR="0" lvl="8" indent="-317500" algn="l" rtl="0">
              <a:lnSpc>
                <a:spcPct val="114000"/>
              </a:lnSpc>
              <a:spcBef>
                <a:spcPts val="800"/>
              </a:spcBef>
              <a:spcAft>
                <a:spcPts val="800"/>
              </a:spcAft>
              <a:buClr>
                <a:srgbClr val="434343"/>
              </a:buClr>
              <a:buSzPts val="1400"/>
              <a:buFont typeface="Roboto"/>
              <a:buChar char="■"/>
              <a:defRPr sz="1400" b="0" i="0" u="none" strike="noStrike" cap="none">
                <a:solidFill>
                  <a:srgbClr val="434343"/>
                </a:solidFill>
                <a:latin typeface="Roboto"/>
                <a:ea typeface="Roboto"/>
                <a:cs typeface="Roboto"/>
                <a:sym typeface="Roboto"/>
              </a:defRPr>
            </a:lvl9pPr>
          </a:lstStyle>
          <a:p>
            <a:pPr marL="285750" lvl="2"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Restarted a monthly “Industry Paper” call</a:t>
            </a:r>
          </a:p>
          <a:p>
            <a:pPr marL="285750" lvl="2" indent="-285750">
              <a:lnSpc>
                <a:spcPct val="100000"/>
              </a:lnSpc>
              <a:spcBef>
                <a:spcPts val="0"/>
              </a:spcBef>
              <a:spcAft>
                <a:spcPts val="600"/>
              </a:spcAft>
              <a:buFont typeface="Arial" panose="020B0604020202020204" pitchFamily="34" charset="0"/>
              <a:buChar char="•"/>
            </a:pPr>
            <a:endParaRPr lang="en-US" dirty="0">
              <a:latin typeface="Roboto" panose="02000000000000000000" pitchFamily="2" charset="0"/>
              <a:ea typeface="Roboto" panose="02000000000000000000" pitchFamily="2" charset="0"/>
              <a:cs typeface="Roboto" panose="02000000000000000000" pitchFamily="2" charset="0"/>
            </a:endParaRPr>
          </a:p>
          <a:p>
            <a:pPr marL="285750" lvl="2" indent="-285750">
              <a:lnSpc>
                <a:spcPct val="100000"/>
              </a:lnSpc>
              <a:spcBef>
                <a:spcPts val="0"/>
              </a:spcBef>
              <a:spcAft>
                <a:spcPts val="600"/>
              </a:spcAft>
              <a:buFont typeface="Arial" panose="020B0604020202020204" pitchFamily="34" charset="0"/>
              <a:buChar char="•"/>
            </a:pPr>
            <a:endParaRPr lang="en-US" dirty="0">
              <a:latin typeface="Roboto" panose="02000000000000000000" pitchFamily="2" charset="0"/>
              <a:ea typeface="Roboto" panose="02000000000000000000" pitchFamily="2" charset="0"/>
              <a:cs typeface="Roboto" panose="02000000000000000000" pitchFamily="2" charset="0"/>
            </a:endParaRPr>
          </a:p>
          <a:p>
            <a:pPr marL="285750" lvl="2" indent="-285750">
              <a:lnSpc>
                <a:spcPct val="100000"/>
              </a:lnSpc>
              <a:spcBef>
                <a:spcPts val="0"/>
              </a:spcBef>
              <a:spcAft>
                <a:spcPts val="600"/>
              </a:spcAft>
              <a:buFont typeface="Arial" panose="020B0604020202020204" pitchFamily="34" charset="0"/>
              <a:buChar char="•"/>
            </a:pPr>
            <a:endParaRPr lang="en-US" dirty="0">
              <a:latin typeface="Roboto" panose="02000000000000000000" pitchFamily="2" charset="0"/>
              <a:ea typeface="Roboto" panose="02000000000000000000" pitchFamily="2" charset="0"/>
              <a:cs typeface="Roboto" panose="02000000000000000000" pitchFamily="2" charset="0"/>
            </a:endParaRPr>
          </a:p>
          <a:p>
            <a:pPr marL="285750" lvl="2" indent="-285750">
              <a:lnSpc>
                <a:spcPct val="100000"/>
              </a:lnSpc>
              <a:spcBef>
                <a:spcPts val="0"/>
              </a:spcBef>
              <a:spcAft>
                <a:spcPts val="600"/>
              </a:spcAft>
              <a:buFont typeface="Arial" panose="020B0604020202020204" pitchFamily="34" charset="0"/>
              <a:buChar char="•"/>
            </a:pPr>
            <a:endParaRPr lang="en-US" dirty="0">
              <a:latin typeface="Roboto" panose="02000000000000000000" pitchFamily="2" charset="0"/>
              <a:ea typeface="Roboto" panose="02000000000000000000" pitchFamily="2" charset="0"/>
              <a:cs typeface="Roboto" panose="02000000000000000000" pitchFamily="2" charset="0"/>
            </a:endParaRPr>
          </a:p>
          <a:p>
            <a:pPr marL="285750" lvl="2" indent="-285750">
              <a:lnSpc>
                <a:spcPct val="100000"/>
              </a:lnSpc>
              <a:spcBef>
                <a:spcPts val="0"/>
              </a:spcBef>
              <a:spcAft>
                <a:spcPts val="600"/>
              </a:spcAft>
              <a:buFont typeface="Arial" panose="020B0604020202020204" pitchFamily="34" charset="0"/>
              <a:buChar char="•"/>
            </a:pPr>
            <a:endParaRPr lang="en-US" dirty="0">
              <a:latin typeface="Roboto" panose="02000000000000000000" pitchFamily="2" charset="0"/>
              <a:ea typeface="Roboto" panose="02000000000000000000" pitchFamily="2" charset="0"/>
              <a:cs typeface="Roboto" panose="02000000000000000000" pitchFamily="2" charset="0"/>
            </a:endParaRPr>
          </a:p>
          <a:p>
            <a:pPr marL="285750" lvl="2"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Iain Galloway(NXP) presented on ASIL-D activities with robotics</a:t>
            </a:r>
          </a:p>
          <a:p>
            <a:pPr marL="285750" lvl="2" indent="-285750">
              <a:lnSpc>
                <a:spcPct val="100000"/>
              </a:lnSpc>
              <a:spcBef>
                <a:spcPts val="0"/>
              </a:spcBef>
              <a:spcAft>
                <a:spcPts val="600"/>
              </a:spcAft>
              <a:buFont typeface="Arial" panose="020B0604020202020204" pitchFamily="34" charset="0"/>
              <a:buChar char="•"/>
            </a:pPr>
            <a:endParaRPr lang="en-US" dirty="0">
              <a:latin typeface="Roboto" panose="02000000000000000000" pitchFamily="2" charset="0"/>
              <a:ea typeface="Roboto" panose="02000000000000000000" pitchFamily="2" charset="0"/>
              <a:cs typeface="Roboto" panose="02000000000000000000" pitchFamily="2" charset="0"/>
            </a:endParaRPr>
          </a:p>
          <a:p>
            <a:pPr marL="285750" lvl="2"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ELISA SystemWG presented on reference systems work and </a:t>
            </a:r>
            <a:r>
              <a:rPr lang="en-US" dirty="0" err="1">
                <a:latin typeface="Roboto" panose="02000000000000000000" pitchFamily="2" charset="0"/>
                <a:ea typeface="Roboto" panose="02000000000000000000" pitchFamily="2" charset="0"/>
                <a:cs typeface="Roboto" panose="02000000000000000000" pitchFamily="2" charset="0"/>
                <a:hlinkClick r:id="rId3"/>
              </a:rPr>
              <a:t>SoDev</a:t>
            </a:r>
            <a:endParaRPr lang="en-US" dirty="0">
              <a:latin typeface="Roboto" panose="02000000000000000000" pitchFamily="2" charset="0"/>
              <a:ea typeface="Roboto" panose="02000000000000000000" pitchFamily="2" charset="0"/>
              <a:cs typeface="Roboto" panose="02000000000000000000" pitchFamily="2" charset="0"/>
            </a:endParaRPr>
          </a:p>
          <a:p>
            <a:pPr marL="285750" indent="-285750">
              <a:spcAft>
                <a:spcPts val="800"/>
              </a:spcAft>
            </a:pP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55" name="Google Shape;55;p9">
            <a:extLst>
              <a:ext uri="{FF2B5EF4-FFF2-40B4-BE49-F238E27FC236}">
                <a16:creationId xmlns:a16="http://schemas.microsoft.com/office/drawing/2014/main" id="{C08EF87D-D5AF-40DD-D7F7-B431A1334627}"/>
              </a:ext>
            </a:extLst>
          </p:cNvPr>
          <p:cNvSpPr txBox="1">
            <a:spLocks noGrp="1"/>
          </p:cNvSpPr>
          <p:nvPr>
            <p:ph type="title"/>
          </p:nvPr>
        </p:nvSpPr>
        <p:spPr>
          <a:xfrm>
            <a:off x="311700" y="277586"/>
            <a:ext cx="8520600" cy="74013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2025 Achievements</a:t>
            </a:r>
            <a:endParaRPr dirty="0"/>
          </a:p>
        </p:txBody>
      </p:sp>
      <p:sp>
        <p:nvSpPr>
          <p:cNvPr id="56" name="Google Shape;56;p9">
            <a:extLst>
              <a:ext uri="{FF2B5EF4-FFF2-40B4-BE49-F238E27FC236}">
                <a16:creationId xmlns:a16="http://schemas.microsoft.com/office/drawing/2014/main" id="{66316709-AF28-EED3-6902-20E798A02FE8}"/>
              </a:ext>
            </a:extLst>
          </p:cNvPr>
          <p:cNvSpPr txBox="1">
            <a:spLocks noGrp="1"/>
          </p:cNvSpPr>
          <p:nvPr>
            <p:ph type="body" idx="1"/>
          </p:nvPr>
        </p:nvSpPr>
        <p:spPr>
          <a:xfrm>
            <a:off x="311701" y="846699"/>
            <a:ext cx="4260300" cy="3355876"/>
          </a:xfrm>
          <a:prstGeom prst="rect">
            <a:avLst/>
          </a:prstGeom>
        </p:spPr>
        <p:txBody>
          <a:bodyPr spcFirstLastPara="1" wrap="square" lIns="91425" tIns="91425" rIns="91425" bIns="91425" anchor="t" anchorCtr="0">
            <a:noAutofit/>
          </a:bodyPr>
          <a:lstStyle/>
          <a:p>
            <a:pPr marL="285750" lvl="1"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Presented at the </a:t>
            </a:r>
            <a:r>
              <a:rPr lang="en-US" dirty="0">
                <a:latin typeface="Roboto" panose="02000000000000000000" pitchFamily="2" charset="0"/>
                <a:ea typeface="Roboto" panose="02000000000000000000" pitchFamily="2" charset="0"/>
                <a:cs typeface="Roboto" panose="02000000000000000000" pitchFamily="2" charset="0"/>
                <a:hlinkClick r:id="rId4"/>
              </a:rPr>
              <a:t>Munich workshop </a:t>
            </a:r>
            <a:endParaRPr lang="en-US" dirty="0">
              <a:latin typeface="Roboto" panose="02000000000000000000" pitchFamily="2" charset="0"/>
              <a:ea typeface="Roboto" panose="02000000000000000000" pitchFamily="2" charset="0"/>
              <a:cs typeface="Roboto" panose="02000000000000000000" pitchFamily="2" charset="0"/>
            </a:endParaRPr>
          </a:p>
          <a:p>
            <a:pPr marL="742950" lvl="3"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“Industry Safety Levels vs Use Cases”</a:t>
            </a:r>
          </a:p>
          <a:p>
            <a:pPr marL="742950" lvl="3" indent="-285750">
              <a:lnSpc>
                <a:spcPct val="100000"/>
              </a:lnSpc>
              <a:spcBef>
                <a:spcPts val="0"/>
              </a:spcBef>
              <a:spcAft>
                <a:spcPts val="600"/>
              </a:spcAft>
              <a:buFont typeface="Arial" panose="020B0604020202020204" pitchFamily="34" charset="0"/>
              <a:buChar char="•"/>
            </a:pPr>
            <a:endParaRPr lang="en-US" dirty="0">
              <a:latin typeface="Roboto" panose="02000000000000000000" pitchFamily="2" charset="0"/>
              <a:ea typeface="Roboto" panose="02000000000000000000" pitchFamily="2" charset="0"/>
              <a:cs typeface="Roboto" panose="02000000000000000000" pitchFamily="2" charset="0"/>
            </a:endParaRPr>
          </a:p>
          <a:p>
            <a:pPr marL="742950" lvl="3" indent="-285750">
              <a:lnSpc>
                <a:spcPct val="100000"/>
              </a:lnSpc>
              <a:spcBef>
                <a:spcPts val="0"/>
              </a:spcBef>
              <a:spcAft>
                <a:spcPts val="600"/>
              </a:spcAft>
              <a:buFont typeface="Arial" panose="020B0604020202020204" pitchFamily="34" charset="0"/>
              <a:buChar char="•"/>
            </a:pPr>
            <a:endParaRPr lang="en-US" dirty="0">
              <a:latin typeface="Roboto" panose="02000000000000000000" pitchFamily="2" charset="0"/>
              <a:ea typeface="Roboto" panose="02000000000000000000" pitchFamily="2" charset="0"/>
              <a:cs typeface="Roboto" panose="02000000000000000000" pitchFamily="2" charset="0"/>
            </a:endParaRPr>
          </a:p>
          <a:p>
            <a:pPr marL="742950" lvl="3" indent="-285750">
              <a:lnSpc>
                <a:spcPct val="100000"/>
              </a:lnSpc>
              <a:spcBef>
                <a:spcPts val="0"/>
              </a:spcBef>
              <a:spcAft>
                <a:spcPts val="600"/>
              </a:spcAft>
              <a:buFont typeface="Arial" panose="020B0604020202020204" pitchFamily="34" charset="0"/>
              <a:buChar char="•"/>
            </a:pPr>
            <a:endParaRPr lang="en-US" dirty="0">
              <a:latin typeface="Roboto" panose="02000000000000000000" pitchFamily="2" charset="0"/>
              <a:ea typeface="Roboto" panose="02000000000000000000" pitchFamily="2" charset="0"/>
              <a:cs typeface="Roboto" panose="02000000000000000000" pitchFamily="2" charset="0"/>
            </a:endParaRPr>
          </a:p>
          <a:p>
            <a:pPr marL="742950" lvl="3" indent="-285750">
              <a:lnSpc>
                <a:spcPct val="100000"/>
              </a:lnSpc>
              <a:spcBef>
                <a:spcPts val="0"/>
              </a:spcBef>
              <a:spcAft>
                <a:spcPts val="600"/>
              </a:spcAft>
              <a:buFont typeface="Arial" panose="020B0604020202020204" pitchFamily="34" charset="0"/>
              <a:buChar char="•"/>
            </a:pPr>
            <a:endParaRPr lang="en-US" dirty="0">
              <a:latin typeface="Roboto" panose="02000000000000000000" pitchFamily="2" charset="0"/>
              <a:ea typeface="Roboto" panose="02000000000000000000" pitchFamily="2" charset="0"/>
              <a:cs typeface="Roboto" panose="02000000000000000000" pitchFamily="2" charset="0"/>
            </a:endParaRPr>
          </a:p>
          <a:p>
            <a:pPr marL="742950" lvl="3"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“Research questions and publication directions of Aerospace WG”</a:t>
            </a:r>
          </a:p>
          <a:p>
            <a:pPr marL="0" lvl="2" indent="0">
              <a:lnSpc>
                <a:spcPct val="100000"/>
              </a:lnSpc>
              <a:spcBef>
                <a:spcPts val="0"/>
              </a:spcBef>
              <a:spcAft>
                <a:spcPts val="600"/>
              </a:spcAft>
              <a:buNone/>
            </a:pPr>
            <a:endParaRPr lang="en-US" dirty="0">
              <a:latin typeface="Roboto" panose="02000000000000000000" pitchFamily="2" charset="0"/>
              <a:ea typeface="Roboto" panose="02000000000000000000" pitchFamily="2" charset="0"/>
              <a:cs typeface="Roboto" panose="02000000000000000000" pitchFamily="2" charset="0"/>
            </a:endParaRPr>
          </a:p>
          <a:p>
            <a:pPr marL="285750" indent="-285750">
              <a:spcAft>
                <a:spcPts val="800"/>
              </a:spcAft>
            </a:pPr>
            <a:endParaRPr dirty="0">
              <a:latin typeface="Roboto" panose="02000000000000000000" pitchFamily="2" charset="0"/>
              <a:ea typeface="Roboto" panose="02000000000000000000" pitchFamily="2" charset="0"/>
              <a:cs typeface="Roboto" panose="02000000000000000000" pitchFamily="2" charset="0"/>
            </a:endParaRPr>
          </a:p>
        </p:txBody>
      </p:sp>
      <p:sp>
        <p:nvSpPr>
          <p:cNvPr id="2" name="Google Shape;70;p11">
            <a:extLst>
              <a:ext uri="{FF2B5EF4-FFF2-40B4-BE49-F238E27FC236}">
                <a16:creationId xmlns:a16="http://schemas.microsoft.com/office/drawing/2014/main" id="{91A8BFF8-C9A6-4425-63B8-DEC6D4EB97A6}"/>
              </a:ext>
            </a:extLst>
          </p:cNvPr>
          <p:cNvSpPr txBox="1"/>
          <p:nvPr/>
        </p:nvSpPr>
        <p:spPr>
          <a:xfrm>
            <a:off x="1091700" y="4720650"/>
            <a:ext cx="7558500" cy="323100"/>
          </a:xfrm>
          <a:prstGeom prst="rect">
            <a:avLst/>
          </a:prstGeom>
          <a:noFill/>
          <a:ln>
            <a:noFill/>
          </a:ln>
        </p:spPr>
        <p:txBody>
          <a:bodyPr spcFirstLastPara="1" wrap="square" lIns="91425" tIns="91425" rIns="91425" bIns="91425" anchor="t" anchorCtr="0">
            <a:spAutoFit/>
          </a:bodyPr>
          <a:lstStyle/>
          <a:p>
            <a:pPr marL="0" lvl="0" indent="0" algn="l" rtl="0">
              <a:lnSpc>
                <a:spcPct val="157142"/>
              </a:lnSpc>
              <a:spcBef>
                <a:spcPts val="0"/>
              </a:spcBef>
              <a:spcAft>
                <a:spcPts val="0"/>
              </a:spcAft>
              <a:buNone/>
            </a:pPr>
            <a:r>
              <a:rPr lang="en" sz="900" dirty="0">
                <a:solidFill>
                  <a:srgbClr val="F5F4F3"/>
                </a:solidFill>
                <a:latin typeface="Roboto"/>
                <a:ea typeface="Roboto"/>
                <a:cs typeface="Roboto"/>
                <a:sym typeface="Roboto"/>
              </a:rPr>
              <a:t>Aerospace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Automotive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Linux Features</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OS Engineering Process</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Safety Architecture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Systems</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 Tools ·</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Lighthouse ·</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Space Grade Linux</a:t>
            </a:r>
            <a:r>
              <a:rPr lang="en" sz="900" dirty="0">
                <a:solidFill>
                  <a:schemeClr val="accent6"/>
                </a:solidFill>
                <a:latin typeface="Roboto"/>
                <a:ea typeface="Roboto"/>
                <a:cs typeface="Roboto"/>
                <a:sym typeface="Roboto"/>
              </a:rPr>
              <a:t> </a:t>
            </a:r>
            <a:endParaRPr sz="900" dirty="0">
              <a:solidFill>
                <a:srgbClr val="F5F4F3"/>
              </a:solidFill>
              <a:latin typeface="Roboto"/>
              <a:ea typeface="Roboto"/>
              <a:cs typeface="Roboto"/>
              <a:sym typeface="Roboto"/>
            </a:endParaRPr>
          </a:p>
        </p:txBody>
      </p:sp>
      <p:pic>
        <p:nvPicPr>
          <p:cNvPr id="7" name="Picture 6">
            <a:extLst>
              <a:ext uri="{FF2B5EF4-FFF2-40B4-BE49-F238E27FC236}">
                <a16:creationId xmlns:a16="http://schemas.microsoft.com/office/drawing/2014/main" id="{8BFFCE18-1C64-785E-FF31-B44B0C4B12B5}"/>
              </a:ext>
            </a:extLst>
          </p:cNvPr>
          <p:cNvPicPr>
            <a:picLocks noChangeAspect="1"/>
          </p:cNvPicPr>
          <p:nvPr/>
        </p:nvPicPr>
        <p:blipFill>
          <a:blip r:embed="rId5"/>
          <a:stretch>
            <a:fillRect/>
          </a:stretch>
        </p:blipFill>
        <p:spPr>
          <a:xfrm>
            <a:off x="1590347" y="1533152"/>
            <a:ext cx="1859376" cy="1030685"/>
          </a:xfrm>
          <a:prstGeom prst="rect">
            <a:avLst/>
          </a:prstGeom>
          <a:ln>
            <a:solidFill>
              <a:schemeClr val="accent1">
                <a:shade val="95000"/>
                <a:satMod val="105000"/>
              </a:schemeClr>
            </a:solidFill>
          </a:ln>
        </p:spPr>
      </p:pic>
      <p:pic>
        <p:nvPicPr>
          <p:cNvPr id="9" name="Picture 8">
            <a:extLst>
              <a:ext uri="{FF2B5EF4-FFF2-40B4-BE49-F238E27FC236}">
                <a16:creationId xmlns:a16="http://schemas.microsoft.com/office/drawing/2014/main" id="{F0EF3DCE-894C-ADCB-B452-8BF840C278A7}"/>
              </a:ext>
            </a:extLst>
          </p:cNvPr>
          <p:cNvPicPr>
            <a:picLocks noChangeAspect="1"/>
          </p:cNvPicPr>
          <p:nvPr/>
        </p:nvPicPr>
        <p:blipFill>
          <a:blip r:embed="rId6"/>
          <a:stretch>
            <a:fillRect/>
          </a:stretch>
        </p:blipFill>
        <p:spPr>
          <a:xfrm>
            <a:off x="1644216" y="3330072"/>
            <a:ext cx="1805507" cy="1245178"/>
          </a:xfrm>
          <a:prstGeom prst="rect">
            <a:avLst/>
          </a:prstGeom>
          <a:ln>
            <a:solidFill>
              <a:schemeClr val="accent1">
                <a:shade val="95000"/>
                <a:satMod val="105000"/>
              </a:schemeClr>
            </a:solidFill>
          </a:ln>
        </p:spPr>
      </p:pic>
      <p:pic>
        <p:nvPicPr>
          <p:cNvPr id="16" name="Picture 15">
            <a:extLst>
              <a:ext uri="{FF2B5EF4-FFF2-40B4-BE49-F238E27FC236}">
                <a16:creationId xmlns:a16="http://schemas.microsoft.com/office/drawing/2014/main" id="{4693DA5E-F923-1E3F-9A31-03DDD03362AE}"/>
              </a:ext>
            </a:extLst>
          </p:cNvPr>
          <p:cNvPicPr>
            <a:picLocks noChangeAspect="1"/>
          </p:cNvPicPr>
          <p:nvPr/>
        </p:nvPicPr>
        <p:blipFill>
          <a:blip r:embed="rId7"/>
          <a:stretch>
            <a:fillRect/>
          </a:stretch>
        </p:blipFill>
        <p:spPr>
          <a:xfrm>
            <a:off x="6090556" y="1333485"/>
            <a:ext cx="1824857" cy="1021051"/>
          </a:xfrm>
          <a:prstGeom prst="rect">
            <a:avLst/>
          </a:prstGeom>
          <a:ln>
            <a:solidFill>
              <a:schemeClr val="tx1"/>
            </a:solidFill>
          </a:ln>
        </p:spPr>
      </p:pic>
    </p:spTree>
    <p:extLst>
      <p:ext uri="{BB962C8B-B14F-4D97-AF65-F5344CB8AC3E}">
        <p14:creationId xmlns:p14="http://schemas.microsoft.com/office/powerpoint/2010/main" val="791425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805391CB-4C39-81CA-3EE1-31C808334174}"/>
            </a:ext>
          </a:extLst>
        </p:cNvPr>
        <p:cNvGrpSpPr/>
        <p:nvPr/>
      </p:nvGrpSpPr>
      <p:grpSpPr>
        <a:xfrm>
          <a:off x="0" y="0"/>
          <a:ext cx="0" cy="0"/>
          <a:chOff x="0" y="0"/>
          <a:chExt cx="0" cy="0"/>
        </a:xfrm>
      </p:grpSpPr>
      <p:sp>
        <p:nvSpPr>
          <p:cNvPr id="15" name="Google Shape;56;p9">
            <a:extLst>
              <a:ext uri="{FF2B5EF4-FFF2-40B4-BE49-F238E27FC236}">
                <a16:creationId xmlns:a16="http://schemas.microsoft.com/office/drawing/2014/main" id="{A2012410-E61E-4D12-5620-D3614140A77F}"/>
              </a:ext>
            </a:extLst>
          </p:cNvPr>
          <p:cNvSpPr txBox="1">
            <a:spLocks/>
          </p:cNvSpPr>
          <p:nvPr/>
        </p:nvSpPr>
        <p:spPr>
          <a:xfrm>
            <a:off x="449035" y="889907"/>
            <a:ext cx="5200651" cy="32452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4000"/>
              </a:lnSpc>
              <a:spcBef>
                <a:spcPts val="0"/>
              </a:spcBef>
              <a:spcAft>
                <a:spcPts val="0"/>
              </a:spcAft>
              <a:buClr>
                <a:srgbClr val="434343"/>
              </a:buClr>
              <a:buSzPts val="1800"/>
              <a:buFont typeface="Roboto"/>
              <a:buChar char="●"/>
              <a:defRPr sz="1800" b="0" i="0" u="none" strike="noStrike" cap="none">
                <a:solidFill>
                  <a:srgbClr val="434343"/>
                </a:solidFill>
                <a:latin typeface="Roboto"/>
                <a:ea typeface="Roboto"/>
                <a:cs typeface="Roboto"/>
                <a:sym typeface="Roboto"/>
              </a:defRPr>
            </a:lvl1pPr>
            <a:lvl2pPr marL="914400" marR="0" lvl="1" indent="-317500" algn="l" rtl="0">
              <a:lnSpc>
                <a:spcPct val="114000"/>
              </a:lnSpc>
              <a:spcBef>
                <a:spcPts val="8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2pPr>
            <a:lvl3pPr marL="1371600" marR="0" lvl="2" indent="-317500" algn="l" rtl="0">
              <a:lnSpc>
                <a:spcPct val="114000"/>
              </a:lnSpc>
              <a:spcBef>
                <a:spcPts val="8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3pPr>
            <a:lvl4pPr marL="1828800" marR="0" lvl="3" indent="-317500" algn="l" rtl="0">
              <a:lnSpc>
                <a:spcPct val="114000"/>
              </a:lnSpc>
              <a:spcBef>
                <a:spcPts val="8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4pPr>
            <a:lvl5pPr marL="2286000" marR="0" lvl="4" indent="-317500" algn="l" rtl="0">
              <a:lnSpc>
                <a:spcPct val="114000"/>
              </a:lnSpc>
              <a:spcBef>
                <a:spcPts val="8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5pPr>
            <a:lvl6pPr marL="2743200" marR="0" lvl="5" indent="-317500" algn="l" rtl="0">
              <a:lnSpc>
                <a:spcPct val="114000"/>
              </a:lnSpc>
              <a:spcBef>
                <a:spcPts val="8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6pPr>
            <a:lvl7pPr marL="3200400" marR="0" lvl="6" indent="-317500" algn="l" rtl="0">
              <a:lnSpc>
                <a:spcPct val="114000"/>
              </a:lnSpc>
              <a:spcBef>
                <a:spcPts val="8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7pPr>
            <a:lvl8pPr marL="3657600" marR="0" lvl="7" indent="-317500" algn="l" rtl="0">
              <a:lnSpc>
                <a:spcPct val="114000"/>
              </a:lnSpc>
              <a:spcBef>
                <a:spcPts val="800"/>
              </a:spcBef>
              <a:spcAft>
                <a:spcPts val="0"/>
              </a:spcAft>
              <a:buClr>
                <a:srgbClr val="434343"/>
              </a:buClr>
              <a:buSzPts val="1400"/>
              <a:buFont typeface="Roboto"/>
              <a:buChar char="○"/>
              <a:defRPr sz="1400" b="0" i="0" u="none" strike="noStrike" cap="none">
                <a:solidFill>
                  <a:srgbClr val="434343"/>
                </a:solidFill>
                <a:latin typeface="Roboto"/>
                <a:ea typeface="Roboto"/>
                <a:cs typeface="Roboto"/>
                <a:sym typeface="Roboto"/>
              </a:defRPr>
            </a:lvl8pPr>
            <a:lvl9pPr marL="4114800" marR="0" lvl="8" indent="-317500" algn="l" rtl="0">
              <a:lnSpc>
                <a:spcPct val="114000"/>
              </a:lnSpc>
              <a:spcBef>
                <a:spcPts val="800"/>
              </a:spcBef>
              <a:spcAft>
                <a:spcPts val="800"/>
              </a:spcAft>
              <a:buClr>
                <a:srgbClr val="434343"/>
              </a:buClr>
              <a:buSzPts val="1400"/>
              <a:buFont typeface="Roboto"/>
              <a:buChar char="■"/>
              <a:defRPr sz="1400" b="0" i="0" u="none" strike="noStrike" cap="none">
                <a:solidFill>
                  <a:srgbClr val="434343"/>
                </a:solidFill>
                <a:latin typeface="Roboto"/>
                <a:ea typeface="Roboto"/>
                <a:cs typeface="Roboto"/>
                <a:sym typeface="Roboto"/>
              </a:defRPr>
            </a:lvl9pPr>
          </a:lstStyle>
          <a:p>
            <a:pPr marL="285750" lvl="2"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Completed Cabin Lights demo!</a:t>
            </a:r>
          </a:p>
          <a:p>
            <a:pPr marL="742950" lvl="3" indent="-285750">
              <a:lnSpc>
                <a:spcPct val="100000"/>
              </a:lnSpc>
              <a:spcBef>
                <a:spcPts val="0"/>
              </a:spcBef>
              <a:spcAft>
                <a:spcPts val="600"/>
              </a:spcAft>
              <a:buFont typeface="Arial" panose="020B0604020202020204" pitchFamily="34" charset="0"/>
              <a:buChar char="•"/>
            </a:pPr>
            <a:r>
              <a:rPr lang="en-US" sz="1050" dirty="0">
                <a:latin typeface="Roboto" panose="02000000000000000000" pitchFamily="2" charset="0"/>
                <a:ea typeface="Roboto" panose="02000000000000000000" pitchFamily="2" charset="0"/>
                <a:cs typeface="Roboto" panose="02000000000000000000" pitchFamily="2" charset="0"/>
              </a:rPr>
              <a:t>Requirements</a:t>
            </a:r>
          </a:p>
          <a:p>
            <a:pPr marL="1200150" lvl="4" indent="-285750">
              <a:lnSpc>
                <a:spcPct val="100000"/>
              </a:lnSpc>
              <a:spcBef>
                <a:spcPts val="0"/>
              </a:spcBef>
              <a:spcAft>
                <a:spcPts val="600"/>
              </a:spcAft>
              <a:buFont typeface="Arial" panose="020B0604020202020204" pitchFamily="34" charset="0"/>
              <a:buChar char="•"/>
            </a:pPr>
            <a:r>
              <a:rPr lang="en-US" sz="1050" dirty="0">
                <a:latin typeface="Roboto" panose="02000000000000000000" pitchFamily="2" charset="0"/>
                <a:ea typeface="Roboto" panose="02000000000000000000" pitchFamily="2" charset="0"/>
                <a:cs typeface="Roboto" panose="02000000000000000000" pitchFamily="2" charset="0"/>
              </a:rPr>
              <a:t>The Cabin Lights system shall turn lights on in less than 500 </a:t>
            </a:r>
            <a:r>
              <a:rPr lang="en-US" sz="1050" dirty="0" err="1">
                <a:latin typeface="Roboto" panose="02000000000000000000" pitchFamily="2" charset="0"/>
                <a:ea typeface="Roboto" panose="02000000000000000000" pitchFamily="2" charset="0"/>
                <a:cs typeface="Roboto" panose="02000000000000000000" pitchFamily="2" charset="0"/>
              </a:rPr>
              <a:t>ms</a:t>
            </a:r>
            <a:r>
              <a:rPr lang="en-US" sz="1050" dirty="0">
                <a:latin typeface="Roboto" panose="02000000000000000000" pitchFamily="2" charset="0"/>
                <a:ea typeface="Roboto" panose="02000000000000000000" pitchFamily="2" charset="0"/>
                <a:cs typeface="Roboto" panose="02000000000000000000" pitchFamily="2" charset="0"/>
              </a:rPr>
              <a:t> of the light switch turning on.</a:t>
            </a:r>
          </a:p>
          <a:p>
            <a:pPr marL="1200150" lvl="4" indent="-285750">
              <a:lnSpc>
                <a:spcPct val="100000"/>
              </a:lnSpc>
              <a:spcBef>
                <a:spcPts val="0"/>
              </a:spcBef>
              <a:spcAft>
                <a:spcPts val="600"/>
              </a:spcAft>
              <a:buFont typeface="Arial" panose="020B0604020202020204" pitchFamily="34" charset="0"/>
              <a:buChar char="•"/>
            </a:pPr>
            <a:r>
              <a:rPr lang="en-US" sz="1050" dirty="0">
                <a:latin typeface="Roboto" panose="02000000000000000000" pitchFamily="2" charset="0"/>
                <a:ea typeface="Roboto" panose="02000000000000000000" pitchFamily="2" charset="0"/>
                <a:cs typeface="Roboto" panose="02000000000000000000" pitchFamily="2" charset="0"/>
              </a:rPr>
              <a:t>The Cabin Lights system shall turn lights off in less than 500 </a:t>
            </a:r>
            <a:r>
              <a:rPr lang="en-US" sz="1050" dirty="0" err="1">
                <a:latin typeface="Roboto" panose="02000000000000000000" pitchFamily="2" charset="0"/>
                <a:ea typeface="Roboto" panose="02000000000000000000" pitchFamily="2" charset="0"/>
                <a:cs typeface="Roboto" panose="02000000000000000000" pitchFamily="2" charset="0"/>
              </a:rPr>
              <a:t>ms</a:t>
            </a:r>
            <a:r>
              <a:rPr lang="en-US" sz="1050" dirty="0">
                <a:latin typeface="Roboto" panose="02000000000000000000" pitchFamily="2" charset="0"/>
                <a:ea typeface="Roboto" panose="02000000000000000000" pitchFamily="2" charset="0"/>
                <a:cs typeface="Roboto" panose="02000000000000000000" pitchFamily="2" charset="0"/>
              </a:rPr>
              <a:t> of the light switch turning off.</a:t>
            </a:r>
          </a:p>
          <a:p>
            <a:pPr marL="742950" lvl="3" indent="-285750">
              <a:lnSpc>
                <a:spcPct val="100000"/>
              </a:lnSpc>
              <a:spcBef>
                <a:spcPts val="0"/>
              </a:spcBef>
              <a:spcAft>
                <a:spcPts val="600"/>
              </a:spcAft>
              <a:buFont typeface="Arial" panose="020B0604020202020204" pitchFamily="34" charset="0"/>
              <a:buChar char="•"/>
            </a:pPr>
            <a:r>
              <a:rPr lang="en-US" sz="1050" dirty="0">
                <a:latin typeface="Roboto" panose="02000000000000000000" pitchFamily="2" charset="0"/>
                <a:ea typeface="Roboto" panose="02000000000000000000" pitchFamily="2" charset="0"/>
                <a:cs typeface="Roboto" panose="02000000000000000000" pitchFamily="2" charset="0"/>
              </a:rPr>
              <a:t>Design</a:t>
            </a:r>
          </a:p>
          <a:p>
            <a:pPr marL="1200150" lvl="4" indent="-285750">
              <a:lnSpc>
                <a:spcPct val="100000"/>
              </a:lnSpc>
              <a:spcBef>
                <a:spcPts val="0"/>
              </a:spcBef>
              <a:spcAft>
                <a:spcPts val="600"/>
              </a:spcAft>
              <a:buFont typeface="Arial" panose="020B0604020202020204" pitchFamily="34" charset="0"/>
              <a:buChar char="•"/>
            </a:pPr>
            <a:r>
              <a:rPr lang="en-US" sz="1050" dirty="0">
                <a:latin typeface="Roboto" panose="02000000000000000000" pitchFamily="2" charset="0"/>
                <a:ea typeface="Roboto" panose="02000000000000000000" pitchFamily="2" charset="0"/>
                <a:cs typeface="Roboto" panose="02000000000000000000" pitchFamily="2" charset="0"/>
              </a:rPr>
              <a:t>Switch, Server and Actuator(Light)</a:t>
            </a:r>
          </a:p>
          <a:p>
            <a:pPr marL="1200150" lvl="4" indent="-285750">
              <a:lnSpc>
                <a:spcPct val="100000"/>
              </a:lnSpc>
              <a:spcBef>
                <a:spcPts val="0"/>
              </a:spcBef>
              <a:spcAft>
                <a:spcPts val="600"/>
              </a:spcAft>
              <a:buFont typeface="Arial" panose="020B0604020202020204" pitchFamily="34" charset="0"/>
              <a:buChar char="•"/>
            </a:pPr>
            <a:r>
              <a:rPr lang="en-US" sz="1050" dirty="0">
                <a:latin typeface="Roboto" panose="02000000000000000000" pitchFamily="2" charset="0"/>
                <a:ea typeface="Roboto" panose="02000000000000000000" pitchFamily="2" charset="0"/>
                <a:cs typeface="Roboto" panose="02000000000000000000" pitchFamily="2" charset="0"/>
              </a:rPr>
              <a:t>Ethernet and system logging are used</a:t>
            </a:r>
          </a:p>
          <a:p>
            <a:pPr marL="1200150" lvl="4" indent="-285750">
              <a:lnSpc>
                <a:spcPct val="100000"/>
              </a:lnSpc>
              <a:spcBef>
                <a:spcPts val="0"/>
              </a:spcBef>
              <a:spcAft>
                <a:spcPts val="600"/>
              </a:spcAft>
              <a:buFont typeface="Arial" panose="020B0604020202020204" pitchFamily="34" charset="0"/>
              <a:buChar char="•"/>
            </a:pPr>
            <a:r>
              <a:rPr lang="en-US" sz="1050" dirty="0">
                <a:latin typeface="Roboto" panose="02000000000000000000" pitchFamily="2" charset="0"/>
                <a:ea typeface="Roboto" panose="02000000000000000000" pitchFamily="2" charset="0"/>
                <a:cs typeface="Roboto" panose="02000000000000000000" pitchFamily="2" charset="0"/>
              </a:rPr>
              <a:t>QEMU ARM64 and minimal Linux Kernel + </a:t>
            </a:r>
            <a:r>
              <a:rPr lang="en-US" sz="1050" dirty="0" err="1">
                <a:latin typeface="Roboto" panose="02000000000000000000" pitchFamily="2" charset="0"/>
                <a:ea typeface="Roboto" panose="02000000000000000000" pitchFamily="2" charset="0"/>
                <a:cs typeface="Roboto" panose="02000000000000000000" pitchFamily="2" charset="0"/>
              </a:rPr>
              <a:t>Busybox</a:t>
            </a:r>
            <a:endParaRPr lang="en-US" sz="1050" dirty="0">
              <a:latin typeface="Roboto" panose="02000000000000000000" pitchFamily="2" charset="0"/>
              <a:ea typeface="Roboto" panose="02000000000000000000" pitchFamily="2" charset="0"/>
              <a:cs typeface="Roboto" panose="02000000000000000000" pitchFamily="2" charset="0"/>
            </a:endParaRPr>
          </a:p>
          <a:p>
            <a:pPr marL="742950" lvl="3" indent="-285750">
              <a:lnSpc>
                <a:spcPct val="100000"/>
              </a:lnSpc>
              <a:spcBef>
                <a:spcPts val="0"/>
              </a:spcBef>
              <a:spcAft>
                <a:spcPts val="600"/>
              </a:spcAft>
              <a:buFont typeface="Arial" panose="020B0604020202020204" pitchFamily="34" charset="0"/>
              <a:buChar char="•"/>
            </a:pPr>
            <a:r>
              <a:rPr lang="en-US" sz="1050" dirty="0">
                <a:latin typeface="Roboto" panose="02000000000000000000" pitchFamily="2" charset="0"/>
                <a:ea typeface="Roboto" panose="02000000000000000000" pitchFamily="2" charset="0"/>
                <a:cs typeface="Roboto" panose="02000000000000000000" pitchFamily="2" charset="0"/>
              </a:rPr>
              <a:t>Test / Demo approach</a:t>
            </a:r>
          </a:p>
          <a:p>
            <a:pPr marL="1200150" lvl="4" indent="-285750">
              <a:lnSpc>
                <a:spcPct val="100000"/>
              </a:lnSpc>
              <a:spcBef>
                <a:spcPts val="0"/>
              </a:spcBef>
              <a:spcAft>
                <a:spcPts val="600"/>
              </a:spcAft>
              <a:buFont typeface="Arial" panose="020B0604020202020204" pitchFamily="34" charset="0"/>
              <a:buChar char="•"/>
            </a:pPr>
            <a:r>
              <a:rPr lang="en-US" sz="1050" dirty="0">
                <a:latin typeface="Roboto" panose="02000000000000000000" pitchFamily="2" charset="0"/>
                <a:ea typeface="Roboto" panose="02000000000000000000" pitchFamily="2" charset="0"/>
                <a:cs typeface="Roboto" panose="02000000000000000000" pitchFamily="2" charset="0"/>
              </a:rPr>
              <a:t>Applications are paired with NASA CoPilot monitoring of logs / package</a:t>
            </a:r>
          </a:p>
          <a:p>
            <a:pPr marL="1200150" lvl="4" indent="-285750">
              <a:lnSpc>
                <a:spcPct val="100000"/>
              </a:lnSpc>
              <a:spcBef>
                <a:spcPts val="0"/>
              </a:spcBef>
              <a:spcAft>
                <a:spcPts val="600"/>
              </a:spcAft>
              <a:buFont typeface="Arial" panose="020B0604020202020204" pitchFamily="34" charset="0"/>
              <a:buChar char="•"/>
            </a:pPr>
            <a:endParaRPr lang="en-US" sz="1050" dirty="0">
              <a:latin typeface="Roboto" panose="02000000000000000000" pitchFamily="2" charset="0"/>
              <a:ea typeface="Roboto" panose="02000000000000000000" pitchFamily="2" charset="0"/>
              <a:cs typeface="Roboto" panose="02000000000000000000" pitchFamily="2" charset="0"/>
            </a:endParaRPr>
          </a:p>
          <a:p>
            <a:pPr marL="285750" lvl="2"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Extended the Cabin Lights demo with NASA Core Flight System (</a:t>
            </a:r>
            <a:r>
              <a:rPr lang="en-US" dirty="0" err="1">
                <a:latin typeface="Roboto" panose="02000000000000000000" pitchFamily="2" charset="0"/>
                <a:ea typeface="Roboto" panose="02000000000000000000" pitchFamily="2" charset="0"/>
                <a:cs typeface="Roboto" panose="02000000000000000000" pitchFamily="2" charset="0"/>
              </a:rPr>
              <a:t>cFS</a:t>
            </a:r>
            <a:r>
              <a:rPr lang="en-US" dirty="0">
                <a:latin typeface="Roboto" panose="02000000000000000000" pitchFamily="2" charset="0"/>
                <a:ea typeface="Roboto" panose="02000000000000000000" pitchFamily="2" charset="0"/>
                <a:cs typeface="Roboto" panose="02000000000000000000" pitchFamily="2" charset="0"/>
              </a:rPr>
              <a:t>)</a:t>
            </a:r>
          </a:p>
          <a:p>
            <a:pPr marL="285750" indent="-285750">
              <a:spcAft>
                <a:spcPts val="800"/>
              </a:spcAft>
            </a:pPr>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55" name="Google Shape;55;p9">
            <a:extLst>
              <a:ext uri="{FF2B5EF4-FFF2-40B4-BE49-F238E27FC236}">
                <a16:creationId xmlns:a16="http://schemas.microsoft.com/office/drawing/2014/main" id="{AFE67BE0-725D-3D11-C228-4C1F108471FC}"/>
              </a:ext>
            </a:extLst>
          </p:cNvPr>
          <p:cNvSpPr txBox="1">
            <a:spLocks noGrp="1"/>
          </p:cNvSpPr>
          <p:nvPr>
            <p:ph type="title"/>
          </p:nvPr>
        </p:nvSpPr>
        <p:spPr>
          <a:xfrm>
            <a:off x="311700" y="277586"/>
            <a:ext cx="8520600" cy="74013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2025 Achievements</a:t>
            </a:r>
            <a:endParaRPr dirty="0"/>
          </a:p>
        </p:txBody>
      </p:sp>
      <p:sp>
        <p:nvSpPr>
          <p:cNvPr id="2" name="Google Shape;70;p11">
            <a:extLst>
              <a:ext uri="{FF2B5EF4-FFF2-40B4-BE49-F238E27FC236}">
                <a16:creationId xmlns:a16="http://schemas.microsoft.com/office/drawing/2014/main" id="{F726B66C-F564-C9D8-54F5-5589D01CCD91}"/>
              </a:ext>
            </a:extLst>
          </p:cNvPr>
          <p:cNvSpPr txBox="1"/>
          <p:nvPr/>
        </p:nvSpPr>
        <p:spPr>
          <a:xfrm>
            <a:off x="1091700" y="4720650"/>
            <a:ext cx="7558500" cy="323100"/>
          </a:xfrm>
          <a:prstGeom prst="rect">
            <a:avLst/>
          </a:prstGeom>
          <a:noFill/>
          <a:ln>
            <a:noFill/>
          </a:ln>
        </p:spPr>
        <p:txBody>
          <a:bodyPr spcFirstLastPara="1" wrap="square" lIns="91425" tIns="91425" rIns="91425" bIns="91425" anchor="t" anchorCtr="0">
            <a:spAutoFit/>
          </a:bodyPr>
          <a:lstStyle/>
          <a:p>
            <a:pPr marL="0" lvl="0" indent="0" algn="l" rtl="0">
              <a:lnSpc>
                <a:spcPct val="157142"/>
              </a:lnSpc>
              <a:spcBef>
                <a:spcPts val="0"/>
              </a:spcBef>
              <a:spcAft>
                <a:spcPts val="0"/>
              </a:spcAft>
              <a:buNone/>
            </a:pPr>
            <a:r>
              <a:rPr lang="en" sz="900" dirty="0">
                <a:solidFill>
                  <a:srgbClr val="F5F4F3"/>
                </a:solidFill>
                <a:latin typeface="Roboto"/>
                <a:ea typeface="Roboto"/>
                <a:cs typeface="Roboto"/>
                <a:sym typeface="Roboto"/>
              </a:rPr>
              <a:t>Aerospace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Automotive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Linux Features</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OS Engineering Process</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Safety Architecture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Systems</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 Tools ·</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Lighthouse ·</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Space Grade Linux</a:t>
            </a:r>
            <a:r>
              <a:rPr lang="en" sz="900" dirty="0">
                <a:solidFill>
                  <a:schemeClr val="accent6"/>
                </a:solidFill>
                <a:latin typeface="Roboto"/>
                <a:ea typeface="Roboto"/>
                <a:cs typeface="Roboto"/>
                <a:sym typeface="Roboto"/>
              </a:rPr>
              <a:t> </a:t>
            </a:r>
            <a:endParaRPr sz="900" dirty="0">
              <a:solidFill>
                <a:srgbClr val="F5F4F3"/>
              </a:solidFill>
              <a:latin typeface="Roboto"/>
              <a:ea typeface="Roboto"/>
              <a:cs typeface="Roboto"/>
              <a:sym typeface="Roboto"/>
            </a:endParaRPr>
          </a:p>
        </p:txBody>
      </p:sp>
      <p:pic>
        <p:nvPicPr>
          <p:cNvPr id="17" name="Picture 16">
            <a:extLst>
              <a:ext uri="{FF2B5EF4-FFF2-40B4-BE49-F238E27FC236}">
                <a16:creationId xmlns:a16="http://schemas.microsoft.com/office/drawing/2014/main" id="{24B0137F-86D6-0C56-BE97-B5EED66B7498}"/>
              </a:ext>
            </a:extLst>
          </p:cNvPr>
          <p:cNvPicPr>
            <a:picLocks noChangeAspect="1"/>
          </p:cNvPicPr>
          <p:nvPr/>
        </p:nvPicPr>
        <p:blipFill>
          <a:blip r:embed="rId3"/>
          <a:stretch>
            <a:fillRect/>
          </a:stretch>
        </p:blipFill>
        <p:spPr>
          <a:xfrm>
            <a:off x="6053101" y="2847455"/>
            <a:ext cx="2779199" cy="1613817"/>
          </a:xfrm>
          <a:prstGeom prst="rect">
            <a:avLst/>
          </a:prstGeom>
        </p:spPr>
      </p:pic>
      <p:pic>
        <p:nvPicPr>
          <p:cNvPr id="5" name="Picture 4">
            <a:extLst>
              <a:ext uri="{FF2B5EF4-FFF2-40B4-BE49-F238E27FC236}">
                <a16:creationId xmlns:a16="http://schemas.microsoft.com/office/drawing/2014/main" id="{DD3A0A2A-49AF-B806-5CF5-D1C8F4FC7ABE}"/>
              </a:ext>
            </a:extLst>
          </p:cNvPr>
          <p:cNvPicPr>
            <a:picLocks noChangeAspect="1"/>
          </p:cNvPicPr>
          <p:nvPr/>
        </p:nvPicPr>
        <p:blipFill>
          <a:blip r:embed="rId4"/>
          <a:stretch>
            <a:fillRect/>
          </a:stretch>
        </p:blipFill>
        <p:spPr>
          <a:xfrm>
            <a:off x="6385679" y="189796"/>
            <a:ext cx="2114041" cy="2398281"/>
          </a:xfrm>
          <a:prstGeom prst="rect">
            <a:avLst/>
          </a:prstGeom>
        </p:spPr>
      </p:pic>
    </p:spTree>
    <p:extLst>
      <p:ext uri="{BB962C8B-B14F-4D97-AF65-F5344CB8AC3E}">
        <p14:creationId xmlns:p14="http://schemas.microsoft.com/office/powerpoint/2010/main" val="3193785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6C3B5681-F1DC-9DA7-E542-CFAFEF0AADCA}"/>
            </a:ext>
          </a:extLst>
        </p:cNvPr>
        <p:cNvGrpSpPr/>
        <p:nvPr/>
      </p:nvGrpSpPr>
      <p:grpSpPr>
        <a:xfrm>
          <a:off x="0" y="0"/>
          <a:ext cx="0" cy="0"/>
          <a:chOff x="0" y="0"/>
          <a:chExt cx="0" cy="0"/>
        </a:xfrm>
      </p:grpSpPr>
      <p:sp>
        <p:nvSpPr>
          <p:cNvPr id="55" name="Google Shape;55;p9">
            <a:extLst>
              <a:ext uri="{FF2B5EF4-FFF2-40B4-BE49-F238E27FC236}">
                <a16:creationId xmlns:a16="http://schemas.microsoft.com/office/drawing/2014/main" id="{D9D55B80-D7B1-F214-0CFB-DDA6C39B1D80}"/>
              </a:ext>
            </a:extLst>
          </p:cNvPr>
          <p:cNvSpPr txBox="1">
            <a:spLocks noGrp="1"/>
          </p:cNvSpPr>
          <p:nvPr>
            <p:ph type="title"/>
          </p:nvPr>
        </p:nvSpPr>
        <p:spPr>
          <a:xfrm>
            <a:off x="311700" y="277586"/>
            <a:ext cx="8520600" cy="74013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2025 Achievements</a:t>
            </a:r>
            <a:endParaRPr dirty="0"/>
          </a:p>
        </p:txBody>
      </p:sp>
      <p:sp>
        <p:nvSpPr>
          <p:cNvPr id="56" name="Google Shape;56;p9">
            <a:extLst>
              <a:ext uri="{FF2B5EF4-FFF2-40B4-BE49-F238E27FC236}">
                <a16:creationId xmlns:a16="http://schemas.microsoft.com/office/drawing/2014/main" id="{40567143-7F48-8881-0499-4E618DB95056}"/>
              </a:ext>
            </a:extLst>
          </p:cNvPr>
          <p:cNvSpPr txBox="1">
            <a:spLocks noGrp="1"/>
          </p:cNvSpPr>
          <p:nvPr>
            <p:ph type="body" idx="1"/>
          </p:nvPr>
        </p:nvSpPr>
        <p:spPr>
          <a:xfrm>
            <a:off x="311701" y="930729"/>
            <a:ext cx="5488423" cy="3271846"/>
          </a:xfrm>
          <a:prstGeom prst="rect">
            <a:avLst/>
          </a:prstGeom>
        </p:spPr>
        <p:txBody>
          <a:bodyPr spcFirstLastPara="1" wrap="square" lIns="91425" tIns="91425" rIns="91425" bIns="91425" anchor="t" anchorCtr="0">
            <a:noAutofit/>
          </a:bodyPr>
          <a:lstStyle/>
          <a:p>
            <a:pPr marL="285750" lvl="1" indent="-285750">
              <a:lnSpc>
                <a:spcPct val="100000"/>
              </a:lnSpc>
              <a:spcBef>
                <a:spcPts val="0"/>
              </a:spcBef>
              <a:spcAft>
                <a:spcPts val="600"/>
              </a:spcAft>
              <a:buFont typeface="Arial" panose="020B0604020202020204" pitchFamily="34" charset="0"/>
              <a:buChar char="•"/>
            </a:pPr>
            <a:endParaRPr lang="en-US" dirty="0">
              <a:latin typeface="Roboto" panose="02000000000000000000" pitchFamily="2" charset="0"/>
              <a:ea typeface="Roboto" panose="02000000000000000000" pitchFamily="2" charset="0"/>
              <a:cs typeface="Roboto" panose="02000000000000000000" pitchFamily="2" charset="0"/>
            </a:endParaRPr>
          </a:p>
          <a:p>
            <a:pPr marL="285750" lvl="1"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Evaluated how to capture distinguishing system requirements, </a:t>
            </a:r>
            <a:br>
              <a:rPr lang="en-US" dirty="0">
                <a:latin typeface="Roboto" panose="02000000000000000000" pitchFamily="2" charset="0"/>
                <a:ea typeface="Roboto" panose="02000000000000000000" pitchFamily="2" charset="0"/>
                <a:cs typeface="Roboto" panose="02000000000000000000" pitchFamily="2" charset="0"/>
              </a:rPr>
            </a:br>
            <a:r>
              <a:rPr lang="en-US" dirty="0">
                <a:latin typeface="Roboto" panose="02000000000000000000" pitchFamily="2" charset="0"/>
                <a:ea typeface="Roboto" panose="02000000000000000000" pitchFamily="2" charset="0"/>
                <a:cs typeface="Roboto" panose="02000000000000000000" pitchFamily="2" charset="0"/>
              </a:rPr>
              <a:t>i.e.," What makes a product aerospace vs. just embedded?”</a:t>
            </a:r>
          </a:p>
          <a:p>
            <a:pPr marL="742950" lvl="2"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Discussed Carrier Grade Linux as an example</a:t>
            </a:r>
          </a:p>
          <a:p>
            <a:pPr marL="742950" lvl="2"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Created a template for capturing “aspects”</a:t>
            </a:r>
            <a:br>
              <a:rPr lang="en-US" dirty="0">
                <a:latin typeface="Roboto" panose="02000000000000000000" pitchFamily="2" charset="0"/>
                <a:ea typeface="Roboto" panose="02000000000000000000" pitchFamily="2" charset="0"/>
                <a:cs typeface="Roboto" panose="02000000000000000000" pitchFamily="2" charset="0"/>
              </a:rPr>
            </a:br>
            <a:r>
              <a:rPr lang="en-US" dirty="0">
                <a:latin typeface="Roboto" panose="02000000000000000000" pitchFamily="2" charset="0"/>
                <a:ea typeface="Roboto" panose="02000000000000000000" pitchFamily="2" charset="0"/>
                <a:cs typeface="Roboto" panose="02000000000000000000" pitchFamily="2" charset="0"/>
              </a:rPr>
              <a:t> of a product’s profile</a:t>
            </a:r>
          </a:p>
          <a:p>
            <a:pPr marL="742950" lvl="2"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Organizing by safety standard and level</a:t>
            </a:r>
          </a:p>
          <a:p>
            <a:pPr marL="742950" lvl="2"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Capturing examples at each level</a:t>
            </a:r>
          </a:p>
          <a:p>
            <a:pPr marL="0" lvl="2" indent="0">
              <a:lnSpc>
                <a:spcPct val="100000"/>
              </a:lnSpc>
              <a:spcBef>
                <a:spcPts val="0"/>
              </a:spcBef>
              <a:spcAft>
                <a:spcPts val="600"/>
              </a:spcAft>
              <a:buNone/>
            </a:pPr>
            <a:endParaRPr lang="en-US" dirty="0">
              <a:latin typeface="Roboto" panose="02000000000000000000" pitchFamily="2" charset="0"/>
              <a:ea typeface="Roboto" panose="02000000000000000000" pitchFamily="2" charset="0"/>
              <a:cs typeface="Roboto" panose="02000000000000000000" pitchFamily="2" charset="0"/>
            </a:endParaRPr>
          </a:p>
          <a:p>
            <a:pPr marL="285750" indent="-285750">
              <a:spcAft>
                <a:spcPts val="800"/>
              </a:spcAft>
            </a:pPr>
            <a:endParaRPr dirty="0">
              <a:latin typeface="Roboto" panose="02000000000000000000" pitchFamily="2" charset="0"/>
              <a:ea typeface="Roboto" panose="02000000000000000000" pitchFamily="2" charset="0"/>
              <a:cs typeface="Roboto" panose="02000000000000000000" pitchFamily="2" charset="0"/>
            </a:endParaRPr>
          </a:p>
        </p:txBody>
      </p:sp>
      <p:sp>
        <p:nvSpPr>
          <p:cNvPr id="2" name="Google Shape;70;p11">
            <a:extLst>
              <a:ext uri="{FF2B5EF4-FFF2-40B4-BE49-F238E27FC236}">
                <a16:creationId xmlns:a16="http://schemas.microsoft.com/office/drawing/2014/main" id="{C01AB61A-B211-878C-8326-340CDC5E1F28}"/>
              </a:ext>
            </a:extLst>
          </p:cNvPr>
          <p:cNvSpPr txBox="1"/>
          <p:nvPr/>
        </p:nvSpPr>
        <p:spPr>
          <a:xfrm>
            <a:off x="1091700" y="4720650"/>
            <a:ext cx="7558500" cy="323100"/>
          </a:xfrm>
          <a:prstGeom prst="rect">
            <a:avLst/>
          </a:prstGeom>
          <a:noFill/>
          <a:ln>
            <a:noFill/>
          </a:ln>
        </p:spPr>
        <p:txBody>
          <a:bodyPr spcFirstLastPara="1" wrap="square" lIns="91425" tIns="91425" rIns="91425" bIns="91425" anchor="t" anchorCtr="0">
            <a:spAutoFit/>
          </a:bodyPr>
          <a:lstStyle/>
          <a:p>
            <a:pPr marL="0" lvl="0" indent="0" algn="l" rtl="0">
              <a:lnSpc>
                <a:spcPct val="157142"/>
              </a:lnSpc>
              <a:spcBef>
                <a:spcPts val="0"/>
              </a:spcBef>
              <a:spcAft>
                <a:spcPts val="0"/>
              </a:spcAft>
              <a:buNone/>
            </a:pPr>
            <a:r>
              <a:rPr lang="en" sz="900" dirty="0">
                <a:solidFill>
                  <a:srgbClr val="F5F4F3"/>
                </a:solidFill>
                <a:latin typeface="Roboto"/>
                <a:ea typeface="Roboto"/>
                <a:cs typeface="Roboto"/>
                <a:sym typeface="Roboto"/>
              </a:rPr>
              <a:t>Aerospace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Automotive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Linux Features</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OS Engineering Process</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Safety Architecture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Systems</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 Tools ·</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Lighthouse ·</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Space Grade Linux</a:t>
            </a:r>
            <a:r>
              <a:rPr lang="en" sz="900" dirty="0">
                <a:solidFill>
                  <a:schemeClr val="accent6"/>
                </a:solidFill>
                <a:latin typeface="Roboto"/>
                <a:ea typeface="Roboto"/>
                <a:cs typeface="Roboto"/>
                <a:sym typeface="Roboto"/>
              </a:rPr>
              <a:t> </a:t>
            </a:r>
            <a:endParaRPr sz="900" dirty="0">
              <a:solidFill>
                <a:srgbClr val="F5F4F3"/>
              </a:solidFill>
              <a:latin typeface="Roboto"/>
              <a:ea typeface="Roboto"/>
              <a:cs typeface="Roboto"/>
              <a:sym typeface="Roboto"/>
            </a:endParaRPr>
          </a:p>
        </p:txBody>
      </p:sp>
      <p:pic>
        <p:nvPicPr>
          <p:cNvPr id="4" name="Picture 3">
            <a:extLst>
              <a:ext uri="{FF2B5EF4-FFF2-40B4-BE49-F238E27FC236}">
                <a16:creationId xmlns:a16="http://schemas.microsoft.com/office/drawing/2014/main" id="{EFA7184B-B610-882C-A63D-61E29FF00836}"/>
              </a:ext>
            </a:extLst>
          </p:cNvPr>
          <p:cNvPicPr>
            <a:picLocks noChangeAspect="1"/>
          </p:cNvPicPr>
          <p:nvPr/>
        </p:nvPicPr>
        <p:blipFill>
          <a:blip r:embed="rId3"/>
          <a:stretch>
            <a:fillRect/>
          </a:stretch>
        </p:blipFill>
        <p:spPr>
          <a:xfrm>
            <a:off x="5937177" y="277586"/>
            <a:ext cx="3032176" cy="4256488"/>
          </a:xfrm>
          <a:prstGeom prst="rect">
            <a:avLst/>
          </a:prstGeom>
        </p:spPr>
      </p:pic>
    </p:spTree>
    <p:extLst>
      <p:ext uri="{BB962C8B-B14F-4D97-AF65-F5344CB8AC3E}">
        <p14:creationId xmlns:p14="http://schemas.microsoft.com/office/powerpoint/2010/main" val="613859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F861CDA3-71BA-0A77-E8DD-04842397972D}"/>
            </a:ext>
          </a:extLst>
        </p:cNvPr>
        <p:cNvGrpSpPr/>
        <p:nvPr/>
      </p:nvGrpSpPr>
      <p:grpSpPr>
        <a:xfrm>
          <a:off x="0" y="0"/>
          <a:ext cx="0" cy="0"/>
          <a:chOff x="0" y="0"/>
          <a:chExt cx="0" cy="0"/>
        </a:xfrm>
      </p:grpSpPr>
      <p:sp>
        <p:nvSpPr>
          <p:cNvPr id="55" name="Google Shape;55;p9">
            <a:extLst>
              <a:ext uri="{FF2B5EF4-FFF2-40B4-BE49-F238E27FC236}">
                <a16:creationId xmlns:a16="http://schemas.microsoft.com/office/drawing/2014/main" id="{EAFFF719-2917-91A8-21B6-A30A01554594}"/>
              </a:ext>
            </a:extLst>
          </p:cNvPr>
          <p:cNvSpPr txBox="1">
            <a:spLocks noGrp="1"/>
          </p:cNvSpPr>
          <p:nvPr>
            <p:ph type="title"/>
          </p:nvPr>
        </p:nvSpPr>
        <p:spPr>
          <a:xfrm>
            <a:off x="311700" y="277586"/>
            <a:ext cx="8520600" cy="74013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2025 Achievements</a:t>
            </a:r>
            <a:endParaRPr dirty="0"/>
          </a:p>
        </p:txBody>
      </p:sp>
      <p:sp>
        <p:nvSpPr>
          <p:cNvPr id="56" name="Google Shape;56;p9">
            <a:extLst>
              <a:ext uri="{FF2B5EF4-FFF2-40B4-BE49-F238E27FC236}">
                <a16:creationId xmlns:a16="http://schemas.microsoft.com/office/drawing/2014/main" id="{A7823D27-1F09-465E-ACFD-521866874600}"/>
              </a:ext>
            </a:extLst>
          </p:cNvPr>
          <p:cNvSpPr txBox="1">
            <a:spLocks noGrp="1"/>
          </p:cNvSpPr>
          <p:nvPr>
            <p:ph type="body" idx="1"/>
          </p:nvPr>
        </p:nvSpPr>
        <p:spPr>
          <a:xfrm>
            <a:off x="311701" y="930729"/>
            <a:ext cx="8007706" cy="3271846"/>
          </a:xfrm>
          <a:prstGeom prst="rect">
            <a:avLst/>
          </a:prstGeom>
        </p:spPr>
        <p:txBody>
          <a:bodyPr spcFirstLastPara="1" wrap="square" lIns="91425" tIns="91425" rIns="91425" bIns="91425" anchor="t" anchorCtr="0">
            <a:noAutofit/>
          </a:bodyPr>
          <a:lstStyle/>
          <a:p>
            <a:pPr marL="285750" lvl="1" indent="-285750">
              <a:lnSpc>
                <a:spcPct val="100000"/>
              </a:lnSpc>
              <a:spcBef>
                <a:spcPts val="0"/>
              </a:spcBef>
              <a:spcAft>
                <a:spcPts val="600"/>
              </a:spcAft>
              <a:buFont typeface="Arial" panose="020B0604020202020204" pitchFamily="34" charset="0"/>
              <a:buChar char="•"/>
            </a:pPr>
            <a:endParaRPr lang="en-US" dirty="0">
              <a:latin typeface="Roboto" panose="02000000000000000000" pitchFamily="2" charset="0"/>
              <a:ea typeface="Roboto" panose="02000000000000000000" pitchFamily="2" charset="0"/>
              <a:cs typeface="Roboto" panose="02000000000000000000" pitchFamily="2" charset="0"/>
            </a:endParaRPr>
          </a:p>
          <a:p>
            <a:pPr marL="285750" lvl="1"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Established our Contributions guidance and Licensing</a:t>
            </a:r>
          </a:p>
          <a:p>
            <a:pPr marL="285750" lvl="1" indent="-285750">
              <a:lnSpc>
                <a:spcPct val="100000"/>
              </a:lnSpc>
              <a:spcBef>
                <a:spcPts val="0"/>
              </a:spcBef>
              <a:spcAft>
                <a:spcPts val="600"/>
              </a:spcAft>
              <a:buFont typeface="Arial" panose="020B0604020202020204" pitchFamily="34" charset="0"/>
              <a:buChar char="•"/>
            </a:pPr>
            <a:endParaRPr lang="en-US" dirty="0">
              <a:latin typeface="Roboto" panose="02000000000000000000" pitchFamily="2" charset="0"/>
              <a:ea typeface="Roboto" panose="02000000000000000000" pitchFamily="2" charset="0"/>
              <a:cs typeface="Roboto" panose="02000000000000000000" pitchFamily="2" charset="0"/>
            </a:endParaRPr>
          </a:p>
          <a:p>
            <a:pPr marL="285750" lvl="1" indent="-285750">
              <a:lnSpc>
                <a:spcPct val="100000"/>
              </a:lnSpc>
              <a:spcBef>
                <a:spcPts val="0"/>
              </a:spcBef>
              <a:spcAft>
                <a:spcPts val="600"/>
              </a:spcAft>
              <a:buFont typeface="Arial" panose="020B0604020202020204" pitchFamily="34" charset="0"/>
              <a:buChar char="•"/>
            </a:pPr>
            <a:endParaRPr lang="en-US" dirty="0">
              <a:latin typeface="Roboto" panose="02000000000000000000" pitchFamily="2" charset="0"/>
              <a:ea typeface="Roboto" panose="02000000000000000000" pitchFamily="2" charset="0"/>
              <a:cs typeface="Roboto" panose="02000000000000000000" pitchFamily="2" charset="0"/>
            </a:endParaRPr>
          </a:p>
          <a:p>
            <a:pPr marL="285750" lvl="1"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Matured CI workflows on push</a:t>
            </a:r>
          </a:p>
          <a:p>
            <a:pPr marL="742950" lvl="2"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Stages to Build, Test, and Report (Block merge)</a:t>
            </a:r>
          </a:p>
          <a:p>
            <a:pPr marL="742950" lvl="2"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Instrumented emulated testing</a:t>
            </a:r>
          </a:p>
          <a:p>
            <a:pPr marL="742950" lvl="2"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Sandboxed tools for reproducibility</a:t>
            </a:r>
          </a:p>
          <a:p>
            <a:pPr marL="742950" lvl="2"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Linting of review material</a:t>
            </a:r>
          </a:p>
          <a:p>
            <a:pPr marL="742950" lvl="2" indent="-285750">
              <a:lnSpc>
                <a:spcPct val="100000"/>
              </a:lnSpc>
              <a:spcBef>
                <a:spcPts val="0"/>
              </a:spcBef>
              <a:spcAft>
                <a:spcPts val="600"/>
              </a:spcAft>
              <a:buFont typeface="Arial" panose="020B0604020202020204" pitchFamily="34" charset="0"/>
              <a:buChar char="•"/>
            </a:pPr>
            <a:r>
              <a:rPr lang="en-US" dirty="0">
                <a:latin typeface="Roboto" panose="02000000000000000000" pitchFamily="2" charset="0"/>
                <a:ea typeface="Roboto" panose="02000000000000000000" pitchFamily="2" charset="0"/>
                <a:cs typeface="Roboto" panose="02000000000000000000" pitchFamily="2" charset="0"/>
              </a:rPr>
              <a:t>License check</a:t>
            </a:r>
          </a:p>
          <a:p>
            <a:pPr marL="0" lvl="2" indent="0">
              <a:lnSpc>
                <a:spcPct val="100000"/>
              </a:lnSpc>
              <a:spcBef>
                <a:spcPts val="0"/>
              </a:spcBef>
              <a:spcAft>
                <a:spcPts val="600"/>
              </a:spcAft>
              <a:buNone/>
            </a:pPr>
            <a:endParaRPr lang="en-US" dirty="0">
              <a:latin typeface="Roboto" panose="02000000000000000000" pitchFamily="2" charset="0"/>
              <a:ea typeface="Roboto" panose="02000000000000000000" pitchFamily="2" charset="0"/>
              <a:cs typeface="Roboto" panose="02000000000000000000" pitchFamily="2" charset="0"/>
            </a:endParaRPr>
          </a:p>
          <a:p>
            <a:pPr marL="285750" indent="-285750">
              <a:spcAft>
                <a:spcPts val="800"/>
              </a:spcAft>
            </a:pPr>
            <a:endParaRPr dirty="0">
              <a:latin typeface="Roboto" panose="02000000000000000000" pitchFamily="2" charset="0"/>
              <a:ea typeface="Roboto" panose="02000000000000000000" pitchFamily="2" charset="0"/>
              <a:cs typeface="Roboto" panose="02000000000000000000" pitchFamily="2" charset="0"/>
            </a:endParaRPr>
          </a:p>
        </p:txBody>
      </p:sp>
      <p:sp>
        <p:nvSpPr>
          <p:cNvPr id="2" name="Google Shape;70;p11">
            <a:extLst>
              <a:ext uri="{FF2B5EF4-FFF2-40B4-BE49-F238E27FC236}">
                <a16:creationId xmlns:a16="http://schemas.microsoft.com/office/drawing/2014/main" id="{CA2F1338-6A85-139F-EF22-2219E4645B2D}"/>
              </a:ext>
            </a:extLst>
          </p:cNvPr>
          <p:cNvSpPr txBox="1"/>
          <p:nvPr/>
        </p:nvSpPr>
        <p:spPr>
          <a:xfrm>
            <a:off x="1091700" y="4720650"/>
            <a:ext cx="7558500" cy="323100"/>
          </a:xfrm>
          <a:prstGeom prst="rect">
            <a:avLst/>
          </a:prstGeom>
          <a:noFill/>
          <a:ln>
            <a:noFill/>
          </a:ln>
        </p:spPr>
        <p:txBody>
          <a:bodyPr spcFirstLastPara="1" wrap="square" lIns="91425" tIns="91425" rIns="91425" bIns="91425" anchor="t" anchorCtr="0">
            <a:spAutoFit/>
          </a:bodyPr>
          <a:lstStyle/>
          <a:p>
            <a:pPr marL="0" lvl="0" indent="0" algn="l" rtl="0">
              <a:lnSpc>
                <a:spcPct val="157142"/>
              </a:lnSpc>
              <a:spcBef>
                <a:spcPts val="0"/>
              </a:spcBef>
              <a:spcAft>
                <a:spcPts val="0"/>
              </a:spcAft>
              <a:buNone/>
            </a:pPr>
            <a:r>
              <a:rPr lang="en" sz="900" dirty="0">
                <a:solidFill>
                  <a:srgbClr val="F5F4F3"/>
                </a:solidFill>
                <a:latin typeface="Roboto"/>
                <a:ea typeface="Roboto"/>
                <a:cs typeface="Roboto"/>
                <a:sym typeface="Roboto"/>
              </a:rPr>
              <a:t>Aerospace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Automotive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Linux Features</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OS Engineering Process</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Safety Architecture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Systems</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 Tools ·</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Lighthouse ·</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Space Grade Linux</a:t>
            </a:r>
            <a:r>
              <a:rPr lang="en" sz="900" dirty="0">
                <a:solidFill>
                  <a:schemeClr val="accent6"/>
                </a:solidFill>
                <a:latin typeface="Roboto"/>
                <a:ea typeface="Roboto"/>
                <a:cs typeface="Roboto"/>
                <a:sym typeface="Roboto"/>
              </a:rPr>
              <a:t> </a:t>
            </a:r>
            <a:endParaRPr sz="900" dirty="0">
              <a:solidFill>
                <a:srgbClr val="F5F4F3"/>
              </a:solidFill>
              <a:latin typeface="Roboto"/>
              <a:ea typeface="Roboto"/>
              <a:cs typeface="Roboto"/>
              <a:sym typeface="Roboto"/>
            </a:endParaRPr>
          </a:p>
        </p:txBody>
      </p:sp>
      <p:pic>
        <p:nvPicPr>
          <p:cNvPr id="5" name="Picture 4">
            <a:extLst>
              <a:ext uri="{FF2B5EF4-FFF2-40B4-BE49-F238E27FC236}">
                <a16:creationId xmlns:a16="http://schemas.microsoft.com/office/drawing/2014/main" id="{0C0DAE0B-7B7E-6D87-08DC-40A761D1F0B3}"/>
              </a:ext>
            </a:extLst>
          </p:cNvPr>
          <p:cNvPicPr>
            <a:picLocks noChangeAspect="1"/>
          </p:cNvPicPr>
          <p:nvPr/>
        </p:nvPicPr>
        <p:blipFill>
          <a:blip r:embed="rId3"/>
          <a:stretch>
            <a:fillRect/>
          </a:stretch>
        </p:blipFill>
        <p:spPr>
          <a:xfrm>
            <a:off x="5682344" y="516622"/>
            <a:ext cx="3084666" cy="1395685"/>
          </a:xfrm>
          <a:prstGeom prst="rect">
            <a:avLst/>
          </a:prstGeom>
          <a:ln>
            <a:solidFill>
              <a:schemeClr val="tx1"/>
            </a:solidFill>
          </a:ln>
        </p:spPr>
      </p:pic>
      <p:pic>
        <p:nvPicPr>
          <p:cNvPr id="9" name="Picture 8">
            <a:extLst>
              <a:ext uri="{FF2B5EF4-FFF2-40B4-BE49-F238E27FC236}">
                <a16:creationId xmlns:a16="http://schemas.microsoft.com/office/drawing/2014/main" id="{2B64F5CB-586B-4A9A-56B9-837602140C54}"/>
              </a:ext>
            </a:extLst>
          </p:cNvPr>
          <p:cNvPicPr>
            <a:picLocks noChangeAspect="1"/>
          </p:cNvPicPr>
          <p:nvPr/>
        </p:nvPicPr>
        <p:blipFill>
          <a:blip r:embed="rId4"/>
          <a:stretch>
            <a:fillRect/>
          </a:stretch>
        </p:blipFill>
        <p:spPr>
          <a:xfrm>
            <a:off x="6763400" y="2263215"/>
            <a:ext cx="2195038" cy="2329179"/>
          </a:xfrm>
          <a:prstGeom prst="rect">
            <a:avLst/>
          </a:prstGeom>
          <a:ln>
            <a:solidFill>
              <a:schemeClr val="accent1">
                <a:shade val="95000"/>
                <a:satMod val="105000"/>
                <a:alpha val="49000"/>
              </a:schemeClr>
            </a:solidFill>
          </a:ln>
        </p:spPr>
      </p:pic>
      <p:pic>
        <p:nvPicPr>
          <p:cNvPr id="11" name="Picture 10">
            <a:extLst>
              <a:ext uri="{FF2B5EF4-FFF2-40B4-BE49-F238E27FC236}">
                <a16:creationId xmlns:a16="http://schemas.microsoft.com/office/drawing/2014/main" id="{D23D9150-A234-BBBF-DF31-11C584A522EA}"/>
              </a:ext>
            </a:extLst>
          </p:cNvPr>
          <p:cNvPicPr>
            <a:picLocks noChangeAspect="1"/>
          </p:cNvPicPr>
          <p:nvPr/>
        </p:nvPicPr>
        <p:blipFill>
          <a:blip r:embed="rId5"/>
          <a:stretch>
            <a:fillRect/>
          </a:stretch>
        </p:blipFill>
        <p:spPr>
          <a:xfrm>
            <a:off x="4572000" y="3018959"/>
            <a:ext cx="1695757" cy="1183616"/>
          </a:xfrm>
          <a:prstGeom prst="rect">
            <a:avLst/>
          </a:prstGeom>
          <a:ln>
            <a:solidFill>
              <a:schemeClr val="accent1">
                <a:shade val="95000"/>
                <a:satMod val="105000"/>
                <a:alpha val="46000"/>
              </a:schemeClr>
            </a:solidFill>
          </a:ln>
        </p:spPr>
      </p:pic>
      <p:cxnSp>
        <p:nvCxnSpPr>
          <p:cNvPr id="14" name="Straight Arrow Connector 13">
            <a:extLst>
              <a:ext uri="{FF2B5EF4-FFF2-40B4-BE49-F238E27FC236}">
                <a16:creationId xmlns:a16="http://schemas.microsoft.com/office/drawing/2014/main" id="{A398C90C-4219-437B-AA29-4245F3D4D512}"/>
              </a:ext>
            </a:extLst>
          </p:cNvPr>
          <p:cNvCxnSpPr/>
          <p:nvPr/>
        </p:nvCxnSpPr>
        <p:spPr>
          <a:xfrm flipV="1">
            <a:off x="6041571" y="2416629"/>
            <a:ext cx="721829" cy="131445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EC6E2EF5-84C9-4F75-2248-AE9DD089D328}"/>
              </a:ext>
            </a:extLst>
          </p:cNvPr>
          <p:cNvSpPr/>
          <p:nvPr/>
        </p:nvSpPr>
        <p:spPr>
          <a:xfrm>
            <a:off x="4376057" y="3445329"/>
            <a:ext cx="1959429" cy="803825"/>
          </a:xfrm>
          <a:prstGeom prst="rect">
            <a:avLst/>
          </a:prstGeom>
          <a:noFill/>
          <a:ln>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Left Brace 15">
            <a:extLst>
              <a:ext uri="{FF2B5EF4-FFF2-40B4-BE49-F238E27FC236}">
                <a16:creationId xmlns:a16="http://schemas.microsoft.com/office/drawing/2014/main" id="{B3656367-559A-EEF4-9CE1-38E8A713F92C}"/>
              </a:ext>
            </a:extLst>
          </p:cNvPr>
          <p:cNvSpPr/>
          <p:nvPr/>
        </p:nvSpPr>
        <p:spPr>
          <a:xfrm>
            <a:off x="7805057" y="2833007"/>
            <a:ext cx="253093" cy="1575707"/>
          </a:xfrm>
          <a:prstGeom prst="leftBrace">
            <a:avLst>
              <a:gd name="adj1" fmla="val 8333"/>
              <a:gd name="adj2" fmla="val 1105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255001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96DC1AF5-785F-C6E3-EBF4-49810732029E}"/>
            </a:ext>
          </a:extLst>
        </p:cNvPr>
        <p:cNvGrpSpPr/>
        <p:nvPr/>
      </p:nvGrpSpPr>
      <p:grpSpPr>
        <a:xfrm>
          <a:off x="0" y="0"/>
          <a:ext cx="0" cy="0"/>
          <a:chOff x="0" y="0"/>
          <a:chExt cx="0" cy="0"/>
        </a:xfrm>
      </p:grpSpPr>
      <p:sp>
        <p:nvSpPr>
          <p:cNvPr id="55" name="Google Shape;55;p9">
            <a:extLst>
              <a:ext uri="{FF2B5EF4-FFF2-40B4-BE49-F238E27FC236}">
                <a16:creationId xmlns:a16="http://schemas.microsoft.com/office/drawing/2014/main" id="{3F372624-C81A-0835-EC36-C15E78469DFB}"/>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2026 Activities</a:t>
            </a:r>
            <a:endParaRPr dirty="0"/>
          </a:p>
        </p:txBody>
      </p:sp>
      <p:sp>
        <p:nvSpPr>
          <p:cNvPr id="56" name="Google Shape;56;p9">
            <a:extLst>
              <a:ext uri="{FF2B5EF4-FFF2-40B4-BE49-F238E27FC236}">
                <a16:creationId xmlns:a16="http://schemas.microsoft.com/office/drawing/2014/main" id="{4B06854E-1FEA-0E15-F51E-8259CD1223EA}"/>
              </a:ext>
            </a:extLst>
          </p:cNvPr>
          <p:cNvSpPr txBox="1">
            <a:spLocks noGrp="1"/>
          </p:cNvSpPr>
          <p:nvPr>
            <p:ph type="body" idx="1"/>
          </p:nvPr>
        </p:nvSpPr>
        <p:spPr>
          <a:xfrm>
            <a:off x="311699" y="1152475"/>
            <a:ext cx="7623987" cy="3329878"/>
          </a:xfrm>
          <a:prstGeom prst="rect">
            <a:avLst/>
          </a:prstGeom>
        </p:spPr>
        <p:txBody>
          <a:bodyPr spcFirstLastPara="1" wrap="square" lIns="91425" tIns="91425" rIns="91425" bIns="91425" anchor="t" anchorCtr="0">
            <a:noAutofit/>
          </a:bodyPr>
          <a:lstStyle/>
          <a:p>
            <a:r>
              <a:rPr lang="en-US" sz="1600" dirty="0">
                <a:latin typeface="Roboto" panose="02000000000000000000" pitchFamily="2" charset="0"/>
                <a:ea typeface="Roboto" panose="02000000000000000000" pitchFamily="2" charset="0"/>
                <a:cs typeface="Roboto" panose="02000000000000000000" pitchFamily="2" charset="0"/>
              </a:rPr>
              <a:t>Expand on capturing products with profile template</a:t>
            </a:r>
          </a:p>
          <a:p>
            <a:pPr lvl="1"/>
            <a:r>
              <a:rPr lang="en-US" sz="1200" dirty="0">
                <a:latin typeface="Roboto" panose="02000000000000000000" pitchFamily="2" charset="0"/>
                <a:ea typeface="Roboto" panose="02000000000000000000" pitchFamily="2" charset="0"/>
                <a:cs typeface="Roboto" panose="02000000000000000000" pitchFamily="2" charset="0"/>
              </a:rPr>
              <a:t>Create NASA profiles </a:t>
            </a:r>
            <a:r>
              <a:rPr lang="en-US" sz="1200" dirty="0">
                <a:latin typeface="Roboto" panose="02000000000000000000" pitchFamily="2" charset="0"/>
                <a:ea typeface="Roboto" panose="02000000000000000000" pitchFamily="2" charset="0"/>
                <a:cs typeface="Roboto" panose="02000000000000000000" pitchFamily="2" charset="0"/>
                <a:sym typeface="Wingdings" panose="05000000000000000000" pitchFamily="2" charset="2"/>
              </a:rPr>
              <a:t> Aids Space Grade Linux</a:t>
            </a:r>
            <a:endParaRPr lang="en-US" sz="1200" dirty="0">
              <a:latin typeface="Roboto" panose="02000000000000000000" pitchFamily="2" charset="0"/>
              <a:ea typeface="Roboto" panose="02000000000000000000" pitchFamily="2" charset="0"/>
              <a:cs typeface="Roboto" panose="02000000000000000000" pitchFamily="2" charset="0"/>
            </a:endParaRPr>
          </a:p>
          <a:p>
            <a:pPr lvl="1"/>
            <a:r>
              <a:rPr lang="en-US" sz="1200" dirty="0">
                <a:latin typeface="Roboto" panose="02000000000000000000" pitchFamily="2" charset="0"/>
                <a:ea typeface="Roboto" panose="02000000000000000000" pitchFamily="2" charset="0"/>
                <a:cs typeface="Roboto" panose="02000000000000000000" pitchFamily="2" charset="0"/>
              </a:rPr>
              <a:t>Tie product profiles to use cases </a:t>
            </a:r>
            <a:r>
              <a:rPr lang="en-US" sz="1200" dirty="0">
                <a:latin typeface="Roboto" panose="02000000000000000000" pitchFamily="2" charset="0"/>
                <a:ea typeface="Roboto" panose="02000000000000000000" pitchFamily="2" charset="0"/>
                <a:cs typeface="Roboto" panose="02000000000000000000" pitchFamily="2" charset="0"/>
                <a:sym typeface="Wingdings" panose="05000000000000000000" pitchFamily="2" charset="2"/>
              </a:rPr>
              <a:t> Drive future reference system</a:t>
            </a:r>
          </a:p>
          <a:p>
            <a:pPr lvl="1"/>
            <a:r>
              <a:rPr lang="en-US" sz="1200" dirty="0">
                <a:latin typeface="Roboto" panose="02000000000000000000" pitchFamily="2" charset="0"/>
                <a:ea typeface="Roboto" panose="02000000000000000000" pitchFamily="2" charset="0"/>
                <a:cs typeface="Roboto" panose="02000000000000000000" pitchFamily="2" charset="0"/>
                <a:sym typeface="Wingdings" panose="05000000000000000000" pitchFamily="2" charset="2"/>
              </a:rPr>
              <a:t>Elaborate on fault tolerance and availability aspects</a:t>
            </a:r>
          </a:p>
          <a:p>
            <a:endParaRPr lang="en-US" sz="800" dirty="0">
              <a:latin typeface="Roboto" panose="02000000000000000000" pitchFamily="2" charset="0"/>
              <a:ea typeface="Roboto" panose="02000000000000000000" pitchFamily="2" charset="0"/>
              <a:cs typeface="Roboto" panose="02000000000000000000" pitchFamily="2" charset="0"/>
            </a:endParaRPr>
          </a:p>
          <a:p>
            <a:r>
              <a:rPr lang="en-US" sz="1600" dirty="0">
                <a:latin typeface="Roboto" panose="02000000000000000000" pitchFamily="2" charset="0"/>
                <a:ea typeface="Roboto" panose="02000000000000000000" pitchFamily="2" charset="0"/>
                <a:cs typeface="Roboto" panose="02000000000000000000" pitchFamily="2" charset="0"/>
              </a:rPr>
              <a:t>A reference system (QEMU &amp; HW) for benchmarking</a:t>
            </a:r>
            <a:r>
              <a:rPr lang="en-US" sz="1200" dirty="0">
                <a:latin typeface="Roboto" panose="02000000000000000000" pitchFamily="2" charset="0"/>
                <a:ea typeface="Roboto" panose="02000000000000000000" pitchFamily="2" charset="0"/>
                <a:cs typeface="Roboto" panose="02000000000000000000" pitchFamily="2" charset="0"/>
              </a:rPr>
              <a:t> (a subset of current demos)</a:t>
            </a:r>
            <a:endParaRPr lang="en-US" sz="1600" dirty="0">
              <a:latin typeface="Roboto" panose="02000000000000000000" pitchFamily="2" charset="0"/>
              <a:ea typeface="Roboto" panose="02000000000000000000" pitchFamily="2" charset="0"/>
              <a:cs typeface="Roboto" panose="02000000000000000000" pitchFamily="2" charset="0"/>
            </a:endParaRPr>
          </a:p>
          <a:p>
            <a:endParaRPr lang="en-US" sz="900" dirty="0">
              <a:latin typeface="Roboto" panose="02000000000000000000" pitchFamily="2" charset="0"/>
              <a:ea typeface="Roboto" panose="02000000000000000000" pitchFamily="2" charset="0"/>
              <a:cs typeface="Roboto" panose="02000000000000000000" pitchFamily="2" charset="0"/>
            </a:endParaRPr>
          </a:p>
          <a:p>
            <a:r>
              <a:rPr lang="en-US" sz="1600" dirty="0">
                <a:latin typeface="Roboto" panose="02000000000000000000" pitchFamily="2" charset="0"/>
                <a:ea typeface="Roboto" panose="02000000000000000000" pitchFamily="2" charset="0"/>
                <a:cs typeface="Roboto" panose="02000000000000000000" pitchFamily="2" charset="0"/>
              </a:rPr>
              <a:t>Find common topics with Space Grade Linux</a:t>
            </a:r>
          </a:p>
          <a:p>
            <a:pPr lvl="1"/>
            <a:r>
              <a:rPr lang="en-US" sz="1200" dirty="0">
                <a:latin typeface="Roboto" panose="02000000000000000000" pitchFamily="2" charset="0"/>
                <a:ea typeface="Roboto" panose="02000000000000000000" pitchFamily="2" charset="0"/>
                <a:cs typeface="Roboto" panose="02000000000000000000" pitchFamily="2" charset="0"/>
              </a:rPr>
              <a:t>E.g. reference system definition, footprint, reliability</a:t>
            </a:r>
          </a:p>
          <a:p>
            <a:pPr lvl="1"/>
            <a:r>
              <a:rPr lang="en-US" sz="1200" dirty="0">
                <a:latin typeface="Roboto" panose="02000000000000000000" pitchFamily="2" charset="0"/>
                <a:ea typeface="Roboto" panose="02000000000000000000" pitchFamily="2" charset="0"/>
                <a:cs typeface="Roboto" panose="02000000000000000000" pitchFamily="2" charset="0"/>
              </a:rPr>
              <a:t>Industry Survey paper</a:t>
            </a:r>
          </a:p>
          <a:p>
            <a:endParaRPr lang="en-US" sz="900" dirty="0">
              <a:latin typeface="Roboto" panose="02000000000000000000" pitchFamily="2" charset="0"/>
              <a:ea typeface="Roboto" panose="02000000000000000000" pitchFamily="2" charset="0"/>
              <a:cs typeface="Roboto" panose="02000000000000000000" pitchFamily="2" charset="0"/>
            </a:endParaRPr>
          </a:p>
          <a:p>
            <a:r>
              <a:rPr lang="en-US" sz="1600" dirty="0">
                <a:latin typeface="Roboto" panose="02000000000000000000" pitchFamily="2" charset="0"/>
                <a:ea typeface="Roboto" panose="02000000000000000000" pitchFamily="2" charset="0"/>
                <a:cs typeface="Roboto" panose="02000000000000000000" pitchFamily="2" charset="0"/>
              </a:rPr>
              <a:t>Submit abstract to a conference for at least one Industry paper</a:t>
            </a:r>
          </a:p>
          <a:p>
            <a:pPr lvl="1"/>
            <a:endParaRPr lang="en-US" sz="1200" dirty="0">
              <a:latin typeface="Roboto" panose="02000000000000000000" pitchFamily="2" charset="0"/>
              <a:ea typeface="Roboto" panose="02000000000000000000" pitchFamily="2" charset="0"/>
              <a:cs typeface="Roboto" panose="02000000000000000000" pitchFamily="2" charset="0"/>
            </a:endParaRPr>
          </a:p>
          <a:p>
            <a:pPr lvl="1"/>
            <a:endParaRPr lang="en-US" sz="1200" dirty="0">
              <a:latin typeface="Roboto" panose="02000000000000000000" pitchFamily="2" charset="0"/>
              <a:ea typeface="Roboto" panose="02000000000000000000" pitchFamily="2" charset="0"/>
              <a:cs typeface="Roboto" panose="02000000000000000000" pitchFamily="2" charset="0"/>
            </a:endParaRPr>
          </a:p>
          <a:p>
            <a:pPr algn="l"/>
            <a:endParaRPr lang="en-US" sz="1600" dirty="0">
              <a:latin typeface="Roboto" panose="02000000000000000000" pitchFamily="2" charset="0"/>
              <a:ea typeface="Roboto" panose="02000000000000000000" pitchFamily="2" charset="0"/>
              <a:cs typeface="Roboto" panose="02000000000000000000" pitchFamily="2" charset="0"/>
            </a:endParaRPr>
          </a:p>
          <a:p>
            <a:pPr algn="l"/>
            <a:endParaRPr lang="en-US" sz="1600" dirty="0">
              <a:latin typeface="Roboto" panose="02000000000000000000" pitchFamily="2" charset="0"/>
              <a:ea typeface="Roboto" panose="02000000000000000000" pitchFamily="2" charset="0"/>
              <a:cs typeface="Roboto" panose="02000000000000000000" pitchFamily="2" charset="0"/>
            </a:endParaRPr>
          </a:p>
        </p:txBody>
      </p:sp>
      <p:sp>
        <p:nvSpPr>
          <p:cNvPr id="4" name="Google Shape;70;p11">
            <a:extLst>
              <a:ext uri="{FF2B5EF4-FFF2-40B4-BE49-F238E27FC236}">
                <a16:creationId xmlns:a16="http://schemas.microsoft.com/office/drawing/2014/main" id="{E3C2445A-14D5-E741-2713-ABCD56DFFF64}"/>
              </a:ext>
            </a:extLst>
          </p:cNvPr>
          <p:cNvSpPr txBox="1"/>
          <p:nvPr/>
        </p:nvSpPr>
        <p:spPr>
          <a:xfrm>
            <a:off x="1091700" y="4720650"/>
            <a:ext cx="7558500" cy="323100"/>
          </a:xfrm>
          <a:prstGeom prst="rect">
            <a:avLst/>
          </a:prstGeom>
          <a:noFill/>
          <a:ln>
            <a:noFill/>
          </a:ln>
        </p:spPr>
        <p:txBody>
          <a:bodyPr spcFirstLastPara="1" wrap="square" lIns="91425" tIns="91425" rIns="91425" bIns="91425" anchor="t" anchorCtr="0">
            <a:spAutoFit/>
          </a:bodyPr>
          <a:lstStyle/>
          <a:p>
            <a:pPr marL="0" lvl="0" indent="0" algn="l" rtl="0">
              <a:lnSpc>
                <a:spcPct val="157142"/>
              </a:lnSpc>
              <a:spcBef>
                <a:spcPts val="0"/>
              </a:spcBef>
              <a:spcAft>
                <a:spcPts val="0"/>
              </a:spcAft>
              <a:buNone/>
            </a:pPr>
            <a:r>
              <a:rPr lang="en" sz="900" dirty="0">
                <a:solidFill>
                  <a:srgbClr val="F5F4F3"/>
                </a:solidFill>
                <a:latin typeface="Roboto"/>
                <a:ea typeface="Roboto"/>
                <a:cs typeface="Roboto"/>
                <a:sym typeface="Roboto"/>
              </a:rPr>
              <a:t>Aerospace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Automotive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Linux Features</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OS Engineering Process</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Safety Architecture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Systems</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 Tools ·</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Lighthouse ·</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Space Grade Linux</a:t>
            </a:r>
            <a:r>
              <a:rPr lang="en" sz="900" dirty="0">
                <a:solidFill>
                  <a:schemeClr val="accent6"/>
                </a:solidFill>
                <a:latin typeface="Roboto"/>
                <a:ea typeface="Roboto"/>
                <a:cs typeface="Roboto"/>
                <a:sym typeface="Roboto"/>
              </a:rPr>
              <a:t> </a:t>
            </a:r>
            <a:endParaRPr sz="900" dirty="0">
              <a:solidFill>
                <a:srgbClr val="F5F4F3"/>
              </a:solidFill>
              <a:latin typeface="Roboto"/>
              <a:ea typeface="Roboto"/>
              <a:cs typeface="Roboto"/>
              <a:sym typeface="Roboto"/>
            </a:endParaRPr>
          </a:p>
        </p:txBody>
      </p:sp>
      <p:pic>
        <p:nvPicPr>
          <p:cNvPr id="6" name="Graphic 5" descr="Clipboard Checked outline">
            <a:extLst>
              <a:ext uri="{FF2B5EF4-FFF2-40B4-BE49-F238E27FC236}">
                <a16:creationId xmlns:a16="http://schemas.microsoft.com/office/drawing/2014/main" id="{31354110-19F8-A4F5-B4DB-3DBC98A32D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59271" y="238075"/>
            <a:ext cx="914400" cy="914400"/>
          </a:xfrm>
          <a:prstGeom prst="rect">
            <a:avLst/>
          </a:prstGeom>
        </p:spPr>
      </p:pic>
      <p:pic>
        <p:nvPicPr>
          <p:cNvPr id="7" name="Picture 6">
            <a:extLst>
              <a:ext uri="{FF2B5EF4-FFF2-40B4-BE49-F238E27FC236}">
                <a16:creationId xmlns:a16="http://schemas.microsoft.com/office/drawing/2014/main" id="{0E3829F0-4F0A-DCD7-2132-CE6A55E8EB71}"/>
              </a:ext>
            </a:extLst>
          </p:cNvPr>
          <p:cNvPicPr>
            <a:picLocks noChangeAspect="1"/>
          </p:cNvPicPr>
          <p:nvPr/>
        </p:nvPicPr>
        <p:blipFill>
          <a:blip r:embed="rId5"/>
          <a:stretch>
            <a:fillRect/>
          </a:stretch>
        </p:blipFill>
        <p:spPr>
          <a:xfrm>
            <a:off x="7673228" y="2866553"/>
            <a:ext cx="1470772" cy="1470772"/>
          </a:xfrm>
          <a:prstGeom prst="rect">
            <a:avLst/>
          </a:prstGeom>
        </p:spPr>
      </p:pic>
    </p:spTree>
    <p:extLst>
      <p:ext uri="{BB962C8B-B14F-4D97-AF65-F5344CB8AC3E}">
        <p14:creationId xmlns:p14="http://schemas.microsoft.com/office/powerpoint/2010/main" val="3457844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
          <a:extLst>
            <a:ext uri="{FF2B5EF4-FFF2-40B4-BE49-F238E27FC236}">
              <a16:creationId xmlns:a16="http://schemas.microsoft.com/office/drawing/2014/main" id="{1A43640B-8D35-1487-F83B-819B6F01A268}"/>
            </a:ext>
          </a:extLst>
        </p:cNvPr>
        <p:cNvGrpSpPr/>
        <p:nvPr/>
      </p:nvGrpSpPr>
      <p:grpSpPr>
        <a:xfrm>
          <a:off x="0" y="0"/>
          <a:ext cx="0" cy="0"/>
          <a:chOff x="0" y="0"/>
          <a:chExt cx="0" cy="0"/>
        </a:xfrm>
      </p:grpSpPr>
      <p:sp>
        <p:nvSpPr>
          <p:cNvPr id="55" name="Google Shape;55;p9">
            <a:extLst>
              <a:ext uri="{FF2B5EF4-FFF2-40B4-BE49-F238E27FC236}">
                <a16:creationId xmlns:a16="http://schemas.microsoft.com/office/drawing/2014/main" id="{720D30E5-FCDD-85FD-1A04-01E9A4EF5F75}"/>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How to Get Involved</a:t>
            </a:r>
            <a:endParaRPr dirty="0"/>
          </a:p>
        </p:txBody>
      </p:sp>
      <p:sp>
        <p:nvSpPr>
          <p:cNvPr id="56" name="Google Shape;56;p9">
            <a:extLst>
              <a:ext uri="{FF2B5EF4-FFF2-40B4-BE49-F238E27FC236}">
                <a16:creationId xmlns:a16="http://schemas.microsoft.com/office/drawing/2014/main" id="{3AF69540-51D9-FCB3-EFA8-AB1908C9CA3A}"/>
              </a:ext>
            </a:extLst>
          </p:cNvPr>
          <p:cNvSpPr txBox="1">
            <a:spLocks noGrp="1"/>
          </p:cNvSpPr>
          <p:nvPr>
            <p:ph type="body" idx="1"/>
          </p:nvPr>
        </p:nvSpPr>
        <p:spPr>
          <a:xfrm>
            <a:off x="475129" y="1093694"/>
            <a:ext cx="8520599" cy="3108881"/>
          </a:xfrm>
          <a:prstGeom prst="rect">
            <a:avLst/>
          </a:prstGeom>
        </p:spPr>
        <p:txBody>
          <a:bodyPr spcFirstLastPara="1" wrap="square" lIns="91425" tIns="91425" rIns="91425" bIns="91425" numCol="2" spcCol="182880" anchor="t" anchorCtr="0">
            <a:noAutofit/>
          </a:bodyPr>
          <a:lstStyle/>
          <a:p>
            <a:pPr marL="0" lvl="0" indent="0">
              <a:buNone/>
            </a:pPr>
            <a:r>
              <a:rPr lang="en-US" dirty="0"/>
              <a:t>Join our monthly call(s)</a:t>
            </a:r>
          </a:p>
          <a:p>
            <a:pPr marL="285750" lvl="0" indent="-285750">
              <a:buFontTx/>
              <a:buChar char="-"/>
            </a:pPr>
            <a:r>
              <a:rPr lang="en-US" sz="1400" dirty="0"/>
              <a:t>2</a:t>
            </a:r>
            <a:r>
              <a:rPr lang="en-US" sz="1400" baseline="30000" dirty="0"/>
              <a:t>nd</a:t>
            </a:r>
            <a:r>
              <a:rPr lang="en-US" sz="1400" dirty="0"/>
              <a:t> Thursday – “General Topics”</a:t>
            </a:r>
          </a:p>
          <a:p>
            <a:pPr marL="285750" lvl="0" indent="-285750">
              <a:buFontTx/>
              <a:buChar char="-"/>
            </a:pPr>
            <a:r>
              <a:rPr lang="en-US" sz="1400" dirty="0"/>
              <a:t>3</a:t>
            </a:r>
            <a:r>
              <a:rPr lang="en-US" sz="1400" baseline="30000" dirty="0"/>
              <a:t>rd</a:t>
            </a:r>
            <a:r>
              <a:rPr lang="en-US" sz="1400" dirty="0"/>
              <a:t> Thursday – Space Grade Linux SIG</a:t>
            </a:r>
          </a:p>
          <a:p>
            <a:pPr marL="285750" lvl="0" indent="-285750">
              <a:buFontTx/>
              <a:buChar char="-"/>
            </a:pPr>
            <a:r>
              <a:rPr lang="en-US" sz="1400" dirty="0"/>
              <a:t>4</a:t>
            </a:r>
            <a:r>
              <a:rPr lang="en-US" sz="1400" baseline="30000" dirty="0"/>
              <a:t>th</a:t>
            </a:r>
            <a:r>
              <a:rPr lang="en-US" sz="1400" dirty="0"/>
              <a:t> Thursday – “Industry Papers” session</a:t>
            </a:r>
          </a:p>
          <a:p>
            <a:pPr marL="285750" lvl="0" indent="-285750">
              <a:buFontTx/>
              <a:buChar char="-"/>
            </a:pPr>
            <a:r>
              <a:rPr lang="en-US" sz="1400" dirty="0"/>
              <a:t>Weekly (Friday) – “Use Case” testing call</a:t>
            </a:r>
          </a:p>
          <a:p>
            <a:pPr marL="0" lvl="0" indent="0">
              <a:buNone/>
            </a:pPr>
            <a:endParaRPr lang="en-US" dirty="0"/>
          </a:p>
          <a:p>
            <a:pPr marL="0" lvl="0" indent="0">
              <a:buNone/>
            </a:pPr>
            <a:endParaRPr lang="en-US" dirty="0"/>
          </a:p>
          <a:p>
            <a:pPr marL="0" lvl="0" indent="0">
              <a:buNone/>
            </a:pPr>
            <a:endParaRPr lang="en-US" dirty="0"/>
          </a:p>
          <a:p>
            <a:pPr marL="0" lvl="0" indent="0">
              <a:buNone/>
            </a:pPr>
            <a:r>
              <a:rPr lang="en-US" dirty="0"/>
              <a:t>Register for calendar invite</a:t>
            </a:r>
          </a:p>
          <a:p>
            <a:pPr marL="0" lvl="0" indent="0">
              <a:buNone/>
            </a:pPr>
            <a:r>
              <a:rPr lang="en-US" sz="1200" u="sng" dirty="0">
                <a:solidFill>
                  <a:srgbClr val="467886"/>
                </a:solidFill>
                <a:latin typeface="Aptos" panose="020B0004020202020204" pitchFamily="34" charset="0"/>
                <a:ea typeface="Aptos" panose="020B0004020202020204" pitchFamily="34" charset="0"/>
                <a:cs typeface="Times New Roman" panose="02020603050405020304" pitchFamily="18" charset="0"/>
                <a:hlinkClick r:id="rId3"/>
              </a:rPr>
              <a:t>https://elisa.tech/community/meetings/</a:t>
            </a:r>
            <a:endParaRPr lang="en-US" sz="1400" u="sng" dirty="0">
              <a:solidFill>
                <a:srgbClr val="467886"/>
              </a:solidFill>
              <a:latin typeface="Aptos" panose="020B0004020202020204" pitchFamily="34" charset="0"/>
              <a:ea typeface="Aptos" panose="020B0004020202020204" pitchFamily="34" charset="0"/>
              <a:cs typeface="Times New Roman" panose="02020603050405020304" pitchFamily="18" charset="0"/>
            </a:endParaRPr>
          </a:p>
          <a:p>
            <a:pPr marL="0" indent="0">
              <a:lnSpc>
                <a:spcPct val="100000"/>
              </a:lnSpc>
              <a:spcBef>
                <a:spcPts val="600"/>
              </a:spcBef>
              <a:spcAft>
                <a:spcPts val="800"/>
              </a:spcAft>
              <a:buNone/>
            </a:pPr>
            <a:r>
              <a:rPr lang="en-US" dirty="0"/>
              <a:t>Mailing List - </a:t>
            </a:r>
            <a:r>
              <a:rPr lang="en-US" sz="1200" dirty="0">
                <a:hlinkClick r:id="rId4"/>
              </a:rPr>
              <a:t>https://lists.elisa.tech/g/aerospace</a:t>
            </a:r>
            <a:endParaRPr lang="en-US" sz="1200" dirty="0"/>
          </a:p>
          <a:p>
            <a:pPr marL="0" indent="0">
              <a:lnSpc>
                <a:spcPct val="100000"/>
              </a:lnSpc>
              <a:spcBef>
                <a:spcPts val="600"/>
              </a:spcBef>
              <a:spcAft>
                <a:spcPts val="800"/>
              </a:spcAft>
              <a:buNone/>
            </a:pPr>
            <a:endParaRPr lang="en-US" sz="1400" dirty="0"/>
          </a:p>
          <a:p>
            <a:pPr marL="0" indent="0">
              <a:lnSpc>
                <a:spcPct val="100000"/>
              </a:lnSpc>
              <a:spcBef>
                <a:spcPts val="600"/>
              </a:spcBef>
              <a:spcAft>
                <a:spcPts val="800"/>
              </a:spcAft>
              <a:buNone/>
            </a:pPr>
            <a:r>
              <a:rPr lang="en-US" dirty="0"/>
              <a:t>Discord -</a:t>
            </a:r>
            <a:r>
              <a:rPr lang="en-US" sz="1200" dirty="0"/>
              <a:t> </a:t>
            </a:r>
            <a:r>
              <a:rPr lang="en-US" sz="1200" dirty="0">
                <a:hlinkClick r:id="rId5"/>
              </a:rPr>
              <a:t>https://chat.elisa.tech/</a:t>
            </a:r>
            <a:endParaRPr lang="en-US" sz="1200" dirty="0"/>
          </a:p>
          <a:p>
            <a:pPr marL="0" indent="0">
              <a:lnSpc>
                <a:spcPct val="100000"/>
              </a:lnSpc>
              <a:spcBef>
                <a:spcPts val="600"/>
              </a:spcBef>
              <a:spcAft>
                <a:spcPts val="800"/>
              </a:spcAft>
              <a:buNone/>
            </a:pPr>
            <a:endParaRPr lang="en-US" sz="1600" dirty="0"/>
          </a:p>
          <a:p>
            <a:pPr marL="0" indent="0">
              <a:lnSpc>
                <a:spcPct val="100000"/>
              </a:lnSpc>
              <a:spcBef>
                <a:spcPts val="600"/>
              </a:spcBef>
              <a:spcAft>
                <a:spcPts val="800"/>
              </a:spcAft>
              <a:buNone/>
            </a:pPr>
            <a:r>
              <a:rPr lang="en-US" dirty="0"/>
              <a:t>GitHub - </a:t>
            </a:r>
            <a:r>
              <a:rPr lang="en-US" sz="1200" dirty="0">
                <a:hlinkClick r:id="rId6"/>
              </a:rPr>
              <a:t>https://github.com/elisa-tech/wg-aerospace</a:t>
            </a:r>
            <a:endParaRPr lang="en-US" sz="1200" dirty="0"/>
          </a:p>
          <a:p>
            <a:pPr marL="171450" indent="-171450">
              <a:lnSpc>
                <a:spcPct val="100000"/>
              </a:lnSpc>
              <a:spcBef>
                <a:spcPts val="100"/>
              </a:spcBef>
              <a:spcAft>
                <a:spcPts val="100"/>
              </a:spcAft>
              <a:buFont typeface="Arial" panose="020B0604020202020204" pitchFamily="34" charset="0"/>
              <a:buChar char="•"/>
            </a:pPr>
            <a:r>
              <a:rPr lang="en-US" sz="1100" dirty="0"/>
              <a:t>View meeting minutes</a:t>
            </a:r>
          </a:p>
          <a:p>
            <a:pPr marL="171450" indent="-171450">
              <a:lnSpc>
                <a:spcPct val="100000"/>
              </a:lnSpc>
              <a:spcBef>
                <a:spcPts val="100"/>
              </a:spcBef>
              <a:spcAft>
                <a:spcPts val="100"/>
              </a:spcAft>
              <a:buFont typeface="Arial" panose="020B0604020202020204" pitchFamily="34" charset="0"/>
              <a:buChar char="•"/>
            </a:pPr>
            <a:r>
              <a:rPr lang="en-US" sz="1100" dirty="0"/>
              <a:t>Use case and whitepaper documents</a:t>
            </a:r>
          </a:p>
          <a:p>
            <a:pPr marL="171450" indent="-171450">
              <a:lnSpc>
                <a:spcPct val="100000"/>
              </a:lnSpc>
              <a:spcBef>
                <a:spcPts val="100"/>
              </a:spcBef>
              <a:spcAft>
                <a:spcPts val="100"/>
              </a:spcAft>
              <a:buFont typeface="Arial" panose="020B0604020202020204" pitchFamily="34" charset="0"/>
              <a:buChar char="•"/>
            </a:pPr>
            <a:r>
              <a:rPr lang="en-US" sz="1100" dirty="0"/>
              <a:t>Use case Demos</a:t>
            </a:r>
          </a:p>
        </p:txBody>
      </p:sp>
      <p:pic>
        <p:nvPicPr>
          <p:cNvPr id="2" name="Picture 1">
            <a:extLst>
              <a:ext uri="{FF2B5EF4-FFF2-40B4-BE49-F238E27FC236}">
                <a16:creationId xmlns:a16="http://schemas.microsoft.com/office/drawing/2014/main" id="{D345C907-A38C-FF8F-54E3-4499322C8673}"/>
              </a:ext>
            </a:extLst>
          </p:cNvPr>
          <p:cNvPicPr>
            <a:picLocks noChangeAspect="1"/>
          </p:cNvPicPr>
          <p:nvPr/>
        </p:nvPicPr>
        <p:blipFill>
          <a:blip r:embed="rId7"/>
          <a:stretch>
            <a:fillRect/>
          </a:stretch>
        </p:blipFill>
        <p:spPr>
          <a:xfrm>
            <a:off x="3324726" y="3331171"/>
            <a:ext cx="718635" cy="718635"/>
          </a:xfrm>
          <a:prstGeom prst="rect">
            <a:avLst/>
          </a:prstGeom>
        </p:spPr>
      </p:pic>
      <p:pic>
        <p:nvPicPr>
          <p:cNvPr id="6" name="Graphic 5" descr="Person with idea outline">
            <a:extLst>
              <a:ext uri="{FF2B5EF4-FFF2-40B4-BE49-F238E27FC236}">
                <a16:creationId xmlns:a16="http://schemas.microsoft.com/office/drawing/2014/main" id="{AA102443-C318-E77F-1B9E-4341293FE60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81328" y="99750"/>
            <a:ext cx="914400" cy="914400"/>
          </a:xfrm>
          <a:prstGeom prst="rect">
            <a:avLst/>
          </a:prstGeom>
        </p:spPr>
      </p:pic>
      <p:sp>
        <p:nvSpPr>
          <p:cNvPr id="7" name="Google Shape;70;p11">
            <a:extLst>
              <a:ext uri="{FF2B5EF4-FFF2-40B4-BE49-F238E27FC236}">
                <a16:creationId xmlns:a16="http://schemas.microsoft.com/office/drawing/2014/main" id="{A214C86B-F386-5A81-91A8-88ECDC131DE2}"/>
              </a:ext>
            </a:extLst>
          </p:cNvPr>
          <p:cNvSpPr txBox="1"/>
          <p:nvPr/>
        </p:nvSpPr>
        <p:spPr>
          <a:xfrm>
            <a:off x="1091700" y="4720650"/>
            <a:ext cx="7558500" cy="323100"/>
          </a:xfrm>
          <a:prstGeom prst="rect">
            <a:avLst/>
          </a:prstGeom>
          <a:noFill/>
          <a:ln>
            <a:noFill/>
          </a:ln>
        </p:spPr>
        <p:txBody>
          <a:bodyPr spcFirstLastPara="1" wrap="square" lIns="91425" tIns="91425" rIns="91425" bIns="91425" anchor="t" anchorCtr="0">
            <a:spAutoFit/>
          </a:bodyPr>
          <a:lstStyle/>
          <a:p>
            <a:pPr marL="0" lvl="0" indent="0" algn="l" rtl="0">
              <a:lnSpc>
                <a:spcPct val="157142"/>
              </a:lnSpc>
              <a:spcBef>
                <a:spcPts val="0"/>
              </a:spcBef>
              <a:spcAft>
                <a:spcPts val="0"/>
              </a:spcAft>
              <a:buNone/>
            </a:pPr>
            <a:r>
              <a:rPr lang="en" sz="900" dirty="0">
                <a:solidFill>
                  <a:srgbClr val="F5F4F3"/>
                </a:solidFill>
                <a:latin typeface="Roboto"/>
                <a:ea typeface="Roboto"/>
                <a:cs typeface="Roboto"/>
                <a:sym typeface="Roboto"/>
              </a:rPr>
              <a:t>Aerospace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Automotive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Linux Features</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OS Engineering Process</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Safety Architecture</a:t>
            </a:r>
            <a:r>
              <a:rPr lang="en" sz="900" dirty="0">
                <a:solidFill>
                  <a:schemeClr val="accent6"/>
                </a:solidFill>
                <a:latin typeface="Roboto"/>
                <a:ea typeface="Roboto"/>
                <a:cs typeface="Roboto"/>
                <a:sym typeface="Roboto"/>
              </a:rPr>
              <a:t> · </a:t>
            </a:r>
            <a:r>
              <a:rPr lang="en" sz="900" dirty="0">
                <a:solidFill>
                  <a:srgbClr val="F5F4F3"/>
                </a:solidFill>
                <a:latin typeface="Roboto"/>
                <a:ea typeface="Roboto"/>
                <a:cs typeface="Roboto"/>
                <a:sym typeface="Roboto"/>
              </a:rPr>
              <a:t>Systems</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 Tools ·</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Lighthouse ·</a:t>
            </a:r>
            <a:r>
              <a:rPr lang="en" sz="900" dirty="0">
                <a:solidFill>
                  <a:schemeClr val="accent6"/>
                </a:solidFill>
                <a:latin typeface="Roboto"/>
                <a:ea typeface="Roboto"/>
                <a:cs typeface="Roboto"/>
                <a:sym typeface="Roboto"/>
              </a:rPr>
              <a:t> </a:t>
            </a:r>
            <a:r>
              <a:rPr lang="en" sz="900" dirty="0">
                <a:solidFill>
                  <a:srgbClr val="F5F4F3"/>
                </a:solidFill>
                <a:latin typeface="Roboto"/>
                <a:ea typeface="Roboto"/>
                <a:cs typeface="Roboto"/>
                <a:sym typeface="Roboto"/>
              </a:rPr>
              <a:t>Space Grade Linux</a:t>
            </a:r>
            <a:r>
              <a:rPr lang="en" sz="900" dirty="0">
                <a:solidFill>
                  <a:schemeClr val="accent6"/>
                </a:solidFill>
                <a:latin typeface="Roboto"/>
                <a:ea typeface="Roboto"/>
                <a:cs typeface="Roboto"/>
                <a:sym typeface="Roboto"/>
              </a:rPr>
              <a:t> </a:t>
            </a:r>
            <a:endParaRPr sz="900" dirty="0">
              <a:solidFill>
                <a:srgbClr val="F5F4F3"/>
              </a:solidFill>
              <a:latin typeface="Roboto"/>
              <a:ea typeface="Roboto"/>
              <a:cs typeface="Roboto"/>
              <a:sym typeface="Roboto"/>
            </a:endParaRPr>
          </a:p>
        </p:txBody>
      </p:sp>
    </p:spTree>
    <p:extLst>
      <p:ext uri="{BB962C8B-B14F-4D97-AF65-F5344CB8AC3E}">
        <p14:creationId xmlns:p14="http://schemas.microsoft.com/office/powerpoint/2010/main" val="156020780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77C046"/>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BC8A387F61784BA7FCD14D3BD9BA97" ma:contentTypeVersion="9" ma:contentTypeDescription="Create a new document." ma:contentTypeScope="" ma:versionID="ab9bd752c275b64874dc0833a8669543">
  <xsd:schema xmlns:xsd="http://www.w3.org/2001/XMLSchema" xmlns:xs="http://www.w3.org/2001/XMLSchema" xmlns:p="http://schemas.microsoft.com/office/2006/metadata/properties" xmlns:ns3="2c13b40f-93e8-44d0-9439-bff2a3aff2ef" xmlns:ns4="1dedc83c-9b83-4e9e-a3ee-ea7e82b4a201" targetNamespace="http://schemas.microsoft.com/office/2006/metadata/properties" ma:root="true" ma:fieldsID="7884d37d3f3583bf67357d5b8e952c02" ns3:_="" ns4:_="">
    <xsd:import namespace="2c13b40f-93e8-44d0-9439-bff2a3aff2ef"/>
    <xsd:import namespace="1dedc83c-9b83-4e9e-a3ee-ea7e82b4a201"/>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13b40f-93e8-44d0-9439-bff2a3aff2ef"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dedc83c-9b83-4e9e-a3ee-ea7e82b4a201"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2c13b40f-93e8-44d0-9439-bff2a3aff2ef" xsi:nil="true"/>
  </documentManagement>
</p:properties>
</file>

<file path=customXml/itemProps1.xml><?xml version="1.0" encoding="utf-8"?>
<ds:datastoreItem xmlns:ds="http://schemas.openxmlformats.org/officeDocument/2006/customXml" ds:itemID="{7C1E51B2-0B7C-40F5-9B89-16CA851D57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c13b40f-93e8-44d0-9439-bff2a3aff2ef"/>
    <ds:schemaRef ds:uri="1dedc83c-9b83-4e9e-a3ee-ea7e82b4a20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4B6D469-2EE5-4294-AD1E-F96757AC7F57}">
  <ds:schemaRefs>
    <ds:schemaRef ds:uri="http://schemas.microsoft.com/sharepoint/v3/contenttype/forms"/>
  </ds:schemaRefs>
</ds:datastoreItem>
</file>

<file path=customXml/itemProps3.xml><?xml version="1.0" encoding="utf-8"?>
<ds:datastoreItem xmlns:ds="http://schemas.openxmlformats.org/officeDocument/2006/customXml" ds:itemID="{2E62BA38-5CD8-4CF6-B14C-B5E0E849EECA}">
  <ds:schemaRefs>
    <ds:schemaRef ds:uri="http://schemas.microsoft.com/office/2006/documentManagement/types"/>
    <ds:schemaRef ds:uri="1dedc83c-9b83-4e9e-a3ee-ea7e82b4a201"/>
    <ds:schemaRef ds:uri="http://schemas.microsoft.com/office/2006/metadata/properties"/>
    <ds:schemaRef ds:uri="http://purl.org/dc/terms/"/>
    <ds:schemaRef ds:uri="http://purl.org/dc/dcmitype/"/>
    <ds:schemaRef ds:uri="http://schemas.openxmlformats.org/package/2006/metadata/core-properties"/>
    <ds:schemaRef ds:uri="http://schemas.microsoft.com/office/infopath/2007/PartnerControls"/>
    <ds:schemaRef ds:uri="2c13b40f-93e8-44d0-9439-bff2a3aff2ef"/>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4579</TotalTime>
  <Words>983</Words>
  <Application>Microsoft Office PowerPoint</Application>
  <PresentationFormat>On-screen Show (16:9)</PresentationFormat>
  <Paragraphs>118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Aptos</vt:lpstr>
      <vt:lpstr>Roboto</vt:lpstr>
      <vt:lpstr>Simple Light</vt:lpstr>
      <vt:lpstr>Aerospace Working Group</vt:lpstr>
      <vt:lpstr>PowerPoint Presentation</vt:lpstr>
      <vt:lpstr>Aerospace Working Group</vt:lpstr>
      <vt:lpstr>2025 Contributions</vt:lpstr>
      <vt:lpstr>2025 Achievements</vt:lpstr>
      <vt:lpstr>2025 Achievements</vt:lpstr>
      <vt:lpstr>2025 Achievements</vt:lpstr>
      <vt:lpstr>2025 Achievements</vt:lpstr>
      <vt:lpstr>2026 Activities</vt:lpstr>
      <vt:lpstr>How to Get Involved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Weber (US), Matthew L</dc:creator>
  <cp:lastModifiedBy>Weber (US), Matthew L</cp:lastModifiedBy>
  <cp:revision>22</cp:revision>
  <dcterms:modified xsi:type="dcterms:W3CDTF">2026-01-23T16:33:32Z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0x01010083BC8A387F61784BA7FCD14D3BD9BA97</vt:lpwstr>
  </property>
</Properties>
</file>