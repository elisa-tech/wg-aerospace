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  <p:sldMasterId id="214748367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</p:sldIdLst>
  <p:sldSz cy="5143500" cx="9144000"/>
  <p:notesSz cx="6858000" cy="9144000"/>
  <p:embeddedFontLst>
    <p:embeddedFont>
      <p:font typeface="Architects Daughter"/>
      <p:regular r:id="rId66"/>
    </p:embeddedFont>
    <p:embeddedFont>
      <p:font typeface="Roboto"/>
      <p:regular r:id="rId67"/>
      <p:bold r:id="rId68"/>
      <p:italic r:id="rId69"/>
      <p:boldItalic r:id="rId70"/>
    </p:embeddedFont>
    <p:embeddedFont>
      <p:font typeface="Arial Narrow"/>
      <p:regular r:id="rId71"/>
      <p:bold r:id="rId72"/>
      <p:italic r:id="rId73"/>
      <p:boldItalic r:id="rId74"/>
    </p:embeddedFont>
    <p:embeddedFont>
      <p:font typeface="Roboto Mono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79" roundtripDataSignature="AMtx7mg03d7aGDn+Srd73PqtcaKaBryT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F226F6-269B-4F91-8E04-4BE058F00004}">
  <a:tblStyle styleId="{58F226F6-269B-4F91-8E04-4BE058F0000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1E8"/>
          </a:solidFill>
        </a:fill>
      </a:tcStyle>
    </a:wholeTbl>
    <a:band1H>
      <a:tcTxStyle/>
      <a:tcStyle>
        <a:fill>
          <a:solidFill>
            <a:srgbClr val="FFE2CD"/>
          </a:solidFill>
        </a:fill>
      </a:tcStyle>
    </a:band1H>
    <a:band2H>
      <a:tcTxStyle/>
    </a:band2H>
    <a:band1V>
      <a:tcTxStyle/>
      <a:tcStyle>
        <a:fill>
          <a:solidFill>
            <a:srgbClr val="FFE2CD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font" Target="fonts/ArialNarrow-italic.fntdata"/><Relationship Id="rId72" Type="http://schemas.openxmlformats.org/officeDocument/2006/relationships/font" Target="fonts/ArialNarrow-bold.fntdata"/><Relationship Id="rId31" Type="http://schemas.openxmlformats.org/officeDocument/2006/relationships/slide" Target="slides/slide23.xml"/><Relationship Id="rId75" Type="http://schemas.openxmlformats.org/officeDocument/2006/relationships/font" Target="fonts/RobotoMono-regular.fntdata"/><Relationship Id="rId30" Type="http://schemas.openxmlformats.org/officeDocument/2006/relationships/slide" Target="slides/slide22.xml"/><Relationship Id="rId74" Type="http://schemas.openxmlformats.org/officeDocument/2006/relationships/font" Target="fonts/ArialNarrow-boldItalic.fntdata"/><Relationship Id="rId33" Type="http://schemas.openxmlformats.org/officeDocument/2006/relationships/slide" Target="slides/slide25.xml"/><Relationship Id="rId77" Type="http://schemas.openxmlformats.org/officeDocument/2006/relationships/font" Target="fonts/RobotoMono-italic.fntdata"/><Relationship Id="rId32" Type="http://schemas.openxmlformats.org/officeDocument/2006/relationships/slide" Target="slides/slide24.xml"/><Relationship Id="rId76" Type="http://schemas.openxmlformats.org/officeDocument/2006/relationships/font" Target="fonts/RobotoMono-bold.fntdata"/><Relationship Id="rId35" Type="http://schemas.openxmlformats.org/officeDocument/2006/relationships/slide" Target="slides/slide27.xml"/><Relationship Id="rId79" Type="http://customschemas.google.com/relationships/presentationmetadata" Target="metadata"/><Relationship Id="rId34" Type="http://schemas.openxmlformats.org/officeDocument/2006/relationships/slide" Target="slides/slide26.xml"/><Relationship Id="rId78" Type="http://schemas.openxmlformats.org/officeDocument/2006/relationships/font" Target="fonts/RobotoMono-boldItalic.fntdata"/><Relationship Id="rId71" Type="http://schemas.openxmlformats.org/officeDocument/2006/relationships/font" Target="fonts/ArialNarrow-regular.fntdata"/><Relationship Id="rId70" Type="http://schemas.openxmlformats.org/officeDocument/2006/relationships/font" Target="fonts/Roboto-boldItalic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font" Target="fonts/ArchitectsDaughter-regular.fntdata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font" Target="fonts/Roboto-bold.fntdata"/><Relationship Id="rId23" Type="http://schemas.openxmlformats.org/officeDocument/2006/relationships/slide" Target="slides/slide15.xml"/><Relationship Id="rId67" Type="http://schemas.openxmlformats.org/officeDocument/2006/relationships/font" Target="fonts/Roboto-regular.fntdata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Roboto-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0b5701d0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End to end bidirectional traceability.</a:t>
            </a:r>
            <a:endParaRPr/>
          </a:p>
        </p:txBody>
      </p:sp>
      <p:sp>
        <p:nvSpPr>
          <p:cNvPr id="504" name="Google Shape;504;g3e0b5701d05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Artem to add safety compiler</a:t>
            </a:r>
            <a:endParaRPr/>
          </a:p>
        </p:txBody>
      </p:sp>
      <p:sp>
        <p:nvSpPr>
          <p:cNvPr id="572" name="Google Shape;572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0b5701d05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e0b5701d05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Qemu is the preferred approach for hw fault injection.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e0b5701d0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Keep this</a:t>
            </a:r>
            <a:endParaRPr/>
          </a:p>
        </p:txBody>
      </p:sp>
      <p:sp>
        <p:nvSpPr>
          <p:cNvPr id="674" name="Google Shape;674;g3e0b5701d05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Move after the QnA</a:t>
            </a:r>
            <a:endParaRPr/>
          </a:p>
        </p:txBody>
      </p:sp>
      <p:sp>
        <p:nvSpPr>
          <p:cNvPr id="694" name="Google Shape;694;p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df444a03a4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df444a03a4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df444a03a4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Move after conclusion</a:t>
            </a:r>
            <a:endParaRPr/>
          </a:p>
        </p:txBody>
      </p:sp>
      <p:sp>
        <p:nvSpPr>
          <p:cNvPr id="730" name="Google Shape;730;g3df444a03a4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e0a7d5f0ff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8" name="Google Shape;738;g3e0a7d5f0ff_3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9abf3262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9abf3262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df444a03a4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df444a03a4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e7b0f4ce0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3e7b0f4ce0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e7b0f4ce0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g3e7b0f4ce0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df444a03a4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df444a03a4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e0c24b62c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e0c24b62c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e0c24b62c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3e0c24b62c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e0c24b62c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e0c24b62c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e0c24b62c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Move to the conclusion after QnA</a:t>
            </a:r>
            <a:endParaRPr/>
          </a:p>
        </p:txBody>
      </p:sp>
      <p:sp>
        <p:nvSpPr>
          <p:cNvPr id="876" name="Google Shape;876;g3e0c24b62c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e0c24b62c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e0c24b62c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e0c24b62c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g3e0c24b62c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0c24b62c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g3e0c24b62c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e0c24b62c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g3e0c24b62c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e0c24b62c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e0c24b62c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e0c24b62c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g3e0c24b62c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accen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ctrTitle"/>
          </p:nvPr>
        </p:nvSpPr>
        <p:spPr>
          <a:xfrm>
            <a:off x="360875" y="1289575"/>
            <a:ext cx="85050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" name="Google Shape;11;p46"/>
          <p:cNvSpPr txBox="1"/>
          <p:nvPr>
            <p:ph idx="1" type="subTitle"/>
          </p:nvPr>
        </p:nvSpPr>
        <p:spPr>
          <a:xfrm>
            <a:off x="436425" y="2871725"/>
            <a:ext cx="4625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46"/>
          <p:cNvSpPr/>
          <p:nvPr>
            <p:ph idx="2" type="pic"/>
          </p:nvPr>
        </p:nvSpPr>
        <p:spPr>
          <a:xfrm>
            <a:off x="531000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" name="Google Shape;13;p46"/>
          <p:cNvSpPr/>
          <p:nvPr>
            <p:ph idx="3" type="pic"/>
          </p:nvPr>
        </p:nvSpPr>
        <p:spPr>
          <a:xfrm>
            <a:off x="2514028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4" name="Google Shape;14;p4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569152" y="3402600"/>
            <a:ext cx="1574849" cy="174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436" y="354787"/>
            <a:ext cx="2143991" cy="7925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46"/>
          <p:cNvCxnSpPr/>
          <p:nvPr/>
        </p:nvCxnSpPr>
        <p:spPr>
          <a:xfrm>
            <a:off x="2826475" y="522925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" name="Google Shape;17;p46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3264875" y="522925"/>
            <a:ext cx="1344799" cy="45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46"/>
          <p:cNvCxnSpPr/>
          <p:nvPr/>
        </p:nvCxnSpPr>
        <p:spPr>
          <a:xfrm>
            <a:off x="2826475" y="934200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" name="Google Shape;1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1175" y="589724"/>
            <a:ext cx="360021" cy="28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" name="Google Shape;22;p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" name="Google Shape;2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5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5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6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48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4491094" y="-2"/>
            <a:ext cx="46529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48"/>
          <p:cNvSpPr txBox="1"/>
          <p:nvPr>
            <p:ph idx="1" type="body"/>
          </p:nvPr>
        </p:nvSpPr>
        <p:spPr>
          <a:xfrm>
            <a:off x="311700" y="1152475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48"/>
          <p:cNvSpPr txBox="1"/>
          <p:nvPr>
            <p:ph idx="12" type="sldNum"/>
          </p:nvPr>
        </p:nvSpPr>
        <p:spPr>
          <a:xfrm>
            <a:off x="8638650" y="4892775"/>
            <a:ext cx="50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0" name="Google Shape;7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4618171"/>
            <a:ext cx="1108749" cy="409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48"/>
          <p:cNvCxnSpPr/>
          <p:nvPr/>
        </p:nvCxnSpPr>
        <p:spPr>
          <a:xfrm>
            <a:off x="1644166" y="4672214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2" name="Google Shape;72;p48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1887146" y="4672214"/>
            <a:ext cx="745344" cy="252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48"/>
          <p:cNvCxnSpPr/>
          <p:nvPr/>
        </p:nvCxnSpPr>
        <p:spPr>
          <a:xfrm>
            <a:off x="1644166" y="4900159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2313" y="4709237"/>
            <a:ext cx="199539" cy="15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9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4491094" y="-2"/>
            <a:ext cx="46529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" type="body"/>
          </p:nvPr>
        </p:nvSpPr>
        <p:spPr>
          <a:xfrm>
            <a:off x="311700" y="1152475"/>
            <a:ext cx="39999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49"/>
          <p:cNvSpPr txBox="1"/>
          <p:nvPr>
            <p:ph idx="2" type="body"/>
          </p:nvPr>
        </p:nvSpPr>
        <p:spPr>
          <a:xfrm>
            <a:off x="4832400" y="1152475"/>
            <a:ext cx="39999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49"/>
          <p:cNvSpPr txBox="1"/>
          <p:nvPr>
            <p:ph idx="12" type="sldNum"/>
          </p:nvPr>
        </p:nvSpPr>
        <p:spPr>
          <a:xfrm>
            <a:off x="8638650" y="4892775"/>
            <a:ext cx="50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1" name="Google Shape;8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4618171"/>
            <a:ext cx="1108749" cy="409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49"/>
          <p:cNvCxnSpPr/>
          <p:nvPr/>
        </p:nvCxnSpPr>
        <p:spPr>
          <a:xfrm>
            <a:off x="1644166" y="4672214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" name="Google Shape;83;p49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1887146" y="4672214"/>
            <a:ext cx="745344" cy="252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49"/>
          <p:cNvCxnSpPr/>
          <p:nvPr/>
        </p:nvCxnSpPr>
        <p:spPr>
          <a:xfrm>
            <a:off x="1644166" y="4900159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5" name="Google Shape;8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2313" y="4709237"/>
            <a:ext cx="199539" cy="15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0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4491094" y="-2"/>
            <a:ext cx="46529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2" type="sldNum"/>
          </p:nvPr>
        </p:nvSpPr>
        <p:spPr>
          <a:xfrm>
            <a:off x="8638650" y="4892775"/>
            <a:ext cx="50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0" name="Google Shape;9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4618171"/>
            <a:ext cx="1108749" cy="409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50"/>
          <p:cNvCxnSpPr/>
          <p:nvPr/>
        </p:nvCxnSpPr>
        <p:spPr>
          <a:xfrm>
            <a:off x="1644166" y="4672214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p50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1887146" y="4672214"/>
            <a:ext cx="745344" cy="252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50"/>
          <p:cNvCxnSpPr/>
          <p:nvPr/>
        </p:nvCxnSpPr>
        <p:spPr>
          <a:xfrm>
            <a:off x="1644166" y="4900159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" name="Google Shape;9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2313" y="4709237"/>
            <a:ext cx="199539" cy="15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1"/>
          <p:cNvSpPr txBox="1"/>
          <p:nvPr>
            <p:ph idx="12" type="sldNum"/>
          </p:nvPr>
        </p:nvSpPr>
        <p:spPr>
          <a:xfrm>
            <a:off x="8638650" y="4892775"/>
            <a:ext cx="50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3"/>
          <p:cNvSpPr txBox="1"/>
          <p:nvPr>
            <p:ph type="ctrTitle"/>
          </p:nvPr>
        </p:nvSpPr>
        <p:spPr>
          <a:xfrm>
            <a:off x="360875" y="1289575"/>
            <a:ext cx="85050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9" name="Google Shape;99;p63"/>
          <p:cNvSpPr txBox="1"/>
          <p:nvPr>
            <p:ph idx="1" type="subTitle"/>
          </p:nvPr>
        </p:nvSpPr>
        <p:spPr>
          <a:xfrm>
            <a:off x="436425" y="2871725"/>
            <a:ext cx="4625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00" name="Google Shape;100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436" y="354787"/>
            <a:ext cx="2143991" cy="7925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63"/>
          <p:cNvCxnSpPr/>
          <p:nvPr/>
        </p:nvCxnSpPr>
        <p:spPr>
          <a:xfrm>
            <a:off x="2826475" y="522925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2" name="Google Shape;102;p63"/>
          <p:cNvPicPr preferRelativeResize="0"/>
          <p:nvPr/>
        </p:nvPicPr>
        <p:blipFill rotWithShape="1">
          <a:blip r:embed="rId3">
            <a:alphaModFix/>
          </a:blip>
          <a:srcRect b="0" l="0" r="44451" t="0"/>
          <a:stretch/>
        </p:blipFill>
        <p:spPr>
          <a:xfrm>
            <a:off x="3264875" y="522925"/>
            <a:ext cx="1344799" cy="45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63"/>
          <p:cNvCxnSpPr/>
          <p:nvPr/>
        </p:nvCxnSpPr>
        <p:spPr>
          <a:xfrm>
            <a:off x="2826475" y="934200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63"/>
          <p:cNvSpPr/>
          <p:nvPr>
            <p:ph idx="2" type="pic"/>
          </p:nvPr>
        </p:nvSpPr>
        <p:spPr>
          <a:xfrm>
            <a:off x="531000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5" name="Google Shape;105;p63"/>
          <p:cNvSpPr/>
          <p:nvPr>
            <p:ph idx="3" type="pic"/>
          </p:nvPr>
        </p:nvSpPr>
        <p:spPr>
          <a:xfrm>
            <a:off x="6480085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6" name="Google Shape;106;p63"/>
          <p:cNvSpPr/>
          <p:nvPr>
            <p:ph idx="4" type="pic"/>
          </p:nvPr>
        </p:nvSpPr>
        <p:spPr>
          <a:xfrm>
            <a:off x="2514028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7" name="Google Shape;107;p63"/>
          <p:cNvSpPr/>
          <p:nvPr>
            <p:ph idx="5" type="pic"/>
          </p:nvPr>
        </p:nvSpPr>
        <p:spPr>
          <a:xfrm>
            <a:off x="4497057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08" name="Google Shape;108;p63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7569152" y="3402600"/>
            <a:ext cx="1574849" cy="174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1175" y="589724"/>
            <a:ext cx="360021" cy="28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accen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4"/>
          <p:cNvSpPr txBox="1"/>
          <p:nvPr>
            <p:ph idx="1" type="subTitle"/>
          </p:nvPr>
        </p:nvSpPr>
        <p:spPr>
          <a:xfrm>
            <a:off x="436425" y="2871725"/>
            <a:ext cx="4625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2" name="Google Shape;112;p64"/>
          <p:cNvSpPr/>
          <p:nvPr>
            <p:ph idx="2" type="pic"/>
          </p:nvPr>
        </p:nvSpPr>
        <p:spPr>
          <a:xfrm>
            <a:off x="531000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" name="Google Shape;113;p64"/>
          <p:cNvSpPr/>
          <p:nvPr>
            <p:ph idx="3" type="pic"/>
          </p:nvPr>
        </p:nvSpPr>
        <p:spPr>
          <a:xfrm>
            <a:off x="2514028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4" name="Google Shape;114;p64"/>
          <p:cNvSpPr/>
          <p:nvPr>
            <p:ph idx="4" type="pic"/>
          </p:nvPr>
        </p:nvSpPr>
        <p:spPr>
          <a:xfrm>
            <a:off x="4497057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5" name="Google Shape;115;p64"/>
          <p:cNvSpPr txBox="1"/>
          <p:nvPr>
            <p:ph type="ctrTitle"/>
          </p:nvPr>
        </p:nvSpPr>
        <p:spPr>
          <a:xfrm>
            <a:off x="360875" y="1289575"/>
            <a:ext cx="85050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16" name="Google Shape;116;p6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569152" y="3402600"/>
            <a:ext cx="1574849" cy="174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436" y="354787"/>
            <a:ext cx="2143991" cy="7925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64"/>
          <p:cNvCxnSpPr/>
          <p:nvPr/>
        </p:nvCxnSpPr>
        <p:spPr>
          <a:xfrm>
            <a:off x="2826475" y="522925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9" name="Google Shape;119;p64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3264875" y="522925"/>
            <a:ext cx="1344799" cy="45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64"/>
          <p:cNvCxnSpPr/>
          <p:nvPr/>
        </p:nvCxnSpPr>
        <p:spPr>
          <a:xfrm>
            <a:off x="2826475" y="934200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1" name="Google Shape;121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1175" y="589724"/>
            <a:ext cx="360021" cy="28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accent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5"/>
          <p:cNvSpPr txBox="1"/>
          <p:nvPr>
            <p:ph type="ctrTitle"/>
          </p:nvPr>
        </p:nvSpPr>
        <p:spPr>
          <a:xfrm>
            <a:off x="360875" y="1289575"/>
            <a:ext cx="85050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4" name="Google Shape;124;p65"/>
          <p:cNvSpPr txBox="1"/>
          <p:nvPr>
            <p:ph idx="1" type="subTitle"/>
          </p:nvPr>
        </p:nvSpPr>
        <p:spPr>
          <a:xfrm>
            <a:off x="436425" y="2871725"/>
            <a:ext cx="4625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5" name="Google Shape;125;p65"/>
          <p:cNvSpPr/>
          <p:nvPr>
            <p:ph idx="2" type="pic"/>
          </p:nvPr>
        </p:nvSpPr>
        <p:spPr>
          <a:xfrm>
            <a:off x="531000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65"/>
          <p:cNvSpPr/>
          <p:nvPr>
            <p:ph idx="3" type="pic"/>
          </p:nvPr>
        </p:nvSpPr>
        <p:spPr>
          <a:xfrm>
            <a:off x="2514028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27" name="Google Shape;127;p6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569152" y="3402600"/>
            <a:ext cx="1574849" cy="174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436" y="354787"/>
            <a:ext cx="2143991" cy="7925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65"/>
          <p:cNvCxnSpPr/>
          <p:nvPr/>
        </p:nvCxnSpPr>
        <p:spPr>
          <a:xfrm>
            <a:off x="2826475" y="522925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0" name="Google Shape;130;p65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3264875" y="522925"/>
            <a:ext cx="1344799" cy="45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65"/>
          <p:cNvCxnSpPr/>
          <p:nvPr/>
        </p:nvCxnSpPr>
        <p:spPr>
          <a:xfrm>
            <a:off x="2826475" y="934200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2" name="Google Shape;132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1175" y="589724"/>
            <a:ext cx="360021" cy="28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Full Page">
  <p:cSld name="Content Full P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66"/>
          <p:cNvSpPr txBox="1"/>
          <p:nvPr>
            <p:ph idx="1" type="body"/>
          </p:nvPr>
        </p:nvSpPr>
        <p:spPr>
          <a:xfrm>
            <a:off x="200025" y="685800"/>
            <a:ext cx="874395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3e0a7d5f0ff_3_4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4491094" y="-2"/>
            <a:ext cx="46529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e0a7d5f0ff_3_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" name="Google Shape;143;g3e0a7d5f0ff_3_4"/>
          <p:cNvSpPr txBox="1"/>
          <p:nvPr>
            <p:ph idx="1" type="body"/>
          </p:nvPr>
        </p:nvSpPr>
        <p:spPr>
          <a:xfrm>
            <a:off x="311700" y="1152475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" name="Google Shape;144;g3e0a7d5f0ff_3_4"/>
          <p:cNvSpPr txBox="1"/>
          <p:nvPr>
            <p:ph idx="12" type="sldNum"/>
          </p:nvPr>
        </p:nvSpPr>
        <p:spPr>
          <a:xfrm>
            <a:off x="8638650" y="4892775"/>
            <a:ext cx="50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5" name="Google Shape;145;g3e0a7d5f0ff_3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4618171"/>
            <a:ext cx="1108749" cy="409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g3e0a7d5f0ff_3_4"/>
          <p:cNvCxnSpPr/>
          <p:nvPr/>
        </p:nvCxnSpPr>
        <p:spPr>
          <a:xfrm>
            <a:off x="1644166" y="4672214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7" name="Google Shape;147;g3e0a7d5f0ff_3_4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1887146" y="4672214"/>
            <a:ext cx="745344" cy="252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g3e0a7d5f0ff_3_4"/>
          <p:cNvCxnSpPr/>
          <p:nvPr/>
        </p:nvCxnSpPr>
        <p:spPr>
          <a:xfrm>
            <a:off x="1644166" y="4900159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9" name="Google Shape;149;g3e0a7d5f0ff_3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2313" y="4709237"/>
            <a:ext cx="199539" cy="15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e0a7d5f0ff_3_14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4491094" y="-2"/>
            <a:ext cx="46529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e0a7d5f0ff_3_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g3e0a7d5f0ff_3_14"/>
          <p:cNvSpPr txBox="1"/>
          <p:nvPr>
            <p:ph idx="1" type="body"/>
          </p:nvPr>
        </p:nvSpPr>
        <p:spPr>
          <a:xfrm>
            <a:off x="311700" y="1152475"/>
            <a:ext cx="39999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g3e0a7d5f0ff_3_14"/>
          <p:cNvSpPr txBox="1"/>
          <p:nvPr>
            <p:ph idx="2" type="body"/>
          </p:nvPr>
        </p:nvSpPr>
        <p:spPr>
          <a:xfrm>
            <a:off x="4832400" y="1152475"/>
            <a:ext cx="39999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5" name="Google Shape;155;g3e0a7d5f0ff_3_14"/>
          <p:cNvSpPr txBox="1"/>
          <p:nvPr>
            <p:ph idx="12" type="sldNum"/>
          </p:nvPr>
        </p:nvSpPr>
        <p:spPr>
          <a:xfrm>
            <a:off x="8638650" y="4892775"/>
            <a:ext cx="50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6" name="Google Shape;156;g3e0a7d5f0ff_3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4618171"/>
            <a:ext cx="1108749" cy="409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g3e0a7d5f0ff_3_14"/>
          <p:cNvCxnSpPr/>
          <p:nvPr/>
        </p:nvCxnSpPr>
        <p:spPr>
          <a:xfrm>
            <a:off x="1644166" y="4672214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8" name="Google Shape;158;g3e0a7d5f0ff_3_14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1887146" y="4672214"/>
            <a:ext cx="745344" cy="252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g3e0a7d5f0ff_3_14"/>
          <p:cNvCxnSpPr/>
          <p:nvPr/>
        </p:nvCxnSpPr>
        <p:spPr>
          <a:xfrm>
            <a:off x="1644166" y="4900159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0" name="Google Shape;160;g3e0a7d5f0ff_3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2313" y="4709237"/>
            <a:ext cx="199539" cy="15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e0a7d5f0ff_3_25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4491094" y="-2"/>
            <a:ext cx="46529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e0a7d5f0ff_3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" name="Google Shape;164;g3e0a7d5f0ff_3_25"/>
          <p:cNvSpPr txBox="1"/>
          <p:nvPr>
            <p:ph idx="12" type="sldNum"/>
          </p:nvPr>
        </p:nvSpPr>
        <p:spPr>
          <a:xfrm>
            <a:off x="8638650" y="4892775"/>
            <a:ext cx="50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5" name="Google Shape;165;g3e0a7d5f0ff_3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4618171"/>
            <a:ext cx="1108749" cy="409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g3e0a7d5f0ff_3_25"/>
          <p:cNvCxnSpPr/>
          <p:nvPr/>
        </p:nvCxnSpPr>
        <p:spPr>
          <a:xfrm>
            <a:off x="1644166" y="4672214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7" name="Google Shape;167;g3e0a7d5f0ff_3_25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1887146" y="4672214"/>
            <a:ext cx="745344" cy="252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g3e0a7d5f0ff_3_25"/>
          <p:cNvCxnSpPr/>
          <p:nvPr/>
        </p:nvCxnSpPr>
        <p:spPr>
          <a:xfrm>
            <a:off x="1644166" y="4900159"/>
            <a:ext cx="9702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9" name="Google Shape;169;g3e0a7d5f0ff_3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2313" y="4709237"/>
            <a:ext cx="199539" cy="15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0a7d5f0ff_3_34"/>
          <p:cNvSpPr txBox="1"/>
          <p:nvPr>
            <p:ph idx="12" type="sldNum"/>
          </p:nvPr>
        </p:nvSpPr>
        <p:spPr>
          <a:xfrm>
            <a:off x="8638650" y="4892775"/>
            <a:ext cx="50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0a7d5f0ff_3_36"/>
          <p:cNvSpPr txBox="1"/>
          <p:nvPr>
            <p:ph type="ctrTitle"/>
          </p:nvPr>
        </p:nvSpPr>
        <p:spPr>
          <a:xfrm>
            <a:off x="360875" y="1289575"/>
            <a:ext cx="85050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4" name="Google Shape;174;g3e0a7d5f0ff_3_36"/>
          <p:cNvSpPr txBox="1"/>
          <p:nvPr>
            <p:ph idx="1" type="subTitle"/>
          </p:nvPr>
        </p:nvSpPr>
        <p:spPr>
          <a:xfrm>
            <a:off x="436425" y="2871725"/>
            <a:ext cx="4625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75" name="Google Shape;175;g3e0a7d5f0ff_3_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436" y="354787"/>
            <a:ext cx="2143991" cy="7925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g3e0a7d5f0ff_3_36"/>
          <p:cNvCxnSpPr/>
          <p:nvPr/>
        </p:nvCxnSpPr>
        <p:spPr>
          <a:xfrm>
            <a:off x="2826475" y="522925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7" name="Google Shape;177;g3e0a7d5f0ff_3_36"/>
          <p:cNvPicPr preferRelativeResize="0"/>
          <p:nvPr/>
        </p:nvPicPr>
        <p:blipFill rotWithShape="1">
          <a:blip r:embed="rId3">
            <a:alphaModFix/>
          </a:blip>
          <a:srcRect b="0" l="0" r="44451" t="0"/>
          <a:stretch/>
        </p:blipFill>
        <p:spPr>
          <a:xfrm>
            <a:off x="3264875" y="522925"/>
            <a:ext cx="1344799" cy="45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g3e0a7d5f0ff_3_36"/>
          <p:cNvCxnSpPr/>
          <p:nvPr/>
        </p:nvCxnSpPr>
        <p:spPr>
          <a:xfrm>
            <a:off x="2826475" y="934200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g3e0a7d5f0ff_3_36"/>
          <p:cNvSpPr/>
          <p:nvPr>
            <p:ph idx="2" type="pic"/>
          </p:nvPr>
        </p:nvSpPr>
        <p:spPr>
          <a:xfrm>
            <a:off x="531000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0" name="Google Shape;180;g3e0a7d5f0ff_3_36"/>
          <p:cNvSpPr/>
          <p:nvPr>
            <p:ph idx="3" type="pic"/>
          </p:nvPr>
        </p:nvSpPr>
        <p:spPr>
          <a:xfrm>
            <a:off x="6480085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1" name="Google Shape;181;g3e0a7d5f0ff_3_36"/>
          <p:cNvSpPr/>
          <p:nvPr>
            <p:ph idx="4" type="pic"/>
          </p:nvPr>
        </p:nvSpPr>
        <p:spPr>
          <a:xfrm>
            <a:off x="2514028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g3e0a7d5f0ff_3_36"/>
          <p:cNvSpPr/>
          <p:nvPr>
            <p:ph idx="5" type="pic"/>
          </p:nvPr>
        </p:nvSpPr>
        <p:spPr>
          <a:xfrm>
            <a:off x="4497057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83" name="Google Shape;183;g3e0a7d5f0ff_3_36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7569152" y="3402600"/>
            <a:ext cx="1574849" cy="174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e0a7d5f0ff_3_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1175" y="589724"/>
            <a:ext cx="360021" cy="28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0a7d5f0ff_3_49"/>
          <p:cNvSpPr txBox="1"/>
          <p:nvPr>
            <p:ph idx="1" type="subTitle"/>
          </p:nvPr>
        </p:nvSpPr>
        <p:spPr>
          <a:xfrm>
            <a:off x="436425" y="2871725"/>
            <a:ext cx="4625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7" name="Google Shape;187;g3e0a7d5f0ff_3_49"/>
          <p:cNvSpPr/>
          <p:nvPr>
            <p:ph idx="2" type="pic"/>
          </p:nvPr>
        </p:nvSpPr>
        <p:spPr>
          <a:xfrm>
            <a:off x="531000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g3e0a7d5f0ff_3_49"/>
          <p:cNvSpPr/>
          <p:nvPr>
            <p:ph idx="3" type="pic"/>
          </p:nvPr>
        </p:nvSpPr>
        <p:spPr>
          <a:xfrm>
            <a:off x="2514028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g3e0a7d5f0ff_3_49"/>
          <p:cNvSpPr/>
          <p:nvPr>
            <p:ph idx="4" type="pic"/>
          </p:nvPr>
        </p:nvSpPr>
        <p:spPr>
          <a:xfrm>
            <a:off x="4497057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0" name="Google Shape;190;g3e0a7d5f0ff_3_49"/>
          <p:cNvSpPr txBox="1"/>
          <p:nvPr>
            <p:ph type="ctrTitle"/>
          </p:nvPr>
        </p:nvSpPr>
        <p:spPr>
          <a:xfrm>
            <a:off x="360875" y="1289575"/>
            <a:ext cx="85050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91" name="Google Shape;191;g3e0a7d5f0ff_3_4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569152" y="3402600"/>
            <a:ext cx="1574849" cy="174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e0a7d5f0ff_3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436" y="354787"/>
            <a:ext cx="2143991" cy="7925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g3e0a7d5f0ff_3_49"/>
          <p:cNvCxnSpPr/>
          <p:nvPr/>
        </p:nvCxnSpPr>
        <p:spPr>
          <a:xfrm>
            <a:off x="2826475" y="522925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4" name="Google Shape;194;g3e0a7d5f0ff_3_49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3264875" y="522925"/>
            <a:ext cx="1344799" cy="45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g3e0a7d5f0ff_3_49"/>
          <p:cNvCxnSpPr/>
          <p:nvPr/>
        </p:nvCxnSpPr>
        <p:spPr>
          <a:xfrm>
            <a:off x="2826475" y="934200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6" name="Google Shape;196;g3e0a7d5f0ff_3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1175" y="589724"/>
            <a:ext cx="360021" cy="28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accent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0a7d5f0ff_3_61"/>
          <p:cNvSpPr txBox="1"/>
          <p:nvPr>
            <p:ph type="ctrTitle"/>
          </p:nvPr>
        </p:nvSpPr>
        <p:spPr>
          <a:xfrm>
            <a:off x="360875" y="1289575"/>
            <a:ext cx="85050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9" name="Google Shape;199;g3e0a7d5f0ff_3_61"/>
          <p:cNvSpPr txBox="1"/>
          <p:nvPr>
            <p:ph idx="1" type="subTitle"/>
          </p:nvPr>
        </p:nvSpPr>
        <p:spPr>
          <a:xfrm>
            <a:off x="436425" y="2871725"/>
            <a:ext cx="4625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0" name="Google Shape;200;g3e0a7d5f0ff_3_61"/>
          <p:cNvSpPr/>
          <p:nvPr>
            <p:ph idx="2" type="pic"/>
          </p:nvPr>
        </p:nvSpPr>
        <p:spPr>
          <a:xfrm>
            <a:off x="531000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1" name="Google Shape;201;g3e0a7d5f0ff_3_61"/>
          <p:cNvSpPr/>
          <p:nvPr>
            <p:ph idx="3" type="pic"/>
          </p:nvPr>
        </p:nvSpPr>
        <p:spPr>
          <a:xfrm>
            <a:off x="2514028" y="3836975"/>
            <a:ext cx="730500" cy="730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202" name="Google Shape;202;g3e0a7d5f0ff_3_61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569152" y="3402600"/>
            <a:ext cx="1574849" cy="174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e0a7d5f0ff_3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436" y="354787"/>
            <a:ext cx="2143991" cy="7925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g3e0a7d5f0ff_3_61"/>
          <p:cNvCxnSpPr/>
          <p:nvPr/>
        </p:nvCxnSpPr>
        <p:spPr>
          <a:xfrm>
            <a:off x="2826475" y="522925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5" name="Google Shape;205;g3e0a7d5f0ff_3_61"/>
          <p:cNvPicPr preferRelativeResize="0"/>
          <p:nvPr/>
        </p:nvPicPr>
        <p:blipFill rotWithShape="1">
          <a:blip r:embed="rId4">
            <a:alphaModFix/>
          </a:blip>
          <a:srcRect b="0" l="0" r="44451" t="0"/>
          <a:stretch/>
        </p:blipFill>
        <p:spPr>
          <a:xfrm>
            <a:off x="3264875" y="522925"/>
            <a:ext cx="1344799" cy="45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g3e0a7d5f0ff_3_61"/>
          <p:cNvCxnSpPr/>
          <p:nvPr/>
        </p:nvCxnSpPr>
        <p:spPr>
          <a:xfrm>
            <a:off x="2826475" y="934200"/>
            <a:ext cx="1750500" cy="0"/>
          </a:xfrm>
          <a:prstGeom prst="straightConnector1">
            <a:avLst/>
          </a:prstGeom>
          <a:noFill/>
          <a:ln cap="flat" cmpd="sng" w="9525">
            <a:solidFill>
              <a:srgbClr val="77C0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7" name="Google Shape;207;g3e0a7d5f0ff_3_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1175" y="589724"/>
            <a:ext cx="360021" cy="28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Full Page">
  <p:cSld name="Content Full P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0a7d5f0ff_3_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g3e0a7d5f0ff_3_72"/>
          <p:cNvSpPr txBox="1"/>
          <p:nvPr>
            <p:ph idx="1" type="body"/>
          </p:nvPr>
        </p:nvSpPr>
        <p:spPr>
          <a:xfrm>
            <a:off x="200025" y="685800"/>
            <a:ext cx="874395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2" type="sldNum"/>
          </p:nvPr>
        </p:nvSpPr>
        <p:spPr>
          <a:xfrm>
            <a:off x="192875" y="4404325"/>
            <a:ext cx="311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0a7d5f0ff_3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g3e0a7d5f0ff_3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g3e0a7d5f0ff_3_0"/>
          <p:cNvSpPr txBox="1"/>
          <p:nvPr>
            <p:ph idx="12" type="sldNum"/>
          </p:nvPr>
        </p:nvSpPr>
        <p:spPr>
          <a:xfrm>
            <a:off x="192875" y="4404325"/>
            <a:ext cx="311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jpg"/><Relationship Id="rId4" Type="http://schemas.openxmlformats.org/officeDocument/2006/relationships/image" Target="../media/image2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iki.xenproject.org/wiki/FuSa_SIG/Meeting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2.png"/><Relationship Id="rId4" Type="http://schemas.openxmlformats.org/officeDocument/2006/relationships/image" Target="../media/image41.jpg"/><Relationship Id="rId5" Type="http://schemas.openxmlformats.org/officeDocument/2006/relationships/image" Target="../media/image3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atchew.org/Xen/20260408135531.1744388-1-luca.fancellu@arm.com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lab.com/xen-project/xen/-/blob/staging/docs/misra/rules.rst?ref_type=heads" TargetMode="External"/><Relationship Id="rId4" Type="http://schemas.openxmlformats.org/officeDocument/2006/relationships/hyperlink" Target="https://gitlab.com/xen-project/xen/-/blob/staging/docs/misra/documenting-violations.rst?ref_type=head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lab.com/xen-project/fusa/architecture_specs/-/blob/master/domain_creation_and_runtime/domain_partially_emulated_resources/arm64/generic_timer.rst?ref_type=head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lab.com/xen-project/fusa/test_specifications/-/blob/master/hw_sw_interface/test0_sgi_gicv3.rst" TargetMode="External"/><Relationship Id="rId4" Type="http://schemas.openxmlformats.org/officeDocument/2006/relationships/hyperlink" Target="https://lists.xenproject.org/archives/html/xen-devel/2025-09/msg00956.html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lab.com/xen-project/fusa/test_specifications/-/blob/master/domain_creation_and_runtime/scheduling/test_sched_core_halt_on_scheduler_failure.rst?ref_type=head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itlab.com/minervasys/public/xen/-/blob/minerva/warn/minerva_analysis/README.md" TargetMode="External"/><Relationship Id="rId4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Relationship Id="rId4" Type="http://schemas.openxmlformats.org/officeDocument/2006/relationships/hyperlink" Target="https://www.rapitasystems.com/blog/whats-difference-between-sil-and-dal-how-does-it-affect-my-code-coverage" TargetMode="External"/><Relationship Id="rId9" Type="http://schemas.openxmlformats.org/officeDocument/2006/relationships/hyperlink" Target="https://nodis3.gsfc.nasa.gov/displayDir.cfm?t=NPR&amp;c=7150&amp;s=2B" TargetMode="External"/><Relationship Id="rId5" Type="http://schemas.openxmlformats.org/officeDocument/2006/relationships/hyperlink" Target="https://en.wikipedia.org/wiki/Automotive_Safety_Integrity_Level" TargetMode="External"/><Relationship Id="rId6" Type="http://schemas.openxmlformats.org/officeDocument/2006/relationships/hyperlink" Target="https://www.rapitasystems.com/do178c-testing" TargetMode="External"/><Relationship Id="rId7" Type="http://schemas.openxmlformats.org/officeDocument/2006/relationships/hyperlink" Target="https://en.wikipedia.org/wiki/IEC_61508" TargetMode="External"/><Relationship Id="rId8" Type="http://schemas.openxmlformats.org/officeDocument/2006/relationships/hyperlink" Target="https://quicksearch.dla.mil/qsDocDetails.aspx?ident_number=36027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Relationship Id="rId4" Type="http://schemas.openxmlformats.org/officeDocument/2006/relationships/hyperlink" Target="https://commons.wikimedia.org/w/index.php?curid=27610716" TargetMode="External"/><Relationship Id="rId5" Type="http://schemas.openxmlformats.org/officeDocument/2006/relationships/hyperlink" Target="https://commons.wikimedia.org/w/index.php?curid=27610716" TargetMode="External"/><Relationship Id="rId6" Type="http://schemas.openxmlformats.org/officeDocument/2006/relationships/hyperlink" Target="https://www.parasoft.com/learning-center/do-178c/what-is/" TargetMode="External"/><Relationship Id="rId7" Type="http://schemas.openxmlformats.org/officeDocument/2006/relationships/hyperlink" Target="https://www.parasoft.com/learning-center/do-178c/what-is/" TargetMode="External"/><Relationship Id="rId8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en.wikipedia.org/wiki/ARINC#Standards" TargetMode="External"/><Relationship Id="rId4" Type="http://schemas.openxmlformats.org/officeDocument/2006/relationships/hyperlink" Target="https://en.wikipedia.org/wiki/ARINC#Standards" TargetMode="External"/><Relationship Id="rId5" Type="http://schemas.openxmlformats.org/officeDocument/2006/relationships/hyperlink" Target="https://en.wikipedia.org/wiki/ARINC_653" TargetMode="External"/><Relationship Id="rId6" Type="http://schemas.openxmlformats.org/officeDocument/2006/relationships/hyperlink" Target="https://en.wikipedia.org/wiki/DO-297" TargetMode="External"/><Relationship Id="rId7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hyperlink" Target="https://github.com/elisa-tech/wg-aerospace/pull/177/changes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hyperlink" Target="https://patchew.org/Xen/20260318140900.3795710-1-ayan.kumar.halder@amd.com/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"/>
          <p:cNvSpPr txBox="1"/>
          <p:nvPr>
            <p:ph type="ctrTitle"/>
          </p:nvPr>
        </p:nvSpPr>
        <p:spPr>
          <a:xfrm>
            <a:off x="333300" y="1603863"/>
            <a:ext cx="80673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 sz="2800"/>
              <a:t>Functional Safety with Xen, Zephyr, and Linux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 sz="2800">
                <a:solidFill>
                  <a:schemeClr val="lt1"/>
                </a:solidFill>
              </a:rPr>
              <a:t>for Avionics, Automotive and Industrial</a:t>
            </a:r>
            <a:r>
              <a:rPr lang="en-GB" sz="2800"/>
              <a:t> </a:t>
            </a:r>
            <a:endParaRPr sz="2800"/>
          </a:p>
        </p:txBody>
      </p:sp>
      <p:pic>
        <p:nvPicPr>
          <p:cNvPr id="216" name="Google Shape;216;p1" title="Ayan Halder.jpe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231" y="3348450"/>
            <a:ext cx="1142100" cy="1142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7" name="Google Shape;217;p1" title="Matthew Weber.jpe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733" y="3339749"/>
            <a:ext cx="1159500" cy="1159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8" name="Google Shape;218;p1"/>
          <p:cNvSpPr txBox="1"/>
          <p:nvPr/>
        </p:nvSpPr>
        <p:spPr>
          <a:xfrm>
            <a:off x="1429324" y="3490992"/>
            <a:ext cx="30984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2950" lIns="142950" spcFirstLastPara="1" rIns="142950" wrap="square" tIns="142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4"/>
              <a:buFont typeface="Arial"/>
              <a:buNone/>
            </a:pPr>
            <a:r>
              <a:rPr b="0" i="0" lang="en-GB" sz="1564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Ayan Kumar Halder</a:t>
            </a:r>
            <a:endParaRPr b="0" i="0" sz="1564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4"/>
              <a:buFont typeface="Arial"/>
              <a:buNone/>
            </a:pPr>
            <a:r>
              <a:rPr b="0" i="1" lang="en-GB" sz="1564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Sr. Member of Technical Staff</a:t>
            </a:r>
            <a:endParaRPr b="0" i="1" sz="1564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4"/>
              <a:buFont typeface="Arial"/>
              <a:buNone/>
            </a:pPr>
            <a:r>
              <a:rPr b="0" i="1" lang="en-GB" sz="1564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AMD</a:t>
            </a:r>
            <a:endParaRPr b="0" i="1" sz="1564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"/>
          <p:cNvSpPr txBox="1"/>
          <p:nvPr/>
        </p:nvSpPr>
        <p:spPr>
          <a:xfrm>
            <a:off x="5501236" y="3339749"/>
            <a:ext cx="35223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150" lIns="145150" spcFirstLastPara="1" rIns="145150" wrap="square" tIns="145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8"/>
              <a:buFont typeface="Arial"/>
              <a:buNone/>
            </a:pPr>
            <a:r>
              <a:rPr b="0" i="0" lang="en-GB" sz="158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Matthew Weber</a:t>
            </a:r>
            <a:endParaRPr b="0" i="0" sz="158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8"/>
              <a:buFont typeface="Arial"/>
              <a:buNone/>
            </a:pPr>
            <a:r>
              <a:rPr b="0" i="1" lang="en-GB" sz="158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Associate Technical Fellow</a:t>
            </a:r>
            <a:endParaRPr b="0" i="1" sz="158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8"/>
              <a:buFont typeface="Arial"/>
              <a:buNone/>
            </a:pPr>
            <a:r>
              <a:rPr b="0" i="1" lang="en-GB" sz="158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Chief Software Architect Linux</a:t>
            </a:r>
            <a:endParaRPr b="0" i="1" sz="158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8"/>
              <a:buFont typeface="Arial"/>
              <a:buNone/>
            </a:pPr>
            <a:r>
              <a:rPr b="0" i="1" lang="en-GB" sz="158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Boeing</a:t>
            </a:r>
            <a:endParaRPr b="0" i="1" sz="158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"/>
          <p:cNvSpPr/>
          <p:nvPr/>
        </p:nvSpPr>
        <p:spPr>
          <a:xfrm>
            <a:off x="5422050" y="423475"/>
            <a:ext cx="3516300" cy="609000"/>
          </a:xfrm>
          <a:prstGeom prst="rect">
            <a:avLst/>
          </a:prstGeom>
          <a:solidFill>
            <a:srgbClr val="77C0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 May 2026</a:t>
            </a:r>
            <a:br>
              <a:rPr b="0" i="0" lang="en-GB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7AM PT / 2PM UTC / </a:t>
            </a:r>
            <a:r>
              <a:rPr lang="en-GB" sz="1800">
                <a:solidFill>
                  <a:schemeClr val="lt1"/>
                </a:solidFill>
              </a:rPr>
              <a:t>4</a:t>
            </a:r>
            <a:r>
              <a:rPr b="0" i="0" lang="en-GB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  CET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5E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"/>
          <p:cNvSpPr txBox="1"/>
          <p:nvPr>
            <p:ph type="title"/>
          </p:nvPr>
        </p:nvSpPr>
        <p:spPr>
          <a:xfrm>
            <a:off x="311700" y="1391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226" name="Google Shape;226;p2"/>
          <p:cNvSpPr txBox="1"/>
          <p:nvPr>
            <p:ph idx="1" type="body"/>
          </p:nvPr>
        </p:nvSpPr>
        <p:spPr>
          <a:xfrm>
            <a:off x="311700" y="769600"/>
            <a:ext cx="57447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Introduction, Xen Project, Xen FuSa – 5 mins</a:t>
            </a:r>
            <a:endParaRPr/>
          </a:p>
          <a:p>
            <a:pPr indent="-285750" lvl="0" marL="28575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features of Xen – 5 mins</a:t>
            </a:r>
            <a:endParaRPr/>
          </a:p>
          <a:p>
            <a:pPr indent="-285750" lvl="0" marL="28575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safety certification artifacts – 25 mins</a:t>
            </a:r>
            <a:endParaRPr/>
          </a:p>
          <a:p>
            <a:pPr indent="-285750" lvl="0" marL="28575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DO-178C complements ISO 26262 – 5 mins</a:t>
            </a:r>
            <a:endParaRPr/>
          </a:p>
          <a:p>
            <a:pPr indent="-285750" lvl="0" marL="28575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Conclusion – 5 mins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800"/>
              </a:spcBef>
              <a:spcAft>
                <a:spcPts val="800"/>
              </a:spcAft>
              <a:buSzPts val="1800"/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227" name="Google Shape;227;p2"/>
          <p:cNvSpPr txBox="1"/>
          <p:nvPr/>
        </p:nvSpPr>
        <p:spPr>
          <a:xfrm>
            <a:off x="3377100" y="4804800"/>
            <a:ext cx="23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Work in Progress - License: CC-BY-4.0</a:t>
            </a:r>
            <a:endParaRPr b="0" i="0" sz="6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Xen Project</a:t>
            </a:r>
            <a:endParaRPr/>
          </a:p>
        </p:txBody>
      </p:sp>
      <p:sp>
        <p:nvSpPr>
          <p:cNvPr id="233" name="Google Shape;233;p3"/>
          <p:cNvSpPr txBox="1"/>
          <p:nvPr>
            <p:ph idx="1" type="body"/>
          </p:nvPr>
        </p:nvSpPr>
        <p:spPr>
          <a:xfrm>
            <a:off x="311700" y="1152475"/>
            <a:ext cx="2377256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rgbClr val="676767"/>
                </a:solidFill>
                <a:latin typeface="Roboto"/>
                <a:ea typeface="Roboto"/>
                <a:cs typeface="Roboto"/>
                <a:sym typeface="Roboto"/>
              </a:rPr>
              <a:t>The Xen Project team is a global Open Source community that develops the Xen Project Hypervisor and its associated subprojects.</a:t>
            </a:r>
            <a:endParaRPr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rgbClr val="676767"/>
                </a:solidFill>
                <a:latin typeface="Roboto"/>
                <a:ea typeface="Roboto"/>
                <a:cs typeface="Roboto"/>
                <a:sym typeface="Roboto"/>
              </a:rPr>
              <a:t>The various subprojects include hypervisor, XAPI, XCP-NG, Windows PV drivers, etc.</a:t>
            </a:r>
            <a:endParaRPr/>
          </a:p>
          <a:p>
            <a:pPr indent="0" lvl="0" marL="139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67676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9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67676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3"/>
          <p:cNvSpPr txBox="1"/>
          <p:nvPr>
            <p:ph idx="2" type="body"/>
          </p:nvPr>
        </p:nvSpPr>
        <p:spPr>
          <a:xfrm>
            <a:off x="5293781" y="445025"/>
            <a:ext cx="3538519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Key contributors to Xen Project includes: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SUSE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XenServer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AMD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Arm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Vates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AWS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Boeing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EPAM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Ford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Honda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Invisible Things Lab</a:t>
            </a:r>
            <a:endParaRPr/>
          </a:p>
          <a:p>
            <a:pPr indent="0" lvl="0" marL="0" rtl="0" algn="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/>
              <a:t>Renesas</a:t>
            </a:r>
            <a:endParaRPr/>
          </a:p>
        </p:txBody>
      </p:sp>
      <p:sp>
        <p:nvSpPr>
          <p:cNvPr id="235" name="Google Shape;235;p3"/>
          <p:cNvSpPr txBox="1"/>
          <p:nvPr/>
        </p:nvSpPr>
        <p:spPr>
          <a:xfrm>
            <a:off x="3377100" y="4804800"/>
            <a:ext cx="23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Work in Progress - License: CC-BY-4.0</a:t>
            </a:r>
            <a:endParaRPr b="0" i="0" sz="6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3"/>
          <p:cNvGrpSpPr/>
          <p:nvPr/>
        </p:nvGrpSpPr>
        <p:grpSpPr>
          <a:xfrm>
            <a:off x="2745786" y="1038853"/>
            <a:ext cx="3288142" cy="3288143"/>
            <a:chOff x="2030462" y="211539"/>
            <a:chExt cx="3288142" cy="3288143"/>
          </a:xfrm>
        </p:grpSpPr>
        <p:sp>
          <p:nvSpPr>
            <p:cNvPr id="237" name="Google Shape;237;p3"/>
            <p:cNvSpPr/>
            <p:nvPr/>
          </p:nvSpPr>
          <p:spPr>
            <a:xfrm>
              <a:off x="2030462" y="211539"/>
              <a:ext cx="1606959" cy="1606959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"/>
            <p:cNvSpPr txBox="1"/>
            <p:nvPr/>
          </p:nvSpPr>
          <p:spPr>
            <a:xfrm>
              <a:off x="2501129" y="682206"/>
              <a:ext cx="1136292" cy="1136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Cloud</a:t>
              </a: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 rot="5400000">
              <a:off x="3711645" y="211539"/>
              <a:ext cx="1606959" cy="1606959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DAF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"/>
            <p:cNvSpPr txBox="1"/>
            <p:nvPr/>
          </p:nvSpPr>
          <p:spPr>
            <a:xfrm>
              <a:off x="3711645" y="682206"/>
              <a:ext cx="1136292" cy="1136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 rot="10800000">
              <a:off x="3711645" y="1892723"/>
              <a:ext cx="1606959" cy="1606959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"/>
            <p:cNvSpPr txBox="1"/>
            <p:nvPr/>
          </p:nvSpPr>
          <p:spPr>
            <a:xfrm>
              <a:off x="3711645" y="1892723"/>
              <a:ext cx="1136292" cy="1136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Embedded</a:t>
              </a: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 rot="-5400000">
              <a:off x="2030462" y="1892723"/>
              <a:ext cx="1606959" cy="1606959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 txBox="1"/>
            <p:nvPr/>
          </p:nvSpPr>
          <p:spPr>
            <a:xfrm>
              <a:off x="2501129" y="1892723"/>
              <a:ext cx="1136292" cy="1136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Security</a:t>
              </a: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397119" y="1521601"/>
              <a:ext cx="554827" cy="482458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FFD2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 rot="10800000">
              <a:off x="3397119" y="1707162"/>
              <a:ext cx="554827" cy="482458"/>
            </a:xfrm>
            <a:custGeom>
              <a:rect b="b" l="l" r="r" t="t"/>
              <a:pathLst>
                <a:path extrusionOk="0" h="120000" w="12000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FFD2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 txBox="1"/>
          <p:nvPr>
            <p:ph type="title"/>
          </p:nvPr>
        </p:nvSpPr>
        <p:spPr>
          <a:xfrm>
            <a:off x="311700" y="26679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Xen Functional Safety Group</a:t>
            </a:r>
            <a:endParaRPr/>
          </a:p>
        </p:txBody>
      </p:sp>
      <p:sp>
        <p:nvSpPr>
          <p:cNvPr id="252" name="Google Shape;252;p4"/>
          <p:cNvSpPr txBox="1"/>
          <p:nvPr>
            <p:ph idx="1" type="body"/>
          </p:nvPr>
        </p:nvSpPr>
        <p:spPr>
          <a:xfrm>
            <a:off x="311699" y="876091"/>
            <a:ext cx="39999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 group of companies who wants to steer Xen towards safety certification</a:t>
            </a:r>
            <a:endParaRPr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Key contributors include: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AMD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Arm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Boeing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Bugseng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EPAM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Ford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Parrylabs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Renesas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Resiltech</a:t>
            </a:r>
            <a:endParaRPr/>
          </a:p>
          <a:p>
            <a:pPr indent="-2286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3" name="Google Shape;253;p4"/>
          <p:cNvSpPr txBox="1"/>
          <p:nvPr>
            <p:ph idx="2" type="body"/>
          </p:nvPr>
        </p:nvSpPr>
        <p:spPr>
          <a:xfrm>
            <a:off x="4311599" y="1041300"/>
            <a:ext cx="4638671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Meetings on every alternate Tuesday at 16:00 CET</a:t>
            </a:r>
            <a:endParaRPr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https://wiki.xenproject.org/wiki/FuSa_SIG/Meetings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"/>
          <p:cNvSpPr txBox="1"/>
          <p:nvPr>
            <p:ph type="title"/>
          </p:nvPr>
        </p:nvSpPr>
        <p:spPr>
          <a:xfrm>
            <a:off x="311700" y="1152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Xen Functional Safety vision</a:t>
            </a:r>
            <a:endParaRPr/>
          </a:p>
        </p:txBody>
      </p:sp>
      <p:pic>
        <p:nvPicPr>
          <p:cNvPr descr="A robot with a face" id="259" name="Google Shape;2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524" y="659557"/>
            <a:ext cx="1042260" cy="8435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5"/>
          <p:cNvGrpSpPr/>
          <p:nvPr/>
        </p:nvGrpSpPr>
        <p:grpSpPr>
          <a:xfrm>
            <a:off x="663724" y="1042912"/>
            <a:ext cx="5150241" cy="3474140"/>
            <a:chOff x="875653" y="1017725"/>
            <a:chExt cx="6954146" cy="4301275"/>
          </a:xfrm>
        </p:grpSpPr>
        <p:sp>
          <p:nvSpPr>
            <p:cNvPr id="261" name="Google Shape;261;p5"/>
            <p:cNvSpPr txBox="1"/>
            <p:nvPr/>
          </p:nvSpPr>
          <p:spPr>
            <a:xfrm>
              <a:off x="3377100" y="4804800"/>
              <a:ext cx="2389800" cy="5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850" lIns="73850" spcFirstLastPara="1" rIns="73850" wrap="square" tIns="73850">
              <a:spAutoFit/>
            </a:bodyPr>
            <a:lstStyle/>
            <a:p>
              <a:pPr indent="0" lvl="0" marL="0" marR="0" rtl="0" algn="l">
                <a:lnSpc>
                  <a:spcPct val="114000"/>
                </a:lnSpc>
                <a:spcBef>
                  <a:spcPts val="0"/>
                </a:spcBef>
                <a:spcAft>
                  <a:spcPts val="646"/>
                </a:spcAft>
                <a:buClr>
                  <a:srgbClr val="000000"/>
                </a:buClr>
                <a:buSzPts val="808"/>
                <a:buFont typeface="Arial"/>
                <a:buNone/>
              </a:pPr>
              <a:r>
                <a:rPr b="0" i="1" lang="en-GB" sz="80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Work in Progress - License: CC-BY-4.0</a:t>
              </a:r>
              <a:endParaRPr b="0" i="0" sz="485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1898541" y="1017725"/>
              <a:ext cx="4533255" cy="3895238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9CE7F5"/>
                </a:gs>
                <a:gs pos="35000">
                  <a:srgbClr val="BBEAF6"/>
                </a:gs>
                <a:gs pos="100000">
                  <a:srgbClr val="E4F9FC"/>
                </a:gs>
              </a:gsLst>
              <a:lin ang="16200000" scaled="0"/>
            </a:gradFill>
            <a:ln cap="flat" cmpd="sng" w="7700">
              <a:solidFill>
                <a:srgbClr val="0096A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2307" rotWithShape="0" dir="5400000" dist="16153">
                <a:srgbClr val="000000">
                  <a:alpha val="38039"/>
                </a:srgbClr>
              </a:outerShdw>
            </a:effectLst>
          </p:spPr>
          <p:txBody>
            <a:bodyPr anchorCtr="0" anchor="ctr" bIns="36900" lIns="73850" spcFirstLastPara="1" rIns="73850" wrap="square" tIns="36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3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2921431" y="2203503"/>
              <a:ext cx="2479728" cy="2709460"/>
            </a:xfrm>
            <a:prstGeom prst="ellipse">
              <a:avLst/>
            </a:prstGeom>
            <a:gradFill>
              <a:gsLst>
                <a:gs pos="0">
                  <a:srgbClr val="BDD5E1"/>
                </a:gs>
                <a:gs pos="35000">
                  <a:srgbClr val="D2E1E7"/>
                </a:gs>
                <a:gs pos="100000">
                  <a:srgbClr val="ECF3F6"/>
                </a:gs>
              </a:gsLst>
              <a:lin ang="16200000" scaled="0"/>
            </a:gradFill>
            <a:ln cap="flat" cmpd="sng" w="7700">
              <a:solidFill>
                <a:srgbClr val="748C9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2307" rotWithShape="0" dir="5400000" dist="16153">
                <a:srgbClr val="000000">
                  <a:alpha val="38039"/>
                </a:srgbClr>
              </a:outerShdw>
            </a:effectLst>
          </p:spPr>
          <p:txBody>
            <a:bodyPr anchorCtr="0" anchor="ctr" bIns="36900" lIns="73850" spcFirstLastPara="1" rIns="73850" wrap="square" tIns="36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1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Requirements,</a:t>
              </a:r>
              <a:endParaRPr sz="1131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1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Architecture Specifications,</a:t>
              </a:r>
              <a:endParaRPr sz="1131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1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Tests</a:t>
              </a:r>
              <a:endParaRPr sz="1131"/>
            </a:p>
          </p:txBody>
        </p:sp>
        <p:pic>
          <p:nvPicPr>
            <p:cNvPr descr="White airplane toy on gray background" id="264" name="Google Shape;264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5653" y="3859078"/>
              <a:ext cx="1380881" cy="11691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Vintage english car" id="265" name="Google Shape;265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08856" y="3921070"/>
              <a:ext cx="1920943" cy="10530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6" name="Google Shape;266;p5"/>
          <p:cNvSpPr txBox="1"/>
          <p:nvPr/>
        </p:nvSpPr>
        <p:spPr>
          <a:xfrm>
            <a:off x="2003151" y="902456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IEC 61508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5122190" y="3558233"/>
            <a:ext cx="14800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 26262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429367" y="3436032"/>
            <a:ext cx="8018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178</a:t>
            </a:r>
            <a:endParaRPr/>
          </a:p>
        </p:txBody>
      </p:sp>
      <p:sp>
        <p:nvSpPr>
          <p:cNvPr id="269" name="Google Shape;269;p5"/>
          <p:cNvSpPr txBox="1"/>
          <p:nvPr/>
        </p:nvSpPr>
        <p:spPr>
          <a:xfrm>
            <a:off x="6016933" y="1474117"/>
            <a:ext cx="280906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key aspects of any functional safety certification are requirements, architecture specifications and tests.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/>
          <p:nvPr/>
        </p:nvSpPr>
        <p:spPr>
          <a:xfrm>
            <a:off x="128587" y="888712"/>
            <a:ext cx="8872538" cy="3630478"/>
          </a:xfrm>
          <a:prstGeom prst="roundRect">
            <a:avLst>
              <a:gd fmla="val 2860" name="adj"/>
            </a:avLst>
          </a:prstGeom>
          <a:solidFill>
            <a:schemeClr val="lt1">
              <a:alpha val="92156"/>
            </a:schemeClr>
          </a:solidFill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1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4590212" y="1023528"/>
            <a:ext cx="756000" cy="1815879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t" bIns="0" lIns="0" spcFirstLastPara="1" rIns="0" wrap="square" tIns="480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SURROUND</a:t>
            </a:r>
            <a:b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VIEW</a:t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5389711" y="1023528"/>
            <a:ext cx="756000" cy="1814976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t" bIns="0" lIns="0" spcFirstLastPara="1" rIns="0" wrap="square" tIns="480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IN CABIN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MONITORING</a:t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6189210" y="1023528"/>
            <a:ext cx="756000" cy="1818630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t" bIns="0" lIns="0" spcFirstLastPara="1" rIns="0" wrap="square" tIns="480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CUSTOM WORKLOAD</a:t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1047935" y="3356554"/>
            <a:ext cx="3113846" cy="1030900"/>
          </a:xfrm>
          <a:prstGeom prst="rect">
            <a:avLst/>
          </a:prstGeom>
          <a:solidFill>
            <a:srgbClr val="3A484F">
              <a:alpha val="43137"/>
            </a:srgb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b" bIns="68575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00EDFD"/>
                </a:solidFill>
                <a:latin typeface="Arial"/>
                <a:ea typeface="Arial"/>
                <a:cs typeface="Arial"/>
                <a:sym typeface="Arial"/>
              </a:rPr>
              <a:t>Application Processing Unit: AMD x86 Ryzen Embedded</a:t>
            </a:r>
            <a:endParaRPr/>
          </a:p>
        </p:txBody>
      </p:sp>
      <p:sp>
        <p:nvSpPr>
          <p:cNvPr id="279" name="Google Shape;279;p6"/>
          <p:cNvSpPr txBox="1"/>
          <p:nvPr>
            <p:ph type="title"/>
          </p:nvPr>
        </p:nvSpPr>
        <p:spPr>
          <a:xfrm>
            <a:off x="274492" y="20351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950">
                <a:solidFill>
                  <a:schemeClr val="dk1"/>
                </a:solidFill>
              </a:rPr>
              <a:t>Using Xen as a Unified Runtime Manager</a:t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274492" y="2887169"/>
            <a:ext cx="8586392" cy="194391"/>
          </a:xfrm>
          <a:prstGeom prst="rect">
            <a:avLst/>
          </a:prstGeom>
          <a:solidFill>
            <a:schemeClr val="dk1">
              <a:alpha val="5882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Xen Hypervisor Abstraction</a:t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266718" y="1023528"/>
            <a:ext cx="756000" cy="1812983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t" bIns="0" lIns="0" spcFirstLastPara="1" rIns="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GAMING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“AAA”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Ubuntu</a:t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2620474" y="1029635"/>
            <a:ext cx="756000" cy="1804761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t" bIns="0" lIns="0" spcFirstLastPara="1" rIns="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CUSTOM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WORKLOAD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Minimal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2620474" y="3422066"/>
            <a:ext cx="1516307" cy="297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GPU</a:t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1090339" y="1077840"/>
            <a:ext cx="703379" cy="1490804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t" bIns="0" lIns="0" spcFirstLastPara="1" rIns="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ENTERTAINMENT</a:t>
            </a:r>
            <a:endParaRPr b="0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Android Automotive</a:t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1090339" y="3422066"/>
            <a:ext cx="1500053" cy="297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CPU Cores</a:t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1090339" y="3750263"/>
            <a:ext cx="3046442" cy="324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dash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Integrated Subsystems’ – Audio, Video &amp; more</a:t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1047936" y="1029635"/>
            <a:ext cx="1545661" cy="1804761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lgDash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t" bIns="0" lIns="0" spcFirstLastPara="1" rIns="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73937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CLUSTER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3937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Advanced UI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431011" y="1202071"/>
            <a:ext cx="432176" cy="29495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6"/>
          <p:cNvSpPr/>
          <p:nvPr/>
        </p:nvSpPr>
        <p:spPr>
          <a:xfrm>
            <a:off x="1239204" y="1202071"/>
            <a:ext cx="371240" cy="29495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6"/>
          <p:cNvSpPr/>
          <p:nvPr/>
        </p:nvSpPr>
        <p:spPr>
          <a:xfrm>
            <a:off x="1948260" y="1213929"/>
            <a:ext cx="530444" cy="284795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6"/>
          <p:cNvSpPr/>
          <p:nvPr/>
        </p:nvSpPr>
        <p:spPr>
          <a:xfrm>
            <a:off x="4590212" y="3356554"/>
            <a:ext cx="4262899" cy="1030900"/>
          </a:xfrm>
          <a:prstGeom prst="rect">
            <a:avLst/>
          </a:prstGeom>
          <a:solidFill>
            <a:srgbClr val="3A484F">
              <a:alpha val="43137"/>
            </a:srgb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00EDFD"/>
                </a:solidFill>
                <a:latin typeface="Arial"/>
                <a:ea typeface="Arial"/>
                <a:cs typeface="Arial"/>
                <a:sym typeface="Arial"/>
              </a:rPr>
              <a:t>Vision Hub: ARM-based Versal AI Edge Gen 2</a:t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7037024" y="3422066"/>
            <a:ext cx="1749788" cy="297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Cortex-R</a:t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4646524" y="3422066"/>
            <a:ext cx="2262983" cy="297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Cortex-A</a:t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7027644" y="3757794"/>
            <a:ext cx="1134000" cy="324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Platform Mgmt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646522" y="3757794"/>
            <a:ext cx="1134000" cy="324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Programmable Logic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626690" y="2617127"/>
            <a:ext cx="695079" cy="216000"/>
          </a:xfrm>
          <a:prstGeom prst="rect">
            <a:avLst/>
          </a:prstGeom>
          <a:solidFill>
            <a:schemeClr val="dk1">
              <a:alpha val="16078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 Linux</a:t>
            </a:r>
            <a:endParaRPr b="1" i="0" sz="52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6988710" y="2374625"/>
            <a:ext cx="584605" cy="460865"/>
          </a:xfrm>
          <a:prstGeom prst="rect">
            <a:avLst/>
          </a:prstGeom>
          <a:solidFill>
            <a:schemeClr val="dk1">
              <a:alpha val="5882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13715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88" u="none" cap="none" strike="noStrike">
              <a:solidFill>
                <a:srgbClr val="FFFFF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8" u="none" cap="none" strike="noStrike">
                <a:solidFill>
                  <a:srgbClr val="FFFF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Classic</a:t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7616815" y="2374624"/>
            <a:ext cx="602213" cy="463880"/>
          </a:xfrm>
          <a:prstGeom prst="rect">
            <a:avLst/>
          </a:prstGeom>
          <a:solidFill>
            <a:schemeClr val="dk1">
              <a:alpha val="5882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RTOS</a:t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7616815" y="2371638"/>
            <a:ext cx="602212" cy="198539"/>
          </a:xfrm>
          <a:prstGeom prst="rect">
            <a:avLst/>
          </a:prstGeom>
          <a:solidFill>
            <a:schemeClr val="dk1">
              <a:alpha val="16078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Middleware</a:t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7616814" y="1023528"/>
            <a:ext cx="602213" cy="1351097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20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CUSTOM WORKLOAD</a:t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6988710" y="2371638"/>
            <a:ext cx="584605" cy="195450"/>
          </a:xfrm>
          <a:prstGeom prst="rect">
            <a:avLst/>
          </a:prstGeom>
          <a:solidFill>
            <a:schemeClr val="dk1">
              <a:alpha val="16078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Middleware</a:t>
            </a: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6988710" y="1023527"/>
            <a:ext cx="584605" cy="1346105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20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VEHICLE</a:t>
            </a:r>
            <a:b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CONTROL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5424493" y="2617127"/>
            <a:ext cx="695079" cy="216000"/>
          </a:xfrm>
          <a:prstGeom prst="rect">
            <a:avLst/>
          </a:prstGeom>
          <a:solidFill>
            <a:schemeClr val="dk1">
              <a:alpha val="16078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 Linux</a:t>
            </a:r>
            <a:endParaRPr b="1" i="0" sz="52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6215376" y="2617127"/>
            <a:ext cx="695079" cy="216000"/>
          </a:xfrm>
          <a:prstGeom prst="rect">
            <a:avLst/>
          </a:prstGeom>
          <a:solidFill>
            <a:schemeClr val="dk1">
              <a:alpha val="16078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 Linux</a:t>
            </a:r>
            <a:endParaRPr b="1" i="0" sz="52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7644" y="2685335"/>
            <a:ext cx="492412" cy="5079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6"/>
          <p:cNvSpPr/>
          <p:nvPr/>
        </p:nvSpPr>
        <p:spPr>
          <a:xfrm>
            <a:off x="4753501" y="1232939"/>
            <a:ext cx="445198" cy="283308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6"/>
          <p:cNvSpPr/>
          <p:nvPr/>
        </p:nvSpPr>
        <p:spPr>
          <a:xfrm>
            <a:off x="5583619" y="1187980"/>
            <a:ext cx="361425" cy="355394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6"/>
          <p:cNvSpPr/>
          <p:nvPr/>
        </p:nvSpPr>
        <p:spPr>
          <a:xfrm rot="-5400000">
            <a:off x="6370528" y="1178994"/>
            <a:ext cx="426113" cy="382998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6"/>
          <p:cNvSpPr/>
          <p:nvPr/>
        </p:nvSpPr>
        <p:spPr>
          <a:xfrm>
            <a:off x="7150848" y="1188835"/>
            <a:ext cx="258569" cy="363317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6"/>
          <p:cNvSpPr/>
          <p:nvPr/>
        </p:nvSpPr>
        <p:spPr>
          <a:xfrm>
            <a:off x="7752170" y="1193399"/>
            <a:ext cx="328061" cy="349974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6"/>
          <p:cNvSpPr/>
          <p:nvPr/>
        </p:nvSpPr>
        <p:spPr>
          <a:xfrm>
            <a:off x="8250898" y="2374624"/>
            <a:ext cx="602213" cy="461456"/>
          </a:xfrm>
          <a:prstGeom prst="rect">
            <a:avLst/>
          </a:prstGeom>
          <a:solidFill>
            <a:schemeClr val="dk1">
              <a:alpha val="5882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RTOS</a:t>
            </a: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8250899" y="2374625"/>
            <a:ext cx="602212" cy="190671"/>
          </a:xfrm>
          <a:prstGeom prst="rect">
            <a:avLst/>
          </a:prstGeom>
          <a:solidFill>
            <a:schemeClr val="dk1">
              <a:alpha val="16078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Middleware</a:t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8250898" y="1018646"/>
            <a:ext cx="602213" cy="1350986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20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ISP STACK / OTHER</a:t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8386254" y="1188518"/>
            <a:ext cx="328061" cy="349974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6"/>
          <p:cNvSpPr/>
          <p:nvPr/>
        </p:nvSpPr>
        <p:spPr>
          <a:xfrm>
            <a:off x="8219027" y="3757794"/>
            <a:ext cx="567785" cy="324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HSM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4161780" y="3702288"/>
            <a:ext cx="427771" cy="214313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PCIe</a:t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5837905" y="3757794"/>
            <a:ext cx="460502" cy="324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dash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GPU, VCU, ISP</a:t>
            </a: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6331744" y="3757794"/>
            <a:ext cx="581223" cy="324000"/>
          </a:xfrm>
          <a:prstGeom prst="rect">
            <a:avLst/>
          </a:prstGeom>
          <a:solidFill>
            <a:schemeClr val="dk1">
              <a:alpha val="12156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AI/ML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1047936" y="2649837"/>
            <a:ext cx="1542457" cy="184559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lgDash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3406391" y="1029635"/>
            <a:ext cx="756000" cy="1804760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t" bIns="0" lIns="0" spcFirstLastPara="1" rIns="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0" u="none" cap="none" strike="noStrike">
              <a:solidFill>
                <a:srgbClr val="00EDFD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750" u="none" cap="none" strike="noStrike">
                <a:solidFill>
                  <a:srgbClr val="00EDFD"/>
                </a:solidFill>
                <a:latin typeface="Arial Narrow"/>
                <a:ea typeface="Arial Narrow"/>
                <a:cs typeface="Arial Narrow"/>
                <a:sym typeface="Arial Narrow"/>
              </a:rPr>
              <a:t>SAFETY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Minimal UI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(Safety)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3406391" y="2645396"/>
            <a:ext cx="756000" cy="189000"/>
          </a:xfrm>
          <a:prstGeom prst="rect">
            <a:avLst/>
          </a:prstGeom>
          <a:solidFill>
            <a:schemeClr val="dk1">
              <a:alpha val="21960"/>
            </a:schemeClr>
          </a:solidFill>
          <a:ln cap="flat" cmpd="sng" w="9525">
            <a:solidFill>
              <a:schemeClr val="dk1">
                <a:alpha val="65098"/>
              </a:schemeClr>
            </a:solidFill>
            <a:prstDash val="lgDash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RTOS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3638955" y="1202070"/>
            <a:ext cx="354552" cy="307279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6"/>
          <p:cNvSpPr/>
          <p:nvPr/>
        </p:nvSpPr>
        <p:spPr>
          <a:xfrm rot="-5400000">
            <a:off x="2788587" y="1214845"/>
            <a:ext cx="426113" cy="382998"/>
          </a:xfrm>
          <a:prstGeom prst="rect">
            <a:avLst/>
          </a:prstGeom>
          <a:noFill/>
          <a:ln>
            <a:noFill/>
          </a:ln>
        </p:spPr>
      </p:sp>
      <p:pic>
        <p:nvPicPr>
          <p:cNvPr id="324" name="Google Shape;3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2757" y="2334582"/>
            <a:ext cx="492412" cy="5079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6"/>
          <p:cNvSpPr txBox="1"/>
          <p:nvPr/>
        </p:nvSpPr>
        <p:spPr>
          <a:xfrm>
            <a:off x="3751794" y="2364751"/>
            <a:ext cx="40468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5" u="none" cap="none" strike="noStrike">
                <a:solidFill>
                  <a:srgbClr val="FFFF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Adaptive</a:t>
            </a:r>
            <a:endParaRPr b="0" i="0" sz="525" u="none" cap="none" strike="noStrike">
              <a:solidFill>
                <a:srgbClr val="FFFFF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pic>
        <p:nvPicPr>
          <p:cNvPr descr="LXC - Wikipedia" id="326" name="Google Shape;3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3308" y="2274278"/>
            <a:ext cx="290729" cy="26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0978" y="2062763"/>
            <a:ext cx="492412" cy="5079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6"/>
          <p:cNvSpPr txBox="1"/>
          <p:nvPr/>
        </p:nvSpPr>
        <p:spPr>
          <a:xfrm>
            <a:off x="6500015" y="2092932"/>
            <a:ext cx="40468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5" u="none" cap="none" strike="noStrike">
                <a:solidFill>
                  <a:srgbClr val="FFFF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Adaptive</a:t>
            </a:r>
            <a:endParaRPr b="0" i="0" sz="525" u="none" cap="none" strike="noStrike">
              <a:solidFill>
                <a:srgbClr val="FFFFF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4625741" y="2366498"/>
            <a:ext cx="2283765" cy="216000"/>
          </a:xfrm>
          <a:prstGeom prst="rect">
            <a:avLst/>
          </a:prstGeom>
          <a:solidFill>
            <a:schemeClr val="dk1">
              <a:alpha val="16078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Middleware – ROS2,DDS &amp; more</a:t>
            </a:r>
            <a:endParaRPr/>
          </a:p>
        </p:txBody>
      </p:sp>
      <p:pic>
        <p:nvPicPr>
          <p:cNvPr descr="docker - Official Image | Docker Hub" id="330" name="Google Shape;33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4244" y="2225681"/>
            <a:ext cx="415403" cy="37095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6"/>
          <p:cNvSpPr/>
          <p:nvPr/>
        </p:nvSpPr>
        <p:spPr>
          <a:xfrm>
            <a:off x="274492" y="3354626"/>
            <a:ext cx="748226" cy="1030900"/>
          </a:xfrm>
          <a:prstGeom prst="rect">
            <a:avLst/>
          </a:prstGeom>
          <a:solidFill>
            <a:srgbClr val="3A484F">
              <a:alpha val="43137"/>
            </a:srgb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68575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Discrete GPU</a:t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4161780" y="3397758"/>
            <a:ext cx="427771" cy="214313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2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SideBand</a:t>
            </a:r>
            <a:endParaRPr b="0" i="0" sz="5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 txBox="1"/>
          <p:nvPr/>
        </p:nvSpPr>
        <p:spPr>
          <a:xfrm>
            <a:off x="904795" y="4722491"/>
            <a:ext cx="691338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350" u="none" cap="none" strike="noStrike">
                <a:solidFill>
                  <a:srgbClr val="E15310"/>
                </a:solidFill>
                <a:latin typeface="Arial"/>
                <a:ea typeface="Arial"/>
                <a:cs typeface="Arial"/>
                <a:sym typeface="Arial"/>
              </a:rPr>
              <a:t>A Common Hypervisor Layer across Clusters</a:t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278244" y="3120249"/>
            <a:ext cx="3889759" cy="196585"/>
          </a:xfrm>
          <a:prstGeom prst="rect">
            <a:avLst/>
          </a:prstGeom>
          <a:solidFill>
            <a:schemeClr val="dk1">
              <a:alpha val="5882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Xen Instance</a:t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4183946" y="3120248"/>
            <a:ext cx="441184" cy="196585"/>
          </a:xfrm>
          <a:prstGeom prst="rect">
            <a:avLst/>
          </a:prstGeom>
          <a:solidFill>
            <a:schemeClr val="dk1">
              <a:alpha val="5882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OpenAMP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4637267" y="3119232"/>
            <a:ext cx="2137649" cy="196585"/>
          </a:xfrm>
          <a:prstGeom prst="rect">
            <a:avLst/>
          </a:prstGeom>
          <a:solidFill>
            <a:schemeClr val="dk1">
              <a:alpha val="5882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Xen Instance</a:t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6774916" y="3119064"/>
            <a:ext cx="441184" cy="196585"/>
          </a:xfrm>
          <a:prstGeom prst="rect">
            <a:avLst/>
          </a:prstGeom>
          <a:solidFill>
            <a:schemeClr val="dk1">
              <a:alpha val="5882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OpenAMP</a:t>
            </a:r>
            <a:endParaRPr b="0" i="0" sz="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7232042" y="3117272"/>
            <a:ext cx="1632594" cy="196585"/>
          </a:xfrm>
          <a:prstGeom prst="rect">
            <a:avLst/>
          </a:prstGeom>
          <a:solidFill>
            <a:schemeClr val="dk1">
              <a:alpha val="5882"/>
            </a:schemeClr>
          </a:solidFill>
          <a:ln cap="flat" cmpd="sng" w="9525">
            <a:solidFill>
              <a:schemeClr val="dk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Xen Instance</a:t>
            </a: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1838375" y="2096954"/>
            <a:ext cx="703379" cy="2574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Virtio-frontend</a:t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1840526" y="2369878"/>
            <a:ext cx="703379" cy="2574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Virtio-frontend</a:t>
            </a: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2648304" y="2364774"/>
            <a:ext cx="703379" cy="257453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Virtio-backend</a:t>
            </a: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4625129" y="2096953"/>
            <a:ext cx="703379" cy="257453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Virtio-backend</a:t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2551398" y="2126875"/>
            <a:ext cx="2073731" cy="2223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576C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2420139" y="2371203"/>
            <a:ext cx="331160" cy="26050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576C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587" y="704040"/>
            <a:ext cx="8953420" cy="3846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"/>
          <p:cNvSpPr txBox="1"/>
          <p:nvPr/>
        </p:nvSpPr>
        <p:spPr>
          <a:xfrm>
            <a:off x="3377100" y="4804800"/>
            <a:ext cx="23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Work in Progress - License: CC-BY-4.0</a:t>
            </a:r>
            <a:endParaRPr b="0" i="0" sz="6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"/>
          <p:cNvSpPr txBox="1"/>
          <p:nvPr/>
        </p:nvSpPr>
        <p:spPr>
          <a:xfrm>
            <a:off x="311700" y="1152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Xen Functional safety vision</a:t>
            </a: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480448" y="3053166"/>
            <a:ext cx="5106691" cy="441702"/>
          </a:xfrm>
          <a:prstGeom prst="rect">
            <a:avLst/>
          </a:prstGeom>
          <a:gradFill>
            <a:gsLst>
              <a:gs pos="0">
                <a:srgbClr val="BBBBBB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Safety certified Xen</a:t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480448" y="3665349"/>
            <a:ext cx="1449091" cy="24797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B48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Firmware</a:t>
            </a:r>
            <a:endParaRPr/>
          </a:p>
        </p:txBody>
      </p:sp>
      <p:sp>
        <p:nvSpPr>
          <p:cNvPr id="354" name="Google Shape;354;p7"/>
          <p:cNvSpPr/>
          <p:nvPr/>
        </p:nvSpPr>
        <p:spPr>
          <a:xfrm>
            <a:off x="2081939" y="3680847"/>
            <a:ext cx="1449091" cy="247973"/>
          </a:xfrm>
          <a:prstGeom prst="rect">
            <a:avLst/>
          </a:prstGeom>
          <a:solidFill>
            <a:srgbClr val="FBFED9"/>
          </a:solidFill>
          <a:ln cap="flat" cmpd="sng" w="25400">
            <a:solidFill>
              <a:srgbClr val="6B48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Bootloader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480448" y="4045058"/>
            <a:ext cx="5106691" cy="338700"/>
          </a:xfrm>
          <a:prstGeom prst="rect">
            <a:avLst/>
          </a:prstGeom>
          <a:gradFill>
            <a:gsLst>
              <a:gs pos="0">
                <a:srgbClr val="7291A1"/>
              </a:gs>
              <a:gs pos="100000">
                <a:srgbClr val="BAD6E4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539857" y="1131378"/>
            <a:ext cx="1190786" cy="1836548"/>
          </a:xfrm>
          <a:prstGeom prst="rect">
            <a:avLst/>
          </a:prstGeom>
          <a:gradFill>
            <a:gsLst>
              <a:gs pos="0">
                <a:srgbClr val="FFD17D"/>
              </a:gs>
              <a:gs pos="35000">
                <a:srgbClr val="FFDCA3"/>
              </a:gs>
              <a:gs pos="100000">
                <a:srgbClr val="FFF1D8"/>
              </a:gs>
            </a:gsLst>
            <a:lin ang="16200000" scaled="0"/>
          </a:gradFill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VM1</a:t>
            </a: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4396353" y="1158499"/>
            <a:ext cx="1190786" cy="1836548"/>
          </a:xfrm>
          <a:prstGeom prst="rect">
            <a:avLst/>
          </a:prstGeom>
          <a:gradFill>
            <a:gsLst>
              <a:gs pos="0">
                <a:srgbClr val="9CE7F5"/>
              </a:gs>
              <a:gs pos="35000">
                <a:srgbClr val="BBEAF6"/>
              </a:gs>
              <a:gs pos="100000">
                <a:srgbClr val="E4F9FC"/>
              </a:gs>
            </a:gsLst>
            <a:lin ang="16200000" scaled="0"/>
          </a:gradFill>
          <a:ln cap="flat" cmpd="sng" w="9525">
            <a:solidFill>
              <a:srgbClr val="0096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VM2</a:t>
            </a:r>
            <a:endParaRPr/>
          </a:p>
        </p:txBody>
      </p:sp>
      <p:cxnSp>
        <p:nvCxnSpPr>
          <p:cNvPr id="358" name="Google Shape;358;p7"/>
          <p:cNvCxnSpPr/>
          <p:nvPr/>
        </p:nvCxnSpPr>
        <p:spPr>
          <a:xfrm>
            <a:off x="1844298" y="2650210"/>
            <a:ext cx="2355743" cy="0"/>
          </a:xfrm>
          <a:prstGeom prst="straightConnector1">
            <a:avLst/>
          </a:prstGeom>
          <a:noFill/>
          <a:ln cap="flat" cmpd="sng" w="9525">
            <a:solidFill>
              <a:srgbClr val="20202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9" name="Google Shape;359;p7"/>
          <p:cNvSpPr txBox="1"/>
          <p:nvPr/>
        </p:nvSpPr>
        <p:spPr>
          <a:xfrm>
            <a:off x="1885626" y="2650210"/>
            <a:ext cx="23557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Freedom from interference</a:t>
            </a:r>
            <a:endParaRPr/>
          </a:p>
        </p:txBody>
      </p:sp>
      <p:sp>
        <p:nvSpPr>
          <p:cNvPr id="360" name="Google Shape;360;p7"/>
          <p:cNvSpPr txBox="1"/>
          <p:nvPr/>
        </p:nvSpPr>
        <p:spPr>
          <a:xfrm>
            <a:off x="5966847" y="1007390"/>
            <a:ext cx="2865453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Xen is a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Safety Element Out Of Context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defines the assumptions on the surrounding components (firmware, bootloader, VM, hardware)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Firmware, bootloader, hardware can have safety integrity level greater than or equal to that of Xen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VM1, VM2 can have safety integrity level less than or equal to that of Xen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VM1 and VM2 can be of different safety integrity levels.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VM1, VM2 can be Linux , Zephyr, etc.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5E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Key Features of Xen hypervisor for functional safety</a:t>
            </a:r>
            <a:endParaRPr/>
          </a:p>
        </p:txBody>
      </p:sp>
      <p:sp>
        <p:nvSpPr>
          <p:cNvPr id="366" name="Google Shape;366;p9"/>
          <p:cNvSpPr txBox="1"/>
          <p:nvPr>
            <p:ph idx="1" type="body"/>
          </p:nvPr>
        </p:nvSpPr>
        <p:spPr>
          <a:xfrm>
            <a:off x="311700" y="1152475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Type 1 hypervisor (reduced SLoC and a clean isolation from VMs)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Domain roles and property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Linux, Zephyr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 for Memory Protection Unit (Arm real time processors)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Fine granular configs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"/>
          <p:cNvSpPr txBox="1"/>
          <p:nvPr>
            <p:ph type="title"/>
          </p:nvPr>
        </p:nvSpPr>
        <p:spPr>
          <a:xfrm>
            <a:off x="104404" y="16303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Key Features of Xen for safety certification </a:t>
            </a:r>
            <a:endParaRPr/>
          </a:p>
        </p:txBody>
      </p:sp>
      <p:grpSp>
        <p:nvGrpSpPr>
          <p:cNvPr id="372" name="Google Shape;372;p10"/>
          <p:cNvGrpSpPr/>
          <p:nvPr/>
        </p:nvGrpSpPr>
        <p:grpSpPr>
          <a:xfrm>
            <a:off x="3967565" y="1025840"/>
            <a:ext cx="5021450" cy="3652380"/>
            <a:chOff x="480448" y="1025840"/>
            <a:chExt cx="5021450" cy="3652380"/>
          </a:xfrm>
        </p:grpSpPr>
        <p:grpSp>
          <p:nvGrpSpPr>
            <p:cNvPr id="373" name="Google Shape;373;p10"/>
            <p:cNvGrpSpPr/>
            <p:nvPr/>
          </p:nvGrpSpPr>
          <p:grpSpPr>
            <a:xfrm>
              <a:off x="480448" y="1947314"/>
              <a:ext cx="4285281" cy="2730906"/>
              <a:chOff x="480448" y="1962812"/>
              <a:chExt cx="4285281" cy="2730906"/>
            </a:xfrm>
          </p:grpSpPr>
          <p:sp>
            <p:nvSpPr>
              <p:cNvPr id="374" name="Google Shape;374;p10"/>
              <p:cNvSpPr/>
              <p:nvPr/>
            </p:nvSpPr>
            <p:spPr>
              <a:xfrm>
                <a:off x="480448" y="3130656"/>
                <a:ext cx="4285281" cy="441702"/>
              </a:xfrm>
              <a:prstGeom prst="rect">
                <a:avLst/>
              </a:prstGeom>
              <a:gradFill>
                <a:gsLst>
                  <a:gs pos="0">
                    <a:srgbClr val="BBBBBB"/>
                  </a:gs>
                  <a:gs pos="35000">
                    <a:srgbClr val="CFCFCF"/>
                  </a:gs>
                  <a:gs pos="100000">
                    <a:srgbClr val="EDEDED"/>
                  </a:gs>
                </a:gsLst>
                <a:lin ang="16200000" scaled="0"/>
              </a:gradFill>
              <a:ln cap="flat" cmpd="sng" w="9525">
                <a:solidFill>
                  <a:srgbClr val="20202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Safety certified Xen</a:t>
                </a:r>
                <a:endParaRPr/>
              </a:p>
            </p:txBody>
          </p:sp>
          <p:sp>
            <p:nvSpPr>
              <p:cNvPr id="375" name="Google Shape;375;p10"/>
              <p:cNvSpPr/>
              <p:nvPr/>
            </p:nvSpPr>
            <p:spPr>
              <a:xfrm>
                <a:off x="480448" y="3812580"/>
                <a:ext cx="1449091" cy="247973"/>
              </a:xfrm>
              <a:prstGeom prst="rect">
                <a:avLst/>
              </a:prstGeom>
              <a:solidFill>
                <a:srgbClr val="C9EDF5"/>
              </a:solidFill>
              <a:ln cap="flat" cmpd="sng" w="25400">
                <a:solidFill>
                  <a:srgbClr val="6B48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Firmware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76" name="Google Shape;376;p10"/>
              <p:cNvSpPr/>
              <p:nvPr/>
            </p:nvSpPr>
            <p:spPr>
              <a:xfrm>
                <a:off x="480448" y="4355018"/>
                <a:ext cx="4285281" cy="3387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rgbClr val="BBBBBB"/>
                  </a:gs>
                </a:gsLst>
                <a:lin ang="16198662" scaled="0"/>
              </a:gra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Hardware</a:t>
                </a:r>
                <a:endParaRPr/>
              </a:p>
            </p:txBody>
          </p:sp>
          <p:sp>
            <p:nvSpPr>
              <p:cNvPr id="377" name="Google Shape;377;p10"/>
              <p:cNvSpPr/>
              <p:nvPr/>
            </p:nvSpPr>
            <p:spPr>
              <a:xfrm>
                <a:off x="539857" y="2012844"/>
                <a:ext cx="1480072" cy="831098"/>
              </a:xfrm>
              <a:prstGeom prst="rect">
                <a:avLst/>
              </a:prstGeom>
              <a:gradFill>
                <a:gsLst>
                  <a:gs pos="0">
                    <a:srgbClr val="FFD17D"/>
                  </a:gs>
                  <a:gs pos="35000">
                    <a:srgbClr val="FFDCA3"/>
                  </a:gs>
                  <a:gs pos="100000">
                    <a:srgbClr val="FFF1D8"/>
                  </a:gs>
                </a:gsLst>
                <a:lin ang="16200000" scaled="0"/>
              </a:gradFill>
              <a:ln cap="flat" cmpd="sng" w="9525">
                <a:solidFill>
                  <a:srgbClr val="FDA739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VM1</a:t>
                </a:r>
                <a:endParaRPr/>
              </a:p>
            </p:txBody>
          </p:sp>
          <p:sp>
            <p:nvSpPr>
              <p:cNvPr id="378" name="Google Shape;378;p10"/>
              <p:cNvSpPr/>
              <p:nvPr/>
            </p:nvSpPr>
            <p:spPr>
              <a:xfrm>
                <a:off x="3308916" y="1962812"/>
                <a:ext cx="1456813" cy="862094"/>
              </a:xfrm>
              <a:prstGeom prst="rect">
                <a:avLst/>
              </a:prstGeom>
              <a:gradFill>
                <a:gsLst>
                  <a:gs pos="0">
                    <a:srgbClr val="9CE7F5"/>
                  </a:gs>
                  <a:gs pos="35000">
                    <a:srgbClr val="BBEAF6"/>
                  </a:gs>
                  <a:gs pos="100000">
                    <a:srgbClr val="E4F9FC"/>
                  </a:gs>
                </a:gsLst>
                <a:lin ang="16200000" scaled="0"/>
              </a:gradFill>
              <a:ln cap="flat" cmpd="sng" w="9525">
                <a:solidFill>
                  <a:srgbClr val="0096A7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VMn</a:t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79" name="Google Shape;379;p10"/>
            <p:cNvCxnSpPr/>
            <p:nvPr/>
          </p:nvCxnSpPr>
          <p:spPr>
            <a:xfrm>
              <a:off x="4038600" y="2843942"/>
              <a:ext cx="0" cy="3022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80" name="Google Shape;380;p10"/>
            <p:cNvCxnSpPr/>
            <p:nvPr/>
          </p:nvCxnSpPr>
          <p:spPr>
            <a:xfrm>
              <a:off x="1204993" y="2828439"/>
              <a:ext cx="0" cy="3022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81" name="Google Shape;381;p10"/>
            <p:cNvCxnSpPr/>
            <p:nvPr/>
          </p:nvCxnSpPr>
          <p:spPr>
            <a:xfrm>
              <a:off x="1215317" y="3546532"/>
              <a:ext cx="0" cy="3022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82" name="Google Shape;382;p10"/>
            <p:cNvCxnSpPr/>
            <p:nvPr/>
          </p:nvCxnSpPr>
          <p:spPr>
            <a:xfrm>
              <a:off x="4169045" y="3572358"/>
              <a:ext cx="1" cy="78735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83" name="Google Shape;383;p10"/>
            <p:cNvCxnSpPr/>
            <p:nvPr/>
          </p:nvCxnSpPr>
          <p:spPr>
            <a:xfrm>
              <a:off x="1215317" y="4057494"/>
              <a:ext cx="0" cy="3022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84" name="Google Shape;384;p10"/>
            <p:cNvSpPr/>
            <p:nvPr/>
          </p:nvSpPr>
          <p:spPr>
            <a:xfrm>
              <a:off x="539857" y="1055498"/>
              <a:ext cx="675460" cy="572700"/>
            </a:xfrm>
            <a:prstGeom prst="rect">
              <a:avLst/>
            </a:prstGeom>
            <a:solidFill>
              <a:srgbClr val="FEEDD8"/>
            </a:solidFill>
            <a:ln cap="flat" cmpd="sng" w="9525">
              <a:solidFill>
                <a:srgbClr val="FDA73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App1</a:t>
              </a:r>
              <a:endParaRPr/>
            </a:p>
          </p:txBody>
        </p:sp>
        <p:sp>
          <p:nvSpPr>
            <p:cNvPr id="385" name="Google Shape;385;p10"/>
            <p:cNvSpPr/>
            <p:nvPr/>
          </p:nvSpPr>
          <p:spPr>
            <a:xfrm>
              <a:off x="1344469" y="1070996"/>
              <a:ext cx="675460" cy="572700"/>
            </a:xfrm>
            <a:prstGeom prst="rect">
              <a:avLst/>
            </a:prstGeom>
            <a:solidFill>
              <a:srgbClr val="FEEDD8"/>
            </a:solidFill>
            <a:ln cap="flat" cmpd="sng" w="9525">
              <a:solidFill>
                <a:srgbClr val="FDA73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App2</a:t>
              </a:r>
              <a:endParaRPr/>
            </a:p>
          </p:txBody>
        </p:sp>
        <p:sp>
          <p:nvSpPr>
            <p:cNvPr id="386" name="Google Shape;386;p10"/>
            <p:cNvSpPr/>
            <p:nvPr/>
          </p:nvSpPr>
          <p:spPr>
            <a:xfrm>
              <a:off x="3285414" y="1025840"/>
              <a:ext cx="675460" cy="572700"/>
            </a:xfrm>
            <a:prstGeom prst="rect">
              <a:avLst/>
            </a:prstGeom>
            <a:solidFill>
              <a:srgbClr val="BAF8FF"/>
            </a:solidFill>
            <a:ln cap="flat" cmpd="sng" w="9525">
              <a:solidFill>
                <a:srgbClr val="FDA73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App1</a:t>
              </a:r>
              <a:endParaRPr/>
            </a:p>
          </p:txBody>
        </p:sp>
        <p:sp>
          <p:nvSpPr>
            <p:cNvPr id="387" name="Google Shape;387;p10"/>
            <p:cNvSpPr/>
            <p:nvPr/>
          </p:nvSpPr>
          <p:spPr>
            <a:xfrm>
              <a:off x="4129011" y="1033223"/>
              <a:ext cx="675460" cy="572700"/>
            </a:xfrm>
            <a:prstGeom prst="rect">
              <a:avLst/>
            </a:prstGeom>
            <a:solidFill>
              <a:srgbClr val="BAF8FF"/>
            </a:solidFill>
            <a:ln cap="flat" cmpd="sng" w="9525">
              <a:solidFill>
                <a:srgbClr val="FDA73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App1</a:t>
              </a:r>
              <a:endParaRPr/>
            </a:p>
          </p:txBody>
        </p:sp>
        <p:cxnSp>
          <p:nvCxnSpPr>
            <p:cNvPr id="388" name="Google Shape;388;p10"/>
            <p:cNvCxnSpPr/>
            <p:nvPr/>
          </p:nvCxnSpPr>
          <p:spPr>
            <a:xfrm>
              <a:off x="2208508" y="2642461"/>
              <a:ext cx="883404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89" name="Google Shape;389;p10"/>
            <p:cNvCxnSpPr/>
            <p:nvPr/>
          </p:nvCxnSpPr>
          <p:spPr>
            <a:xfrm>
              <a:off x="923441" y="1674692"/>
              <a:ext cx="0" cy="3022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90" name="Google Shape;390;p10"/>
            <p:cNvCxnSpPr/>
            <p:nvPr/>
          </p:nvCxnSpPr>
          <p:spPr>
            <a:xfrm>
              <a:off x="1682199" y="1674692"/>
              <a:ext cx="0" cy="3022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91" name="Google Shape;391;p10"/>
            <p:cNvCxnSpPr/>
            <p:nvPr/>
          </p:nvCxnSpPr>
          <p:spPr>
            <a:xfrm>
              <a:off x="3621853" y="1643696"/>
              <a:ext cx="0" cy="3022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92" name="Google Shape;392;p10"/>
            <p:cNvCxnSpPr/>
            <p:nvPr/>
          </p:nvCxnSpPr>
          <p:spPr>
            <a:xfrm>
              <a:off x="4466741" y="1628198"/>
              <a:ext cx="0" cy="3022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93" name="Google Shape;393;p10"/>
            <p:cNvSpPr/>
            <p:nvPr/>
          </p:nvSpPr>
          <p:spPr>
            <a:xfrm>
              <a:off x="4972608" y="1033223"/>
              <a:ext cx="529290" cy="897192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EL0</a:t>
              </a:r>
              <a:endParaRPr/>
            </a:p>
          </p:txBody>
        </p:sp>
        <p:sp>
          <p:nvSpPr>
            <p:cNvPr id="394" name="Google Shape;394;p10"/>
            <p:cNvSpPr/>
            <p:nvPr/>
          </p:nvSpPr>
          <p:spPr>
            <a:xfrm>
              <a:off x="4967235" y="1948800"/>
              <a:ext cx="529290" cy="116635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EL1</a:t>
              </a:r>
              <a:endParaRPr/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4965401" y="3130657"/>
              <a:ext cx="529290" cy="66642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EL2</a:t>
              </a:r>
              <a:endParaRPr/>
            </a:p>
          </p:txBody>
        </p:sp>
        <p:sp>
          <p:nvSpPr>
            <p:cNvPr id="396" name="Google Shape;396;p10"/>
            <p:cNvSpPr/>
            <p:nvPr/>
          </p:nvSpPr>
          <p:spPr>
            <a:xfrm>
              <a:off x="4972608" y="3812583"/>
              <a:ext cx="529290" cy="604434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EL3</a:t>
              </a:r>
              <a:endParaRPr/>
            </a:p>
          </p:txBody>
        </p:sp>
      </p:grpSp>
      <p:sp>
        <p:nvSpPr>
          <p:cNvPr id="397" name="Google Shape;397;p10"/>
          <p:cNvSpPr txBox="1"/>
          <p:nvPr/>
        </p:nvSpPr>
        <p:spPr>
          <a:xfrm>
            <a:off x="209225" y="1033225"/>
            <a:ext cx="35028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Type1 hypervisor (Or Baremetal Hypervisor)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Xen manages few hardware resources like Interrupt controller, IOMMU, Timer, UART, MMU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GB" sz="1400" u="none" cap="none" strike="noStrike">
                <a:solidFill>
                  <a:srgbClr val="000000"/>
                </a:solidFill>
              </a:rPr>
              <a:t>Static partitioning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memory and hardware resources to VMs. Ensures that the other VM will not have access to the device and memory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Xen can create and boot domains in parallel (Hyperlaunch). There is no need for Dom0 to create other domains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Arm </a:t>
            </a:r>
            <a:r>
              <a:rPr b="1" lang="en-GB"/>
              <a:t>safety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cores and IPs</a:t>
            </a:r>
            <a:r>
              <a:rPr b="1" lang="en-GB"/>
              <a:t>: </a:t>
            </a:r>
            <a:r>
              <a:rPr i="1" lang="en-GB"/>
              <a:t>Cortex-A720AE, GIC-600AE, MMU-600AE</a:t>
            </a:r>
            <a:endParaRPr i="1"/>
          </a:p>
        </p:txBody>
      </p:sp>
      <p:sp>
        <p:nvSpPr>
          <p:cNvPr id="398" name="Google Shape;398;p10"/>
          <p:cNvSpPr txBox="1"/>
          <p:nvPr/>
        </p:nvSpPr>
        <p:spPr>
          <a:xfrm>
            <a:off x="11238575" y="2272025"/>
            <a:ext cx="72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"/>
          <p:cNvSpPr txBox="1"/>
          <p:nvPr>
            <p:ph type="title"/>
          </p:nvPr>
        </p:nvSpPr>
        <p:spPr>
          <a:xfrm>
            <a:off x="3095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Xen with Zephyr and Linux as VMs</a:t>
            </a:r>
            <a:endParaRPr/>
          </a:p>
        </p:txBody>
      </p:sp>
      <p:sp>
        <p:nvSpPr>
          <p:cNvPr id="404" name="Google Shape;404;p12"/>
          <p:cNvSpPr txBox="1"/>
          <p:nvPr>
            <p:ph idx="1" type="body"/>
          </p:nvPr>
        </p:nvSpPr>
        <p:spPr>
          <a:xfrm>
            <a:off x="309500" y="3301876"/>
            <a:ext cx="8521700" cy="511444"/>
          </a:xfrm>
          <a:prstGeom prst="rect">
            <a:avLst/>
          </a:prstGeom>
          <a:gradFill>
            <a:gsLst>
              <a:gs pos="0">
                <a:srgbClr val="BBBBBB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Safety certified Xen – ASIL D / SIL3</a:t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309500" y="3907047"/>
            <a:ext cx="8520600" cy="286718"/>
          </a:xfrm>
          <a:prstGeom prst="rect">
            <a:avLst/>
          </a:prstGeom>
          <a:gradFill>
            <a:gsLst>
              <a:gs pos="0">
                <a:srgbClr val="BDD5E1"/>
              </a:gs>
              <a:gs pos="35000">
                <a:srgbClr val="D2E1E7"/>
              </a:gs>
              <a:gs pos="100000">
                <a:srgbClr val="ECF3F6"/>
              </a:gs>
            </a:gsLst>
            <a:lin ang="16200000" scaled="0"/>
          </a:gradFill>
          <a:ln cap="flat" cmpd="sng" w="9525">
            <a:solidFill>
              <a:srgbClr val="748C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 Trusted Firmware</a:t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312800" y="4287492"/>
            <a:ext cx="8517300" cy="28671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rgbClr val="BBBBBB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387457" y="1642819"/>
            <a:ext cx="1356101" cy="1565329"/>
          </a:xfrm>
          <a:prstGeom prst="rect">
            <a:avLst/>
          </a:prstGeom>
          <a:gradFill>
            <a:gsLst>
              <a:gs pos="0">
                <a:srgbClr val="9CE7F5"/>
              </a:gs>
              <a:gs pos="35000">
                <a:srgbClr val="BBEAF6"/>
              </a:gs>
              <a:gs pos="100000">
                <a:srgbClr val="E4F9FC"/>
              </a:gs>
            </a:gsLst>
            <a:lin ang="16200000" scaled="0"/>
          </a:gradFill>
          <a:ln cap="flat" cmpd="sng" w="9525">
            <a:solidFill>
              <a:srgbClr val="0096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domain - Zephyr</a:t>
            </a:r>
            <a:endParaRPr/>
          </a:p>
        </p:txBody>
      </p:sp>
      <p:sp>
        <p:nvSpPr>
          <p:cNvPr id="408" name="Google Shape;408;p12"/>
          <p:cNvSpPr txBox="1"/>
          <p:nvPr/>
        </p:nvSpPr>
        <p:spPr>
          <a:xfrm>
            <a:off x="364211" y="501595"/>
            <a:ext cx="1356101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Preferably safety cert RTOS. Very minimal functionality</a:t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1872711" y="1642818"/>
            <a:ext cx="1356101" cy="1565329"/>
          </a:xfrm>
          <a:prstGeom prst="rect">
            <a:avLst/>
          </a:prstGeom>
          <a:gradFill>
            <a:gsLst>
              <a:gs pos="0">
                <a:srgbClr val="FFD17D"/>
              </a:gs>
              <a:gs pos="35000">
                <a:srgbClr val="FFDCA3"/>
              </a:gs>
              <a:gs pos="100000">
                <a:srgbClr val="FFF1D8"/>
              </a:gs>
            </a:gsLst>
            <a:lin ang="16200000" scaled="0"/>
          </a:gradFill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domain - Linux</a:t>
            </a:r>
            <a:endParaRPr/>
          </a:p>
        </p:txBody>
      </p:sp>
      <p:sp>
        <p:nvSpPr>
          <p:cNvPr id="410" name="Google Shape;410;p12"/>
          <p:cNvSpPr txBox="1"/>
          <p:nvPr/>
        </p:nvSpPr>
        <p:spPr>
          <a:xfrm>
            <a:off x="3357964" y="691591"/>
            <a:ext cx="135610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Minimal OS which can be interrupted by other domains</a:t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3357965" y="1642817"/>
            <a:ext cx="1356101" cy="1565329"/>
          </a:xfrm>
          <a:prstGeom prst="rect">
            <a:avLst/>
          </a:prstGeom>
          <a:gradFill>
            <a:gsLst>
              <a:gs pos="0">
                <a:srgbClr val="F8F8F8"/>
              </a:gs>
              <a:gs pos="40000">
                <a:srgbClr val="F6F6F6"/>
              </a:gs>
              <a:gs pos="100000">
                <a:srgbClr val="727272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Targetable regular domain – Zephyr</a:t>
            </a:r>
            <a:endParaRPr/>
          </a:p>
        </p:txBody>
      </p:sp>
      <p:sp>
        <p:nvSpPr>
          <p:cNvPr id="412" name="Google Shape;412;p12"/>
          <p:cNvSpPr txBox="1"/>
          <p:nvPr/>
        </p:nvSpPr>
        <p:spPr>
          <a:xfrm>
            <a:off x="1937286" y="717039"/>
            <a:ext cx="135610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rich OS which has support for many drivers</a:t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4843218" y="1642816"/>
            <a:ext cx="1356101" cy="1565329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323C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Untargetable regular domain - Zephyr</a:t>
            </a:r>
            <a:endParaRPr/>
          </a:p>
        </p:txBody>
      </p:sp>
      <p:sp>
        <p:nvSpPr>
          <p:cNvPr id="414" name="Google Shape;414;p12"/>
          <p:cNvSpPr txBox="1"/>
          <p:nvPr/>
        </p:nvSpPr>
        <p:spPr>
          <a:xfrm>
            <a:off x="4742480" y="691591"/>
            <a:ext cx="16815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Minimal OS which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 interrupted by other domains</a:t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6524787" y="870475"/>
            <a:ext cx="2484642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can be 0-1 control domain and/or 0-1 hardware domain and/or 0-N targetable/untargetable domains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Xen supports both static mapped domains created at boot time and dynamic domain created at run time.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 txBox="1"/>
          <p:nvPr>
            <p:ph type="title"/>
          </p:nvPr>
        </p:nvSpPr>
        <p:spPr>
          <a:xfrm>
            <a:off x="311700" y="7234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Domain capabilities and properties</a:t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464951" y="906653"/>
            <a:ext cx="1526583" cy="572700"/>
          </a:xfrm>
          <a:prstGeom prst="rect">
            <a:avLst/>
          </a:prstGeom>
          <a:gradFill>
            <a:gsLst>
              <a:gs pos="0">
                <a:srgbClr val="9CE7F5"/>
              </a:gs>
              <a:gs pos="35000">
                <a:srgbClr val="BBEAF6"/>
              </a:gs>
              <a:gs pos="100000">
                <a:srgbClr val="E4F9FC"/>
              </a:gs>
            </a:gsLst>
            <a:lin ang="16200000" scaled="0"/>
          </a:gradFill>
          <a:ln cap="flat" cmpd="sng" w="9525">
            <a:solidFill>
              <a:srgbClr val="0096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domain</a:t>
            </a:r>
            <a:endParaRPr/>
          </a:p>
        </p:txBody>
      </p:sp>
      <p:cxnSp>
        <p:nvCxnSpPr>
          <p:cNvPr id="422" name="Google Shape;422;p11"/>
          <p:cNvCxnSpPr/>
          <p:nvPr/>
        </p:nvCxnSpPr>
        <p:spPr>
          <a:xfrm>
            <a:off x="1991534" y="1297983"/>
            <a:ext cx="3138405" cy="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3" name="Google Shape;423;p11"/>
          <p:cNvSpPr txBox="1"/>
          <p:nvPr/>
        </p:nvSpPr>
        <p:spPr>
          <a:xfrm>
            <a:off x="1991534" y="958541"/>
            <a:ext cx="323914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suspend/resume, pause/unpause,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Shutdown/restart  </a:t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5129939" y="898902"/>
            <a:ext cx="1526583" cy="523221"/>
          </a:xfrm>
          <a:prstGeom prst="rect">
            <a:avLst/>
          </a:prstGeom>
          <a:solidFill>
            <a:srgbClr val="C8D2D6"/>
          </a:solidFill>
          <a:ln cap="flat" cmpd="sng" w="9525">
            <a:solidFill>
              <a:srgbClr val="0096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 domains</a:t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5230678" y="2257241"/>
            <a:ext cx="1526583" cy="572700"/>
          </a:xfrm>
          <a:prstGeom prst="rect">
            <a:avLst/>
          </a:prstGeom>
          <a:gradFill>
            <a:gsLst>
              <a:gs pos="0">
                <a:srgbClr val="9CE7F5"/>
              </a:gs>
              <a:gs pos="35000">
                <a:srgbClr val="BBEAF6"/>
              </a:gs>
              <a:gs pos="100000">
                <a:srgbClr val="E4F9FC"/>
              </a:gs>
            </a:gsLst>
            <a:lin ang="16200000" scaled="0"/>
          </a:gradFill>
          <a:ln cap="flat" cmpd="sng" w="9525">
            <a:solidFill>
              <a:srgbClr val="0096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domain</a:t>
            </a:r>
            <a:endParaRPr/>
          </a:p>
        </p:txBody>
      </p:sp>
      <p:sp>
        <p:nvSpPr>
          <p:cNvPr id="426" name="Google Shape;426;p11"/>
          <p:cNvSpPr txBox="1"/>
          <p:nvPr/>
        </p:nvSpPr>
        <p:spPr>
          <a:xfrm>
            <a:off x="6790194" y="2033984"/>
            <a:ext cx="2251125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*Default owner of the platform unless a device is assigned to another domain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11"/>
          <p:cNvCxnSpPr>
            <a:stCxn id="421" idx="2"/>
            <a:endCxn id="425" idx="1"/>
          </p:cNvCxnSpPr>
          <p:nvPr/>
        </p:nvCxnSpPr>
        <p:spPr>
          <a:xfrm>
            <a:off x="1228243" y="1479353"/>
            <a:ext cx="4002300" cy="106410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8" name="Google Shape;428;p11"/>
          <p:cNvSpPr txBox="1"/>
          <p:nvPr/>
        </p:nvSpPr>
        <p:spPr>
          <a:xfrm>
            <a:off x="2282126" y="2387294"/>
            <a:ext cx="45797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Platform specific operations</a:t>
            </a:r>
            <a:endParaRPr/>
          </a:p>
        </p:txBody>
      </p:sp>
      <p:cxnSp>
        <p:nvCxnSpPr>
          <p:cNvPr id="429" name="Google Shape;429;p11"/>
          <p:cNvCxnSpPr>
            <a:endCxn id="424" idx="2"/>
          </p:cNvCxnSpPr>
          <p:nvPr/>
        </p:nvCxnSpPr>
        <p:spPr>
          <a:xfrm rot="10800000">
            <a:off x="5893231" y="1422123"/>
            <a:ext cx="0" cy="83520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0" name="Google Shape;430;p11"/>
          <p:cNvSpPr txBox="1"/>
          <p:nvPr/>
        </p:nvSpPr>
        <p:spPr>
          <a:xfrm>
            <a:off x="5829301" y="1621544"/>
            <a:ext cx="19217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Impacts the platform</a:t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2733513" y="4045693"/>
            <a:ext cx="1654445" cy="48544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B48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Untargetable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Regular domains</a:t>
            </a:r>
            <a:endParaRPr/>
          </a:p>
        </p:txBody>
      </p:sp>
      <p:sp>
        <p:nvSpPr>
          <p:cNvPr id="432" name="Google Shape;432;p11"/>
          <p:cNvSpPr txBox="1"/>
          <p:nvPr/>
        </p:nvSpPr>
        <p:spPr>
          <a:xfrm>
            <a:off x="6757261" y="831595"/>
            <a:ext cx="22511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assigned one or more hardware</a:t>
            </a:r>
            <a:endParaRPr/>
          </a:p>
        </p:txBody>
      </p:sp>
      <p:cxnSp>
        <p:nvCxnSpPr>
          <p:cNvPr id="433" name="Google Shape;433;p11"/>
          <p:cNvCxnSpPr/>
          <p:nvPr/>
        </p:nvCxnSpPr>
        <p:spPr>
          <a:xfrm>
            <a:off x="953146" y="1549831"/>
            <a:ext cx="2061274" cy="2456481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11"/>
          <p:cNvSpPr/>
          <p:nvPr/>
        </p:nvSpPr>
        <p:spPr>
          <a:xfrm>
            <a:off x="1487837" y="2387294"/>
            <a:ext cx="906651" cy="816241"/>
          </a:xfrm>
          <a:prstGeom prst="noSmoking">
            <a:avLst>
              <a:gd fmla="val 18750" name="adj"/>
            </a:avLst>
          </a:prstGeom>
          <a:solidFill>
            <a:schemeClr val="accent1"/>
          </a:solidFill>
          <a:ln cap="flat" cmpd="sng" w="25400">
            <a:solidFill>
              <a:srgbClr val="6B48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11"/>
          <p:cNvCxnSpPr>
            <a:stCxn id="425" idx="2"/>
          </p:cNvCxnSpPr>
          <p:nvPr/>
        </p:nvCxnSpPr>
        <p:spPr>
          <a:xfrm flipH="1">
            <a:off x="4388070" y="2829941"/>
            <a:ext cx="1605900" cy="135510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11"/>
          <p:cNvSpPr/>
          <p:nvPr/>
        </p:nvSpPr>
        <p:spPr>
          <a:xfrm>
            <a:off x="4771540" y="3001564"/>
            <a:ext cx="906651" cy="816241"/>
          </a:xfrm>
          <a:prstGeom prst="noSmoking">
            <a:avLst>
              <a:gd fmla="val 18750" name="adj"/>
            </a:avLst>
          </a:prstGeom>
          <a:solidFill>
            <a:schemeClr val="accent1"/>
          </a:solidFill>
          <a:ln cap="flat" cmpd="sng" w="25400">
            <a:solidFill>
              <a:srgbClr val="6B48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1"/>
          <p:cNvSpPr txBox="1"/>
          <p:nvPr/>
        </p:nvSpPr>
        <p:spPr>
          <a:xfrm>
            <a:off x="5761496" y="3882704"/>
            <a:ext cx="298342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control domain can be a safety cert RTOS like Zephyr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hardware domain can be a rich OS which supports many drivers like Linux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"/>
          <p:cNvSpPr txBox="1"/>
          <p:nvPr>
            <p:ph type="title"/>
          </p:nvPr>
        </p:nvSpPr>
        <p:spPr>
          <a:xfrm>
            <a:off x="311700" y="19705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Assumptions on domains</a:t>
            </a:r>
            <a:endParaRPr/>
          </a:p>
        </p:txBody>
      </p:sp>
      <p:sp>
        <p:nvSpPr>
          <p:cNvPr id="443" name="Google Shape;443;p13"/>
          <p:cNvSpPr txBox="1"/>
          <p:nvPr>
            <p:ph idx="1" type="body"/>
          </p:nvPr>
        </p:nvSpPr>
        <p:spPr>
          <a:xfrm>
            <a:off x="311700" y="850259"/>
            <a:ext cx="3012686" cy="35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Control domain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Has the toolstack to create/destroy domains at runtime.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 run privileged operations to impact other domains (via mapping memory, etc)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Should be untargetable</a:t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 txBox="1"/>
          <p:nvPr/>
        </p:nvSpPr>
        <p:spPr>
          <a:xfrm>
            <a:off x="3122059" y="850259"/>
            <a:ext cx="2617480" cy="35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Hardware domain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 be a part of control domain (ie dom0) or separate.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Able to support all the platform devices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 run device emulation (backend)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Should be targetable </a:t>
            </a:r>
            <a:endParaRPr/>
          </a:p>
          <a:p>
            <a:pPr indent="-2286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5862676" y="909669"/>
            <a:ext cx="2617480" cy="35125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Regular domain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 be assigned one or more platform devices.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 share devices using PV or VirtIO with other domains.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 be targetable (for PV/VirtIO) or untargetable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5"/>
          <p:cNvSpPr txBox="1"/>
          <p:nvPr>
            <p:ph type="title"/>
          </p:nvPr>
        </p:nvSpPr>
        <p:spPr>
          <a:xfrm>
            <a:off x="311700" y="28229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Scheduler</a:t>
            </a:r>
            <a:endParaRPr/>
          </a:p>
        </p:txBody>
      </p:sp>
      <p:sp>
        <p:nvSpPr>
          <p:cNvPr id="451" name="Google Shape;451;p15"/>
          <p:cNvSpPr txBox="1"/>
          <p:nvPr>
            <p:ph idx="1" type="body"/>
          </p:nvPr>
        </p:nvSpPr>
        <p:spPr>
          <a:xfrm>
            <a:off x="311700" y="927750"/>
            <a:ext cx="6219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Xen supports multiple schedulers: (RTDS not shown)</a:t>
            </a:r>
            <a:endParaRPr/>
          </a:p>
        </p:txBody>
      </p:sp>
      <p:grpSp>
        <p:nvGrpSpPr>
          <p:cNvPr id="452" name="Google Shape;452;p15"/>
          <p:cNvGrpSpPr/>
          <p:nvPr/>
        </p:nvGrpSpPr>
        <p:grpSpPr>
          <a:xfrm>
            <a:off x="656775" y="1693656"/>
            <a:ext cx="3406446" cy="1124415"/>
            <a:chOff x="4184542" y="1604130"/>
            <a:chExt cx="4647900" cy="1534200"/>
          </a:xfrm>
        </p:grpSpPr>
        <p:sp>
          <p:nvSpPr>
            <p:cNvPr id="453" name="Google Shape;453;p15"/>
            <p:cNvSpPr/>
            <p:nvPr/>
          </p:nvSpPr>
          <p:spPr>
            <a:xfrm>
              <a:off x="4184542" y="1604130"/>
              <a:ext cx="4647900" cy="1534200"/>
            </a:xfrm>
            <a:prstGeom prst="rect">
              <a:avLst/>
            </a:prstGeom>
            <a:solidFill>
              <a:schemeClr val="accent1"/>
            </a:solidFill>
            <a:ln cap="flat" cmpd="sng" w="18600">
              <a:solidFill>
                <a:srgbClr val="6B48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4314135" y="1691405"/>
              <a:ext cx="2224007" cy="1205591"/>
            </a:xfrm>
            <a:prstGeom prst="rect">
              <a:avLst/>
            </a:prstGeom>
            <a:solidFill>
              <a:schemeClr val="accent5"/>
            </a:solidFill>
            <a:ln cap="flat" cmpd="sng" w="279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6" rotWithShape="0" dir="5400000" dist="14658">
                <a:srgbClr val="000000">
                  <a:alpha val="38039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6667074" y="1668211"/>
              <a:ext cx="2097218" cy="1205591"/>
            </a:xfrm>
            <a:prstGeom prst="rect">
              <a:avLst/>
            </a:prstGeom>
            <a:solidFill>
              <a:schemeClr val="accent5"/>
            </a:solidFill>
            <a:ln cap="flat" cmpd="sng" w="279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6" rotWithShape="0" dir="5400000" dist="14658">
                <a:srgbClr val="000000">
                  <a:alpha val="38039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5"/>
            <p:cNvSpPr txBox="1"/>
            <p:nvPr/>
          </p:nvSpPr>
          <p:spPr>
            <a:xfrm>
              <a:off x="4678755" y="1770830"/>
              <a:ext cx="1729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500" lIns="67000" spcFirstLastPara="1" rIns="67000" wrap="square" tIns="335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pCPU</a:t>
              </a:r>
              <a:endParaRPr b="0" i="0" sz="10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5"/>
            <p:cNvSpPr txBox="1"/>
            <p:nvPr/>
          </p:nvSpPr>
          <p:spPr>
            <a:xfrm>
              <a:off x="6967228" y="1755900"/>
              <a:ext cx="1729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500" lIns="67000" spcFirstLastPara="1" rIns="67000" wrap="square" tIns="335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pCPU</a:t>
              </a:r>
              <a:endParaRPr b="0" i="0" sz="10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4678755" y="2151365"/>
              <a:ext cx="1567200" cy="603600"/>
            </a:xfrm>
            <a:prstGeom prst="rect">
              <a:avLst/>
            </a:prstGeom>
            <a:gradFill>
              <a:gsLst>
                <a:gs pos="0">
                  <a:srgbClr val="00ABC0"/>
                </a:gs>
                <a:gs pos="100000">
                  <a:srgbClr val="94ECFD"/>
                </a:gs>
              </a:gsLst>
              <a:lin ang="16200000" scaled="0"/>
            </a:gradFill>
            <a:ln cap="flat" cmpd="sng" w="6975">
              <a:solidFill>
                <a:srgbClr val="0096A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6" rotWithShape="0" dir="5400000" dist="16857">
                <a:srgbClr val="000000">
                  <a:alpha val="34901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vCPU</a:t>
              </a:r>
              <a:endParaRPr sz="1026"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6801818" y="2151365"/>
              <a:ext cx="1830600" cy="603600"/>
            </a:xfrm>
            <a:prstGeom prst="rect">
              <a:avLst/>
            </a:prstGeom>
            <a:gradFill>
              <a:gsLst>
                <a:gs pos="0">
                  <a:srgbClr val="00ABC0"/>
                </a:gs>
                <a:gs pos="100000">
                  <a:srgbClr val="94ECFD"/>
                </a:gs>
              </a:gsLst>
              <a:lin ang="16200000" scaled="0"/>
            </a:gradFill>
            <a:ln cap="flat" cmpd="sng" w="6975">
              <a:solidFill>
                <a:srgbClr val="0096A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6" rotWithShape="0" dir="5400000" dist="16857">
                <a:srgbClr val="000000">
                  <a:alpha val="34901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vCPU</a:t>
              </a:r>
              <a:endParaRPr sz="1026"/>
            </a:p>
          </p:txBody>
        </p:sp>
      </p:grpSp>
      <p:grpSp>
        <p:nvGrpSpPr>
          <p:cNvPr id="460" name="Google Shape;460;p15"/>
          <p:cNvGrpSpPr/>
          <p:nvPr/>
        </p:nvGrpSpPr>
        <p:grpSpPr>
          <a:xfrm>
            <a:off x="604227" y="3334036"/>
            <a:ext cx="3406342" cy="987371"/>
            <a:chOff x="4184541" y="3217040"/>
            <a:chExt cx="4647758" cy="1347211"/>
          </a:xfrm>
        </p:grpSpPr>
        <p:sp>
          <p:nvSpPr>
            <p:cNvPr id="461" name="Google Shape;461;p15"/>
            <p:cNvSpPr/>
            <p:nvPr/>
          </p:nvSpPr>
          <p:spPr>
            <a:xfrm>
              <a:off x="4184541" y="3217040"/>
              <a:ext cx="4647758" cy="1347211"/>
            </a:xfrm>
            <a:prstGeom prst="rect">
              <a:avLst/>
            </a:prstGeom>
            <a:solidFill>
              <a:schemeClr val="accent1"/>
            </a:solidFill>
            <a:ln cap="flat" cmpd="sng" w="18600">
              <a:solidFill>
                <a:srgbClr val="6B48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4314135" y="3243583"/>
              <a:ext cx="2224007" cy="1205591"/>
            </a:xfrm>
            <a:prstGeom prst="rect">
              <a:avLst/>
            </a:prstGeom>
            <a:solidFill>
              <a:schemeClr val="accent5"/>
            </a:solidFill>
            <a:ln cap="flat" cmpd="sng" w="279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9" rotWithShape="0" dir="5400000" dist="14659">
                <a:srgbClr val="000000">
                  <a:alpha val="38039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5"/>
            <p:cNvSpPr txBox="1"/>
            <p:nvPr/>
          </p:nvSpPr>
          <p:spPr>
            <a:xfrm>
              <a:off x="4678755" y="3323008"/>
              <a:ext cx="172979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500" lIns="67000" spcFirstLastPara="1" rIns="67000" wrap="square" tIns="335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pCPU</a:t>
              </a:r>
              <a:endParaRPr b="0" i="0" sz="10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4463510" y="3755464"/>
              <a:ext cx="962628" cy="603622"/>
            </a:xfrm>
            <a:prstGeom prst="rect">
              <a:avLst/>
            </a:prstGeom>
            <a:gradFill>
              <a:gsLst>
                <a:gs pos="0">
                  <a:srgbClr val="00ABC0"/>
                </a:gs>
                <a:gs pos="100000">
                  <a:srgbClr val="94ECFD"/>
                </a:gs>
              </a:gsLst>
              <a:lin ang="16200000" scaled="0"/>
            </a:gradFill>
            <a:ln cap="flat" cmpd="sng" w="6975">
              <a:solidFill>
                <a:srgbClr val="0096A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9" rotWithShape="0" dir="5400000" dist="16858">
                <a:srgbClr val="000000">
                  <a:alpha val="34901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vCPU</a:t>
              </a:r>
              <a:endParaRPr sz="1026"/>
            </a:p>
          </p:txBody>
        </p:sp>
        <p:sp>
          <p:nvSpPr>
            <p:cNvPr id="465" name="Google Shape;465;p15"/>
            <p:cNvSpPr/>
            <p:nvPr/>
          </p:nvSpPr>
          <p:spPr>
            <a:xfrm>
              <a:off x="5500826" y="3763314"/>
              <a:ext cx="962628" cy="603622"/>
            </a:xfrm>
            <a:prstGeom prst="rect">
              <a:avLst/>
            </a:prstGeom>
            <a:gradFill>
              <a:gsLst>
                <a:gs pos="0">
                  <a:srgbClr val="00ABC0"/>
                </a:gs>
                <a:gs pos="100000">
                  <a:srgbClr val="94ECFD"/>
                </a:gs>
              </a:gsLst>
              <a:lin ang="16200000" scaled="0"/>
            </a:gradFill>
            <a:ln cap="flat" cmpd="sng" w="6975">
              <a:solidFill>
                <a:srgbClr val="0096A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9" rotWithShape="0" dir="5400000" dist="16858">
                <a:srgbClr val="000000">
                  <a:alpha val="34901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vCPU</a:t>
              </a:r>
              <a:endParaRPr sz="1026"/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6573217" y="3255413"/>
              <a:ext cx="2224007" cy="1205591"/>
            </a:xfrm>
            <a:prstGeom prst="rect">
              <a:avLst/>
            </a:prstGeom>
            <a:solidFill>
              <a:schemeClr val="accent5"/>
            </a:solidFill>
            <a:ln cap="flat" cmpd="sng" w="279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9" rotWithShape="0" dir="5400000" dist="14659">
                <a:srgbClr val="000000">
                  <a:alpha val="38039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5"/>
            <p:cNvSpPr txBox="1"/>
            <p:nvPr/>
          </p:nvSpPr>
          <p:spPr>
            <a:xfrm>
              <a:off x="6937837" y="3334838"/>
              <a:ext cx="172979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500" lIns="67000" spcFirstLastPara="1" rIns="67000" wrap="square" tIns="335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pCPU</a:t>
              </a:r>
              <a:endParaRPr b="0" i="0" sz="10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6722592" y="3767294"/>
              <a:ext cx="962628" cy="603622"/>
            </a:xfrm>
            <a:prstGeom prst="rect">
              <a:avLst/>
            </a:prstGeom>
            <a:gradFill>
              <a:gsLst>
                <a:gs pos="0">
                  <a:srgbClr val="00ABC0"/>
                </a:gs>
                <a:gs pos="100000">
                  <a:srgbClr val="94ECFD"/>
                </a:gs>
              </a:gsLst>
              <a:lin ang="16200000" scaled="0"/>
            </a:gradFill>
            <a:ln cap="flat" cmpd="sng" w="6975">
              <a:solidFill>
                <a:srgbClr val="0096A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9" rotWithShape="0" dir="5400000" dist="16858">
                <a:srgbClr val="000000">
                  <a:alpha val="34901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vCPU</a:t>
              </a:r>
              <a:endParaRPr sz="1026"/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7759908" y="3775144"/>
              <a:ext cx="962628" cy="603622"/>
            </a:xfrm>
            <a:prstGeom prst="rect">
              <a:avLst/>
            </a:prstGeom>
            <a:gradFill>
              <a:gsLst>
                <a:gs pos="0">
                  <a:srgbClr val="00ABC0"/>
                </a:gs>
                <a:gs pos="100000">
                  <a:srgbClr val="94ECFD"/>
                </a:gs>
              </a:gsLst>
              <a:lin ang="16200000" scaled="0"/>
            </a:gradFill>
            <a:ln cap="flat" cmpd="sng" w="6975">
              <a:solidFill>
                <a:srgbClr val="0096A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9319" rotWithShape="0" dir="5400000" dist="16858">
                <a:srgbClr val="000000">
                  <a:alpha val="34901"/>
                </a:srgbClr>
              </a:outerShdw>
            </a:effectLst>
          </p:spPr>
          <p:txBody>
            <a:bodyPr anchorCtr="0" anchor="ctr" bIns="33500" lIns="67000" spcFirstLastPara="1" rIns="67000" wrap="square" tIns="33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2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vCPU</a:t>
              </a:r>
              <a:endParaRPr sz="1026"/>
            </a:p>
          </p:txBody>
        </p:sp>
      </p:grpSp>
      <p:sp>
        <p:nvSpPr>
          <p:cNvPr id="470" name="Google Shape;470;p15"/>
          <p:cNvSpPr txBox="1"/>
          <p:nvPr/>
        </p:nvSpPr>
        <p:spPr>
          <a:xfrm>
            <a:off x="1334857" y="1385840"/>
            <a:ext cx="18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 – static pinning</a:t>
            </a:r>
            <a:endParaRPr/>
          </a:p>
        </p:txBody>
      </p:sp>
      <p:sp>
        <p:nvSpPr>
          <p:cNvPr id="471" name="Google Shape;471;p15"/>
          <p:cNvSpPr txBox="1"/>
          <p:nvPr/>
        </p:nvSpPr>
        <p:spPr>
          <a:xfrm>
            <a:off x="1897468" y="3028578"/>
            <a:ext cx="76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Credit2</a:t>
            </a:r>
            <a:endParaRPr/>
          </a:p>
        </p:txBody>
      </p:sp>
      <p:pic>
        <p:nvPicPr>
          <p:cNvPr id="472" name="Google Shape;4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5750" y="1756962"/>
            <a:ext cx="3611001" cy="25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5"/>
          <p:cNvSpPr txBox="1"/>
          <p:nvPr/>
        </p:nvSpPr>
        <p:spPr>
          <a:xfrm>
            <a:off x="6068200" y="1385850"/>
            <a:ext cx="134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ARINC653</a:t>
            </a:r>
            <a:endParaRPr/>
          </a:p>
        </p:txBody>
      </p:sp>
      <p:sp>
        <p:nvSpPr>
          <p:cNvPr id="474" name="Google Shape;474;p15"/>
          <p:cNvSpPr txBox="1"/>
          <p:nvPr/>
        </p:nvSpPr>
        <p:spPr>
          <a:xfrm>
            <a:off x="5875225" y="4330275"/>
            <a:ext cx="247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(</a:t>
            </a:r>
            <a:r>
              <a:rPr lang="en-GB" sz="700"/>
              <a:t>Partition == Domain)</a:t>
            </a:r>
            <a:endParaRPr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6"/>
          <p:cNvSpPr txBox="1"/>
          <p:nvPr>
            <p:ph type="title"/>
          </p:nvPr>
        </p:nvSpPr>
        <p:spPr>
          <a:xfrm>
            <a:off x="311700" y="10419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MPU (Armv8-R) support</a:t>
            </a:r>
            <a:endParaRPr/>
          </a:p>
        </p:txBody>
      </p:sp>
      <p:sp>
        <p:nvSpPr>
          <p:cNvPr id="480" name="Google Shape;480;p16"/>
          <p:cNvSpPr txBox="1"/>
          <p:nvPr>
            <p:ph idx="1" type="body"/>
          </p:nvPr>
        </p:nvSpPr>
        <p:spPr>
          <a:xfrm>
            <a:off x="0" y="614016"/>
            <a:ext cx="59805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 Memory Protection Unit defines protection regions in the address map​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MPU address translation is the process of flat mapping VA to PA​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protection region is defined by:​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 base address​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 limit address​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 set of access permissions and memory attributes​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protection region has a minimum size of 64B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architecture allows maximum 255 regions.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MPU is supported in Zephyr, Qemu. Xen is WIP</a:t>
            </a:r>
            <a:endParaRPr/>
          </a:p>
        </p:txBody>
      </p:sp>
      <p:sp>
        <p:nvSpPr>
          <p:cNvPr id="481" name="Google Shape;481;p16"/>
          <p:cNvSpPr txBox="1"/>
          <p:nvPr/>
        </p:nvSpPr>
        <p:spPr>
          <a:xfrm>
            <a:off x="5655654" y="2828860"/>
            <a:ext cx="3297600" cy="511500"/>
          </a:xfrm>
          <a:prstGeom prst="rect">
            <a:avLst/>
          </a:prstGeom>
          <a:gradFill>
            <a:gsLst>
              <a:gs pos="0">
                <a:srgbClr val="BBBBBB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Xen V8R</a:t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5655653" y="3511052"/>
            <a:ext cx="3297600" cy="35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rgbClr val="BBBBBB"/>
              </a:gs>
            </a:gsLst>
            <a:lin ang="16198662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Qemu V8R</a:t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5655653" y="1157848"/>
            <a:ext cx="1338000" cy="1565400"/>
          </a:xfrm>
          <a:prstGeom prst="rect">
            <a:avLst/>
          </a:prstGeom>
          <a:gradFill>
            <a:gsLst>
              <a:gs pos="0">
                <a:srgbClr val="9CE7F5"/>
              </a:gs>
              <a:gs pos="35000">
                <a:srgbClr val="BBEAF6"/>
              </a:gs>
              <a:gs pos="100000">
                <a:srgbClr val="E4F9FC"/>
              </a:gs>
            </a:gsLst>
            <a:lin ang="16200000" scaled="0"/>
          </a:gradFill>
          <a:ln cap="flat" cmpd="sng" w="9525">
            <a:solidFill>
              <a:srgbClr val="0096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Zephyr as domU with device1 assigned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(EL1 – MPU)</a:t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7520617" y="1157847"/>
            <a:ext cx="1338000" cy="1565400"/>
          </a:xfrm>
          <a:prstGeom prst="rect">
            <a:avLst/>
          </a:prstGeom>
          <a:gradFill>
            <a:gsLst>
              <a:gs pos="0">
                <a:srgbClr val="FFD17D"/>
              </a:gs>
              <a:gs pos="35000">
                <a:srgbClr val="FFDCA3"/>
              </a:gs>
              <a:gs pos="100000">
                <a:srgbClr val="FFF1D8"/>
              </a:gs>
            </a:gsLst>
            <a:lin ang="16200000" scaled="0"/>
          </a:gradFill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Zephyr as domU with device 2 assigned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(EL1 – MPU)</a:t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6151599" y="764696"/>
            <a:ext cx="312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Pure static configuration</a:t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5989293" y="2847297"/>
            <a:ext cx="736200" cy="3486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pCPU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7926920" y="2859873"/>
            <a:ext cx="736200" cy="3486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pCPU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6"/>
          <p:cNvSpPr txBox="1"/>
          <p:nvPr/>
        </p:nvSpPr>
        <p:spPr>
          <a:xfrm>
            <a:off x="444340" y="4161512"/>
            <a:ext cx="647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https://patchew.org/Xen/20260408135531.1744388-1-luca.fancellu@arm.com/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489" name="Google Shape;489;p16"/>
          <p:cNvSpPr txBox="1"/>
          <p:nvPr/>
        </p:nvSpPr>
        <p:spPr>
          <a:xfrm>
            <a:off x="9624675" y="4485375"/>
            <a:ext cx="72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"/>
          <p:cNvSpPr txBox="1"/>
          <p:nvPr/>
        </p:nvSpPr>
        <p:spPr>
          <a:xfrm>
            <a:off x="257456" y="11956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MISRA C adoption</a:t>
            </a:r>
            <a:endParaRPr b="0" i="0" sz="2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7"/>
          <p:cNvSpPr txBox="1"/>
          <p:nvPr/>
        </p:nvSpPr>
        <p:spPr>
          <a:xfrm>
            <a:off x="186948" y="768604"/>
            <a:ext cx="7886700" cy="3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Directives 1.1, 2.1, 4.1, 4.7, 4.10, 4.11, 4.14 adopted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 sz="1500">
                <a:solidFill>
                  <a:srgbClr val="434343"/>
                </a:solidFill>
              </a:rPr>
              <a:t>20</a:t>
            </a:r>
            <a:r>
              <a:rPr b="0" i="0" lang="en-GB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MISRA C rules adopted</a:t>
            </a:r>
            <a:endParaRPr/>
          </a:p>
          <a:p>
            <a:pPr indent="-317500" lvl="1" marL="9144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b="0" i="0" lang="en-GB" sz="1100" u="sng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https://gitlab.com/xen-project/xen/-/blob/staging/docs/misra/rules.rst?ref_type=heads</a:t>
            </a:r>
            <a:endParaRPr b="0" i="0" sz="11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Violations are fixed. Unfixed violations are documented</a:t>
            </a:r>
            <a:endParaRPr/>
          </a:p>
          <a:p>
            <a:pPr indent="-317500" lvl="1" marL="9144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b="0" i="0" lang="en-GB" sz="1100" u="sng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https://gitlab.com/xen-project/xen/-/blob/staging/docs/misra/documenting-violations.rst?ref_type=heads</a:t>
            </a:r>
            <a:endParaRPr b="0" i="0" sz="11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ÉCLAIR MISRA C scanner used in upstream CI loop.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Every patch submission goes through the MISRA C scans to avoid regressions.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Contributors from Bugseng, AMD, EPAM, Cloud, SUSE are actively fixing violations in the upstream Xen for arm64 and x86 platforms.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1" i="0" lang="en-GB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 language extensions and the assumptions on the toolchain (GCC) are documented</a:t>
            </a:r>
            <a:endParaRPr/>
          </a:p>
          <a:p>
            <a:pPr indent="-317500" lvl="1" marL="9144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b="0" i="0" lang="en-GB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https://gitlab.com/xen-project/xen/-/blob/staging/docs/misra/C-language-toolchain.rst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5E1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Key safety certification artifacts</a:t>
            </a:r>
            <a:endParaRPr/>
          </a:p>
        </p:txBody>
      </p:sp>
      <p:sp>
        <p:nvSpPr>
          <p:cNvPr id="501" name="Google Shape;501;p21"/>
          <p:cNvSpPr txBox="1"/>
          <p:nvPr>
            <p:ph idx="1" type="body"/>
          </p:nvPr>
        </p:nvSpPr>
        <p:spPr>
          <a:xfrm>
            <a:off x="311700" y="1152475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Requirements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Requirements are written as per NASA format. 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Architecture specs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Tests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Traceability report using openfasttrace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0b5701d05_4_0"/>
          <p:cNvSpPr txBox="1"/>
          <p:nvPr>
            <p:ph type="title"/>
          </p:nvPr>
        </p:nvSpPr>
        <p:spPr>
          <a:xfrm>
            <a:off x="311700" y="-584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Key Safety certification artifacts</a:t>
            </a:r>
            <a:endParaRPr/>
          </a:p>
        </p:txBody>
      </p:sp>
      <p:pic>
        <p:nvPicPr>
          <p:cNvPr id="507" name="Google Shape;507;g3e0b5701d05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550" y="373075"/>
            <a:ext cx="7771752" cy="450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2"/>
          <p:cNvSpPr txBox="1"/>
          <p:nvPr>
            <p:ph type="title"/>
          </p:nvPr>
        </p:nvSpPr>
        <p:spPr>
          <a:xfrm>
            <a:off x="156717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Market Requirements</a:t>
            </a:r>
            <a:endParaRPr/>
          </a:p>
        </p:txBody>
      </p:sp>
      <p:sp>
        <p:nvSpPr>
          <p:cNvPr id="513" name="Google Shape;513;p22"/>
          <p:cNvSpPr txBox="1"/>
          <p:nvPr/>
        </p:nvSpPr>
        <p:spPr>
          <a:xfrm>
            <a:off x="0" y="63114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Identify the scope of the safety certification for Xen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Defines the expectations of Xen for automotive and embedded use cases</a:t>
            </a:r>
            <a:endParaRPr/>
          </a:p>
          <a:p>
            <a:pPr indent="-317500" lvl="1" marL="9144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ourier New"/>
              <a:buChar char="o"/>
            </a:pPr>
            <a:r>
              <a:rPr b="0" i="0" lang="en-GB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So, this is mostly of interest to the product marketing or FAE who have expectations from a hypervisor.</a:t>
            </a:r>
            <a:endParaRPr/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Written with a high-level view of the system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286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4" name="Google Shape;514;p22"/>
          <p:cNvGraphicFramePr/>
          <p:nvPr/>
        </p:nvGraphicFramePr>
        <p:xfrm>
          <a:off x="744008" y="25421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{58F226F6-269B-4F91-8E04-4BE058F00004}</a:tableStyleId>
              </a:tblPr>
              <a:tblGrid>
                <a:gridCol w="3389525"/>
                <a:gridCol w="4262650"/>
              </a:tblGrid>
              <a:tr h="27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34300" marB="34300" marR="68575" marL="68575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Static VM definition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Xen shall specify the resources required to boot and run safe and non-safe VMs.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Run Arm64 and AMD-x86 VMs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Xen shall run Arm64 and AMD x86 VMs.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/>
                </a:tc>
              </a:tr>
              <a:tr h="8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VM device assignment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Xen shall assign devices to each VM. For e.g.: it should be able to assign GPU to VM1, MMC to VM2. Only the VM assigned to a device shall have exclusive access to the device.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3"/>
          <p:cNvSpPr txBox="1"/>
          <p:nvPr>
            <p:ph type="title"/>
          </p:nvPr>
        </p:nvSpPr>
        <p:spPr>
          <a:xfrm>
            <a:off x="311700" y="-5867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Product Requirements</a:t>
            </a:r>
            <a:endParaRPr/>
          </a:p>
        </p:txBody>
      </p:sp>
      <p:sp>
        <p:nvSpPr>
          <p:cNvPr id="520" name="Google Shape;520;p23"/>
          <p:cNvSpPr txBox="1"/>
          <p:nvPr>
            <p:ph idx="1" type="body"/>
          </p:nvPr>
        </p:nvSpPr>
        <p:spPr>
          <a:xfrm>
            <a:off x="311700" y="514029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400"/>
              <a:t>Product Requirements explain how Market Requirements are fulfilled by Xen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400"/>
              <a:t>Product Requirements are Xen specific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en-GB"/>
              <a:t>So, this of interest to Xen architects who understand how the requirements are fulfilled by Xen.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400"/>
              <a:t>Still written with a high-level view of the system</a:t>
            </a:r>
            <a:endParaRPr sz="1400"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400"/>
              <a:t>Product Requirements can sometimes be linked to more than one Market Requirement</a:t>
            </a:r>
            <a:endParaRPr/>
          </a:p>
          <a:p>
            <a:pPr indent="-228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grpSp>
        <p:nvGrpSpPr>
          <p:cNvPr id="521" name="Google Shape;521;p23"/>
          <p:cNvGrpSpPr/>
          <p:nvPr/>
        </p:nvGrpSpPr>
        <p:grpSpPr>
          <a:xfrm>
            <a:off x="413999" y="2790890"/>
            <a:ext cx="8316025" cy="1467703"/>
            <a:chOff x="573799" y="4263840"/>
            <a:chExt cx="11088034" cy="1956937"/>
          </a:xfrm>
        </p:grpSpPr>
        <p:sp>
          <p:nvSpPr>
            <p:cNvPr id="522" name="Google Shape;522;p23"/>
            <p:cNvSpPr/>
            <p:nvPr/>
          </p:nvSpPr>
          <p:spPr>
            <a:xfrm>
              <a:off x="573799" y="4263840"/>
              <a:ext cx="1634400" cy="1108800"/>
            </a:xfrm>
            <a:prstGeom prst="rect">
              <a:avLst/>
            </a:prstGeom>
            <a:solidFill>
              <a:srgbClr val="005594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9725" lIns="137150" spcFirstLastPara="1" rIns="137150" wrap="square" tIns="109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Run ARM and AMD x86 VMs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3570233" y="4264827"/>
              <a:ext cx="8091600" cy="720000"/>
            </a:xfrm>
            <a:prstGeom prst="rect">
              <a:avLst/>
            </a:prstGeom>
            <a:solidFill>
              <a:srgbClr val="0075CB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9725" lIns="137150" spcFirstLastPara="1" rIns="137150" wrap="square" tIns="109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5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Emulated UART</a:t>
              </a:r>
              <a:endPara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Xen shall emulate UART on behalf of the domains. </a:t>
              </a:r>
              <a:endPara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3"/>
            <p:cNvSpPr/>
            <p:nvPr/>
          </p:nvSpPr>
          <p:spPr>
            <a:xfrm>
              <a:off x="3565963" y="5348377"/>
              <a:ext cx="8091600" cy="872400"/>
            </a:xfrm>
            <a:prstGeom prst="rect">
              <a:avLst/>
            </a:prstGeom>
            <a:solidFill>
              <a:srgbClr val="0075CB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9725" lIns="137150" spcFirstLastPara="1" rIns="137150" wrap="square" tIns="109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Emulated Timer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Xen </a:t>
              </a:r>
              <a:r>
                <a:rPr lang="en-GB" sz="1050">
                  <a:solidFill>
                    <a:srgbClr val="FFFFFF"/>
                  </a:solidFill>
                </a:rPr>
                <a:t>shall </a:t>
              </a:r>
              <a:r>
                <a:rPr b="0" i="0" lang="en-GB" sz="1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emulate timer on behalf of domains.</a:t>
              </a:r>
              <a:endPara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5" name="Google Shape;525;p23"/>
            <p:cNvCxnSpPr/>
            <p:nvPr/>
          </p:nvCxnSpPr>
          <p:spPr>
            <a:xfrm>
              <a:off x="2211113" y="4650425"/>
              <a:ext cx="1340100" cy="10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26" name="Google Shape;526;p23"/>
            <p:cNvCxnSpPr/>
            <p:nvPr/>
          </p:nvCxnSpPr>
          <p:spPr>
            <a:xfrm>
              <a:off x="2205857" y="5007776"/>
              <a:ext cx="1345200" cy="86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4"/>
          <p:cNvSpPr txBox="1"/>
          <p:nvPr>
            <p:ph type="title"/>
          </p:nvPr>
        </p:nvSpPr>
        <p:spPr>
          <a:xfrm>
            <a:off x="179965" y="-819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1 Product Requirements 🡪 N Software Safety Requirements</a:t>
            </a:r>
            <a:endParaRPr/>
          </a:p>
        </p:txBody>
      </p:sp>
      <p:cxnSp>
        <p:nvCxnSpPr>
          <p:cNvPr id="532" name="Google Shape;532;p24"/>
          <p:cNvCxnSpPr/>
          <p:nvPr/>
        </p:nvCxnSpPr>
        <p:spPr>
          <a:xfrm>
            <a:off x="2206595" y="1055142"/>
            <a:ext cx="1005051" cy="7883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533" name="Google Shape;533;p24"/>
          <p:cNvSpPr/>
          <p:nvPr/>
        </p:nvSpPr>
        <p:spPr>
          <a:xfrm>
            <a:off x="580962" y="890629"/>
            <a:ext cx="1593744" cy="334906"/>
          </a:xfrm>
          <a:prstGeom prst="rect">
            <a:avLst/>
          </a:prstGeom>
          <a:solidFill>
            <a:srgbClr val="005EA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Emulated Timer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3211894" y="826787"/>
            <a:ext cx="5620406" cy="651376"/>
          </a:xfrm>
          <a:prstGeom prst="rect">
            <a:avLst/>
          </a:prstGeom>
          <a:solidFill>
            <a:srgbClr val="0075CB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Probe the Generic Timer device tree node from a domain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Xen shall generate a device tree node for the Generic Timer (in accordance to ARM architected timer device tree binding [2]) to allow domains to probe it.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4"/>
          <p:cNvSpPr/>
          <p:nvPr/>
        </p:nvSpPr>
        <p:spPr>
          <a:xfrm>
            <a:off x="3211893" y="1689949"/>
            <a:ext cx="5620406" cy="651376"/>
          </a:xfrm>
          <a:prstGeom prst="rect">
            <a:avLst/>
          </a:prstGeom>
          <a:solidFill>
            <a:srgbClr val="0075CB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system counter frequency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Xen shall enable domain to read the frequency of the system counter (either via CNTFRQ_EL0 register or "clock-frequency" device tree property if present).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3211894" y="2553111"/>
            <a:ext cx="5620406" cy="828022"/>
          </a:xfrm>
          <a:prstGeom prst="rect">
            <a:avLst/>
          </a:prstGeom>
          <a:solidFill>
            <a:srgbClr val="0075CB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Access virtual timer from a domain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Xen shall enable domain to access and make use of the virtual timer by accessing the following system registers: CNTVCT_EL0, CNTV_CTL_EL0, CNTV_CVAL_EL0, CNTV_TVAL_EL0.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4"/>
          <p:cNvSpPr/>
          <p:nvPr/>
        </p:nvSpPr>
        <p:spPr>
          <a:xfrm>
            <a:off x="3211893" y="3509971"/>
            <a:ext cx="5620406" cy="659116"/>
          </a:xfrm>
          <a:prstGeom prst="rect">
            <a:avLst/>
          </a:prstGeom>
          <a:solidFill>
            <a:srgbClr val="0075CB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Trigger the physical timer interrupt from a domain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Xen shall enable domain to program the physical timer to generate the interrupt when the asserted condition is met.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3211892" y="4307024"/>
            <a:ext cx="5620406" cy="645998"/>
          </a:xfrm>
          <a:prstGeom prst="rect">
            <a:avLst/>
          </a:prstGeom>
          <a:solidFill>
            <a:srgbClr val="0075CB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Trigger the virtual timer interrupt from a domain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Xen shall enable domain to program the virtual timer to generate the interrupt when the asserted condition is met.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24"/>
          <p:cNvCxnSpPr/>
          <p:nvPr/>
        </p:nvCxnSpPr>
        <p:spPr>
          <a:xfrm flipH="1">
            <a:off x="2543091" y="1054846"/>
            <a:ext cx="5715" cy="35833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24"/>
          <p:cNvCxnSpPr/>
          <p:nvPr/>
        </p:nvCxnSpPr>
        <p:spPr>
          <a:xfrm>
            <a:off x="2541662" y="200167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541" name="Google Shape;541;p24"/>
          <p:cNvCxnSpPr/>
          <p:nvPr/>
        </p:nvCxnSpPr>
        <p:spPr>
          <a:xfrm>
            <a:off x="2541662" y="2938392"/>
            <a:ext cx="674370" cy="1143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542" name="Google Shape;542;p24"/>
          <p:cNvCxnSpPr/>
          <p:nvPr/>
        </p:nvCxnSpPr>
        <p:spPr>
          <a:xfrm>
            <a:off x="2541662" y="3844488"/>
            <a:ext cx="691515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543" name="Google Shape;543;p24"/>
          <p:cNvCxnSpPr/>
          <p:nvPr/>
        </p:nvCxnSpPr>
        <p:spPr>
          <a:xfrm>
            <a:off x="2541662" y="4619577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"/>
          <p:cNvSpPr txBox="1"/>
          <p:nvPr>
            <p:ph type="title"/>
          </p:nvPr>
        </p:nvSpPr>
        <p:spPr>
          <a:xfrm>
            <a:off x="13347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Characteristics of Software Safety Requirements</a:t>
            </a:r>
            <a:endParaRPr/>
          </a:p>
        </p:txBody>
      </p:sp>
      <p:sp>
        <p:nvSpPr>
          <p:cNvPr id="549" name="Google Shape;549;p25"/>
          <p:cNvSpPr txBox="1"/>
          <p:nvPr>
            <p:ph idx="1" type="body"/>
          </p:nvPr>
        </p:nvSpPr>
        <p:spPr>
          <a:xfrm>
            <a:off x="311700" y="656529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 requirements are written in plain English, from the perspective of what Xen is expected to fulfil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 software safety requirements (SSR) are expected to be the most granular form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Engineers are expected to refer to a SSR (and architecture spec) to write a test to validate it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en-GB"/>
              <a:t>This is of interest to the subsystem maintainers or folks working on specific parts of Xen (eg generic timer).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Each SSR should be tested independently 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SSR should be unambiguous, complete, consistent, correct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SSR should be traceable all the way to market requirements</a:t>
            </a:r>
            <a:endParaRPr/>
          </a:p>
          <a:p>
            <a:pPr indent="-228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6"/>
          <p:cNvSpPr txBox="1"/>
          <p:nvPr>
            <p:ph type="title"/>
          </p:nvPr>
        </p:nvSpPr>
        <p:spPr>
          <a:xfrm>
            <a:off x="125720" y="-1006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Organizing the software safety requirements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4003288" y="4341716"/>
            <a:ext cx="442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Upstreamed - ~60 requirements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In flight -  ~400 requirements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343725" y="637192"/>
            <a:ext cx="2628300" cy="5727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Domain Creation</a:t>
            </a:r>
            <a:endParaRPr/>
          </a:p>
        </p:txBody>
      </p:sp>
      <p:sp>
        <p:nvSpPr>
          <p:cNvPr id="557" name="Google Shape;557;p26"/>
          <p:cNvSpPr/>
          <p:nvPr/>
        </p:nvSpPr>
        <p:spPr>
          <a:xfrm>
            <a:off x="343725" y="1619592"/>
            <a:ext cx="2628300" cy="5727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Domain Fully </a:t>
            </a:r>
            <a:r>
              <a:rPr lang="en-GB"/>
              <a:t>Emulated</a:t>
            </a:r>
            <a:endParaRPr/>
          </a:p>
        </p:txBody>
      </p:sp>
      <p:sp>
        <p:nvSpPr>
          <p:cNvPr id="558" name="Google Shape;558;p26"/>
          <p:cNvSpPr/>
          <p:nvPr/>
        </p:nvSpPr>
        <p:spPr>
          <a:xfrm>
            <a:off x="381452" y="2652308"/>
            <a:ext cx="2628300" cy="5727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Domain Partially Emulated</a:t>
            </a:r>
            <a:endParaRPr/>
          </a:p>
        </p:txBody>
      </p:sp>
      <p:sp>
        <p:nvSpPr>
          <p:cNvPr id="559" name="Google Shape;559;p26"/>
          <p:cNvSpPr/>
          <p:nvPr/>
        </p:nvSpPr>
        <p:spPr>
          <a:xfrm>
            <a:off x="381452" y="3722739"/>
            <a:ext cx="2628300" cy="5727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Hypercall</a:t>
            </a:r>
            <a:endParaRPr/>
          </a:p>
        </p:txBody>
      </p:sp>
      <p:sp>
        <p:nvSpPr>
          <p:cNvPr id="560" name="Google Shape;560;p26"/>
          <p:cNvSpPr/>
          <p:nvPr/>
        </p:nvSpPr>
        <p:spPr>
          <a:xfrm>
            <a:off x="3426267" y="637192"/>
            <a:ext cx="2628300" cy="5727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Domain Firmware</a:t>
            </a:r>
            <a:endParaRPr/>
          </a:p>
        </p:txBody>
      </p:sp>
      <p:sp>
        <p:nvSpPr>
          <p:cNvPr id="561" name="Google Shape;561;p26"/>
          <p:cNvSpPr/>
          <p:nvPr/>
        </p:nvSpPr>
        <p:spPr>
          <a:xfrm>
            <a:off x="3451419" y="1632163"/>
            <a:ext cx="2628300" cy="5727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Instruction emulation</a:t>
            </a:r>
            <a:endParaRPr/>
          </a:p>
        </p:txBody>
      </p:sp>
      <p:sp>
        <p:nvSpPr>
          <p:cNvPr id="562" name="Google Shape;562;p26"/>
          <p:cNvSpPr/>
          <p:nvPr/>
        </p:nvSpPr>
        <p:spPr>
          <a:xfrm>
            <a:off x="3528370" y="2627138"/>
            <a:ext cx="2628300" cy="5727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Physical resources</a:t>
            </a:r>
            <a:endParaRPr/>
          </a:p>
        </p:txBody>
      </p:sp>
      <p:sp>
        <p:nvSpPr>
          <p:cNvPr id="563" name="Google Shape;563;p26"/>
          <p:cNvSpPr/>
          <p:nvPr/>
        </p:nvSpPr>
        <p:spPr>
          <a:xfrm>
            <a:off x="3528370" y="3722738"/>
            <a:ext cx="2628300" cy="5727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Scheduling</a:t>
            </a:r>
            <a:endParaRPr/>
          </a:p>
        </p:txBody>
      </p:sp>
      <p:sp>
        <p:nvSpPr>
          <p:cNvPr id="564" name="Google Shape;564;p26"/>
          <p:cNvSpPr txBox="1"/>
          <p:nvPr/>
        </p:nvSpPr>
        <p:spPr>
          <a:xfrm>
            <a:off x="2255259" y="2221725"/>
            <a:ext cx="3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Domain Exposed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6357923" y="637192"/>
            <a:ext cx="2628300" cy="5727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Booting</a:t>
            </a:r>
            <a:endParaRPr/>
          </a:p>
        </p:txBody>
      </p:sp>
      <p:sp>
        <p:nvSpPr>
          <p:cNvPr id="566" name="Google Shape;566;p26"/>
          <p:cNvSpPr/>
          <p:nvPr/>
        </p:nvSpPr>
        <p:spPr>
          <a:xfrm>
            <a:off x="6447448" y="1632167"/>
            <a:ext cx="2628300" cy="5727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Firmware</a:t>
            </a:r>
            <a:endParaRPr/>
          </a:p>
        </p:txBody>
      </p:sp>
      <p:sp>
        <p:nvSpPr>
          <p:cNvPr id="567" name="Google Shape;567;p26"/>
          <p:cNvSpPr/>
          <p:nvPr/>
        </p:nvSpPr>
        <p:spPr>
          <a:xfrm>
            <a:off x="6515698" y="2627142"/>
            <a:ext cx="2628300" cy="5727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Physical resources</a:t>
            </a:r>
            <a:endParaRPr/>
          </a:p>
        </p:txBody>
      </p:sp>
      <p:sp>
        <p:nvSpPr>
          <p:cNvPr id="568" name="Google Shape;568;p26"/>
          <p:cNvSpPr txBox="1"/>
          <p:nvPr/>
        </p:nvSpPr>
        <p:spPr>
          <a:xfrm>
            <a:off x="7071789" y="2196560"/>
            <a:ext cx="19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Xen Internals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6447445" y="3722738"/>
            <a:ext cx="2628300" cy="5727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FFI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7"/>
          <p:cNvSpPr txBox="1"/>
          <p:nvPr>
            <p:ph type="title"/>
          </p:nvPr>
        </p:nvSpPr>
        <p:spPr>
          <a:xfrm>
            <a:off x="109672" y="-66944"/>
            <a:ext cx="85217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Assumption of Use</a:t>
            </a:r>
            <a:endParaRPr/>
          </a:p>
        </p:txBody>
      </p:sp>
      <p:grpSp>
        <p:nvGrpSpPr>
          <p:cNvPr id="575" name="Google Shape;575;p27"/>
          <p:cNvGrpSpPr/>
          <p:nvPr/>
        </p:nvGrpSpPr>
        <p:grpSpPr>
          <a:xfrm>
            <a:off x="2505976" y="1078357"/>
            <a:ext cx="4128475" cy="3568038"/>
            <a:chOff x="2067826" y="2031"/>
            <a:chExt cx="4128475" cy="3568038"/>
          </a:xfrm>
        </p:grpSpPr>
        <p:sp>
          <p:nvSpPr>
            <p:cNvPr id="576" name="Google Shape;576;p27"/>
            <p:cNvSpPr/>
            <p:nvPr/>
          </p:nvSpPr>
          <p:spPr>
            <a:xfrm>
              <a:off x="3536869" y="2031"/>
              <a:ext cx="1190389" cy="773753"/>
            </a:xfrm>
            <a:prstGeom prst="roundRect">
              <a:avLst>
                <a:gd fmla="val 16667" name="adj"/>
              </a:avLst>
            </a:prstGeom>
            <a:solidFill>
              <a:srgbClr val="FFAA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7"/>
            <p:cNvSpPr txBox="1"/>
            <p:nvPr/>
          </p:nvSpPr>
          <p:spPr>
            <a:xfrm>
              <a:off x="3574641" y="39803"/>
              <a:ext cx="1114845" cy="698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Hardware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7"/>
            <p:cNvSpPr/>
            <p:nvPr/>
          </p:nvSpPr>
          <p:spPr>
            <a:xfrm>
              <a:off x="2587421" y="388907"/>
              <a:ext cx="3089286" cy="3089286"/>
            </a:xfrm>
            <a:custGeom>
              <a:rect b="b" l="l" r="r" t="t"/>
              <a:pathLst>
                <a:path extrusionOk="0" h="120000" w="120000">
                  <a:moveTo>
                    <a:pt x="83437" y="4767"/>
                  </a:moveTo>
                  <a:cubicBezTo>
                    <a:pt x="94003" y="9250"/>
                    <a:pt x="103061" y="16670"/>
                    <a:pt x="109538" y="26147"/>
                  </a:cubicBezTo>
                </a:path>
              </a:pathLst>
            </a:custGeom>
            <a:noFill/>
            <a:ln cap="flat" cmpd="sng" w="9525">
              <a:solidFill>
                <a:srgbClr val="FFAA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7"/>
            <p:cNvSpPr/>
            <p:nvPr/>
          </p:nvSpPr>
          <p:spPr>
            <a:xfrm>
              <a:off x="5005912" y="1069353"/>
              <a:ext cx="1190389" cy="773753"/>
            </a:xfrm>
            <a:prstGeom prst="roundRect">
              <a:avLst>
                <a:gd fmla="val 16667" name="adj"/>
              </a:avLst>
            </a:prstGeom>
            <a:solidFill>
              <a:srgbClr val="FFAA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7"/>
            <p:cNvSpPr txBox="1"/>
            <p:nvPr/>
          </p:nvSpPr>
          <p:spPr>
            <a:xfrm>
              <a:off x="5043684" y="1107125"/>
              <a:ext cx="1114845" cy="698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Firmware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7"/>
            <p:cNvSpPr/>
            <p:nvPr/>
          </p:nvSpPr>
          <p:spPr>
            <a:xfrm>
              <a:off x="2587421" y="388907"/>
              <a:ext cx="3089286" cy="3089286"/>
            </a:xfrm>
            <a:custGeom>
              <a:rect b="b" l="l" r="r" t="t"/>
              <a:pathLst>
                <a:path extrusionOk="0" h="120000" w="120000">
                  <a:moveTo>
                    <a:pt x="119918" y="56870"/>
                  </a:moveTo>
                  <a:cubicBezTo>
                    <a:pt x="120590" y="69731"/>
                    <a:pt x="117106" y="82466"/>
                    <a:pt x="109981" y="93194"/>
                  </a:cubicBezTo>
                </a:path>
              </a:pathLst>
            </a:custGeom>
            <a:noFill/>
            <a:ln cap="flat" cmpd="sng" w="9525">
              <a:solidFill>
                <a:srgbClr val="FFAA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4444788" y="2796316"/>
              <a:ext cx="1190389" cy="773753"/>
            </a:xfrm>
            <a:prstGeom prst="roundRect">
              <a:avLst>
                <a:gd fmla="val 16667" name="adj"/>
              </a:avLst>
            </a:prstGeom>
            <a:solidFill>
              <a:srgbClr val="FFAA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7"/>
            <p:cNvSpPr txBox="1"/>
            <p:nvPr/>
          </p:nvSpPr>
          <p:spPr>
            <a:xfrm>
              <a:off x="4482560" y="2834088"/>
              <a:ext cx="1114845" cy="698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Bootloader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2587421" y="388907"/>
              <a:ext cx="3089286" cy="3089286"/>
            </a:xfrm>
            <a:custGeom>
              <a:rect b="b" l="l" r="r" t="t"/>
              <a:pathLst>
                <a:path extrusionOk="0" h="120000" w="120000">
                  <a:moveTo>
                    <a:pt x="71909" y="118806"/>
                  </a:moveTo>
                  <a:cubicBezTo>
                    <a:pt x="64049" y="120398"/>
                    <a:pt x="55950" y="120398"/>
                    <a:pt x="48090" y="118806"/>
                  </a:cubicBezTo>
                </a:path>
              </a:pathLst>
            </a:custGeom>
            <a:noFill/>
            <a:ln cap="flat" cmpd="sng" w="9525">
              <a:solidFill>
                <a:srgbClr val="FFAA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7"/>
            <p:cNvSpPr/>
            <p:nvPr/>
          </p:nvSpPr>
          <p:spPr>
            <a:xfrm>
              <a:off x="2628951" y="2796316"/>
              <a:ext cx="1190389" cy="773753"/>
            </a:xfrm>
            <a:prstGeom prst="roundRect">
              <a:avLst>
                <a:gd fmla="val 16667" name="adj"/>
              </a:avLst>
            </a:prstGeom>
            <a:solidFill>
              <a:srgbClr val="FFAA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7"/>
            <p:cNvSpPr txBox="1"/>
            <p:nvPr/>
          </p:nvSpPr>
          <p:spPr>
            <a:xfrm>
              <a:off x="2666723" y="2834088"/>
              <a:ext cx="1114845" cy="698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Domain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2587421" y="388907"/>
              <a:ext cx="3089286" cy="3089286"/>
            </a:xfrm>
            <a:custGeom>
              <a:rect b="b" l="l" r="r" t="t"/>
              <a:pathLst>
                <a:path extrusionOk="0" h="120000" w="120000">
                  <a:moveTo>
                    <a:pt x="10018" y="93194"/>
                  </a:moveTo>
                  <a:cubicBezTo>
                    <a:pt x="2893" y="82466"/>
                    <a:pt x="-591" y="69731"/>
                    <a:pt x="81" y="56870"/>
                  </a:cubicBezTo>
                </a:path>
              </a:pathLst>
            </a:custGeom>
            <a:noFill/>
            <a:ln cap="flat" cmpd="sng" w="9525">
              <a:solidFill>
                <a:srgbClr val="FFAA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2067826" y="1069353"/>
              <a:ext cx="1190389" cy="773753"/>
            </a:xfrm>
            <a:prstGeom prst="roundRect">
              <a:avLst>
                <a:gd fmla="val 16667" name="adj"/>
              </a:avLst>
            </a:prstGeom>
            <a:solidFill>
              <a:srgbClr val="FFAA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7"/>
            <p:cNvSpPr txBox="1"/>
            <p:nvPr/>
          </p:nvSpPr>
          <p:spPr>
            <a:xfrm>
              <a:off x="2105598" y="1107125"/>
              <a:ext cx="1114845" cy="698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Compiler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2587421" y="388907"/>
              <a:ext cx="3089286" cy="3089286"/>
            </a:xfrm>
            <a:custGeom>
              <a:rect b="b" l="l" r="r" t="t"/>
              <a:pathLst>
                <a:path extrusionOk="0" h="120000" w="120000">
                  <a:moveTo>
                    <a:pt x="10463" y="26147"/>
                  </a:moveTo>
                  <a:cubicBezTo>
                    <a:pt x="16939" y="16671"/>
                    <a:pt x="25998" y="9251"/>
                    <a:pt x="36564" y="4767"/>
                  </a:cubicBezTo>
                </a:path>
              </a:pathLst>
            </a:custGeom>
            <a:noFill/>
            <a:ln cap="flat" cmpd="sng" w="9525">
              <a:solidFill>
                <a:srgbClr val="FFAA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1" name="Google Shape;591;p27"/>
          <p:cNvSpPr txBox="1"/>
          <p:nvPr/>
        </p:nvSpPr>
        <p:spPr>
          <a:xfrm>
            <a:off x="3953436" y="2716306"/>
            <a:ext cx="133798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Xen relies on them to fulfill its functionality</a:t>
            </a: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260950" y="2160912"/>
            <a:ext cx="2313000" cy="7674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GCC version sh</a:t>
            </a:r>
            <a:r>
              <a:rPr lang="en-GB" sz="750">
                <a:solidFill>
                  <a:schemeClr val="dk1"/>
                </a:solidFill>
              </a:rPr>
              <a:t>all</a:t>
            </a: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 5.1 or later (arm64)</a:t>
            </a:r>
            <a:endParaRPr/>
          </a:p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GCC version sh</a:t>
            </a:r>
            <a:r>
              <a:rPr lang="en-GB" sz="750">
                <a:solidFill>
                  <a:schemeClr val="dk1"/>
                </a:solidFill>
              </a:rPr>
              <a:t>all</a:t>
            </a: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 4.1.2_20070115 or later (x86)</a:t>
            </a:r>
            <a:endParaRPr sz="750">
              <a:solidFill>
                <a:schemeClr val="dk1"/>
              </a:solidFill>
            </a:endParaRPr>
          </a:p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lang="en-GB" sz="750">
                <a:solidFill>
                  <a:schemeClr val="dk1"/>
                </a:solidFill>
              </a:rPr>
              <a:t>Arm Compiler for Embedded FuSa (based on LLVM 22.1)</a:t>
            </a:r>
            <a:endParaRPr sz="75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1"/>
              </a:solidFill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6016300" y="3859895"/>
            <a:ext cx="2313000" cy="907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Xen shall be loaded at Non-Secure EL2 exception level.</a:t>
            </a:r>
            <a:endParaRPr/>
          </a:p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Bootloader shall pass physical address of the host device tree in x0 register.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GB" sz="750">
                <a:solidFill>
                  <a:schemeClr val="dk1"/>
                </a:solidFill>
              </a:rPr>
              <a:t>DDR shall be initialized, DMA devices shall be stopped</a:t>
            </a:r>
            <a:endParaRPr sz="750">
              <a:solidFill>
                <a:schemeClr val="dk1"/>
              </a:solidFill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3266373" y="607219"/>
            <a:ext cx="2749922" cy="632012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hardware needs to have the ARM Generic Interrupt Controller, version 3</a:t>
            </a:r>
            <a:endParaRPr/>
          </a:p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hardware needs to have the Arm System Memory Management Unit, version 3 onwards</a:t>
            </a:r>
            <a:b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866072" y="3866010"/>
            <a:ext cx="2313000" cy="5916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shall not write access GICD_ISACTIVER&lt;n&gt; registers</a:t>
            </a:r>
            <a:endParaRPr/>
          </a:p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shall not use physical LPIs without ITS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963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6540731" y="2052778"/>
            <a:ext cx="2312894" cy="907676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9725" lIns="137150" spcFirstLastPara="1" rIns="137150" wrap="square" tIns="109725">
            <a:noAutofit/>
          </a:bodyPr>
          <a:lstStyle/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CNTFRQ_EL0 needs to be programmed with the system timer frequency. Or the "clock-frequency" dt property should be used.</a:t>
            </a:r>
            <a:endParaRPr/>
          </a:p>
          <a:p>
            <a:pPr indent="-128588" lvl="0" marL="1285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0" i="0" lang="en-GB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TF-A shall provide PSCI api (PSCI_VERSION) to read the version.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"/>
          <p:cNvSpPr txBox="1"/>
          <p:nvPr>
            <p:ph type="title"/>
          </p:nvPr>
        </p:nvSpPr>
        <p:spPr>
          <a:xfrm>
            <a:off x="311700" y="26679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Key Assumption of Use on Domains</a:t>
            </a:r>
            <a:endParaRPr/>
          </a:p>
        </p:txBody>
      </p:sp>
      <p:sp>
        <p:nvSpPr>
          <p:cNvPr id="602" name="Google Shape;602;p28"/>
          <p:cNvSpPr txBox="1"/>
          <p:nvPr>
            <p:ph idx="1" type="body"/>
          </p:nvPr>
        </p:nvSpPr>
        <p:spPr>
          <a:xfrm>
            <a:off x="311700" y="1152475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On Zephyr as safety critical domain – It should mask its event channel notifications during the safety critical task to avoid being interrupted by other domains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On Linux as QM domain – It shall enable the platform devices and perform platform operations (suspend, power off, reset, reboot) only when requested by the control domain. 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It shall enable the PV.VirtIO backend drivers to perform device emulation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"/>
          <p:cNvSpPr txBox="1"/>
          <p:nvPr>
            <p:ph type="title"/>
          </p:nvPr>
        </p:nvSpPr>
        <p:spPr>
          <a:xfrm>
            <a:off x="164466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Architecture Spec</a:t>
            </a:r>
            <a:endParaRPr/>
          </a:p>
        </p:txBody>
      </p:sp>
      <p:sp>
        <p:nvSpPr>
          <p:cNvPr id="608" name="Google Shape;608;p29"/>
          <p:cNvSpPr txBox="1"/>
          <p:nvPr>
            <p:ph idx="1" type="body"/>
          </p:nvPr>
        </p:nvSpPr>
        <p:spPr>
          <a:xfrm>
            <a:off x="0" y="676423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While requirements describe the features that Xen provides, architecture spec describes how the feature is implemented, interfaces to the other architectural components, error propagation, data/control flow, etc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Architecture Spec is linked to a set SSRs belonging to a component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By linking SSRs to Arch spec , we </a:t>
            </a:r>
            <a:r>
              <a:rPr b="1" lang="en-GB"/>
              <a:t>avoid </a:t>
            </a:r>
            <a:r>
              <a:rPr lang="en-GB"/>
              <a:t>putting any markers in the code (and thereby ensure the code is clean).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https://gitlab.com/xen-project/fusa/architecture_specs/-/blob/master/domain_creation_and_runtime/domain_partially_emulated_resources/arm64/generic_timer.rst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0"/>
          <p:cNvSpPr txBox="1"/>
          <p:nvPr>
            <p:ph type="title"/>
          </p:nvPr>
        </p:nvSpPr>
        <p:spPr>
          <a:xfrm>
            <a:off x="311700" y="19705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Tests</a:t>
            </a:r>
            <a:endParaRPr/>
          </a:p>
        </p:txBody>
      </p:sp>
      <p:sp>
        <p:nvSpPr>
          <p:cNvPr id="614" name="Google Shape;614;p30"/>
          <p:cNvSpPr txBox="1"/>
          <p:nvPr>
            <p:ph idx="1" type="body"/>
          </p:nvPr>
        </p:nvSpPr>
        <p:spPr>
          <a:xfrm>
            <a:off x="311700" y="1046700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Tests are needed to verify the requirements or architecture specifications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Domain based tests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HW/SW integration Tests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GDB based tests for internal interface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Hardware Fault injection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Fuzzing</a:t>
            </a:r>
            <a:endParaRPr/>
          </a:p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e0b5701d05_4_5"/>
          <p:cNvSpPr txBox="1"/>
          <p:nvPr>
            <p:ph type="title"/>
          </p:nvPr>
        </p:nvSpPr>
        <p:spPr>
          <a:xfrm>
            <a:off x="311700" y="13063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Overall Testing deployment</a:t>
            </a:r>
            <a:endParaRPr/>
          </a:p>
        </p:txBody>
      </p:sp>
      <p:sp>
        <p:nvSpPr>
          <p:cNvPr id="620" name="Google Shape;620;g3e0b5701d05_4_5"/>
          <p:cNvSpPr/>
          <p:nvPr/>
        </p:nvSpPr>
        <p:spPr>
          <a:xfrm>
            <a:off x="532371" y="2737325"/>
            <a:ext cx="7709100" cy="6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             </a:t>
            </a:r>
            <a:r>
              <a:rPr lang="en-GB" sz="1800"/>
              <a:t>Xen ASIL D (SEooC)</a:t>
            </a:r>
            <a:endParaRPr sz="1800"/>
          </a:p>
        </p:txBody>
      </p:sp>
      <p:sp>
        <p:nvSpPr>
          <p:cNvPr id="621" name="Google Shape;621;g3e0b5701d05_4_5"/>
          <p:cNvSpPr/>
          <p:nvPr/>
        </p:nvSpPr>
        <p:spPr>
          <a:xfrm>
            <a:off x="595246" y="888685"/>
            <a:ext cx="1358100" cy="17229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Domain based validation tests or domain/Xen interface tests</a:t>
            </a:r>
            <a:endParaRPr/>
          </a:p>
        </p:txBody>
      </p:sp>
      <p:sp>
        <p:nvSpPr>
          <p:cNvPr id="622" name="Google Shape;622;g3e0b5701d05_4_5"/>
          <p:cNvSpPr txBox="1"/>
          <p:nvPr/>
        </p:nvSpPr>
        <p:spPr>
          <a:xfrm>
            <a:off x="3814646" y="926429"/>
            <a:ext cx="3873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623" name="Google Shape;623;g3e0b5701d05_4_5"/>
          <p:cNvSpPr/>
          <p:nvPr/>
        </p:nvSpPr>
        <p:spPr>
          <a:xfrm>
            <a:off x="2858887" y="888685"/>
            <a:ext cx="1358100" cy="172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Domain based validation tests or domain/Xen interface tests</a:t>
            </a:r>
            <a:endParaRPr/>
          </a:p>
        </p:txBody>
      </p:sp>
      <p:sp>
        <p:nvSpPr>
          <p:cNvPr id="624" name="Google Shape;624;g3e0b5701d05_4_5"/>
          <p:cNvSpPr/>
          <p:nvPr/>
        </p:nvSpPr>
        <p:spPr>
          <a:xfrm>
            <a:off x="4355410" y="901260"/>
            <a:ext cx="1358100" cy="1710300"/>
          </a:xfrm>
          <a:prstGeom prst="rect">
            <a:avLst/>
          </a:prstGeom>
          <a:solidFill>
            <a:srgbClr val="EADC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Domain based fault injection tests to Xen or negative tests</a:t>
            </a:r>
            <a:endParaRPr/>
          </a:p>
        </p:txBody>
      </p:sp>
      <p:sp>
        <p:nvSpPr>
          <p:cNvPr id="625" name="Google Shape;625;g3e0b5701d05_4_5"/>
          <p:cNvSpPr/>
          <p:nvPr/>
        </p:nvSpPr>
        <p:spPr>
          <a:xfrm>
            <a:off x="6519938" y="920185"/>
            <a:ext cx="276600" cy="16599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e0b5701d05_4_5"/>
          <p:cNvSpPr/>
          <p:nvPr/>
        </p:nvSpPr>
        <p:spPr>
          <a:xfrm>
            <a:off x="7436522" y="926449"/>
            <a:ext cx="276600" cy="16599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e0b5701d05_4_5"/>
          <p:cNvSpPr/>
          <p:nvPr/>
        </p:nvSpPr>
        <p:spPr>
          <a:xfrm>
            <a:off x="7830802" y="901263"/>
            <a:ext cx="276600" cy="16599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e0b5701d05_4_5"/>
          <p:cNvSpPr txBox="1"/>
          <p:nvPr/>
        </p:nvSpPr>
        <p:spPr>
          <a:xfrm>
            <a:off x="6786037" y="829765"/>
            <a:ext cx="8622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</a:rPr>
              <a:t>Runtime tests/ memory stress tests</a:t>
            </a:r>
            <a:endParaRPr sz="1100">
              <a:solidFill>
                <a:srgbClr val="434343"/>
              </a:solidFill>
            </a:endParaRPr>
          </a:p>
        </p:txBody>
      </p:sp>
      <p:cxnSp>
        <p:nvCxnSpPr>
          <p:cNvPr id="629" name="Google Shape;629;g3e0b5701d05_4_5"/>
          <p:cNvCxnSpPr>
            <a:endCxn id="623" idx="1"/>
          </p:cNvCxnSpPr>
          <p:nvPr/>
        </p:nvCxnSpPr>
        <p:spPr>
          <a:xfrm>
            <a:off x="1953487" y="1750135"/>
            <a:ext cx="90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30" name="Google Shape;630;g3e0b5701d05_4_5"/>
          <p:cNvSpPr txBox="1"/>
          <p:nvPr/>
        </p:nvSpPr>
        <p:spPr>
          <a:xfrm>
            <a:off x="2016321" y="1442024"/>
            <a:ext cx="16314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</a:rPr>
              <a:t>FFI tests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631" name="Google Shape;631;g3e0b5701d05_4_5"/>
          <p:cNvSpPr txBox="1"/>
          <p:nvPr/>
        </p:nvSpPr>
        <p:spPr>
          <a:xfrm>
            <a:off x="2368446" y="2322335"/>
            <a:ext cx="632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632" name="Google Shape;632;g3e0b5701d05_4_5"/>
          <p:cNvSpPr/>
          <p:nvPr/>
        </p:nvSpPr>
        <p:spPr>
          <a:xfrm>
            <a:off x="532371" y="3491804"/>
            <a:ext cx="3282300" cy="461700"/>
          </a:xfrm>
          <a:prstGeom prst="rect">
            <a:avLst/>
          </a:prstGeom>
          <a:solidFill>
            <a:srgbClr val="BDD5E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DTB/Firmware/Bootloader fault injection tests</a:t>
            </a:r>
            <a:endParaRPr/>
          </a:p>
        </p:txBody>
      </p:sp>
      <p:sp>
        <p:nvSpPr>
          <p:cNvPr id="633" name="Google Shape;633;g3e0b5701d05_4_5"/>
          <p:cNvSpPr txBox="1"/>
          <p:nvPr/>
        </p:nvSpPr>
        <p:spPr>
          <a:xfrm>
            <a:off x="897079" y="3152343"/>
            <a:ext cx="33702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</a:rPr>
              <a:t>Xen/Bootloader/Firmware interface tests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634" name="Google Shape;634;g3e0b5701d05_4_5"/>
          <p:cNvSpPr/>
          <p:nvPr/>
        </p:nvSpPr>
        <p:spPr>
          <a:xfrm>
            <a:off x="544946" y="4108104"/>
            <a:ext cx="7721700" cy="440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Qemu/Hardware</a:t>
            </a:r>
            <a:endParaRPr/>
          </a:p>
        </p:txBody>
      </p:sp>
      <p:sp>
        <p:nvSpPr>
          <p:cNvPr id="635" name="Google Shape;635;g3e0b5701d05_4_5"/>
          <p:cNvSpPr txBox="1"/>
          <p:nvPr/>
        </p:nvSpPr>
        <p:spPr>
          <a:xfrm>
            <a:off x="4080246" y="3141238"/>
            <a:ext cx="33702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</a:rPr>
              <a:t>Xen/hardware  interface tests</a:t>
            </a:r>
            <a:endParaRPr sz="1200">
              <a:solidFill>
                <a:srgbClr val="434343"/>
              </a:solidFill>
            </a:endParaRPr>
          </a:p>
        </p:txBody>
      </p:sp>
      <p:cxnSp>
        <p:nvCxnSpPr>
          <p:cNvPr id="636" name="Google Shape;636;g3e0b5701d05_4_5"/>
          <p:cNvCxnSpPr/>
          <p:nvPr/>
        </p:nvCxnSpPr>
        <p:spPr>
          <a:xfrm>
            <a:off x="5172846" y="3542179"/>
            <a:ext cx="0" cy="4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37" name="Google Shape;637;g3e0b5701d05_4_5"/>
          <p:cNvSpPr txBox="1"/>
          <p:nvPr/>
        </p:nvSpPr>
        <p:spPr>
          <a:xfrm>
            <a:off x="6708505" y="4070370"/>
            <a:ext cx="1939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</a:rPr>
              <a:t>Hardware</a:t>
            </a:r>
            <a:r>
              <a:rPr lang="en-GB" sz="1100">
                <a:solidFill>
                  <a:srgbClr val="434343"/>
                </a:solidFill>
              </a:rPr>
              <a:t> based fault injection</a:t>
            </a:r>
            <a:endParaRPr sz="1100">
              <a:solidFill>
                <a:srgbClr val="434343"/>
              </a:solidFill>
            </a:endParaRPr>
          </a:p>
        </p:txBody>
      </p:sp>
      <p:cxnSp>
        <p:nvCxnSpPr>
          <p:cNvPr id="638" name="Google Shape;638;g3e0b5701d05_4_5"/>
          <p:cNvCxnSpPr/>
          <p:nvPr/>
        </p:nvCxnSpPr>
        <p:spPr>
          <a:xfrm rot="10800000">
            <a:off x="7021496" y="3328379"/>
            <a:ext cx="0" cy="792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g3e0b5701d05_4_5"/>
          <p:cNvCxnSpPr/>
          <p:nvPr/>
        </p:nvCxnSpPr>
        <p:spPr>
          <a:xfrm rot="10800000">
            <a:off x="7830796" y="3326504"/>
            <a:ext cx="0" cy="792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0" name="Google Shape;640;g3e0b5701d05_4_5"/>
          <p:cNvSpPr/>
          <p:nvPr/>
        </p:nvSpPr>
        <p:spPr>
          <a:xfrm>
            <a:off x="607840" y="2888229"/>
            <a:ext cx="1094100" cy="2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 alloc</a:t>
            </a:r>
            <a:endParaRPr/>
          </a:p>
        </p:txBody>
      </p:sp>
      <p:sp>
        <p:nvSpPr>
          <p:cNvPr id="641" name="Google Shape;641;g3e0b5701d05_4_5"/>
          <p:cNvSpPr/>
          <p:nvPr/>
        </p:nvSpPr>
        <p:spPr>
          <a:xfrm>
            <a:off x="2835246" y="2889719"/>
            <a:ext cx="1094100" cy="2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Scheduler</a:t>
            </a:r>
            <a:endParaRPr/>
          </a:p>
        </p:txBody>
      </p:sp>
      <p:cxnSp>
        <p:nvCxnSpPr>
          <p:cNvPr id="642" name="Google Shape;642;g3e0b5701d05_4_5"/>
          <p:cNvCxnSpPr>
            <a:stCxn id="640" idx="3"/>
            <a:endCxn id="641" idx="1"/>
          </p:cNvCxnSpPr>
          <p:nvPr/>
        </p:nvCxnSpPr>
        <p:spPr>
          <a:xfrm>
            <a:off x="1701940" y="3020229"/>
            <a:ext cx="11334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3" name="Google Shape;643;g3e0b5701d05_4_5"/>
          <p:cNvSpPr txBox="1"/>
          <p:nvPr/>
        </p:nvSpPr>
        <p:spPr>
          <a:xfrm>
            <a:off x="1525852" y="2661865"/>
            <a:ext cx="687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434343"/>
                </a:solidFill>
              </a:rPr>
              <a:t>Internal interface tests</a:t>
            </a:r>
            <a:endParaRPr sz="1000">
              <a:solidFill>
                <a:srgbClr val="434343"/>
              </a:solidFill>
            </a:endParaRPr>
          </a:p>
        </p:txBody>
      </p:sp>
      <p:cxnSp>
        <p:nvCxnSpPr>
          <p:cNvPr id="644" name="Google Shape;644;g3e0b5701d05_4_5"/>
          <p:cNvCxnSpPr/>
          <p:nvPr/>
        </p:nvCxnSpPr>
        <p:spPr>
          <a:xfrm flipH="1" rot="10800000">
            <a:off x="3952996" y="3001404"/>
            <a:ext cx="3774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5" name="Google Shape;645;g3e0b5701d05_4_5"/>
          <p:cNvSpPr/>
          <p:nvPr/>
        </p:nvSpPr>
        <p:spPr>
          <a:xfrm>
            <a:off x="6933568" y="2924204"/>
            <a:ext cx="1249500" cy="2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Trap handler</a:t>
            </a:r>
            <a:endParaRPr/>
          </a:p>
        </p:txBody>
      </p:sp>
      <p:cxnSp>
        <p:nvCxnSpPr>
          <p:cNvPr id="646" name="Google Shape;646;g3e0b5701d05_4_5"/>
          <p:cNvCxnSpPr/>
          <p:nvPr/>
        </p:nvCxnSpPr>
        <p:spPr>
          <a:xfrm flipH="1">
            <a:off x="6531040" y="3056204"/>
            <a:ext cx="3648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7" name="Google Shape;647;g3e0b5701d05_4_5"/>
          <p:cNvSpPr/>
          <p:nvPr/>
        </p:nvSpPr>
        <p:spPr>
          <a:xfrm>
            <a:off x="5851947" y="913831"/>
            <a:ext cx="504738" cy="1722924"/>
          </a:xfrm>
          <a:prstGeom prst="lightningBol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e0b5701d05_4_5"/>
          <p:cNvSpPr txBox="1"/>
          <p:nvPr/>
        </p:nvSpPr>
        <p:spPr>
          <a:xfrm>
            <a:off x="5801638" y="712616"/>
            <a:ext cx="592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</a:rPr>
              <a:t>Fuzz</a:t>
            </a:r>
            <a:endParaRPr sz="12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"/>
          <p:cNvSpPr txBox="1"/>
          <p:nvPr>
            <p:ph type="title"/>
          </p:nvPr>
        </p:nvSpPr>
        <p:spPr>
          <a:xfrm>
            <a:off x="311700" y="1178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Domain based Tests/SSR tests/Xen domain interface</a:t>
            </a:r>
            <a:endParaRPr/>
          </a:p>
        </p:txBody>
      </p:sp>
      <p:sp>
        <p:nvSpPr>
          <p:cNvPr id="654" name="Google Shape;654;p31"/>
          <p:cNvSpPr txBox="1"/>
          <p:nvPr>
            <p:ph idx="1" type="body"/>
          </p:nvPr>
        </p:nvSpPr>
        <p:spPr>
          <a:xfrm>
            <a:off x="311700" y="750050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Domain based tests are used to verify the blackbox requirements or perform fault injection from domain</a:t>
            </a:r>
            <a:endParaRPr/>
          </a:p>
          <a:p>
            <a:pPr indent="45720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For eg - </a:t>
            </a:r>
            <a:r>
              <a:rPr lang="en-GB" sz="1400"/>
              <a:t>Xen shall support transmission of data in polling mode for the domain. </a:t>
            </a:r>
            <a:endParaRPr sz="1400"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Pros - Xen is unmodified. It is tested in the way it will be used in production.</a:t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 - The tests are relatively high level. They can test a lot of code together.</a:t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55" name="Google Shape;655;p31"/>
          <p:cNvSpPr/>
          <p:nvPr/>
        </p:nvSpPr>
        <p:spPr>
          <a:xfrm>
            <a:off x="595250" y="2448110"/>
            <a:ext cx="4263300" cy="118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1"/>
          <p:cNvSpPr/>
          <p:nvPr/>
        </p:nvSpPr>
        <p:spPr>
          <a:xfrm>
            <a:off x="2035100" y="2473235"/>
            <a:ext cx="1383600" cy="11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Emulated</a:t>
            </a:r>
            <a:r>
              <a:rPr lang="en-GB"/>
              <a:t> UART</a:t>
            </a:r>
            <a:endParaRPr/>
          </a:p>
        </p:txBody>
      </p:sp>
      <p:sp>
        <p:nvSpPr>
          <p:cNvPr id="657" name="Google Shape;657;p31"/>
          <p:cNvSpPr txBox="1"/>
          <p:nvPr/>
        </p:nvSpPr>
        <p:spPr>
          <a:xfrm>
            <a:off x="950100" y="2814625"/>
            <a:ext cx="72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Xen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658" name="Google Shape;658;p31"/>
          <p:cNvSpPr/>
          <p:nvPr/>
        </p:nvSpPr>
        <p:spPr>
          <a:xfrm>
            <a:off x="3474950" y="2473235"/>
            <a:ext cx="1383600" cy="11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Trap/Exception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handler</a:t>
            </a:r>
            <a:endParaRPr/>
          </a:p>
        </p:txBody>
      </p:sp>
      <p:sp>
        <p:nvSpPr>
          <p:cNvPr id="659" name="Google Shape;659;p31"/>
          <p:cNvSpPr/>
          <p:nvPr/>
        </p:nvSpPr>
        <p:spPr>
          <a:xfrm>
            <a:off x="6493300" y="2454485"/>
            <a:ext cx="1735500" cy="11820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Linux/Zephyr/XTF as domain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UART driver and application</a:t>
            </a:r>
            <a:endParaRPr/>
          </a:p>
        </p:txBody>
      </p:sp>
      <p:cxnSp>
        <p:nvCxnSpPr>
          <p:cNvPr id="660" name="Google Shape;660;p31"/>
          <p:cNvCxnSpPr>
            <a:stCxn id="659" idx="1"/>
            <a:endCxn id="658" idx="3"/>
          </p:cNvCxnSpPr>
          <p:nvPr/>
        </p:nvCxnSpPr>
        <p:spPr>
          <a:xfrm rot="10800000">
            <a:off x="4858600" y="3045485"/>
            <a:ext cx="163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2"/>
          <p:cNvSpPr txBox="1"/>
          <p:nvPr>
            <p:ph type="title"/>
          </p:nvPr>
        </p:nvSpPr>
        <p:spPr>
          <a:xfrm>
            <a:off x="311700" y="155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Xen/HW interface Test</a:t>
            </a:r>
            <a:endParaRPr/>
          </a:p>
        </p:txBody>
      </p:sp>
      <p:sp>
        <p:nvSpPr>
          <p:cNvPr id="666" name="Google Shape;666;p32"/>
          <p:cNvSpPr txBox="1"/>
          <p:nvPr>
            <p:ph idx="1" type="body"/>
          </p:nvPr>
        </p:nvSpPr>
        <p:spPr>
          <a:xfrm>
            <a:off x="223675" y="812925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test aims to validate Xen’s configuration of the hardware. For eg Xen’s GICv3 driver should be able to generate software generated interrupt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this, we introduce self tests within Xen. 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https://gitlab.com/xen-project/fusa/test_specifications/-/blob/master/hw_sw_interface/test0_sgi_gicv3.rst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https://lists.xenproject.org/archives/html/xen-devel/2025-09/msg00956.html</a:t>
            </a:r>
            <a:endParaRPr/>
          </a:p>
        </p:txBody>
      </p:sp>
      <p:sp>
        <p:nvSpPr>
          <p:cNvPr id="667" name="Google Shape;667;p32"/>
          <p:cNvSpPr/>
          <p:nvPr/>
        </p:nvSpPr>
        <p:spPr>
          <a:xfrm>
            <a:off x="419200" y="2058250"/>
            <a:ext cx="4602600" cy="14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Xen </a:t>
            </a:r>
            <a:endParaRPr/>
          </a:p>
        </p:txBody>
      </p:sp>
      <p:sp>
        <p:nvSpPr>
          <p:cNvPr id="668" name="Google Shape;668;p32"/>
          <p:cNvSpPr/>
          <p:nvPr/>
        </p:nvSpPr>
        <p:spPr>
          <a:xfrm>
            <a:off x="2280450" y="2196550"/>
            <a:ext cx="1207200" cy="12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GICv3 driver</a:t>
            </a:r>
            <a:endParaRPr/>
          </a:p>
        </p:txBody>
      </p:sp>
      <p:sp>
        <p:nvSpPr>
          <p:cNvPr id="669" name="Google Shape;669;p32"/>
          <p:cNvSpPr/>
          <p:nvPr/>
        </p:nvSpPr>
        <p:spPr>
          <a:xfrm>
            <a:off x="3814600" y="2196550"/>
            <a:ext cx="830100" cy="1207200"/>
          </a:xfrm>
          <a:prstGeom prst="rect">
            <a:avLst/>
          </a:prstGeom>
          <a:solidFill>
            <a:srgbClr val="FBFE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GICv3 Test</a:t>
            </a:r>
            <a:endParaRPr/>
          </a:p>
        </p:txBody>
      </p:sp>
      <p:cxnSp>
        <p:nvCxnSpPr>
          <p:cNvPr id="670" name="Google Shape;670;p32"/>
          <p:cNvCxnSpPr>
            <a:stCxn id="669" idx="1"/>
            <a:endCxn id="668" idx="3"/>
          </p:cNvCxnSpPr>
          <p:nvPr/>
        </p:nvCxnSpPr>
        <p:spPr>
          <a:xfrm rot="10800000">
            <a:off x="3487600" y="2800150"/>
            <a:ext cx="32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1" name="Google Shape;671;p32"/>
          <p:cNvSpPr txBox="1"/>
          <p:nvPr/>
        </p:nvSpPr>
        <p:spPr>
          <a:xfrm>
            <a:off x="5487250" y="1995350"/>
            <a:ext cx="3483600" cy="14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The test can be compiled out in the production build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The test runs during boot time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e0b5701d05_3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Internal Interface Testing</a:t>
            </a:r>
            <a:endParaRPr/>
          </a:p>
        </p:txBody>
      </p:sp>
      <p:sp>
        <p:nvSpPr>
          <p:cNvPr id="677" name="Google Shape;677;g3e0b5701d05_3_0"/>
          <p:cNvSpPr txBox="1"/>
          <p:nvPr>
            <p:ph idx="1" type="body"/>
          </p:nvPr>
        </p:nvSpPr>
        <p:spPr>
          <a:xfrm>
            <a:off x="311699" y="1152475"/>
            <a:ext cx="4103809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>
                <a:solidFill>
                  <a:schemeClr val="dk1"/>
                </a:solidFill>
              </a:rPr>
              <a:t>To validate a complex Xen logic at runtime. The test is controlling the execution flow directly through a debugger</a:t>
            </a:r>
            <a:endParaRPr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>
                <a:solidFill>
                  <a:schemeClr val="dk1"/>
                </a:solidFill>
              </a:rPr>
              <a:t>Execution Model: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 sz="1050">
                <a:solidFill>
                  <a:schemeClr val="dk1"/>
                </a:solidFill>
              </a:rPr>
              <a:t>QEMU: Launches Xen and immediately freezes it at the first instruction, preventing execution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 sz="1050">
                <a:solidFill>
                  <a:schemeClr val="dk1"/>
                </a:solidFill>
              </a:rPr>
              <a:t>GDB/</a:t>
            </a:r>
            <a:r>
              <a:rPr lang="en-GB" sz="1050">
                <a:solidFill>
                  <a:schemeClr val="dk1"/>
                </a:solidFill>
              </a:rPr>
              <a:t>LLDB: Connects to the waiting QEMU instance, loads Xen's symbols (xen-syms) for full kernel visibility and takes complete control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 sz="1050">
                <a:solidFill>
                  <a:schemeClr val="dk1"/>
                </a:solidFill>
              </a:rPr>
              <a:t>Python Script: An automation script running inside the debugger drives the entire test scenario, setting breakpoints, manipulating execution and inspecting the system state to determine the outcome</a:t>
            </a:r>
            <a:endParaRPr/>
          </a:p>
          <a:p>
            <a:pPr indent="-228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678" name="Google Shape;678;g3e0b5701d05_3_0"/>
          <p:cNvSpPr txBox="1"/>
          <p:nvPr>
            <p:ph idx="2" type="body"/>
          </p:nvPr>
        </p:nvSpPr>
        <p:spPr>
          <a:xfrm>
            <a:off x="4369482" y="1152475"/>
            <a:ext cx="4462818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>
                <a:solidFill>
                  <a:schemeClr val="dk1"/>
                </a:solidFill>
              </a:rPr>
              <a:t>Controlling Flow: Setting breakpoints in critical functions to pause execution at key moments</a:t>
            </a:r>
            <a:endParaRPr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>
                <a:solidFill>
                  <a:schemeClr val="dk1"/>
                </a:solidFill>
              </a:rPr>
              <a:t>Manipulating Execution: Actively modifying the program's behavior: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 sz="1050">
                <a:solidFill>
                  <a:schemeClr val="dk1"/>
                </a:solidFill>
              </a:rPr>
              <a:t>Success Path: Allowing normal execution while inspecting function arguments, return values and internal data structures to ensure correctness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 sz="1050">
                <a:solidFill>
                  <a:schemeClr val="dk1"/>
                </a:solidFill>
              </a:rPr>
              <a:t>Failure Path/Fault Injection: Forcing a function to return an error code to test the system error-handling paths</a:t>
            </a:r>
            <a:endParaRPr/>
          </a:p>
          <a:p>
            <a:pPr indent="-3175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00">
                <a:solidFill>
                  <a:schemeClr val="dk1"/>
                </a:solidFill>
              </a:rPr>
              <a:t>Inspecting &amp; Validating State: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 sz="1050">
                <a:solidFill>
                  <a:schemeClr val="dk1"/>
                </a:solidFill>
              </a:rPr>
              <a:t>Assertions are performed inside the debugger context</a:t>
            </a:r>
            <a:endParaRPr/>
          </a:p>
          <a:p>
            <a:pPr indent="-3048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</a:pPr>
            <a:r>
              <a:rPr lang="en-GB" sz="1050">
                <a:solidFill>
                  <a:schemeClr val="dk1"/>
                </a:solidFill>
              </a:rPr>
              <a:t>The final verdict ('SUCCESS'/'FAIL') is based on the observed kernel state</a:t>
            </a:r>
            <a:endParaRPr/>
          </a:p>
          <a:p>
            <a:pPr indent="-228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3"/>
          <p:cNvSpPr txBox="1"/>
          <p:nvPr>
            <p:ph type="title"/>
          </p:nvPr>
        </p:nvSpPr>
        <p:spPr>
          <a:xfrm>
            <a:off x="311700" y="118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GDB based tests for internal interface</a:t>
            </a:r>
            <a:endParaRPr/>
          </a:p>
        </p:txBody>
      </p:sp>
      <p:sp>
        <p:nvSpPr>
          <p:cNvPr id="684" name="Google Shape;684;p33"/>
          <p:cNvSpPr txBox="1"/>
          <p:nvPr>
            <p:ph idx="1" type="body"/>
          </p:nvPr>
        </p:nvSpPr>
        <p:spPr>
          <a:xfrm>
            <a:off x="311700" y="762625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Xen has lots of internal components which invoke one other. We need a way to test the interface between the components. Also, we need a way to inspect the internal data structure and mock the error handling paths.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GDB to validate the internal data structures or the interface between different arch components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hlink"/>
                </a:solidFill>
                <a:hlinkClick r:id="rId3"/>
              </a:rPr>
              <a:t>https://gitlab.com/xen-project/fusa/test_specifications/-/blob/master/domain_creation_and_runtime/scheduling/test_sched_core_halt_on_scheduler_failure.rst</a:t>
            </a:r>
            <a:endParaRPr sz="1200"/>
          </a:p>
        </p:txBody>
      </p:sp>
      <p:sp>
        <p:nvSpPr>
          <p:cNvPr id="685" name="Google Shape;685;p33"/>
          <p:cNvSpPr/>
          <p:nvPr/>
        </p:nvSpPr>
        <p:spPr>
          <a:xfrm>
            <a:off x="419200" y="1829850"/>
            <a:ext cx="4602600" cy="14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Xen </a:t>
            </a:r>
            <a:endParaRPr/>
          </a:p>
        </p:txBody>
      </p:sp>
      <p:sp>
        <p:nvSpPr>
          <p:cNvPr id="686" name="Google Shape;686;p33"/>
          <p:cNvSpPr/>
          <p:nvPr/>
        </p:nvSpPr>
        <p:spPr>
          <a:xfrm>
            <a:off x="1450450" y="1968150"/>
            <a:ext cx="1207200" cy="12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Credit2 scheduler</a:t>
            </a:r>
            <a:endParaRPr/>
          </a:p>
        </p:txBody>
      </p:sp>
      <p:sp>
        <p:nvSpPr>
          <p:cNvPr id="687" name="Google Shape;687;p33"/>
          <p:cNvSpPr/>
          <p:nvPr/>
        </p:nvSpPr>
        <p:spPr>
          <a:xfrm>
            <a:off x="3589825" y="1968150"/>
            <a:ext cx="1207200" cy="12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Core scheduler subsystem</a:t>
            </a:r>
            <a:endParaRPr/>
          </a:p>
        </p:txBody>
      </p:sp>
      <p:cxnSp>
        <p:nvCxnSpPr>
          <p:cNvPr id="688" name="Google Shape;688;p33"/>
          <p:cNvCxnSpPr/>
          <p:nvPr/>
        </p:nvCxnSpPr>
        <p:spPr>
          <a:xfrm>
            <a:off x="2684425" y="2385200"/>
            <a:ext cx="90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33"/>
          <p:cNvCxnSpPr/>
          <p:nvPr/>
        </p:nvCxnSpPr>
        <p:spPr>
          <a:xfrm rot="10800000">
            <a:off x="3072650" y="2372637"/>
            <a:ext cx="12600" cy="6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p33"/>
          <p:cNvCxnSpPr/>
          <p:nvPr/>
        </p:nvCxnSpPr>
        <p:spPr>
          <a:xfrm>
            <a:off x="3072698" y="2976274"/>
            <a:ext cx="2766600" cy="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33"/>
          <p:cNvSpPr/>
          <p:nvPr/>
        </p:nvSpPr>
        <p:spPr>
          <a:xfrm>
            <a:off x="5889675" y="2702525"/>
            <a:ext cx="2640900" cy="5727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GDB to inspect return values and modify to simulate failures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4"/>
          <p:cNvSpPr txBox="1"/>
          <p:nvPr>
            <p:ph type="title"/>
          </p:nvPr>
        </p:nvSpPr>
        <p:spPr>
          <a:xfrm>
            <a:off x="311700" y="206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Hardware Fault Injection using Qemu</a:t>
            </a:r>
            <a:endParaRPr/>
          </a:p>
        </p:txBody>
      </p:sp>
      <p:sp>
        <p:nvSpPr>
          <p:cNvPr id="697" name="Google Shape;697;p34"/>
          <p:cNvSpPr txBox="1"/>
          <p:nvPr>
            <p:ph idx="1" type="body"/>
          </p:nvPr>
        </p:nvSpPr>
        <p:spPr>
          <a:xfrm>
            <a:off x="311700" y="1152475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Qemu testing framework</a:t>
            </a:r>
            <a:endParaRPr/>
          </a:p>
        </p:txBody>
      </p:sp>
      <p:sp>
        <p:nvSpPr>
          <p:cNvPr id="698" name="Google Shape;698;p34"/>
          <p:cNvSpPr/>
          <p:nvPr/>
        </p:nvSpPr>
        <p:spPr>
          <a:xfrm>
            <a:off x="1450425" y="1829850"/>
            <a:ext cx="4602600" cy="14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Xen </a:t>
            </a:r>
            <a:endParaRPr/>
          </a:p>
        </p:txBody>
      </p:sp>
      <p:sp>
        <p:nvSpPr>
          <p:cNvPr id="699" name="Google Shape;699;p34"/>
          <p:cNvSpPr/>
          <p:nvPr/>
        </p:nvSpPr>
        <p:spPr>
          <a:xfrm>
            <a:off x="3638625" y="1968150"/>
            <a:ext cx="1207200" cy="12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GICv3 driver</a:t>
            </a:r>
            <a:endParaRPr/>
          </a:p>
        </p:txBody>
      </p:sp>
      <p:sp>
        <p:nvSpPr>
          <p:cNvPr id="700" name="Google Shape;700;p34"/>
          <p:cNvSpPr/>
          <p:nvPr/>
        </p:nvSpPr>
        <p:spPr>
          <a:xfrm>
            <a:off x="1462975" y="3542175"/>
            <a:ext cx="4565100" cy="9558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Qemu</a:t>
            </a:r>
            <a:endParaRPr/>
          </a:p>
        </p:txBody>
      </p:sp>
      <p:sp>
        <p:nvSpPr>
          <p:cNvPr id="701" name="Google Shape;701;p34"/>
          <p:cNvSpPr/>
          <p:nvPr/>
        </p:nvSpPr>
        <p:spPr>
          <a:xfrm>
            <a:off x="3751775" y="3642800"/>
            <a:ext cx="1094100" cy="7041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GICv3 hardware</a:t>
            </a:r>
            <a:endParaRPr/>
          </a:p>
        </p:txBody>
      </p:sp>
      <p:sp>
        <p:nvSpPr>
          <p:cNvPr id="702" name="Google Shape;702;p34"/>
          <p:cNvSpPr/>
          <p:nvPr/>
        </p:nvSpPr>
        <p:spPr>
          <a:xfrm>
            <a:off x="2269317" y="3642800"/>
            <a:ext cx="1094100" cy="7041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QTest</a:t>
            </a:r>
            <a:endParaRPr/>
          </a:p>
        </p:txBody>
      </p:sp>
      <p:cxnSp>
        <p:nvCxnSpPr>
          <p:cNvPr id="703" name="Google Shape;703;p34"/>
          <p:cNvCxnSpPr>
            <a:stCxn id="702" idx="3"/>
            <a:endCxn id="701" idx="1"/>
          </p:cNvCxnSpPr>
          <p:nvPr/>
        </p:nvCxnSpPr>
        <p:spPr>
          <a:xfrm>
            <a:off x="3363417" y="3994850"/>
            <a:ext cx="38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4" name="Google Shape;704;p34"/>
          <p:cNvCxnSpPr/>
          <p:nvPr/>
        </p:nvCxnSpPr>
        <p:spPr>
          <a:xfrm rot="10800000">
            <a:off x="4242225" y="3099825"/>
            <a:ext cx="0" cy="68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5" name="Google Shape;705;p34"/>
          <p:cNvSpPr txBox="1"/>
          <p:nvPr/>
        </p:nvSpPr>
        <p:spPr>
          <a:xfrm>
            <a:off x="4217074" y="3215218"/>
            <a:ext cx="1509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Inject fault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06" name="Google Shape;706;p34"/>
          <p:cNvSpPr txBox="1"/>
          <p:nvPr/>
        </p:nvSpPr>
        <p:spPr>
          <a:xfrm>
            <a:off x="6178911" y="2638125"/>
            <a:ext cx="412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Xen panics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707" name="Google Shape;707;p34"/>
          <p:cNvSpPr txBox="1"/>
          <p:nvPr/>
        </p:nvSpPr>
        <p:spPr>
          <a:xfrm>
            <a:off x="6279600" y="3781125"/>
            <a:ext cx="27288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Qemu can emulate most of the hardware faults which are observed by Xen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It emulates many of AE IPs which have test registers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08" name="Google Shape;708;p34"/>
          <p:cNvSpPr txBox="1"/>
          <p:nvPr/>
        </p:nvSpPr>
        <p:spPr>
          <a:xfrm>
            <a:off x="7838900" y="4435075"/>
            <a:ext cx="131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df444a03a4_2_31"/>
          <p:cNvSpPr txBox="1"/>
          <p:nvPr>
            <p:ph type="title"/>
          </p:nvPr>
        </p:nvSpPr>
        <p:spPr>
          <a:xfrm>
            <a:off x="311700" y="118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Software fault injection/negative tests</a:t>
            </a:r>
            <a:endParaRPr/>
          </a:p>
        </p:txBody>
      </p:sp>
      <p:sp>
        <p:nvSpPr>
          <p:cNvPr id="714" name="Google Shape;714;g3df444a03a4_2_31"/>
          <p:cNvSpPr txBox="1"/>
          <p:nvPr>
            <p:ph idx="1" type="body"/>
          </p:nvPr>
        </p:nvSpPr>
        <p:spPr>
          <a:xfrm>
            <a:off x="236225" y="721825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domains, device tree binaries, etc</a:t>
            </a:r>
            <a:endParaRPr/>
          </a:p>
        </p:txBody>
      </p:sp>
      <p:sp>
        <p:nvSpPr>
          <p:cNvPr id="715" name="Google Shape;715;g3df444a03a4_2_31"/>
          <p:cNvSpPr/>
          <p:nvPr/>
        </p:nvSpPr>
        <p:spPr>
          <a:xfrm>
            <a:off x="469500" y="1300323"/>
            <a:ext cx="4024200" cy="148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Xen </a:t>
            </a:r>
            <a:endParaRPr/>
          </a:p>
        </p:txBody>
      </p:sp>
      <p:sp>
        <p:nvSpPr>
          <p:cNvPr id="716" name="Google Shape;716;g3df444a03a4_2_31"/>
          <p:cNvSpPr/>
          <p:nvPr/>
        </p:nvSpPr>
        <p:spPr>
          <a:xfrm>
            <a:off x="6279700" y="1342925"/>
            <a:ext cx="2163000" cy="13986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Domain</a:t>
            </a:r>
            <a:endParaRPr/>
          </a:p>
        </p:txBody>
      </p:sp>
      <p:cxnSp>
        <p:nvCxnSpPr>
          <p:cNvPr id="717" name="Google Shape;717;g3df444a03a4_2_31"/>
          <p:cNvCxnSpPr>
            <a:stCxn id="716" idx="1"/>
            <a:endCxn id="715" idx="3"/>
          </p:cNvCxnSpPr>
          <p:nvPr/>
        </p:nvCxnSpPr>
        <p:spPr>
          <a:xfrm rot="10800000">
            <a:off x="4493800" y="2042225"/>
            <a:ext cx="178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8" name="Google Shape;718;g3df444a03a4_2_31"/>
          <p:cNvSpPr txBox="1"/>
          <p:nvPr/>
        </p:nvSpPr>
        <p:spPr>
          <a:xfrm>
            <a:off x="4493750" y="1354000"/>
            <a:ext cx="197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</a:rPr>
              <a:t>Invokes hypercall with incorrect params or performs an illegal action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719" name="Google Shape;719;g3df444a03a4_2_31"/>
          <p:cNvSpPr txBox="1"/>
          <p:nvPr/>
        </p:nvSpPr>
        <p:spPr>
          <a:xfrm>
            <a:off x="5789050" y="1278548"/>
            <a:ext cx="336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cxnSp>
        <p:nvCxnSpPr>
          <p:cNvPr id="720" name="Google Shape;720;g3df444a03a4_2_31"/>
          <p:cNvCxnSpPr/>
          <p:nvPr/>
        </p:nvCxnSpPr>
        <p:spPr>
          <a:xfrm>
            <a:off x="4506325" y="2246886"/>
            <a:ext cx="177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1" name="Google Shape;721;g3df444a03a4_2_31"/>
          <p:cNvSpPr txBox="1"/>
          <p:nvPr/>
        </p:nvSpPr>
        <p:spPr>
          <a:xfrm>
            <a:off x="4544138" y="2166324"/>
            <a:ext cx="168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Returns error or takes appropriate action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22" name="Google Shape;722;g3df444a03a4_2_31"/>
          <p:cNvSpPr/>
          <p:nvPr/>
        </p:nvSpPr>
        <p:spPr>
          <a:xfrm>
            <a:off x="689550" y="4108100"/>
            <a:ext cx="2754100" cy="461700"/>
          </a:xfrm>
          <a:prstGeom prst="flowChartProcess">
            <a:avLst/>
          </a:prstGeom>
          <a:solidFill>
            <a:srgbClr val="FFD1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Improper HW configuration in </a:t>
            </a:r>
            <a:r>
              <a:rPr lang="en-GB"/>
              <a:t>device</a:t>
            </a:r>
            <a:r>
              <a:rPr lang="en-GB"/>
              <a:t> tree</a:t>
            </a:r>
            <a:endParaRPr/>
          </a:p>
        </p:txBody>
      </p:sp>
      <p:cxnSp>
        <p:nvCxnSpPr>
          <p:cNvPr id="723" name="Google Shape;723;g3df444a03a4_2_31"/>
          <p:cNvCxnSpPr/>
          <p:nvPr/>
        </p:nvCxnSpPr>
        <p:spPr>
          <a:xfrm rot="10800000">
            <a:off x="2066600" y="3617600"/>
            <a:ext cx="0" cy="49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4" name="Google Shape;724;g3df444a03a4_2_31"/>
          <p:cNvSpPr txBox="1"/>
          <p:nvPr/>
        </p:nvSpPr>
        <p:spPr>
          <a:xfrm>
            <a:off x="2255250" y="3441575"/>
            <a:ext cx="6036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725" name="Google Shape;725;g3df444a03a4_2_31"/>
          <p:cNvSpPr/>
          <p:nvPr/>
        </p:nvSpPr>
        <p:spPr>
          <a:xfrm>
            <a:off x="469500" y="2986975"/>
            <a:ext cx="4024200" cy="63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Xen </a:t>
            </a:r>
            <a:endParaRPr/>
          </a:p>
        </p:txBody>
      </p:sp>
      <p:sp>
        <p:nvSpPr>
          <p:cNvPr id="726" name="Google Shape;726;g3df444a03a4_2_31"/>
          <p:cNvSpPr txBox="1"/>
          <p:nvPr/>
        </p:nvSpPr>
        <p:spPr>
          <a:xfrm>
            <a:off x="2016329" y="3718244"/>
            <a:ext cx="68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Xen stops booting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27" name="Google Shape;727;g3df444a03a4_2_31"/>
          <p:cNvSpPr txBox="1"/>
          <p:nvPr/>
        </p:nvSpPr>
        <p:spPr>
          <a:xfrm>
            <a:off x="5399200" y="3215200"/>
            <a:ext cx="33660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Some of the fault injection tests are derived from boundary value analysis/equivalence class partition of hypercall parameters 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df444a03a4_2_73"/>
          <p:cNvSpPr txBox="1"/>
          <p:nvPr>
            <p:ph type="title"/>
          </p:nvPr>
        </p:nvSpPr>
        <p:spPr>
          <a:xfrm>
            <a:off x="311700" y="14322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Runtime tests</a:t>
            </a:r>
            <a:endParaRPr/>
          </a:p>
        </p:txBody>
      </p:sp>
      <p:sp>
        <p:nvSpPr>
          <p:cNvPr id="733" name="Google Shape;733;g3df444a03a4_2_73"/>
          <p:cNvSpPr txBox="1"/>
          <p:nvPr>
            <p:ph idx="1" type="body"/>
          </p:nvPr>
        </p:nvSpPr>
        <p:spPr>
          <a:xfrm>
            <a:off x="97925" y="868325"/>
            <a:ext cx="52509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Minimise the runtime memory allocation. To prevent Xen from running out of memory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Xen has a </a:t>
            </a:r>
            <a:r>
              <a:rPr b="1" lang="en-GB" sz="1400">
                <a:solidFill>
                  <a:schemeClr val="dk1"/>
                </a:solidFill>
              </a:rPr>
              <a:t>shared heap</a:t>
            </a:r>
            <a:r>
              <a:rPr lang="en-GB" sz="1400">
                <a:solidFill>
                  <a:schemeClr val="dk1"/>
                </a:solidFill>
              </a:rPr>
              <a:t> → source of </a:t>
            </a:r>
            <a:r>
              <a:rPr i="1" lang="en-GB" sz="1400">
                <a:solidFill>
                  <a:schemeClr val="dk1"/>
                </a:solidFill>
              </a:rPr>
              <a:t>anonymous allocations</a:t>
            </a:r>
            <a:endParaRPr sz="1400" u="sng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Domains (d0, d1, …) trigger allocations indirectly via Xen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Tool instruments </a:t>
            </a:r>
            <a:r>
              <a:rPr b="1" lang="en-GB" sz="1400">
                <a:solidFill>
                  <a:schemeClr val="dk1"/>
                </a:solidFill>
              </a:rPr>
              <a:t>core allocators (TLSF + page allocator)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Runtime → </a:t>
            </a:r>
            <a:r>
              <a:rPr b="1" lang="en-GB" sz="1400">
                <a:solidFill>
                  <a:schemeClr val="dk1"/>
                </a:solidFill>
              </a:rPr>
              <a:t>after </a:t>
            </a:r>
            <a:r>
              <a:rPr b="1" lang="en-GB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SYS_STATE_active</a:t>
            </a:r>
            <a:r>
              <a:rPr b="1" lang="en-GB" sz="1400">
                <a:solidFill>
                  <a:schemeClr val="dk1"/>
                </a:solidFill>
              </a:rPr>
              <a:t> (post-boot steady state)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Output → </a:t>
            </a:r>
            <a:r>
              <a:rPr b="1" lang="en-GB" sz="1400">
                <a:solidFill>
                  <a:schemeClr val="dk1"/>
                </a:solidFill>
              </a:rPr>
              <a:t>logs + stack traces + domain attribution + matching frees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chemeClr val="hlink"/>
                </a:solidFill>
                <a:hlinkClick r:id="rId3"/>
              </a:rPr>
              <a:t>https://gitlab.com/minervasys/public/xen/-/blob/minerva/warn/minerva_analysis/README.md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df444a03a4_2_73"/>
          <p:cNvSpPr txBox="1"/>
          <p:nvPr/>
        </p:nvSpPr>
        <p:spPr>
          <a:xfrm>
            <a:off x="7838900" y="4435075"/>
            <a:ext cx="131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pic>
        <p:nvPicPr>
          <p:cNvPr id="735" name="Google Shape;735;g3df444a03a4_2_73" title="Designer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3150" y="629385"/>
            <a:ext cx="3860774" cy="386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e0a7d5f0ff_3_75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/>
              <a:t>F</a:t>
            </a: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uzzing </a:t>
            </a:r>
            <a:r>
              <a:rPr lang="en-GB" sz="2800"/>
              <a:t>Test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e0a7d5f0ff_3_75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inputs​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 inputs to software under test (SUT)​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 feedback​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Mutate inputs based on feedback​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Repeat from step 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e0a7d5f0ff_3_75"/>
          <p:cNvSpPr/>
          <p:nvPr/>
        </p:nvSpPr>
        <p:spPr>
          <a:xfrm flipH="1" rot="5400000">
            <a:off x="3649980" y="922020"/>
            <a:ext cx="1214120" cy="2733040"/>
          </a:xfrm>
          <a:prstGeom prst="uturnArrow">
            <a:avLst>
              <a:gd fmla="val 4675" name="adj1"/>
              <a:gd fmla="val 5542" name="adj2"/>
              <a:gd fmla="val 14457" name="adj3"/>
              <a:gd fmla="val 22248" name="adj4"/>
              <a:gd fmla="val 23958" name="adj5"/>
            </a:avLst>
          </a:prstGeom>
          <a:solidFill>
            <a:srgbClr val="777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3e0a7d5f0ff_3_75"/>
          <p:cNvSpPr txBox="1"/>
          <p:nvPr/>
        </p:nvSpPr>
        <p:spPr>
          <a:xfrm>
            <a:off x="6181325" y="1205725"/>
            <a:ext cx="2594400" cy="1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Uses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Domain-based testing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HW/SW interface testing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Internal interface testing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Fault injection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9abf326278_0_0"/>
          <p:cNvSpPr txBox="1"/>
          <p:nvPr>
            <p:ph type="title"/>
          </p:nvPr>
        </p:nvSpPr>
        <p:spPr>
          <a:xfrm>
            <a:off x="311700" y="-440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missing puzzle</a:t>
            </a:r>
            <a:endParaRPr/>
          </a:p>
        </p:txBody>
      </p:sp>
      <p:sp>
        <p:nvSpPr>
          <p:cNvPr id="749" name="Google Shape;749;g39abf326278_0_0"/>
          <p:cNvSpPr txBox="1"/>
          <p:nvPr>
            <p:ph idx="1" type="body"/>
          </p:nvPr>
        </p:nvSpPr>
        <p:spPr>
          <a:xfrm>
            <a:off x="311700" y="657497"/>
            <a:ext cx="4386600" cy="3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Space and time </a:t>
            </a: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750" name="Google Shape;750;g39abf326278_0_0"/>
          <p:cNvSpPr/>
          <p:nvPr/>
        </p:nvSpPr>
        <p:spPr>
          <a:xfrm>
            <a:off x="478550" y="1069472"/>
            <a:ext cx="3969900" cy="330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39abf326278_0_0"/>
          <p:cNvSpPr/>
          <p:nvPr/>
        </p:nvSpPr>
        <p:spPr>
          <a:xfrm>
            <a:off x="628377" y="1156890"/>
            <a:ext cx="973800" cy="8739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EL1 stage 2 (P2M) for VM1</a:t>
            </a:r>
            <a:endParaRPr/>
          </a:p>
        </p:txBody>
      </p:sp>
      <p:sp>
        <p:nvSpPr>
          <p:cNvPr id="752" name="Google Shape;752;g39abf326278_0_0"/>
          <p:cNvSpPr/>
          <p:nvPr/>
        </p:nvSpPr>
        <p:spPr>
          <a:xfrm>
            <a:off x="2041700" y="1169374"/>
            <a:ext cx="908700" cy="873900"/>
          </a:xfrm>
          <a:prstGeom prst="rect">
            <a:avLst/>
          </a:prstGeom>
          <a:solidFill>
            <a:srgbClr val="FFE2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EL1 stage 2 (P2M) for VM2</a:t>
            </a:r>
            <a:endParaRPr/>
          </a:p>
        </p:txBody>
      </p:sp>
      <p:sp>
        <p:nvSpPr>
          <p:cNvPr id="753" name="Google Shape;753;g39abf326278_0_0"/>
          <p:cNvSpPr/>
          <p:nvPr/>
        </p:nvSpPr>
        <p:spPr>
          <a:xfrm>
            <a:off x="3442525" y="1181858"/>
            <a:ext cx="908700" cy="873900"/>
          </a:xfrm>
          <a:prstGeom prst="rect">
            <a:avLst/>
          </a:prstGeom>
          <a:solidFill>
            <a:srgbClr val="EADC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EL1 stage 2 (P2M) for VM3</a:t>
            </a:r>
            <a:endParaRPr/>
          </a:p>
        </p:txBody>
      </p:sp>
      <p:sp>
        <p:nvSpPr>
          <p:cNvPr id="754" name="Google Shape;754;g39abf326278_0_0"/>
          <p:cNvSpPr txBox="1"/>
          <p:nvPr/>
        </p:nvSpPr>
        <p:spPr>
          <a:xfrm>
            <a:off x="553475" y="1968351"/>
            <a:ext cx="37977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</a:rPr>
              <a:t>Testing for isolation between the VMs partitioning in Xen</a:t>
            </a:r>
            <a:endParaRPr sz="1100">
              <a:solidFill>
                <a:srgbClr val="434343"/>
              </a:solidFill>
            </a:endParaRPr>
          </a:p>
        </p:txBody>
      </p:sp>
      <p:sp>
        <p:nvSpPr>
          <p:cNvPr id="755" name="Google Shape;755;g39abf326278_0_0"/>
          <p:cNvSpPr/>
          <p:nvPr/>
        </p:nvSpPr>
        <p:spPr>
          <a:xfrm>
            <a:off x="1115250" y="3254217"/>
            <a:ext cx="2421900" cy="973800"/>
          </a:xfrm>
          <a:prstGeom prst="rect">
            <a:avLst/>
          </a:prstGeom>
          <a:solidFill>
            <a:srgbClr val="BABAB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EL2 mapping for Xen</a:t>
            </a:r>
            <a:endParaRPr/>
          </a:p>
        </p:txBody>
      </p:sp>
      <p:sp>
        <p:nvSpPr>
          <p:cNvPr id="756" name="Google Shape;756;g39abf326278_0_0"/>
          <p:cNvSpPr/>
          <p:nvPr/>
        </p:nvSpPr>
        <p:spPr>
          <a:xfrm>
            <a:off x="653300" y="2317854"/>
            <a:ext cx="973800" cy="2496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slot</a:t>
            </a:r>
            <a:endParaRPr/>
          </a:p>
        </p:txBody>
      </p:sp>
      <p:sp>
        <p:nvSpPr>
          <p:cNvPr id="757" name="Google Shape;757;g39abf326278_0_0"/>
          <p:cNvSpPr/>
          <p:nvPr/>
        </p:nvSpPr>
        <p:spPr>
          <a:xfrm>
            <a:off x="2041700" y="2317958"/>
            <a:ext cx="973800" cy="249600"/>
          </a:xfrm>
          <a:prstGeom prst="rect">
            <a:avLst/>
          </a:prstGeom>
          <a:solidFill>
            <a:srgbClr val="FFE2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slot</a:t>
            </a:r>
            <a:endParaRPr/>
          </a:p>
        </p:txBody>
      </p:sp>
      <p:sp>
        <p:nvSpPr>
          <p:cNvPr id="758" name="Google Shape;758;g39abf326278_0_0"/>
          <p:cNvSpPr/>
          <p:nvPr/>
        </p:nvSpPr>
        <p:spPr>
          <a:xfrm>
            <a:off x="3405070" y="2320548"/>
            <a:ext cx="973800" cy="249600"/>
          </a:xfrm>
          <a:prstGeom prst="rect">
            <a:avLst/>
          </a:prstGeom>
          <a:solidFill>
            <a:srgbClr val="EADC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slot</a:t>
            </a:r>
            <a:endParaRPr/>
          </a:p>
        </p:txBody>
      </p:sp>
      <p:sp>
        <p:nvSpPr>
          <p:cNvPr id="759" name="Google Shape;759;g39abf326278_0_0"/>
          <p:cNvSpPr txBox="1"/>
          <p:nvPr/>
        </p:nvSpPr>
        <p:spPr>
          <a:xfrm>
            <a:off x="1839315" y="2767300"/>
            <a:ext cx="18351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FuSa XEN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760" name="Google Shape;760;g39abf326278_0_0"/>
          <p:cNvSpPr txBox="1"/>
          <p:nvPr>
            <p:ph idx="1" type="body"/>
          </p:nvPr>
        </p:nvSpPr>
        <p:spPr>
          <a:xfrm>
            <a:off x="4572000" y="695493"/>
            <a:ext cx="4386600" cy="3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Defining a FuSa system use case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761" name="Google Shape;761;g39abf326278_0_0"/>
          <p:cNvSpPr/>
          <p:nvPr/>
        </p:nvSpPr>
        <p:spPr>
          <a:xfrm>
            <a:off x="4848032" y="2829760"/>
            <a:ext cx="4106700" cy="34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FuSa Xen (SIL-3/ASIL-D/mixed)</a:t>
            </a:r>
            <a:endParaRPr/>
          </a:p>
        </p:txBody>
      </p:sp>
      <p:sp>
        <p:nvSpPr>
          <p:cNvPr id="762" name="Google Shape;762;g39abf326278_0_0"/>
          <p:cNvSpPr/>
          <p:nvPr/>
        </p:nvSpPr>
        <p:spPr>
          <a:xfrm>
            <a:off x="4848031" y="3235160"/>
            <a:ext cx="2421900" cy="461700"/>
          </a:xfrm>
          <a:prstGeom prst="rect">
            <a:avLst/>
          </a:prstGeom>
          <a:solidFill>
            <a:srgbClr val="BDD5E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FuSa Firmware/bootloader</a:t>
            </a:r>
            <a:endParaRPr/>
          </a:p>
        </p:txBody>
      </p:sp>
      <p:sp>
        <p:nvSpPr>
          <p:cNvPr id="763" name="Google Shape;763;g39abf326278_0_0"/>
          <p:cNvSpPr/>
          <p:nvPr/>
        </p:nvSpPr>
        <p:spPr>
          <a:xfrm>
            <a:off x="4827031" y="3752760"/>
            <a:ext cx="4106700" cy="440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FuSa hardware</a:t>
            </a:r>
            <a:endParaRPr/>
          </a:p>
        </p:txBody>
      </p:sp>
      <p:sp>
        <p:nvSpPr>
          <p:cNvPr id="764" name="Google Shape;764;g39abf326278_0_0"/>
          <p:cNvSpPr/>
          <p:nvPr/>
        </p:nvSpPr>
        <p:spPr>
          <a:xfrm>
            <a:off x="4889442" y="1294210"/>
            <a:ext cx="1157100" cy="1338300"/>
          </a:xfrm>
          <a:prstGeom prst="rect">
            <a:avLst/>
          </a:prstGeom>
          <a:solidFill>
            <a:srgbClr val="C9ED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Safe VM</a:t>
            </a:r>
            <a:endParaRPr/>
          </a:p>
        </p:txBody>
      </p:sp>
      <p:sp>
        <p:nvSpPr>
          <p:cNvPr id="765" name="Google Shape;765;g39abf326278_0_0"/>
          <p:cNvSpPr/>
          <p:nvPr/>
        </p:nvSpPr>
        <p:spPr>
          <a:xfrm>
            <a:off x="7676003" y="1248285"/>
            <a:ext cx="1157100" cy="13383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QM VM</a:t>
            </a:r>
            <a:endParaRPr/>
          </a:p>
        </p:txBody>
      </p:sp>
      <p:sp>
        <p:nvSpPr>
          <p:cNvPr id="766" name="Google Shape;766;g39abf326278_0_0"/>
          <p:cNvSpPr/>
          <p:nvPr/>
        </p:nvSpPr>
        <p:spPr>
          <a:xfrm>
            <a:off x="6282729" y="1294210"/>
            <a:ext cx="1157100" cy="1338300"/>
          </a:xfrm>
          <a:prstGeom prst="rect">
            <a:avLst/>
          </a:prstGeom>
          <a:solidFill>
            <a:srgbClr val="EADC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VM</a:t>
            </a:r>
            <a:endParaRPr/>
          </a:p>
        </p:txBody>
      </p:sp>
      <p:sp>
        <p:nvSpPr>
          <p:cNvPr id="767" name="Google Shape;767;g39abf326278_0_0"/>
          <p:cNvSpPr txBox="1"/>
          <p:nvPr/>
        </p:nvSpPr>
        <p:spPr>
          <a:xfrm>
            <a:off x="2738217" y="4544241"/>
            <a:ext cx="63204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Stay tuned to see how DO-178 addresses these challenges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5E1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df444a03a4_2_92"/>
          <p:cNvSpPr txBox="1"/>
          <p:nvPr/>
        </p:nvSpPr>
        <p:spPr>
          <a:xfrm>
            <a:off x="834200" y="989300"/>
            <a:ext cx="5860200" cy="16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How DO-178C complements ISO 26262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Google Shape;777;g3e7b0f4ce09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74998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g3e7b0f4ce09_0_32"/>
          <p:cNvSpPr txBox="1"/>
          <p:nvPr/>
        </p:nvSpPr>
        <p:spPr>
          <a:xfrm>
            <a:off x="3304900" y="4429325"/>
            <a:ext cx="46839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hlinkClick r:id="rId4"/>
              </a:rPr>
              <a:t>[1] https://www.rapitasystems.com/blog/whats-difference-between-sil-and-dal-how-does-it-affect-my-code-coverage</a:t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hlinkClick r:id="rId5"/>
              </a:rPr>
              <a:t>[2] https://en.wikipedia.org/wiki/Automotive_Safety_Integrity_Level#Comparison_with_Other_Hazard_Level_Standards</a:t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hlinkClick r:id="rId6"/>
              </a:rPr>
              <a:t>[3] https://www.rapitasystems.com/do178c-testing</a:t>
            </a:r>
            <a:r>
              <a:rPr lang="en-GB" sz="600">
                <a:solidFill>
                  <a:schemeClr val="dk1"/>
                </a:solidFill>
              </a:rPr>
              <a:t>  (DO-178C Failure Rate)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hlinkClick r:id="rId7"/>
              </a:rPr>
              <a:t>[4] https://en.wikipedia.org/wiki/IEC_61508#Probabilistic_analysis</a:t>
            </a:r>
            <a:r>
              <a:rPr lang="en-GB" sz="600">
                <a:solidFill>
                  <a:schemeClr val="dk1"/>
                </a:solidFill>
              </a:rPr>
              <a:t> (SIL Failure Rate)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779" name="Google Shape;779;g3e7b0f4ce09_0_32"/>
          <p:cNvSpPr txBox="1"/>
          <p:nvPr/>
        </p:nvSpPr>
        <p:spPr>
          <a:xfrm>
            <a:off x="668575" y="4028175"/>
            <a:ext cx="4520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Military </a:t>
            </a:r>
            <a:r>
              <a:rPr lang="en-GB" sz="1000">
                <a:solidFill>
                  <a:schemeClr val="dk1"/>
                </a:solidFill>
              </a:rPr>
              <a:t>(</a:t>
            </a:r>
            <a:r>
              <a:rPr lang="en-GB" sz="1000" u="sng">
                <a:solidFill>
                  <a:schemeClr val="hlink"/>
                </a:solidFill>
                <a:hlinkClick r:id="rId8"/>
              </a:rPr>
              <a:t>MIL-STD-882E</a:t>
            </a:r>
            <a:r>
              <a:rPr lang="en-GB" sz="1000">
                <a:solidFill>
                  <a:schemeClr val="dk1"/>
                </a:solidFill>
              </a:rPr>
              <a:t>), “Level of Rigor”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NASA</a:t>
            </a:r>
            <a:r>
              <a:rPr lang="en-GB" sz="1000">
                <a:solidFill>
                  <a:schemeClr val="dk1"/>
                </a:solidFill>
              </a:rPr>
              <a:t> (</a:t>
            </a:r>
            <a:r>
              <a:rPr lang="en-GB" sz="1000" u="sng">
                <a:solidFill>
                  <a:schemeClr val="hlink"/>
                </a:solidFill>
                <a:hlinkClick r:id="rId9"/>
              </a:rPr>
              <a:t>NPR 7150.2</a:t>
            </a:r>
            <a:r>
              <a:rPr lang="en-GB" sz="1000">
                <a:solidFill>
                  <a:schemeClr val="dk1"/>
                </a:solidFill>
              </a:rPr>
              <a:t>), “Class”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g3e7b0f4ce09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37200"/>
            <a:ext cx="8839200" cy="4446604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g3e7b0f4ce09_0_16"/>
          <p:cNvSpPr txBox="1"/>
          <p:nvPr/>
        </p:nvSpPr>
        <p:spPr>
          <a:xfrm>
            <a:off x="2689525" y="4619275"/>
            <a:ext cx="30000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</a:rPr>
              <a:t>By Steven H. VanderLeest - Own work, CC BY-SA 3.0,</a:t>
            </a:r>
            <a:r>
              <a:rPr lang="en-GB" sz="7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700" u="sng">
                <a:solidFill>
                  <a:schemeClr val="hlink"/>
                </a:solidFill>
                <a:hlinkClick r:id="rId5"/>
              </a:rPr>
              <a:t>https://commons.wikimedia.org/w/index.php?curid=27610716</a:t>
            </a:r>
            <a:endParaRPr sz="700" u="sng">
              <a:solidFill>
                <a:schemeClr val="hlink"/>
              </a:solidFill>
            </a:endParaRPr>
          </a:p>
        </p:txBody>
      </p:sp>
      <p:sp>
        <p:nvSpPr>
          <p:cNvPr id="786" name="Google Shape;786;g3e7b0f4ce09_0_16"/>
          <p:cNvSpPr txBox="1"/>
          <p:nvPr/>
        </p:nvSpPr>
        <p:spPr>
          <a:xfrm>
            <a:off x="5956425" y="4602775"/>
            <a:ext cx="3000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Table example -</a:t>
            </a:r>
            <a:r>
              <a:rPr lang="en-GB" sz="8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800" u="sng">
                <a:solidFill>
                  <a:schemeClr val="hlink"/>
                </a:solidFill>
                <a:hlinkClick r:id="rId7"/>
              </a:rPr>
              <a:t>https://www.parasoft.com/learning-center/do-178c/what-is/</a:t>
            </a:r>
            <a:endParaRPr sz="800" u="sng">
              <a:solidFill>
                <a:schemeClr val="hlink"/>
              </a:solidFill>
            </a:endParaRPr>
          </a:p>
        </p:txBody>
      </p:sp>
      <p:pic>
        <p:nvPicPr>
          <p:cNvPr id="787" name="Google Shape;787;g3e7b0f4ce09_0_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25400" y="76250"/>
            <a:ext cx="1534550" cy="10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g3e7b0f4ce09_0_16"/>
          <p:cNvSpPr txBox="1"/>
          <p:nvPr/>
        </p:nvSpPr>
        <p:spPr>
          <a:xfrm>
            <a:off x="5356250" y="530500"/>
            <a:ext cx="13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(DO-178C)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789" name="Google Shape;789;g3e7b0f4ce09_0_16"/>
          <p:cNvSpPr txBox="1"/>
          <p:nvPr/>
        </p:nvSpPr>
        <p:spPr>
          <a:xfrm>
            <a:off x="3484200" y="1619950"/>
            <a:ext cx="279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  <a:highlight>
                  <a:schemeClr val="accent6"/>
                </a:highlight>
              </a:rPr>
              <a:t>SoftWare Level == SWL</a:t>
            </a:r>
            <a:endParaRPr sz="1100">
              <a:solidFill>
                <a:srgbClr val="434343"/>
              </a:solidFill>
              <a:highlight>
                <a:schemeClr val="accent6"/>
              </a:highlight>
            </a:endParaRPr>
          </a:p>
        </p:txBody>
      </p:sp>
      <p:sp>
        <p:nvSpPr>
          <p:cNvPr id="790" name="Google Shape;790;g3e7b0f4ce09_0_16"/>
          <p:cNvSpPr txBox="1"/>
          <p:nvPr/>
        </p:nvSpPr>
        <p:spPr>
          <a:xfrm>
            <a:off x="3484200" y="808950"/>
            <a:ext cx="268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434343"/>
                </a:solidFill>
                <a:highlight>
                  <a:schemeClr val="accent6"/>
                </a:highlight>
              </a:rPr>
              <a:t>System level == DAL</a:t>
            </a:r>
            <a:endParaRPr sz="1000">
              <a:solidFill>
                <a:srgbClr val="434343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434343"/>
                </a:solidFill>
                <a:highlight>
                  <a:schemeClr val="accent6"/>
                </a:highlight>
              </a:rPr>
              <a:t>(Design Assurance Level)</a:t>
            </a:r>
            <a:endParaRPr sz="1000">
              <a:solidFill>
                <a:srgbClr val="434343"/>
              </a:solidFill>
              <a:highlight>
                <a:schemeClr val="accent6"/>
              </a:highlight>
            </a:endParaRPr>
          </a:p>
        </p:txBody>
      </p:sp>
      <p:sp>
        <p:nvSpPr>
          <p:cNvPr id="791" name="Google Shape;791;g3e7b0f4ce09_0_16"/>
          <p:cNvSpPr txBox="1"/>
          <p:nvPr/>
        </p:nvSpPr>
        <p:spPr>
          <a:xfrm>
            <a:off x="8389200" y="2249700"/>
            <a:ext cx="279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  <a:highlight>
                  <a:schemeClr val="accent6"/>
                </a:highlight>
              </a:rPr>
              <a:t>(SWL)</a:t>
            </a:r>
            <a:endParaRPr sz="1100">
              <a:solidFill>
                <a:srgbClr val="434343"/>
              </a:solidFill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How DO-178C complements the ISO/IEC effort</a:t>
            </a:r>
            <a:endParaRPr/>
          </a:p>
        </p:txBody>
      </p:sp>
      <p:sp>
        <p:nvSpPr>
          <p:cNvPr id="797" name="Google Shape;797;p37"/>
          <p:cNvSpPr txBox="1"/>
          <p:nvPr>
            <p:ph idx="1" type="body"/>
          </p:nvPr>
        </p:nvSpPr>
        <p:spPr>
          <a:xfrm>
            <a:off x="311700" y="1124075"/>
            <a:ext cx="82653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DO-178C targets a lower failure rate @SWL-A</a:t>
            </a:r>
            <a:r>
              <a:rPr b="1" lang="en-GB" sz="800"/>
              <a:t>(&lt;=E-9)</a:t>
            </a:r>
            <a:r>
              <a:rPr lang="en-GB"/>
              <a:t> vs ASIL-D</a:t>
            </a:r>
            <a:r>
              <a:rPr b="1" lang="en-GB" sz="800"/>
              <a:t>(&lt;=E-8)</a:t>
            </a:r>
            <a:endParaRPr b="1" sz="800"/>
          </a:p>
          <a:p>
            <a:pPr indent="-317500" lvl="1" marL="914400" rtl="0" algn="l"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Low level requirements → traced to safety/design requirements + code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Unit testing w/ mocking for full Equivalence class(s) and Boundary value analysis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i="1" lang="en-GB" sz="1300"/>
              <a:t>E.g., test the most critical parts (e.g., page table mapping, timer)</a:t>
            </a:r>
            <a:br>
              <a:rPr b="1" i="1" lang="en-GB" sz="1300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Standardized safety computing </a:t>
            </a:r>
            <a:r>
              <a:rPr lang="en-GB" sz="1200" u="sng">
                <a:solidFill>
                  <a:schemeClr val="hlink"/>
                </a:solidFill>
                <a:hlinkClick r:id="rId3"/>
              </a:rPr>
              <a:t>https://en.wikipedia.org/wiki/ARINC#Standard</a:t>
            </a:r>
            <a:r>
              <a:rPr lang="en-GB" sz="1200" u="sng">
                <a:solidFill>
                  <a:schemeClr val="hlink"/>
                </a:solidFill>
                <a:hlinkClick r:id="rId4"/>
              </a:rPr>
              <a:t>s</a:t>
            </a:r>
            <a:endParaRPr sz="13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i="1" lang="en-GB" sz="1100"/>
              <a:t>“</a:t>
            </a:r>
            <a:r>
              <a:rPr b="1" i="1" lang="en-GB" sz="1100">
                <a:solidFill>
                  <a:srgbClr val="202122"/>
                </a:solidFill>
                <a:highlight>
                  <a:srgbClr val="FFFFFF"/>
                </a:highlight>
              </a:rPr>
              <a:t>Avionics Application Software Standard Interface</a:t>
            </a:r>
            <a:r>
              <a:rPr b="1" i="1" lang="en-GB" sz="1100">
                <a:solidFill>
                  <a:schemeClr val="dk1"/>
                </a:solidFill>
              </a:rPr>
              <a:t>“</a:t>
            </a:r>
            <a:r>
              <a:rPr b="1" lang="en-GB" sz="900">
                <a:solidFill>
                  <a:schemeClr val="dk1"/>
                </a:solidFill>
              </a:rPr>
              <a:t> </a:t>
            </a:r>
            <a:r>
              <a:rPr lang="en-GB" sz="10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https://en.wikipedia.org/wiki/ARINC_653</a:t>
            </a:r>
            <a:r>
              <a:rPr lang="en-GB" sz="1200"/>
              <a:t> for the </a:t>
            </a:r>
            <a:br>
              <a:rPr lang="en-GB" sz="1200"/>
            </a:br>
            <a:r>
              <a:rPr lang="en-GB" sz="1200"/>
              <a:t>operating environment. See </a:t>
            </a:r>
            <a:r>
              <a:rPr lang="en-GB" sz="1100"/>
              <a:t>“</a:t>
            </a:r>
            <a:r>
              <a:rPr b="1" i="1" lang="en-GB" sz="1100"/>
              <a:t>ARINC 653 hypervisor</a:t>
            </a:r>
            <a:r>
              <a:rPr lang="en-GB" sz="1100"/>
              <a:t>” </a:t>
            </a:r>
            <a:r>
              <a:rPr lang="en-GB" sz="1200"/>
              <a:t>ref on the linked page for details.)</a:t>
            </a:r>
            <a:endParaRPr b="1" i="1" sz="1300" u="sng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i="1" lang="en-GB" sz="1100"/>
              <a:t>“Integrated Modular Avionics(IMA)” DO-297 - </a:t>
            </a:r>
            <a:r>
              <a:rPr lang="en-GB" sz="1100"/>
              <a:t>System level guidance for mixed safety-criticality - </a:t>
            </a:r>
            <a:r>
              <a:rPr lang="en-GB" sz="1100" u="sng">
                <a:solidFill>
                  <a:schemeClr val="hlink"/>
                </a:solidFill>
                <a:hlinkClick r:id="rId6"/>
              </a:rPr>
              <a:t>https://en.wikipedia.org/wiki/DO-297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Overlap in </a:t>
            </a:r>
            <a:r>
              <a:rPr lang="en-GB"/>
              <a:t>safety-related tooling (e.g., coverage/coupling, safety compiler)</a:t>
            </a:r>
            <a:endParaRPr b="1"/>
          </a:p>
        </p:txBody>
      </p:sp>
      <p:pic>
        <p:nvPicPr>
          <p:cNvPr id="798" name="Google Shape;798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7550" y="2803375"/>
            <a:ext cx="878400" cy="8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8"/>
          <p:cNvSpPr txBox="1"/>
          <p:nvPr>
            <p:ph type="title"/>
          </p:nvPr>
        </p:nvSpPr>
        <p:spPr>
          <a:xfrm>
            <a:off x="311700" y="90775"/>
            <a:ext cx="507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ELISA DO-178C safety</a:t>
            </a:r>
            <a:r>
              <a:rPr lang="en-GB"/>
              <a:t> vision</a:t>
            </a:r>
            <a:endParaRPr sz="1900"/>
          </a:p>
        </p:txBody>
      </p:sp>
      <p:pic>
        <p:nvPicPr>
          <p:cNvPr id="804" name="Google Shape;80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78770"/>
            <a:ext cx="7504276" cy="3585481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8"/>
          <p:cNvSpPr txBox="1"/>
          <p:nvPr/>
        </p:nvSpPr>
        <p:spPr>
          <a:xfrm>
            <a:off x="361075" y="599525"/>
            <a:ext cx="585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500">
                <a:solidFill>
                  <a:srgbClr val="434343"/>
                </a:solidFill>
              </a:rPr>
              <a:t>(Draft: Example of mixed </a:t>
            </a:r>
            <a:r>
              <a:rPr i="1" lang="en-GB" sz="1500">
                <a:solidFill>
                  <a:srgbClr val="434343"/>
                </a:solidFill>
              </a:rPr>
              <a:t>safety</a:t>
            </a:r>
            <a:r>
              <a:rPr i="1" lang="en-GB" sz="1500">
                <a:solidFill>
                  <a:srgbClr val="434343"/>
                </a:solidFill>
              </a:rPr>
              <a:t> levels or “mixed </a:t>
            </a:r>
            <a:r>
              <a:rPr i="1" lang="en-GB" sz="1500">
                <a:solidFill>
                  <a:srgbClr val="434343"/>
                </a:solidFill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criticality</a:t>
            </a:r>
            <a:r>
              <a:rPr i="1" lang="en-GB" sz="1500">
                <a:solidFill>
                  <a:srgbClr val="434343"/>
                </a:solidFill>
              </a:rPr>
              <a:t>”)</a:t>
            </a:r>
            <a:endParaRPr i="1" sz="1000"/>
          </a:p>
        </p:txBody>
      </p:sp>
      <p:pic>
        <p:nvPicPr>
          <p:cNvPr id="806" name="Google Shape;80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6800" y="468488"/>
            <a:ext cx="677575" cy="67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8"/>
          <p:cNvSpPr txBox="1"/>
          <p:nvPr/>
        </p:nvSpPr>
        <p:spPr>
          <a:xfrm>
            <a:off x="7453300" y="215575"/>
            <a:ext cx="253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solidFill>
                  <a:srgbClr val="434343"/>
                </a:solidFill>
              </a:rPr>
              <a:t>ELISA June 2026 workshop</a:t>
            </a:r>
            <a:endParaRPr i="1" sz="400"/>
          </a:p>
        </p:txBody>
      </p:sp>
      <p:sp>
        <p:nvSpPr>
          <p:cNvPr id="808" name="Google Shape;808;p8"/>
          <p:cNvSpPr txBox="1"/>
          <p:nvPr/>
        </p:nvSpPr>
        <p:spPr>
          <a:xfrm>
            <a:off x="3176100" y="4639175"/>
            <a:ext cx="596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hlinkClick r:id="rId5"/>
              </a:rPr>
              <a:t>https://github.com/elisa-tech/wg-aerospace/pull/177/changes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DD5E1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df444a03a4_2_96"/>
          <p:cNvSpPr txBox="1"/>
          <p:nvPr>
            <p:ph idx="1" type="body"/>
          </p:nvPr>
        </p:nvSpPr>
        <p:spPr>
          <a:xfrm>
            <a:off x="525500" y="926125"/>
            <a:ext cx="8520600" cy="30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0"/>
          <p:cNvSpPr txBox="1"/>
          <p:nvPr>
            <p:ph type="title"/>
          </p:nvPr>
        </p:nvSpPr>
        <p:spPr>
          <a:xfrm>
            <a:off x="311700" y="2563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Keeping safety cert evergreen (Loud thinking)</a:t>
            </a:r>
            <a:endParaRPr/>
          </a:p>
        </p:txBody>
      </p:sp>
      <p:sp>
        <p:nvSpPr>
          <p:cNvPr id="819" name="Google Shape;819;p40"/>
          <p:cNvSpPr txBox="1"/>
          <p:nvPr>
            <p:ph idx="1" type="body"/>
          </p:nvPr>
        </p:nvSpPr>
        <p:spPr>
          <a:xfrm>
            <a:off x="198500" y="951275"/>
            <a:ext cx="56661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Upstreaming requirements, arch specs and tests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Onboarding new maintainers for the safety artifacts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Code maintainers should not be overburdened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Keeping the code as pristine as possible. 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Lightweight QMS process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Cert credit</a:t>
            </a:r>
            <a:endParaRPr/>
          </a:p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Join us at Xen summit where we align our safety efforts with the wider Xen community</a:t>
            </a:r>
            <a:endParaRPr/>
          </a:p>
        </p:txBody>
      </p:sp>
      <p:sp>
        <p:nvSpPr>
          <p:cNvPr id="820" name="Google Shape;820;p40"/>
          <p:cNvSpPr/>
          <p:nvPr/>
        </p:nvSpPr>
        <p:spPr>
          <a:xfrm>
            <a:off x="5751300" y="1723000"/>
            <a:ext cx="3018300" cy="2812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0"/>
          <p:cNvSpPr txBox="1"/>
          <p:nvPr/>
        </p:nvSpPr>
        <p:spPr>
          <a:xfrm>
            <a:off x="6329800" y="3881725"/>
            <a:ext cx="25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Upstream Xen.git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822" name="Google Shape;822;p40"/>
          <p:cNvSpPr/>
          <p:nvPr/>
        </p:nvSpPr>
        <p:spPr>
          <a:xfrm>
            <a:off x="6292100" y="2284600"/>
            <a:ext cx="1823400" cy="1282800"/>
          </a:xfrm>
          <a:prstGeom prst="rect">
            <a:avLst/>
          </a:prstGeom>
          <a:solidFill>
            <a:srgbClr val="FFF1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Fusa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Reqs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Arch specs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Tests</a:t>
            </a:r>
            <a:endParaRPr/>
          </a:p>
        </p:txBody>
      </p:sp>
      <p:sp>
        <p:nvSpPr>
          <p:cNvPr id="823" name="Google Shape;823;p40"/>
          <p:cNvSpPr/>
          <p:nvPr/>
        </p:nvSpPr>
        <p:spPr>
          <a:xfrm>
            <a:off x="3449950" y="4271575"/>
            <a:ext cx="1559400" cy="70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Xen FuSa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(staging repo)</a:t>
            </a:r>
            <a:endParaRPr/>
          </a:p>
        </p:txBody>
      </p:sp>
      <p:cxnSp>
        <p:nvCxnSpPr>
          <p:cNvPr id="824" name="Google Shape;824;p40"/>
          <p:cNvCxnSpPr>
            <a:stCxn id="823" idx="3"/>
          </p:cNvCxnSpPr>
          <p:nvPr/>
        </p:nvCxnSpPr>
        <p:spPr>
          <a:xfrm flipH="1" rot="10800000">
            <a:off x="5009350" y="3869275"/>
            <a:ext cx="968400" cy="75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5" name="Google Shape;825;p40"/>
          <p:cNvSpPr txBox="1"/>
          <p:nvPr/>
        </p:nvSpPr>
        <p:spPr>
          <a:xfrm>
            <a:off x="5179181" y="4535800"/>
            <a:ext cx="35589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</a:rPr>
              <a:t>To help with upstreaming and show the FuSa dependencies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826" name="Google Shape;826;p40"/>
          <p:cNvSpPr txBox="1"/>
          <p:nvPr/>
        </p:nvSpPr>
        <p:spPr>
          <a:xfrm>
            <a:off x="7788600" y="5654925"/>
            <a:ext cx="72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1"/>
          <p:cNvSpPr txBox="1"/>
          <p:nvPr>
            <p:ph type="title"/>
          </p:nvPr>
        </p:nvSpPr>
        <p:spPr>
          <a:xfrm>
            <a:off x="311700" y="2563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Collaboration</a:t>
            </a:r>
            <a:endParaRPr/>
          </a:p>
        </p:txBody>
      </p:sp>
      <p:sp>
        <p:nvSpPr>
          <p:cNvPr id="832" name="Google Shape;832;p41"/>
          <p:cNvSpPr txBox="1"/>
          <p:nvPr>
            <p:ph idx="4294967295" type="body"/>
          </p:nvPr>
        </p:nvSpPr>
        <p:spPr>
          <a:xfrm>
            <a:off x="311700" y="1007025"/>
            <a:ext cx="40698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develop an open source, upstream safe hypervisor requires a lot of community effort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0" i="0" lang="en-GB" u="none" cap="none" strike="noStrike"/>
              <a:t>Join xen-devel mailing list – All discussion. Reviews happen on the mailing list</a:t>
            </a:r>
            <a:endParaRPr/>
          </a:p>
          <a:p>
            <a:pPr indent="-334328" lvl="0" marL="45720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0" i="0" lang="en-GB" u="none" cap="none" strike="noStrike"/>
              <a:t>Join Xen Functional Safety matrix channel</a:t>
            </a:r>
            <a:endParaRPr/>
          </a:p>
          <a:p>
            <a:pPr indent="-334328" lvl="0" marL="457200" rtl="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●"/>
            </a:pPr>
            <a:r>
              <a:rPr b="0" i="0" lang="en-GB" u="none" cap="none" strike="noStrike"/>
              <a:t>Calls every other Tuesday for members actively working on FuSa</a:t>
            </a:r>
            <a:endParaRPr/>
          </a:p>
        </p:txBody>
      </p:sp>
      <p:pic>
        <p:nvPicPr>
          <p:cNvPr id="833" name="Google Shape;833;p41" title="17784089793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275" y="981500"/>
            <a:ext cx="4661324" cy="35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2"/>
          <p:cNvSpPr txBox="1"/>
          <p:nvPr>
            <p:ph idx="1" type="body"/>
          </p:nvPr>
        </p:nvSpPr>
        <p:spPr>
          <a:xfrm>
            <a:off x="489930" y="493797"/>
            <a:ext cx="39999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-GB"/>
              <a:t>Thanks and Questions. (15 mins)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3"/>
          <p:cNvSpPr txBox="1"/>
          <p:nvPr/>
        </p:nvSpPr>
        <p:spPr>
          <a:xfrm>
            <a:off x="691408" y="821410"/>
            <a:ext cx="3880592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Ayan to do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URLs to xen-devel, xen-project, QR code on each slide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Linux/Zephyr collaboration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Grammer, fonts, diagrams check 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e0c24b62c2_0_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Additional slides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1E8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e0c24b62c2_0_81"/>
          <p:cNvSpPr txBox="1"/>
          <p:nvPr>
            <p:ph type="title"/>
          </p:nvPr>
        </p:nvSpPr>
        <p:spPr>
          <a:xfrm>
            <a:off x="311700" y="28229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Non blocking virtIO</a:t>
            </a:r>
            <a:endParaRPr/>
          </a:p>
        </p:txBody>
      </p:sp>
      <p:sp>
        <p:nvSpPr>
          <p:cNvPr id="854" name="Google Shape;854;g3e0c24b62c2_0_81"/>
          <p:cNvSpPr txBox="1"/>
          <p:nvPr>
            <p:ph idx="1" type="body"/>
          </p:nvPr>
        </p:nvSpPr>
        <p:spPr>
          <a:xfrm>
            <a:off x="311700" y="1046700"/>
            <a:ext cx="85206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Traditionally</a:t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The regular domain is blocked until the hardware domain returns a response.</a:t>
            </a:r>
            <a:endParaRPr/>
          </a:p>
          <a:p>
            <a:pPr indent="0" lvl="0" marL="1143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342900" lvl="0" marL="5600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					</a:t>
            </a:r>
            <a:endParaRPr/>
          </a:p>
        </p:txBody>
      </p:sp>
      <p:sp>
        <p:nvSpPr>
          <p:cNvPr id="855" name="Google Shape;855;g3e0c24b62c2_0_81"/>
          <p:cNvSpPr txBox="1"/>
          <p:nvPr/>
        </p:nvSpPr>
        <p:spPr>
          <a:xfrm>
            <a:off x="311700" y="4021810"/>
            <a:ext cx="4020300" cy="511500"/>
          </a:xfrm>
          <a:prstGeom prst="rect">
            <a:avLst/>
          </a:prstGeom>
          <a:gradFill>
            <a:gsLst>
              <a:gs pos="0">
                <a:srgbClr val="BBBBBB"/>
              </a:gs>
              <a:gs pos="35000">
                <a:srgbClr val="CFCFCF"/>
              </a:gs>
              <a:gs pos="100000">
                <a:srgbClr val="EDEDED"/>
              </a:gs>
            </a:gsLst>
            <a:lin ang="16200038" scaled="0"/>
          </a:gradFill>
          <a:ln cap="flat" cmpd="sng" w="9525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Safety certified Xen – ASIL D / SIL3</a:t>
            </a:r>
            <a:endParaRPr/>
          </a:p>
        </p:txBody>
      </p:sp>
      <p:sp>
        <p:nvSpPr>
          <p:cNvPr id="856" name="Google Shape;856;g3e0c24b62c2_0_81"/>
          <p:cNvSpPr/>
          <p:nvPr/>
        </p:nvSpPr>
        <p:spPr>
          <a:xfrm>
            <a:off x="327184" y="1790055"/>
            <a:ext cx="1232100" cy="2136000"/>
          </a:xfrm>
          <a:prstGeom prst="rect">
            <a:avLst/>
          </a:prstGeom>
          <a:gradFill>
            <a:gsLst>
              <a:gs pos="0">
                <a:srgbClr val="9CE7F5"/>
              </a:gs>
              <a:gs pos="35000">
                <a:srgbClr val="BBEAF6"/>
              </a:gs>
              <a:gs pos="100000">
                <a:srgbClr val="E4F9FC"/>
              </a:gs>
            </a:gsLst>
            <a:lin ang="16200038" scaled="0"/>
          </a:gradFill>
          <a:ln cap="flat" cmpd="sng" w="9525">
            <a:solidFill>
              <a:srgbClr val="0096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domain - Zephyr</a:t>
            </a:r>
            <a:endParaRPr/>
          </a:p>
        </p:txBody>
      </p:sp>
      <p:sp>
        <p:nvSpPr>
          <p:cNvPr id="857" name="Google Shape;857;g3e0c24b62c2_0_81"/>
          <p:cNvSpPr/>
          <p:nvPr/>
        </p:nvSpPr>
        <p:spPr>
          <a:xfrm>
            <a:off x="1674531" y="1790054"/>
            <a:ext cx="1232100" cy="2136000"/>
          </a:xfrm>
          <a:prstGeom prst="rect">
            <a:avLst/>
          </a:prstGeom>
          <a:gradFill>
            <a:gsLst>
              <a:gs pos="0">
                <a:srgbClr val="FFD17D"/>
              </a:gs>
              <a:gs pos="35000">
                <a:srgbClr val="FFDCA3"/>
              </a:gs>
              <a:gs pos="100000">
                <a:srgbClr val="FFF1D8"/>
              </a:gs>
            </a:gsLst>
            <a:lin ang="16200038" scaled="0"/>
          </a:gradFill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domain – VirtIO backend</a:t>
            </a:r>
            <a:endParaRPr/>
          </a:p>
        </p:txBody>
      </p:sp>
      <p:sp>
        <p:nvSpPr>
          <p:cNvPr id="858" name="Google Shape;858;g3e0c24b62c2_0_81"/>
          <p:cNvSpPr/>
          <p:nvPr/>
        </p:nvSpPr>
        <p:spPr>
          <a:xfrm>
            <a:off x="3021878" y="1790054"/>
            <a:ext cx="1308000" cy="2136000"/>
          </a:xfrm>
          <a:prstGeom prst="rect">
            <a:avLst/>
          </a:prstGeom>
          <a:gradFill>
            <a:gsLst>
              <a:gs pos="0">
                <a:srgbClr val="F8F8F8"/>
              </a:gs>
              <a:gs pos="40000">
                <a:srgbClr val="F6F6F6"/>
              </a:gs>
              <a:gs pos="100000">
                <a:srgbClr val="727272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Targetable regular domain – VirtIO frontend</a:t>
            </a:r>
            <a:endParaRPr/>
          </a:p>
        </p:txBody>
      </p:sp>
      <p:sp>
        <p:nvSpPr>
          <p:cNvPr id="859" name="Google Shape;859;g3e0c24b62c2_0_81"/>
          <p:cNvSpPr txBox="1"/>
          <p:nvPr/>
        </p:nvSpPr>
        <p:spPr>
          <a:xfrm>
            <a:off x="3137110" y="3311515"/>
            <a:ext cx="13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 request to the backkend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0" name="Google Shape;860;g3e0c24b62c2_0_81"/>
          <p:cNvCxnSpPr/>
          <p:nvPr/>
        </p:nvCxnSpPr>
        <p:spPr>
          <a:xfrm>
            <a:off x="3567343" y="3680847"/>
            <a:ext cx="0" cy="472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cxnSp>
      <p:sp>
        <p:nvSpPr>
          <p:cNvPr id="861" name="Google Shape;861;g3e0c24b62c2_0_81"/>
          <p:cNvSpPr/>
          <p:nvPr/>
        </p:nvSpPr>
        <p:spPr>
          <a:xfrm>
            <a:off x="1797802" y="3231397"/>
            <a:ext cx="680100" cy="58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B48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Device emulation using Qemu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2" name="Google Shape;862;g3e0c24b62c2_0_81"/>
          <p:cNvCxnSpPr>
            <a:stCxn id="861" idx="2"/>
          </p:cNvCxnSpPr>
          <p:nvPr/>
        </p:nvCxnSpPr>
        <p:spPr>
          <a:xfrm>
            <a:off x="2137852" y="3815797"/>
            <a:ext cx="0" cy="337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863" name="Google Shape;863;g3e0c24b62c2_0_81"/>
          <p:cNvSpPr txBox="1"/>
          <p:nvPr/>
        </p:nvSpPr>
        <p:spPr>
          <a:xfrm>
            <a:off x="6201469" y="4304006"/>
            <a:ext cx="130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Forwards the </a:t>
            </a:r>
            <a:endParaRPr/>
          </a:p>
        </p:txBody>
      </p:sp>
      <p:cxnSp>
        <p:nvCxnSpPr>
          <p:cNvPr id="864" name="Google Shape;864;g3e0c24b62c2_0_81"/>
          <p:cNvCxnSpPr/>
          <p:nvPr/>
        </p:nvCxnSpPr>
        <p:spPr>
          <a:xfrm rot="10800000">
            <a:off x="2379043" y="4096800"/>
            <a:ext cx="11883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65" name="Google Shape;865;g3e0c24b62c2_0_81"/>
          <p:cNvCxnSpPr/>
          <p:nvPr/>
        </p:nvCxnSpPr>
        <p:spPr>
          <a:xfrm rot="10800000">
            <a:off x="2378990" y="3789600"/>
            <a:ext cx="0" cy="3072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866" name="Google Shape;866;g3e0c24b62c2_0_81"/>
          <p:cNvSpPr txBox="1"/>
          <p:nvPr/>
        </p:nvSpPr>
        <p:spPr>
          <a:xfrm>
            <a:off x="5185400" y="2044325"/>
            <a:ext cx="27792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Non blocking virtIO allows the communication to be asynchronous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1E8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e0c24b62c2_0_9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Real Time - Cache coloring</a:t>
            </a:r>
            <a:endParaRPr/>
          </a:p>
        </p:txBody>
      </p:sp>
      <p:sp>
        <p:nvSpPr>
          <p:cNvPr id="872" name="Google Shape;872;g3e0c24b62c2_0_98"/>
          <p:cNvSpPr txBox="1"/>
          <p:nvPr/>
        </p:nvSpPr>
        <p:spPr>
          <a:xfrm>
            <a:off x="140452" y="572700"/>
            <a:ext cx="6206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6213" lvl="0" marL="17621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CPUs clusters often share L2 cache</a:t>
            </a:r>
            <a:endParaRPr/>
          </a:p>
          <a:p>
            <a:pPr indent="-176213" lvl="0" marL="17621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Interference via L2 cache affects performance</a:t>
            </a:r>
            <a:endParaRPr/>
          </a:p>
          <a:p>
            <a:pPr indent="-164784" lvl="1" marL="339566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b="0" i="0" lang="en-GB" sz="13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App0 running on CPU0 can cause cache entries evictions, which affect App1 running on CPU1</a:t>
            </a:r>
            <a:endParaRPr/>
          </a:p>
          <a:p>
            <a:pPr indent="-164784" lvl="1" marL="339566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b="0" i="0" lang="en-GB" sz="13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App1 running on CPU1 could miss a deadline due to App0’s behavior</a:t>
            </a:r>
            <a:endParaRPr/>
          </a:p>
          <a:p>
            <a:pPr indent="-164784" lvl="1" marL="339566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b="0" i="0" lang="en-GB" sz="13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It can happen between Apps running on the same OS &amp; between VMs on the same hypervisor</a:t>
            </a:r>
            <a:endParaRPr/>
          </a:p>
          <a:p>
            <a:pPr indent="-176213" lvl="0" marL="17621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Hypervisor Solution: Cache Partitioning,</a:t>
            </a:r>
            <a:b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AKA </a:t>
            </a:r>
            <a:r>
              <a:rPr b="1" i="0" lang="en-GB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Cache Coloring</a:t>
            </a:r>
            <a:endParaRPr/>
          </a:p>
          <a:p>
            <a:pPr indent="-164784" lvl="1" marL="339566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b="0" i="0" lang="en-GB" sz="13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Each VM gets its own allocation of cache entries</a:t>
            </a:r>
            <a:endParaRPr/>
          </a:p>
          <a:p>
            <a:pPr indent="-164784" lvl="1" marL="339566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b="0" i="0" lang="en-GB" sz="13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 shared cache entries between VMs</a:t>
            </a:r>
            <a:endParaRPr/>
          </a:p>
          <a:p>
            <a:pPr indent="-164784" lvl="1" marL="339566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</a:pPr>
            <a:r>
              <a:rPr b="0" i="0" lang="en-GB" sz="13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Allows real-time apps to run with deterministic IRQ latency</a:t>
            </a:r>
            <a:endParaRPr/>
          </a:p>
        </p:txBody>
      </p:sp>
      <p:pic>
        <p:nvPicPr>
          <p:cNvPr id="873" name="Google Shape;873;g3e0c24b62c2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9252" y="715300"/>
            <a:ext cx="2883048" cy="297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1E8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e0c24b62c2_0_104"/>
          <p:cNvSpPr txBox="1"/>
          <p:nvPr>
            <p:ph type="title"/>
          </p:nvPr>
        </p:nvSpPr>
        <p:spPr>
          <a:xfrm>
            <a:off x="792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Fine Granular configs to reduce SLoC</a:t>
            </a:r>
            <a:endParaRPr/>
          </a:p>
        </p:txBody>
      </p:sp>
      <p:sp>
        <p:nvSpPr>
          <p:cNvPr id="879" name="Google Shape;879;g3e0c24b62c2_0_104"/>
          <p:cNvSpPr txBox="1"/>
          <p:nvPr>
            <p:ph idx="1" type="body"/>
          </p:nvPr>
        </p:nvSpPr>
        <p:spPr>
          <a:xfrm>
            <a:off x="5145439" y="3254644"/>
            <a:ext cx="41517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200"/>
              <a:t>Add configs to eliminate code related to unsupported hardware features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 sz="1200"/>
              <a:t>GICv3 NR_LRS</a:t>
            </a:r>
            <a:endParaRPr/>
          </a:p>
          <a:p>
            <a:pPr indent="-317500" lvl="1" marL="91440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GB" sz="1200"/>
              <a:t>GICv3 Num of priorities</a:t>
            </a:r>
            <a:endParaRPr/>
          </a:p>
        </p:txBody>
      </p:sp>
      <p:pic>
        <p:nvPicPr>
          <p:cNvPr id="880" name="Google Shape;880;g3e0c24b62c2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183" y="572699"/>
            <a:ext cx="4950255" cy="2588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g3e0c24b62c2_0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5601" y="568294"/>
            <a:ext cx="4246537" cy="268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g3e0c24b62c2_0_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7106" y="3377527"/>
            <a:ext cx="2578233" cy="1054154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g3e0c24b62c2_0_104"/>
          <p:cNvSpPr txBox="1"/>
          <p:nvPr/>
        </p:nvSpPr>
        <p:spPr>
          <a:xfrm>
            <a:off x="3009429" y="4534368"/>
            <a:ext cx="6350700" cy="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hlink"/>
                </a:solidFill>
                <a:hlinkClick r:id="rId6"/>
              </a:rPr>
              <a:t>https://patchew.org/Xen/20260318140900.3795710-1-ayan.kumar.halder@amd.com/</a:t>
            </a:r>
            <a:endParaRPr sz="12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e0c24b62c2_0_33"/>
          <p:cNvSpPr txBox="1"/>
          <p:nvPr/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LibAFL + QEMU​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g3e0c24b62c2_0_33"/>
          <p:cNvSpPr txBox="1"/>
          <p:nvPr/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QEMU provides "snapshot" feature which allows us tighten main loop, as no reboots are needed:​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​Spawn QEMU​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Boot SUT (Xen + XTF test harness in our case)​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harness requests test input. At this point snapshot is created​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Fuzzer provides input to the test harness​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is passed to Xen. Code coverage is measured​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harness submits test result (fail/no fail) + code coverage data to the fuzzer​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Fuzzer prepares new input and restores snapshot at p.3​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makes fuzzing faster as it eliminates boot times (steps 1-3)​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g3e0c24b62c2_0_33"/>
          <p:cNvSpPr/>
          <p:nvPr/>
        </p:nvSpPr>
        <p:spPr>
          <a:xfrm flipH="1" rot="5400000">
            <a:off x="6208930" y="1898890"/>
            <a:ext cx="1105200" cy="2031900"/>
          </a:xfrm>
          <a:prstGeom prst="uturnArrow">
            <a:avLst>
              <a:gd fmla="val 4675" name="adj1"/>
              <a:gd fmla="val 5542" name="adj2"/>
              <a:gd fmla="val 14457" name="adj3"/>
              <a:gd fmla="val 22248" name="adj4"/>
              <a:gd fmla="val 65208" name="adj5"/>
            </a:avLst>
          </a:prstGeom>
          <a:solidFill>
            <a:srgbClr val="777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e0c24b62c2_0_39"/>
          <p:cNvSpPr txBox="1"/>
          <p:nvPr/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fuzzing​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g3e0c24b62c2_0_39"/>
          <p:cNvSpPr txBox="1"/>
          <p:nvPr/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simplest type of input is homogenous byte buffer without internal structure. We hope that fuzzer will determine structure by itself. Works surprisingly well (we even found </a:t>
            </a:r>
            <a:r>
              <a:rPr lang="en-GB" sz="1800"/>
              <a:t>some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crashes using this technique)​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fuzzing: fuzzer is aware of internal structure of a request, which allows it to submit more valid requests and mutate them in a meaningful way:​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g3e0c24b62c2_0_39"/>
          <p:cNvSpPr txBox="1"/>
          <p:nvPr/>
        </p:nvSpPr>
        <p:spPr>
          <a:xfrm>
            <a:off x="5131652" y="2867586"/>
            <a:ext cx="2555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example, fuzzer can target specifically "remote_dom" field and use special values like DOMID_SELF​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g3e0c24b62c2_0_39"/>
          <p:cNvSpPr txBox="1"/>
          <p:nvPr/>
        </p:nvSpPr>
        <p:spPr>
          <a:xfrm>
            <a:off x="1118452" y="2821589"/>
            <a:ext cx="26112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struct evtchn_bind_interdomain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/* IN parameters.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domid_t remote_dom;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evtchn_port_t remote_port;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/* OUT parameters.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evtchn_port_t local_port;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cxnSp>
        <p:nvCxnSpPr>
          <p:cNvPr id="899" name="Google Shape;899;g3e0c24b62c2_0_39"/>
          <p:cNvCxnSpPr/>
          <p:nvPr/>
        </p:nvCxnSpPr>
        <p:spPr>
          <a:xfrm rot="10800000">
            <a:off x="2865889" y="3250511"/>
            <a:ext cx="2066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0" name="Google Shape;900;g3e0c24b62c2_0_39"/>
          <p:cNvSpPr/>
          <p:nvPr/>
        </p:nvSpPr>
        <p:spPr>
          <a:xfrm>
            <a:off x="5034145" y="2922763"/>
            <a:ext cx="45600" cy="832200"/>
          </a:xfrm>
          <a:prstGeom prst="leftBracket">
            <a:avLst>
              <a:gd fmla="val 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e0c24b62c2_0_48"/>
          <p:cNvSpPr txBox="1"/>
          <p:nvPr/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Coverage​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e0c24b62c2_0_48"/>
          <p:cNvSpPr txBox="1"/>
          <p:nvPr/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LibAFL can collect coverage data on machine instruction level using QEMUs own JIT translator (TCG). ​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we use Xen's own coverage collection mechanism "xencov", both as fuzzer feedback and as metrics to evaluate fuzzing session.​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7" name="Google Shape;907;g3e0c24b62c2_0_48" title="libafl-qemu-x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075" y="2512625"/>
            <a:ext cx="4311575" cy="20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e0c24b62c2_0_54"/>
          <p:cNvSpPr txBox="1"/>
          <p:nvPr/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MC/DC collection workflow</a:t>
            </a:r>
            <a:endParaRPr/>
          </a:p>
        </p:txBody>
      </p:sp>
      <p:sp>
        <p:nvSpPr>
          <p:cNvPr id="913" name="Google Shape;913;g3e0c24b62c2_0_54"/>
          <p:cNvSpPr txBox="1"/>
          <p:nvPr/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AST to find decisions and conditions, collect expression structure, variable names, code locations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this data with DWARF information to identify binary code ranges that correspond to boolean expressions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Disassemble binary code and match it to structure of boolean expressions of interest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data from the previous step to generate list of PC locations (and corresponding auxiliary data) for QEMU plugin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QEMU plugin traces code execution, uses auxiliary data to determine result of each condition and provides tracing output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Separate tool analyzes trace to provide MC/DC report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e0c24b62c2_0_59"/>
          <p:cNvSpPr txBox="1"/>
          <p:nvPr/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Implementation nuances</a:t>
            </a:r>
            <a:endParaRPr/>
          </a:p>
        </p:txBody>
      </p:sp>
      <p:sp>
        <p:nvSpPr>
          <p:cNvPr id="919" name="Google Shape;919;g3e0c24b62c2_0_59"/>
          <p:cNvSpPr txBox="1"/>
          <p:nvPr/>
        </p:nvSpPr>
        <p:spPr>
          <a:xfrm>
            <a:off x="629842" y="1095179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Caveats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e0c24b62c2_0_59"/>
          <p:cNvSpPr txBox="1"/>
          <p:nvPr/>
        </p:nvSpPr>
        <p:spPr>
          <a:xfrm>
            <a:off x="629842" y="1713113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binary to be built without any optimizations (-O0)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depend on compiler (we are focusing on Arm Compiler for Embedded, which is based on clang 22.1)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easily handle complex macros (TBH, GCC's own analyzer struggles with this as well)</a:t>
            </a:r>
            <a:endParaRPr/>
          </a:p>
          <a:p>
            <a:pPr indent="-698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3e0c24b62c2_0_59"/>
          <p:cNvSpPr txBox="1"/>
          <p:nvPr/>
        </p:nvSpPr>
        <p:spPr>
          <a:xfrm>
            <a:off x="4629150" y="1095179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e0c24b62c2_0_59"/>
          <p:cNvSpPr txBox="1"/>
          <p:nvPr/>
        </p:nvSpPr>
        <p:spPr>
          <a:xfrm>
            <a:off x="4629150" y="1713113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require code modification (except enabling compilation with -O0)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provide better results than LLVM's own MC/DC analyzer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Execution is traced externally: Software Under Test can't inadvertently alter counters due to </a:t>
            </a:r>
            <a:r>
              <a:rPr lang="en-GB" sz="1600"/>
              <a:t>subtle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defects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Execution is traced externally: tracing data will be present even if SUT crashes</a:t>
            </a:r>
            <a:endParaRPr/>
          </a:p>
          <a:p>
            <a:pPr indent="-698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e0c24b62c2_0_67"/>
          <p:cNvSpPr txBox="1"/>
          <p:nvPr/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code matching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e0c24b62c2_0_67"/>
          <p:cNvSpPr txBox="1"/>
          <p:nvPr/>
        </p:nvSpPr>
        <p:spPr>
          <a:xfrm>
            <a:off x="311760" y="1152361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Thanks to -O0, clang generates very predictable binary code structure: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Thanks to DWARF we can match variables (and cross-check code locations)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e0c24b62c2_0_67"/>
          <p:cNvSpPr txBox="1"/>
          <p:nvPr/>
        </p:nvSpPr>
        <p:spPr>
          <a:xfrm>
            <a:off x="512651" y="1626479"/>
            <a:ext cx="43161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ac4:       385ef3a8        ldurb   w8, [x29, #-17]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ac8:       37000148        tbnz    w8, #0, af0 &lt;main+0x38c&gt;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acc:       14000001        b       ad0 &lt;main+0x36c&gt;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ad0:       385ee3a8        ldurb   w8, [x29, #-18]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ad4:       370000e8        tbnz    w8, #0, af0 &lt;main+0x38c&gt;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ad8:       14000001        b       adc &lt;main+0x378&gt;</a:t>
            </a:r>
            <a:endParaRPr/>
          </a:p>
        </p:txBody>
      </p:sp>
      <p:sp>
        <p:nvSpPr>
          <p:cNvPr id="930" name="Google Shape;930;g3e0c24b62c2_0_67"/>
          <p:cNvSpPr txBox="1"/>
          <p:nvPr/>
        </p:nvSpPr>
        <p:spPr>
          <a:xfrm>
            <a:off x="5104508" y="1626479"/>
            <a:ext cx="3098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Load variable ( 'a' from the previous slide)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 op + short circuit ( !a &amp;&amp; ...)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 to next sub-expression</a:t>
            </a:r>
            <a:endParaRPr/>
          </a:p>
        </p:txBody>
      </p:sp>
      <p:sp>
        <p:nvSpPr>
          <p:cNvPr id="931" name="Google Shape;931;g3e0c24b62c2_0_67"/>
          <p:cNvSpPr txBox="1"/>
          <p:nvPr/>
        </p:nvSpPr>
        <p:spPr>
          <a:xfrm>
            <a:off x="5104508" y="2242032"/>
            <a:ext cx="3098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Load variable ( 'b' from the previous slide example)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 op + short circuit ( !b &amp;&amp; ...)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 to next sub-expression</a:t>
            </a:r>
            <a:endParaRPr/>
          </a:p>
        </p:txBody>
      </p:sp>
      <p:sp>
        <p:nvSpPr>
          <p:cNvPr id="932" name="Google Shape;932;g3e0c24b62c2_0_67"/>
          <p:cNvSpPr txBox="1"/>
          <p:nvPr/>
        </p:nvSpPr>
        <p:spPr>
          <a:xfrm>
            <a:off x="512651" y="3494850"/>
            <a:ext cx="43161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0x000001cc:     DW_TAG_variable</a:t>
            </a:r>
            <a:endParaRPr b="0" i="0" sz="1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  DW_AT_location        (DW_OP_fbreg -17)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  DW_AT_name    ("a")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  DW_AT_decl_file       ("test2.c")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  DW_AT_decl_line       (13)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  DW_AT_type    (0x00000228 "_Bool")</a:t>
            </a:r>
            <a:endParaRPr/>
          </a:p>
        </p:txBody>
      </p:sp>
      <p:sp>
        <p:nvSpPr>
          <p:cNvPr id="933" name="Google Shape;933;g3e0c24b62c2_0_67"/>
          <p:cNvSpPr txBox="1"/>
          <p:nvPr/>
        </p:nvSpPr>
        <p:spPr>
          <a:xfrm>
            <a:off x="5104508" y="3670029"/>
            <a:ext cx="2771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&lt;= matches  [x29, #-17] from disassembly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&lt;= variable name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