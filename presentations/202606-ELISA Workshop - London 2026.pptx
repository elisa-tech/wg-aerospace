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Lst>
  <p:sldSz cy="5143500" cx="9144000"/>
  <p:notesSz cx="6858000" cy="9144000"/>
  <p:embeddedFontLst>
    <p:embeddedFont>
      <p:font typeface="Architects Daughter"/>
      <p:regular r:id="rId76"/>
    </p:embeddedFont>
    <p:embeddedFont>
      <p:font typeface="Roboto"/>
      <p:regular r:id="rId77"/>
      <p:bold r:id="rId78"/>
      <p:italic r:id="rId79"/>
      <p:boldItalic r:id="rId80"/>
    </p:embeddedFont>
    <p:embeddedFont>
      <p:font typeface="Arial Narrow"/>
      <p:regular r:id="rId81"/>
      <p:bold r:id="rId82"/>
      <p:italic r:id="rId83"/>
      <p:boldItalic r:id="rId84"/>
    </p:embeddedFont>
    <p:embeddedFont>
      <p:font typeface="Roboto Mono"/>
      <p:regular r:id="rId85"/>
      <p:bold r:id="rId86"/>
      <p:italic r:id="rId87"/>
      <p:boldItalic r:id="rId8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89" roundtripDataSignature="AMtx7mh3i51t1rSIlcBMJrPumFcOuLax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888012-E6CA-474D-B1AD-6F53D1D76992}">
  <a:tblStyle styleId="{CF888012-E6CA-474D-B1AD-6F53D1D7699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ArialNarrow-boldItalic.fntdata"/><Relationship Id="rId83" Type="http://schemas.openxmlformats.org/officeDocument/2006/relationships/font" Target="fonts/ArialNarrow-italic.fntdata"/><Relationship Id="rId42" Type="http://schemas.openxmlformats.org/officeDocument/2006/relationships/slide" Target="slides/slide36.xml"/><Relationship Id="rId86" Type="http://schemas.openxmlformats.org/officeDocument/2006/relationships/font" Target="fonts/RobotoMono-bold.fntdata"/><Relationship Id="rId41" Type="http://schemas.openxmlformats.org/officeDocument/2006/relationships/slide" Target="slides/slide35.xml"/><Relationship Id="rId85" Type="http://schemas.openxmlformats.org/officeDocument/2006/relationships/font" Target="fonts/RobotoMono-regular.fntdata"/><Relationship Id="rId44" Type="http://schemas.openxmlformats.org/officeDocument/2006/relationships/slide" Target="slides/slide38.xml"/><Relationship Id="rId88" Type="http://schemas.openxmlformats.org/officeDocument/2006/relationships/font" Target="fonts/RobotoMono-boldItalic.fntdata"/><Relationship Id="rId43" Type="http://schemas.openxmlformats.org/officeDocument/2006/relationships/slide" Target="slides/slide37.xml"/><Relationship Id="rId87" Type="http://schemas.openxmlformats.org/officeDocument/2006/relationships/font" Target="fonts/RobotoMono-italic.fntdata"/><Relationship Id="rId46" Type="http://schemas.openxmlformats.org/officeDocument/2006/relationships/slide" Target="slides/slide40.xml"/><Relationship Id="rId45" Type="http://schemas.openxmlformats.org/officeDocument/2006/relationships/slide" Target="slides/slide39.xml"/><Relationship Id="rId89" Type="http://customschemas.google.com/relationships/presentationmetadata" Target="metadata"/><Relationship Id="rId80" Type="http://schemas.openxmlformats.org/officeDocument/2006/relationships/font" Target="fonts/Roboto-boldItalic.fntdata"/><Relationship Id="rId82" Type="http://schemas.openxmlformats.org/officeDocument/2006/relationships/font" Target="fonts/ArialNarrow-bold.fntdata"/><Relationship Id="rId81" Type="http://schemas.openxmlformats.org/officeDocument/2006/relationships/font" Target="fonts/ArialNarrow-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font" Target="fonts/Roboto-regular.fntdata"/><Relationship Id="rId32" Type="http://schemas.openxmlformats.org/officeDocument/2006/relationships/slide" Target="slides/slide26.xml"/><Relationship Id="rId76" Type="http://schemas.openxmlformats.org/officeDocument/2006/relationships/font" Target="fonts/ArchitectsDaughter-regular.fntdata"/><Relationship Id="rId35" Type="http://schemas.openxmlformats.org/officeDocument/2006/relationships/slide" Target="slides/slide29.xml"/><Relationship Id="rId79" Type="http://schemas.openxmlformats.org/officeDocument/2006/relationships/font" Target="fonts/Roboto-italic.fntdata"/><Relationship Id="rId34" Type="http://schemas.openxmlformats.org/officeDocument/2006/relationships/slide" Target="slides/slide28.xml"/><Relationship Id="rId78" Type="http://schemas.openxmlformats.org/officeDocument/2006/relationships/font" Target="fonts/Roboto-bold.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d1c26bf42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d1c26bf42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e8ad9642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e8ad9642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Change the position of guidelines, </a:t>
            </a:r>
            <a:br>
              <a:rPr lang="en-GB"/>
            </a:br>
            <a:r>
              <a:rPr lang="en-GB"/>
              <a:t>ARP 4754, DO-178C, DO-254 —-&gt; Avionics</a:t>
            </a:r>
            <a:br>
              <a:rPr lang="en-GB"/>
            </a:br>
            <a:br>
              <a:rPr lang="en-GB"/>
            </a:br>
            <a:r>
              <a:rPr lang="en-GB"/>
              <a:t>ISO 26262 —-&gt; automotive</a:t>
            </a:r>
            <a:br>
              <a:rPr lang="en-GB"/>
            </a:br>
            <a:br>
              <a:rPr lang="en-GB"/>
            </a:br>
            <a:r>
              <a:rPr lang="en-GB"/>
              <a:t>NASA standard → space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d1c26bf4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ed1c26bf4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RTDS – a static table defining the time budget , ARINC 653 is similar to RTDS </a:t>
            </a:r>
            <a:endParaRPr/>
          </a:p>
        </p:txBody>
      </p:sp>
      <p:sp>
        <p:nvSpPr>
          <p:cNvPr id="147" name="Google Shape;147;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Do not go into detail Targetable , untargetable , just explain the concept , key takeaway the concept of privilege to explain safety vs non safety</a:t>
            </a:r>
            <a:endParaRPr/>
          </a:p>
        </p:txBody>
      </p:sp>
      <p:sp>
        <p:nvSpPr>
          <p:cNvPr id="199" name="Google Shape;199;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e5c2ad4d7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e5c2ad4d7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e5c2ad4d7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e5c2ad4d7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Artem to add safety compiler</a:t>
            </a:r>
            <a:endParaRPr/>
          </a:p>
        </p:txBody>
      </p:sp>
      <p:sp>
        <p:nvSpPr>
          <p:cNvPr id="275" name="Google Shape;275;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2" name="Google Shape;302;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e73d0571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e73d0571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Highlight the “Architecture &amp; Design”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eca4397e55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eca4397e55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Remove the highlighting from “Requirements”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We do domain based tests and software in the loop (using Qemu) test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Walkthrough with an actual example a domain based test</a:t>
            </a:r>
            <a:endParaRPr/>
          </a:p>
        </p:txBody>
      </p:sp>
      <p:sp>
        <p:nvSpPr>
          <p:cNvPr id="365" name="Google Shape;365;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Walkthrough the slides</a:t>
            </a:r>
            <a:endParaRPr/>
          </a:p>
        </p:txBody>
      </p:sp>
      <p:sp>
        <p:nvSpPr>
          <p:cNvPr id="377" name="Google Shape;377;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Walkthrough</a:t>
            </a:r>
            <a:endParaRPr/>
          </a:p>
        </p:txBody>
      </p:sp>
      <p:sp>
        <p:nvSpPr>
          <p:cNvPr id="388" name="Google Shape;388;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8" name="Google Shape;418;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Move after conclusion</a:t>
            </a:r>
            <a:endParaRPr/>
          </a:p>
        </p:txBody>
      </p:sp>
      <p:sp>
        <p:nvSpPr>
          <p:cNvPr id="437" name="Google Shape;437;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ed2fd418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ed2fd418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eca4397e55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eca4397e55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e5c2ad4d7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e5c2ad4d7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Diagrams are all pushed to - https://github.com/elisa-tech/wg-aerospace/pull/177/changes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eca4397e55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eca4397e55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Diagrams are all pushed to - https://github.com/elisa-tech/wg-aerospace/pull/177/changes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eca4397e55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eca4397e55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Diagrams are all pushed to - https://github.com/elisa-tech/wg-aerospace/pull/177/changes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eca4397e55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eca4397e55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Diagrams</a:t>
            </a:r>
            <a:r>
              <a:rPr lang="en-GB"/>
              <a:t> are all pushed to - https://github.com/elisa-tech/wg-aerospace/pull/177/changes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eca4397e55_1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g3eca4397e55_1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Diagrams are all pushed to - https://github.com/elisa-tech/wg-aerospace/pull/177/changes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Process related documents, introduce QMS</a:t>
            </a:r>
            <a:br>
              <a:rPr lang="en-GB"/>
            </a:br>
            <a:r>
              <a:rPr lang="en-GB"/>
              <a:t>Definition of QMS, versioning, AI based rules, openfastrace rules,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8ad9642dd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2" name="Google Shape;512;g3e8ad9642dd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e5c2ad4d7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e5c2ad4d7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e8ad9642d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e8ad9642d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e5c2ad4d7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e5c2ad4d7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b5b8f7ee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eb5b8f7ee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7" name="Google Shape;547;p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ed1c26bf42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5" name="Google Shape;565;g3ed1c26bf4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eca4397e55_1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1" name="Google Shape;641;g3eca4397e55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8" name="Google Shape;648;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3" name="Google Shape;653;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8" name="Google Shape;658;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6" name="Google Shape;676;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Move to the conclusion after QnA</a:t>
            </a:r>
            <a:endParaRPr/>
          </a:p>
        </p:txBody>
      </p:sp>
      <p:sp>
        <p:nvSpPr>
          <p:cNvPr id="683" name="Google Shape;683;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3" name="Google Shape;693;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3" name="Google Shape;703;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3" name="Google Shape;713;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0" name="Google Shape;720;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6" name="Google Shape;726;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5" name="Google Shape;735;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6" name="Google Shape;746;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e5c2ad4d7e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0" name="Google Shape;750;g3e5c2ad4d7e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e5c2ad4d7e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7" name="Google Shape;757;g3e5c2ad4d7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5c2ad4d7e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9" name="Google Shape;769;g3e5c2ad4d7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e5c2ad4d7e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6" name="Google Shape;786;g3e5c2ad4d7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2" name="Google Shape;792;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0" name="Google Shape;800;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6" name="Google Shape;806;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1" name="Google Shape;81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5" name="Google Shape;835;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ed1c26bf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3ed1c26bf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Mention about the AoU about the SoC/firmware for partitioning system, performance, mixed levels of safety (for VMs)</a:t>
            </a:r>
            <a:endParaRPr/>
          </a:p>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e8ad9642d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3e8ad9642d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Not use A, B – only use the color tags, slide 18 is the talking point for slide 19</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 name="Shape 10"/>
        <p:cNvGrpSpPr/>
        <p:nvPr/>
      </p:nvGrpSpPr>
      <p:grpSpPr>
        <a:xfrm>
          <a:off x="0" y="0"/>
          <a:ext cx="0" cy="0"/>
          <a:chOff x="0" y="0"/>
          <a:chExt cx="0" cy="0"/>
        </a:xfrm>
      </p:grpSpPr>
      <p:sp>
        <p:nvSpPr>
          <p:cNvPr id="11" name="Google Shape;11;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 name="Google Shape;12;p6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 name="Google Shape;13;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1">
  <p:cSld name="Title slide 1 1">
    <p:bg>
      <p:bgPr>
        <a:solidFill>
          <a:schemeClr val="accent2"/>
        </a:solidFill>
      </p:bgPr>
    </p:bg>
    <p:spTree>
      <p:nvGrpSpPr>
        <p:cNvPr id="14" name="Shape 14"/>
        <p:cNvGrpSpPr/>
        <p:nvPr/>
      </p:nvGrpSpPr>
      <p:grpSpPr>
        <a:xfrm>
          <a:off x="0" y="0"/>
          <a:ext cx="0" cy="0"/>
          <a:chOff x="0" y="0"/>
          <a:chExt cx="0" cy="0"/>
        </a:xfrm>
      </p:grpSpPr>
      <p:sp>
        <p:nvSpPr>
          <p:cNvPr id="15" name="Google Shape;15;p67"/>
          <p:cNvSpPr txBox="1"/>
          <p:nvPr>
            <p:ph type="ctrTitle"/>
          </p:nvPr>
        </p:nvSpPr>
        <p:spPr>
          <a:xfrm>
            <a:off x="360875" y="1289575"/>
            <a:ext cx="8505000" cy="1582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FFFFFF"/>
              </a:buClr>
              <a:buSzPts val="4800"/>
              <a:buNone/>
              <a:defRPr sz="4800">
                <a:solidFill>
                  <a:srgbClr val="FFFFFF"/>
                </a:solidFill>
              </a:defRPr>
            </a:lvl1pPr>
            <a:lvl2pPr lvl="1" algn="l">
              <a:lnSpc>
                <a:spcPct val="100000"/>
              </a:lnSpc>
              <a:spcBef>
                <a:spcPts val="0"/>
              </a:spcBef>
              <a:spcAft>
                <a:spcPts val="0"/>
              </a:spcAft>
              <a:buClr>
                <a:srgbClr val="FFFFFF"/>
              </a:buClr>
              <a:buSzPts val="5200"/>
              <a:buNone/>
              <a:defRPr sz="5200">
                <a:solidFill>
                  <a:srgbClr val="FFFFFF"/>
                </a:solidFill>
              </a:defRPr>
            </a:lvl2pPr>
            <a:lvl3pPr lvl="2" algn="l">
              <a:lnSpc>
                <a:spcPct val="100000"/>
              </a:lnSpc>
              <a:spcBef>
                <a:spcPts val="0"/>
              </a:spcBef>
              <a:spcAft>
                <a:spcPts val="0"/>
              </a:spcAft>
              <a:buClr>
                <a:srgbClr val="FFFFFF"/>
              </a:buClr>
              <a:buSzPts val="5200"/>
              <a:buNone/>
              <a:defRPr sz="5200">
                <a:solidFill>
                  <a:srgbClr val="FFFFFF"/>
                </a:solidFill>
              </a:defRPr>
            </a:lvl3pPr>
            <a:lvl4pPr lvl="3" algn="l">
              <a:lnSpc>
                <a:spcPct val="100000"/>
              </a:lnSpc>
              <a:spcBef>
                <a:spcPts val="0"/>
              </a:spcBef>
              <a:spcAft>
                <a:spcPts val="0"/>
              </a:spcAft>
              <a:buClr>
                <a:srgbClr val="FFFFFF"/>
              </a:buClr>
              <a:buSzPts val="5200"/>
              <a:buNone/>
              <a:defRPr sz="5200">
                <a:solidFill>
                  <a:srgbClr val="FFFFFF"/>
                </a:solidFill>
              </a:defRPr>
            </a:lvl4pPr>
            <a:lvl5pPr lvl="4" algn="l">
              <a:lnSpc>
                <a:spcPct val="100000"/>
              </a:lnSpc>
              <a:spcBef>
                <a:spcPts val="0"/>
              </a:spcBef>
              <a:spcAft>
                <a:spcPts val="0"/>
              </a:spcAft>
              <a:buClr>
                <a:srgbClr val="FFFFFF"/>
              </a:buClr>
              <a:buSzPts val="5200"/>
              <a:buNone/>
              <a:defRPr sz="5200">
                <a:solidFill>
                  <a:srgbClr val="FFFFFF"/>
                </a:solidFill>
              </a:defRPr>
            </a:lvl5pPr>
            <a:lvl6pPr lvl="5" algn="l">
              <a:lnSpc>
                <a:spcPct val="100000"/>
              </a:lnSpc>
              <a:spcBef>
                <a:spcPts val="0"/>
              </a:spcBef>
              <a:spcAft>
                <a:spcPts val="0"/>
              </a:spcAft>
              <a:buClr>
                <a:srgbClr val="FFFFFF"/>
              </a:buClr>
              <a:buSzPts val="5200"/>
              <a:buNone/>
              <a:defRPr sz="5200">
                <a:solidFill>
                  <a:srgbClr val="FFFFFF"/>
                </a:solidFill>
              </a:defRPr>
            </a:lvl6pPr>
            <a:lvl7pPr lvl="6" algn="l">
              <a:lnSpc>
                <a:spcPct val="100000"/>
              </a:lnSpc>
              <a:spcBef>
                <a:spcPts val="0"/>
              </a:spcBef>
              <a:spcAft>
                <a:spcPts val="0"/>
              </a:spcAft>
              <a:buClr>
                <a:srgbClr val="FFFFFF"/>
              </a:buClr>
              <a:buSzPts val="5200"/>
              <a:buNone/>
              <a:defRPr sz="5200">
                <a:solidFill>
                  <a:srgbClr val="FFFFFF"/>
                </a:solidFill>
              </a:defRPr>
            </a:lvl7pPr>
            <a:lvl8pPr lvl="7" algn="l">
              <a:lnSpc>
                <a:spcPct val="100000"/>
              </a:lnSpc>
              <a:spcBef>
                <a:spcPts val="0"/>
              </a:spcBef>
              <a:spcAft>
                <a:spcPts val="0"/>
              </a:spcAft>
              <a:buClr>
                <a:srgbClr val="FFFFFF"/>
              </a:buClr>
              <a:buSzPts val="5200"/>
              <a:buNone/>
              <a:defRPr sz="5200">
                <a:solidFill>
                  <a:srgbClr val="FFFFFF"/>
                </a:solidFill>
              </a:defRPr>
            </a:lvl8pPr>
            <a:lvl9pPr lvl="8" algn="l">
              <a:lnSpc>
                <a:spcPct val="100000"/>
              </a:lnSpc>
              <a:spcBef>
                <a:spcPts val="0"/>
              </a:spcBef>
              <a:spcAft>
                <a:spcPts val="0"/>
              </a:spcAft>
              <a:buClr>
                <a:srgbClr val="FFFFFF"/>
              </a:buClr>
              <a:buSzPts val="5200"/>
              <a:buNone/>
              <a:defRPr sz="5200">
                <a:solidFill>
                  <a:srgbClr val="FFFFFF"/>
                </a:solidFill>
              </a:defRPr>
            </a:lvl9pPr>
          </a:lstStyle>
          <a:p/>
        </p:txBody>
      </p:sp>
      <p:sp>
        <p:nvSpPr>
          <p:cNvPr id="16" name="Google Shape;16;p67"/>
          <p:cNvSpPr txBox="1"/>
          <p:nvPr>
            <p:ph idx="1" type="subTitle"/>
          </p:nvPr>
        </p:nvSpPr>
        <p:spPr>
          <a:xfrm>
            <a:off x="436425" y="2871725"/>
            <a:ext cx="4625400" cy="7926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FFFFFF"/>
              </a:buClr>
              <a:buSzPts val="2400"/>
              <a:buNone/>
              <a:defRPr sz="2400">
                <a:solidFill>
                  <a:srgbClr val="FFFFFF"/>
                </a:solidFill>
              </a:defRPr>
            </a:lvl1pPr>
            <a:lvl2pPr lvl="1" algn="l">
              <a:lnSpc>
                <a:spcPct val="100000"/>
              </a:lnSpc>
              <a:spcBef>
                <a:spcPts val="0"/>
              </a:spcBef>
              <a:spcAft>
                <a:spcPts val="0"/>
              </a:spcAft>
              <a:buClr>
                <a:srgbClr val="FFFFFF"/>
              </a:buClr>
              <a:buSzPts val="2400"/>
              <a:buNone/>
              <a:defRPr sz="2400">
                <a:solidFill>
                  <a:srgbClr val="FFFFFF"/>
                </a:solidFill>
              </a:defRPr>
            </a:lvl2pPr>
            <a:lvl3pPr lvl="2" algn="l">
              <a:lnSpc>
                <a:spcPct val="100000"/>
              </a:lnSpc>
              <a:spcBef>
                <a:spcPts val="0"/>
              </a:spcBef>
              <a:spcAft>
                <a:spcPts val="0"/>
              </a:spcAft>
              <a:buClr>
                <a:srgbClr val="FFFFFF"/>
              </a:buClr>
              <a:buSzPts val="2400"/>
              <a:buNone/>
              <a:defRPr sz="2400">
                <a:solidFill>
                  <a:srgbClr val="FFFFFF"/>
                </a:solidFill>
              </a:defRPr>
            </a:lvl3pPr>
            <a:lvl4pPr lvl="3" algn="l">
              <a:lnSpc>
                <a:spcPct val="100000"/>
              </a:lnSpc>
              <a:spcBef>
                <a:spcPts val="0"/>
              </a:spcBef>
              <a:spcAft>
                <a:spcPts val="0"/>
              </a:spcAft>
              <a:buClr>
                <a:srgbClr val="FFFFFF"/>
              </a:buClr>
              <a:buSzPts val="2400"/>
              <a:buNone/>
              <a:defRPr sz="2400">
                <a:solidFill>
                  <a:srgbClr val="FFFFFF"/>
                </a:solidFill>
              </a:defRPr>
            </a:lvl4pPr>
            <a:lvl5pPr lvl="4" algn="l">
              <a:lnSpc>
                <a:spcPct val="100000"/>
              </a:lnSpc>
              <a:spcBef>
                <a:spcPts val="0"/>
              </a:spcBef>
              <a:spcAft>
                <a:spcPts val="0"/>
              </a:spcAft>
              <a:buClr>
                <a:srgbClr val="FFFFFF"/>
              </a:buClr>
              <a:buSzPts val="2400"/>
              <a:buNone/>
              <a:defRPr sz="2400">
                <a:solidFill>
                  <a:srgbClr val="FFFFFF"/>
                </a:solidFill>
              </a:defRPr>
            </a:lvl5pPr>
            <a:lvl6pPr lvl="5" algn="l">
              <a:lnSpc>
                <a:spcPct val="100000"/>
              </a:lnSpc>
              <a:spcBef>
                <a:spcPts val="0"/>
              </a:spcBef>
              <a:spcAft>
                <a:spcPts val="0"/>
              </a:spcAft>
              <a:buClr>
                <a:srgbClr val="FFFFFF"/>
              </a:buClr>
              <a:buSzPts val="2400"/>
              <a:buNone/>
              <a:defRPr sz="2400">
                <a:solidFill>
                  <a:srgbClr val="FFFFFF"/>
                </a:solidFill>
              </a:defRPr>
            </a:lvl6pPr>
            <a:lvl7pPr lvl="6" algn="l">
              <a:lnSpc>
                <a:spcPct val="100000"/>
              </a:lnSpc>
              <a:spcBef>
                <a:spcPts val="0"/>
              </a:spcBef>
              <a:spcAft>
                <a:spcPts val="0"/>
              </a:spcAft>
              <a:buClr>
                <a:srgbClr val="FFFFFF"/>
              </a:buClr>
              <a:buSzPts val="2400"/>
              <a:buNone/>
              <a:defRPr sz="2400">
                <a:solidFill>
                  <a:srgbClr val="FFFFFF"/>
                </a:solidFill>
              </a:defRPr>
            </a:lvl7pPr>
            <a:lvl8pPr lvl="7" algn="l">
              <a:lnSpc>
                <a:spcPct val="100000"/>
              </a:lnSpc>
              <a:spcBef>
                <a:spcPts val="0"/>
              </a:spcBef>
              <a:spcAft>
                <a:spcPts val="0"/>
              </a:spcAft>
              <a:buClr>
                <a:srgbClr val="FFFFFF"/>
              </a:buClr>
              <a:buSzPts val="2400"/>
              <a:buNone/>
              <a:defRPr sz="2400">
                <a:solidFill>
                  <a:srgbClr val="FFFFFF"/>
                </a:solidFill>
              </a:defRPr>
            </a:lvl8pPr>
            <a:lvl9pPr lvl="8" algn="l">
              <a:lnSpc>
                <a:spcPct val="100000"/>
              </a:lnSpc>
              <a:spcBef>
                <a:spcPts val="0"/>
              </a:spcBef>
              <a:spcAft>
                <a:spcPts val="0"/>
              </a:spcAft>
              <a:buClr>
                <a:srgbClr val="FFFFFF"/>
              </a:buClr>
              <a:buSzPts val="2400"/>
              <a:buNone/>
              <a:defRPr sz="2400">
                <a:solidFill>
                  <a:srgbClr val="FFFFFF"/>
                </a:solidFill>
              </a:defRPr>
            </a:lvl9pPr>
          </a:lstStyle>
          <a:p/>
        </p:txBody>
      </p:sp>
      <p:sp>
        <p:nvSpPr>
          <p:cNvPr id="17" name="Google Shape;17;p67"/>
          <p:cNvSpPr/>
          <p:nvPr>
            <p:ph idx="2" type="pic"/>
          </p:nvPr>
        </p:nvSpPr>
        <p:spPr>
          <a:xfrm>
            <a:off x="531000" y="3836975"/>
            <a:ext cx="730500" cy="730500"/>
          </a:xfrm>
          <a:prstGeom prst="ellipse">
            <a:avLst/>
          </a:prstGeom>
          <a:noFill/>
          <a:ln>
            <a:noFill/>
          </a:ln>
        </p:spPr>
      </p:sp>
      <p:sp>
        <p:nvSpPr>
          <p:cNvPr id="18" name="Google Shape;18;p67"/>
          <p:cNvSpPr/>
          <p:nvPr>
            <p:ph idx="3" type="pic"/>
          </p:nvPr>
        </p:nvSpPr>
        <p:spPr>
          <a:xfrm>
            <a:off x="2514028" y="3836975"/>
            <a:ext cx="730500" cy="730500"/>
          </a:xfrm>
          <a:prstGeom prst="ellipse">
            <a:avLst/>
          </a:prstGeom>
          <a:noFill/>
          <a:ln>
            <a:noFill/>
          </a:ln>
        </p:spPr>
      </p:sp>
      <p:pic>
        <p:nvPicPr>
          <p:cNvPr id="19" name="Google Shape;19;p67"/>
          <p:cNvPicPr preferRelativeResize="0"/>
          <p:nvPr/>
        </p:nvPicPr>
        <p:blipFill rotWithShape="1">
          <a:blip r:embed="rId2">
            <a:alphaModFix amt="25000"/>
          </a:blip>
          <a:srcRect b="0" l="0" r="0" t="0"/>
          <a:stretch/>
        </p:blipFill>
        <p:spPr>
          <a:xfrm>
            <a:off x="7569152" y="3402600"/>
            <a:ext cx="1574849" cy="1740901"/>
          </a:xfrm>
          <a:prstGeom prst="rect">
            <a:avLst/>
          </a:prstGeom>
          <a:noFill/>
          <a:ln>
            <a:noFill/>
          </a:ln>
        </p:spPr>
      </p:pic>
      <p:pic>
        <p:nvPicPr>
          <p:cNvPr id="20" name="Google Shape;20;p67"/>
          <p:cNvPicPr preferRelativeResize="0"/>
          <p:nvPr/>
        </p:nvPicPr>
        <p:blipFill rotWithShape="1">
          <a:blip r:embed="rId3">
            <a:alphaModFix/>
          </a:blip>
          <a:srcRect b="0" l="0" r="0" t="0"/>
          <a:stretch/>
        </p:blipFill>
        <p:spPr>
          <a:xfrm>
            <a:off x="436436" y="354787"/>
            <a:ext cx="2143991" cy="792572"/>
          </a:xfrm>
          <a:prstGeom prst="rect">
            <a:avLst/>
          </a:prstGeom>
          <a:noFill/>
          <a:ln>
            <a:noFill/>
          </a:ln>
        </p:spPr>
      </p:pic>
      <p:cxnSp>
        <p:nvCxnSpPr>
          <p:cNvPr id="21" name="Google Shape;21;p67"/>
          <p:cNvCxnSpPr/>
          <p:nvPr/>
        </p:nvCxnSpPr>
        <p:spPr>
          <a:xfrm>
            <a:off x="2826475" y="522925"/>
            <a:ext cx="1750500" cy="0"/>
          </a:xfrm>
          <a:prstGeom prst="straightConnector1">
            <a:avLst/>
          </a:prstGeom>
          <a:noFill/>
          <a:ln cap="flat" cmpd="sng" w="9525">
            <a:solidFill>
              <a:srgbClr val="77C046"/>
            </a:solidFill>
            <a:prstDash val="solid"/>
            <a:round/>
            <a:headEnd len="sm" w="sm" type="none"/>
            <a:tailEnd len="sm" w="sm" type="none"/>
          </a:ln>
        </p:spPr>
      </p:cxnSp>
      <p:pic>
        <p:nvPicPr>
          <p:cNvPr id="22" name="Google Shape;22;p67"/>
          <p:cNvPicPr preferRelativeResize="0"/>
          <p:nvPr/>
        </p:nvPicPr>
        <p:blipFill rotWithShape="1">
          <a:blip r:embed="rId4">
            <a:alphaModFix/>
          </a:blip>
          <a:srcRect b="0" l="0" r="44451" t="0"/>
          <a:stretch/>
        </p:blipFill>
        <p:spPr>
          <a:xfrm>
            <a:off x="3264875" y="522925"/>
            <a:ext cx="1344799" cy="456275"/>
          </a:xfrm>
          <a:prstGeom prst="rect">
            <a:avLst/>
          </a:prstGeom>
          <a:noFill/>
          <a:ln>
            <a:noFill/>
          </a:ln>
        </p:spPr>
      </p:pic>
      <p:cxnSp>
        <p:nvCxnSpPr>
          <p:cNvPr id="23" name="Google Shape;23;p67"/>
          <p:cNvCxnSpPr/>
          <p:nvPr/>
        </p:nvCxnSpPr>
        <p:spPr>
          <a:xfrm>
            <a:off x="2826475" y="934200"/>
            <a:ext cx="1750500" cy="0"/>
          </a:xfrm>
          <a:prstGeom prst="straightConnector1">
            <a:avLst/>
          </a:prstGeom>
          <a:noFill/>
          <a:ln cap="flat" cmpd="sng" w="9525">
            <a:solidFill>
              <a:srgbClr val="77C046"/>
            </a:solidFill>
            <a:prstDash val="solid"/>
            <a:round/>
            <a:headEnd len="sm" w="sm" type="none"/>
            <a:tailEnd len="sm" w="sm" type="none"/>
          </a:ln>
        </p:spPr>
      </p:cxnSp>
      <p:pic>
        <p:nvPicPr>
          <p:cNvPr id="24" name="Google Shape;24;p67"/>
          <p:cNvPicPr preferRelativeResize="0"/>
          <p:nvPr/>
        </p:nvPicPr>
        <p:blipFill rotWithShape="1">
          <a:blip r:embed="rId5">
            <a:alphaModFix/>
          </a:blip>
          <a:srcRect b="0" l="0" r="0" t="0"/>
          <a:stretch/>
        </p:blipFill>
        <p:spPr>
          <a:xfrm>
            <a:off x="2841175" y="589724"/>
            <a:ext cx="360021" cy="28801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6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71"/>
          <p:cNvSpPr txBox="1"/>
          <p:nvPr>
            <p:ph idx="12" type="sldNum"/>
          </p:nvPr>
        </p:nvSpPr>
        <p:spPr>
          <a:xfrm>
            <a:off x="8352650" y="4916400"/>
            <a:ext cx="746400" cy="2022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37" name="Google Shape;37;p71"/>
          <p:cNvSpPr txBox="1"/>
          <p:nvPr>
            <p:ph type="ctrTitle"/>
          </p:nvPr>
        </p:nvSpPr>
        <p:spPr>
          <a:xfrm>
            <a:off x="319500" y="1783775"/>
            <a:ext cx="8505000" cy="1827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FFFFFF"/>
              </a:buClr>
              <a:buSzPts val="4400"/>
              <a:buNone/>
              <a:defRPr sz="4400">
                <a:solidFill>
                  <a:srgbClr val="FFFFFF"/>
                </a:solidFill>
              </a:defRPr>
            </a:lvl1pPr>
            <a:lvl2pPr lvl="1" algn="ctr">
              <a:lnSpc>
                <a:spcPct val="100000"/>
              </a:lnSpc>
              <a:spcBef>
                <a:spcPts val="0"/>
              </a:spcBef>
              <a:spcAft>
                <a:spcPts val="0"/>
              </a:spcAft>
              <a:buClr>
                <a:srgbClr val="FFFFFF"/>
              </a:buClr>
              <a:buSzPts val="4400"/>
              <a:buNone/>
              <a:defRPr sz="4400">
                <a:solidFill>
                  <a:srgbClr val="FFFFFF"/>
                </a:solidFill>
              </a:defRPr>
            </a:lvl2pPr>
            <a:lvl3pPr lvl="2" algn="ctr">
              <a:lnSpc>
                <a:spcPct val="100000"/>
              </a:lnSpc>
              <a:spcBef>
                <a:spcPts val="0"/>
              </a:spcBef>
              <a:spcAft>
                <a:spcPts val="0"/>
              </a:spcAft>
              <a:buClr>
                <a:srgbClr val="FFFFFF"/>
              </a:buClr>
              <a:buSzPts val="4400"/>
              <a:buNone/>
              <a:defRPr sz="4400">
                <a:solidFill>
                  <a:srgbClr val="FFFFFF"/>
                </a:solidFill>
              </a:defRPr>
            </a:lvl3pPr>
            <a:lvl4pPr lvl="3" algn="ctr">
              <a:lnSpc>
                <a:spcPct val="100000"/>
              </a:lnSpc>
              <a:spcBef>
                <a:spcPts val="0"/>
              </a:spcBef>
              <a:spcAft>
                <a:spcPts val="0"/>
              </a:spcAft>
              <a:buClr>
                <a:srgbClr val="FFFFFF"/>
              </a:buClr>
              <a:buSzPts val="4400"/>
              <a:buNone/>
              <a:defRPr sz="4400">
                <a:solidFill>
                  <a:srgbClr val="FFFFFF"/>
                </a:solidFill>
              </a:defRPr>
            </a:lvl4pPr>
            <a:lvl5pPr lvl="4" algn="ctr">
              <a:lnSpc>
                <a:spcPct val="100000"/>
              </a:lnSpc>
              <a:spcBef>
                <a:spcPts val="0"/>
              </a:spcBef>
              <a:spcAft>
                <a:spcPts val="0"/>
              </a:spcAft>
              <a:buClr>
                <a:srgbClr val="FFFFFF"/>
              </a:buClr>
              <a:buSzPts val="4400"/>
              <a:buNone/>
              <a:defRPr sz="4400">
                <a:solidFill>
                  <a:srgbClr val="FFFFFF"/>
                </a:solidFill>
              </a:defRPr>
            </a:lvl5pPr>
            <a:lvl6pPr lvl="5" algn="ctr">
              <a:lnSpc>
                <a:spcPct val="100000"/>
              </a:lnSpc>
              <a:spcBef>
                <a:spcPts val="0"/>
              </a:spcBef>
              <a:spcAft>
                <a:spcPts val="0"/>
              </a:spcAft>
              <a:buClr>
                <a:srgbClr val="FFFFFF"/>
              </a:buClr>
              <a:buSzPts val="4400"/>
              <a:buNone/>
              <a:defRPr sz="4400">
                <a:solidFill>
                  <a:srgbClr val="FFFFFF"/>
                </a:solidFill>
              </a:defRPr>
            </a:lvl6pPr>
            <a:lvl7pPr lvl="6" algn="ctr">
              <a:lnSpc>
                <a:spcPct val="100000"/>
              </a:lnSpc>
              <a:spcBef>
                <a:spcPts val="0"/>
              </a:spcBef>
              <a:spcAft>
                <a:spcPts val="0"/>
              </a:spcAft>
              <a:buClr>
                <a:srgbClr val="FFFFFF"/>
              </a:buClr>
              <a:buSzPts val="4400"/>
              <a:buNone/>
              <a:defRPr sz="4400">
                <a:solidFill>
                  <a:srgbClr val="FFFFFF"/>
                </a:solidFill>
              </a:defRPr>
            </a:lvl7pPr>
            <a:lvl8pPr lvl="7" algn="ctr">
              <a:lnSpc>
                <a:spcPct val="100000"/>
              </a:lnSpc>
              <a:spcBef>
                <a:spcPts val="0"/>
              </a:spcBef>
              <a:spcAft>
                <a:spcPts val="0"/>
              </a:spcAft>
              <a:buClr>
                <a:srgbClr val="FFFFFF"/>
              </a:buClr>
              <a:buSzPts val="4400"/>
              <a:buNone/>
              <a:defRPr sz="4400">
                <a:solidFill>
                  <a:srgbClr val="FFFFFF"/>
                </a:solidFill>
              </a:defRPr>
            </a:lvl8pPr>
            <a:lvl9pPr lvl="8" algn="ctr">
              <a:lnSpc>
                <a:spcPct val="100000"/>
              </a:lnSpc>
              <a:spcBef>
                <a:spcPts val="0"/>
              </a:spcBef>
              <a:spcAft>
                <a:spcPts val="0"/>
              </a:spcAft>
              <a:buClr>
                <a:srgbClr val="FFFFFF"/>
              </a:buClr>
              <a:buSzPts val="4400"/>
              <a:buNone/>
              <a:defRPr sz="4400">
                <a:solidFill>
                  <a:srgbClr val="FFFFFF"/>
                </a:solidFill>
              </a:defRPr>
            </a:lvl9pPr>
          </a:lstStyle>
          <a:p/>
        </p:txBody>
      </p:sp>
      <p:pic>
        <p:nvPicPr>
          <p:cNvPr id="38" name="Google Shape;38;p71"/>
          <p:cNvPicPr preferRelativeResize="0"/>
          <p:nvPr/>
        </p:nvPicPr>
        <p:blipFill rotWithShape="1">
          <a:blip r:embed="rId3">
            <a:alphaModFix/>
          </a:blip>
          <a:srcRect b="0" l="0" r="0" t="0"/>
          <a:stretch/>
        </p:blipFill>
        <p:spPr>
          <a:xfrm>
            <a:off x="311700" y="4625825"/>
            <a:ext cx="1108789" cy="409874"/>
          </a:xfrm>
          <a:prstGeom prst="rect">
            <a:avLst/>
          </a:prstGeom>
          <a:noFill/>
          <a:ln>
            <a:noFill/>
          </a:ln>
        </p:spPr>
      </p:pic>
      <p:cxnSp>
        <p:nvCxnSpPr>
          <p:cNvPr id="39" name="Google Shape;39;p71"/>
          <p:cNvCxnSpPr/>
          <p:nvPr/>
        </p:nvCxnSpPr>
        <p:spPr>
          <a:xfrm>
            <a:off x="1547734" y="4712777"/>
            <a:ext cx="1108800" cy="0"/>
          </a:xfrm>
          <a:prstGeom prst="straightConnector1">
            <a:avLst/>
          </a:prstGeom>
          <a:noFill/>
          <a:ln cap="flat" cmpd="sng" w="9525">
            <a:solidFill>
              <a:srgbClr val="77C046"/>
            </a:solidFill>
            <a:prstDash val="solid"/>
            <a:round/>
            <a:headEnd len="sm" w="sm" type="none"/>
            <a:tailEnd len="sm" w="sm" type="none"/>
          </a:ln>
        </p:spPr>
      </p:cxnSp>
      <p:cxnSp>
        <p:nvCxnSpPr>
          <p:cNvPr id="40" name="Google Shape;40;p71"/>
          <p:cNvCxnSpPr/>
          <p:nvPr/>
        </p:nvCxnSpPr>
        <p:spPr>
          <a:xfrm>
            <a:off x="1547734" y="4925466"/>
            <a:ext cx="1108800" cy="0"/>
          </a:xfrm>
          <a:prstGeom prst="straightConnector1">
            <a:avLst/>
          </a:prstGeom>
          <a:noFill/>
          <a:ln cap="flat" cmpd="sng" w="9525">
            <a:solidFill>
              <a:srgbClr val="77C046"/>
            </a:solidFill>
            <a:prstDash val="solid"/>
            <a:round/>
            <a:headEnd len="sm" w="sm" type="none"/>
            <a:tailEnd len="sm" w="sm" type="none"/>
          </a:ln>
        </p:spPr>
      </p:cxnSp>
      <p:pic>
        <p:nvPicPr>
          <p:cNvPr id="41" name="Google Shape;41;p71"/>
          <p:cNvPicPr preferRelativeResize="0"/>
          <p:nvPr/>
        </p:nvPicPr>
        <p:blipFill rotWithShape="1">
          <a:blip r:embed="rId4">
            <a:alphaModFix/>
          </a:blip>
          <a:srcRect b="0" l="0" r="9869" t="0"/>
          <a:stretch/>
        </p:blipFill>
        <p:spPr>
          <a:xfrm>
            <a:off x="1757715" y="4708808"/>
            <a:ext cx="886195" cy="243886"/>
          </a:xfrm>
          <a:prstGeom prst="rect">
            <a:avLst/>
          </a:prstGeom>
          <a:noFill/>
          <a:ln>
            <a:noFill/>
          </a:ln>
        </p:spPr>
      </p:pic>
      <p:pic>
        <p:nvPicPr>
          <p:cNvPr id="42" name="Google Shape;42;p71"/>
          <p:cNvPicPr preferRelativeResize="0"/>
          <p:nvPr/>
        </p:nvPicPr>
        <p:blipFill rotWithShape="1">
          <a:blip r:embed="rId5">
            <a:alphaModFix/>
          </a:blip>
          <a:srcRect b="0" l="0" r="0" t="0"/>
          <a:stretch/>
        </p:blipFill>
        <p:spPr>
          <a:xfrm>
            <a:off x="1551432" y="4741548"/>
            <a:ext cx="193934" cy="155144"/>
          </a:xfrm>
          <a:prstGeom prst="rect">
            <a:avLst/>
          </a:prstGeom>
          <a:noFill/>
          <a:ln>
            <a:noFill/>
          </a:ln>
        </p:spPr>
      </p:pic>
      <p:pic>
        <p:nvPicPr>
          <p:cNvPr id="43" name="Google Shape;43;p71"/>
          <p:cNvPicPr preferRelativeResize="0"/>
          <p:nvPr/>
        </p:nvPicPr>
        <p:blipFill rotWithShape="1">
          <a:blip r:embed="rId6">
            <a:alphaModFix amt="20000"/>
          </a:blip>
          <a:srcRect b="0" l="0" r="0" t="0"/>
          <a:stretch/>
        </p:blipFill>
        <p:spPr>
          <a:xfrm>
            <a:off x="7713924" y="3562649"/>
            <a:ext cx="1430076" cy="1580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4" name="Shape 44"/>
        <p:cNvGrpSpPr/>
        <p:nvPr/>
      </p:nvGrpSpPr>
      <p:grpSpPr>
        <a:xfrm>
          <a:off x="0" y="0"/>
          <a:ext cx="0" cy="0"/>
          <a:chOff x="0" y="0"/>
          <a:chExt cx="0" cy="0"/>
        </a:xfrm>
      </p:grpSpPr>
      <p:sp>
        <p:nvSpPr>
          <p:cNvPr id="45" name="Google Shape;45;p7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6" name="Google Shape;46;p7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7" name="Google Shape;47;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7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0" name="Google Shape;50;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7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3" name="Google Shape;53;p7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4" name="Google Shape;54;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sp>
        <p:nvSpPr>
          <p:cNvPr id="56" name="Google Shape;56;p7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7" name="Google Shape;57;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7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7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1" name="Google Shape;61;p7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2" name="Google Shape;62;p7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3" name="Google Shape;63;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4" name="Shape 64"/>
        <p:cNvGrpSpPr/>
        <p:nvPr/>
      </p:nvGrpSpPr>
      <p:grpSpPr>
        <a:xfrm>
          <a:off x="0" y="0"/>
          <a:ext cx="0" cy="0"/>
          <a:chOff x="0" y="0"/>
          <a:chExt cx="0" cy="0"/>
        </a:xfrm>
      </p:grpSpPr>
      <p:sp>
        <p:nvSpPr>
          <p:cNvPr id="65" name="Google Shape;65;p7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6" name="Google Shape;66;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7" name="Shape 67"/>
        <p:cNvGrpSpPr/>
        <p:nvPr/>
      </p:nvGrpSpPr>
      <p:grpSpPr>
        <a:xfrm>
          <a:off x="0" y="0"/>
          <a:ext cx="0" cy="0"/>
          <a:chOff x="0" y="0"/>
          <a:chExt cx="0" cy="0"/>
        </a:xfrm>
      </p:grpSpPr>
      <p:sp>
        <p:nvSpPr>
          <p:cNvPr id="68" name="Google Shape;68;p7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9" name="Google Shape;69;p7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0" name="Google Shape;70;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cial Cover Slide">
  <p:cSld name="TITLE_1">
    <p:bg>
      <p:bgPr>
        <a:solidFill>
          <a:schemeClr val="dk2"/>
        </a:solidFill>
      </p:bgPr>
    </p:bg>
    <p:spTree>
      <p:nvGrpSpPr>
        <p:cNvPr id="71" name="Shape 71"/>
        <p:cNvGrpSpPr/>
        <p:nvPr/>
      </p:nvGrpSpPr>
      <p:grpSpPr>
        <a:xfrm>
          <a:off x="0" y="0"/>
          <a:ext cx="0" cy="0"/>
          <a:chOff x="0" y="0"/>
          <a:chExt cx="0" cy="0"/>
        </a:xfrm>
      </p:grpSpPr>
      <p:sp>
        <p:nvSpPr>
          <p:cNvPr id="72" name="Google Shape;72;p79"/>
          <p:cNvSpPr/>
          <p:nvPr/>
        </p:nvSpPr>
        <p:spPr>
          <a:xfrm rot="-5400000">
            <a:off x="2002650" y="-2002650"/>
            <a:ext cx="5143500" cy="9148800"/>
          </a:xfrm>
          <a:prstGeom prst="rect">
            <a:avLst/>
          </a:prstGeom>
          <a:gradFill>
            <a:gsLst>
              <a:gs pos="0">
                <a:srgbClr val="000000">
                  <a:alpha val="80392"/>
                </a:srgbClr>
              </a:gs>
              <a:gs pos="100000">
                <a:srgbClr val="000000">
                  <a:alpha val="80392"/>
                </a:srgbClr>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77C046"/>
              </a:solidFill>
              <a:latin typeface="Arial"/>
              <a:ea typeface="Arial"/>
              <a:cs typeface="Arial"/>
              <a:sym typeface="Arial"/>
            </a:endParaRPr>
          </a:p>
        </p:txBody>
      </p:sp>
      <p:sp>
        <p:nvSpPr>
          <p:cNvPr id="73" name="Google Shape;73;p79"/>
          <p:cNvSpPr txBox="1"/>
          <p:nvPr>
            <p:ph type="ctrTitle"/>
          </p:nvPr>
        </p:nvSpPr>
        <p:spPr>
          <a:xfrm>
            <a:off x="605700" y="1836625"/>
            <a:ext cx="4401000" cy="976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FFFFFF"/>
              </a:buClr>
              <a:buSzPts val="2400"/>
              <a:buNone/>
              <a:defRPr b="1" sz="2400">
                <a:solidFill>
                  <a:srgbClr val="FFFFFF"/>
                </a:solidFill>
              </a:defRPr>
            </a:lvl1pPr>
            <a:lvl2pPr lvl="1" algn="l">
              <a:lnSpc>
                <a:spcPct val="100000"/>
              </a:lnSpc>
              <a:spcBef>
                <a:spcPts val="0"/>
              </a:spcBef>
              <a:spcAft>
                <a:spcPts val="0"/>
              </a:spcAft>
              <a:buClr>
                <a:srgbClr val="FFFFFF"/>
              </a:buClr>
              <a:buSzPts val="5200"/>
              <a:buNone/>
              <a:defRPr sz="5200">
                <a:solidFill>
                  <a:srgbClr val="FFFFFF"/>
                </a:solidFill>
              </a:defRPr>
            </a:lvl2pPr>
            <a:lvl3pPr lvl="2" algn="l">
              <a:lnSpc>
                <a:spcPct val="100000"/>
              </a:lnSpc>
              <a:spcBef>
                <a:spcPts val="0"/>
              </a:spcBef>
              <a:spcAft>
                <a:spcPts val="0"/>
              </a:spcAft>
              <a:buClr>
                <a:srgbClr val="FFFFFF"/>
              </a:buClr>
              <a:buSzPts val="5200"/>
              <a:buNone/>
              <a:defRPr sz="5200">
                <a:solidFill>
                  <a:srgbClr val="FFFFFF"/>
                </a:solidFill>
              </a:defRPr>
            </a:lvl3pPr>
            <a:lvl4pPr lvl="3" algn="l">
              <a:lnSpc>
                <a:spcPct val="100000"/>
              </a:lnSpc>
              <a:spcBef>
                <a:spcPts val="0"/>
              </a:spcBef>
              <a:spcAft>
                <a:spcPts val="0"/>
              </a:spcAft>
              <a:buClr>
                <a:srgbClr val="FFFFFF"/>
              </a:buClr>
              <a:buSzPts val="5200"/>
              <a:buNone/>
              <a:defRPr sz="5200">
                <a:solidFill>
                  <a:srgbClr val="FFFFFF"/>
                </a:solidFill>
              </a:defRPr>
            </a:lvl4pPr>
            <a:lvl5pPr lvl="4" algn="l">
              <a:lnSpc>
                <a:spcPct val="100000"/>
              </a:lnSpc>
              <a:spcBef>
                <a:spcPts val="0"/>
              </a:spcBef>
              <a:spcAft>
                <a:spcPts val="0"/>
              </a:spcAft>
              <a:buClr>
                <a:srgbClr val="FFFFFF"/>
              </a:buClr>
              <a:buSzPts val="5200"/>
              <a:buNone/>
              <a:defRPr sz="5200">
                <a:solidFill>
                  <a:srgbClr val="FFFFFF"/>
                </a:solidFill>
              </a:defRPr>
            </a:lvl5pPr>
            <a:lvl6pPr lvl="5" algn="l">
              <a:lnSpc>
                <a:spcPct val="100000"/>
              </a:lnSpc>
              <a:spcBef>
                <a:spcPts val="0"/>
              </a:spcBef>
              <a:spcAft>
                <a:spcPts val="0"/>
              </a:spcAft>
              <a:buClr>
                <a:srgbClr val="FFFFFF"/>
              </a:buClr>
              <a:buSzPts val="5200"/>
              <a:buNone/>
              <a:defRPr sz="5200">
                <a:solidFill>
                  <a:srgbClr val="FFFFFF"/>
                </a:solidFill>
              </a:defRPr>
            </a:lvl6pPr>
            <a:lvl7pPr lvl="6" algn="l">
              <a:lnSpc>
                <a:spcPct val="100000"/>
              </a:lnSpc>
              <a:spcBef>
                <a:spcPts val="0"/>
              </a:spcBef>
              <a:spcAft>
                <a:spcPts val="0"/>
              </a:spcAft>
              <a:buClr>
                <a:srgbClr val="FFFFFF"/>
              </a:buClr>
              <a:buSzPts val="5200"/>
              <a:buNone/>
              <a:defRPr sz="5200">
                <a:solidFill>
                  <a:srgbClr val="FFFFFF"/>
                </a:solidFill>
              </a:defRPr>
            </a:lvl7pPr>
            <a:lvl8pPr lvl="7" algn="l">
              <a:lnSpc>
                <a:spcPct val="100000"/>
              </a:lnSpc>
              <a:spcBef>
                <a:spcPts val="0"/>
              </a:spcBef>
              <a:spcAft>
                <a:spcPts val="0"/>
              </a:spcAft>
              <a:buClr>
                <a:srgbClr val="FFFFFF"/>
              </a:buClr>
              <a:buSzPts val="5200"/>
              <a:buNone/>
              <a:defRPr sz="5200">
                <a:solidFill>
                  <a:srgbClr val="FFFFFF"/>
                </a:solidFill>
              </a:defRPr>
            </a:lvl8pPr>
            <a:lvl9pPr lvl="8" algn="l">
              <a:lnSpc>
                <a:spcPct val="100000"/>
              </a:lnSpc>
              <a:spcBef>
                <a:spcPts val="0"/>
              </a:spcBef>
              <a:spcAft>
                <a:spcPts val="0"/>
              </a:spcAft>
              <a:buClr>
                <a:srgbClr val="FFFFFF"/>
              </a:buClr>
              <a:buSzPts val="5200"/>
              <a:buNone/>
              <a:defRPr sz="5200">
                <a:solidFill>
                  <a:srgbClr val="FFFFFF"/>
                </a:solidFill>
              </a:defRPr>
            </a:lvl9pPr>
          </a:lstStyle>
          <a:p/>
        </p:txBody>
      </p:sp>
      <p:sp>
        <p:nvSpPr>
          <p:cNvPr id="74" name="Google Shape;74;p79"/>
          <p:cNvSpPr txBox="1"/>
          <p:nvPr>
            <p:ph idx="1" type="subTitle"/>
          </p:nvPr>
        </p:nvSpPr>
        <p:spPr>
          <a:xfrm>
            <a:off x="605650" y="2948525"/>
            <a:ext cx="4401000" cy="1413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FFFFFF"/>
              </a:buClr>
              <a:buSzPts val="2400"/>
              <a:buNone/>
              <a:defRPr sz="2400">
                <a:solidFill>
                  <a:srgbClr val="FFFFFF"/>
                </a:solidFill>
              </a:defRPr>
            </a:lvl1pPr>
            <a:lvl2pPr lvl="1" algn="l">
              <a:lnSpc>
                <a:spcPct val="100000"/>
              </a:lnSpc>
              <a:spcBef>
                <a:spcPts val="0"/>
              </a:spcBef>
              <a:spcAft>
                <a:spcPts val="0"/>
              </a:spcAft>
              <a:buClr>
                <a:srgbClr val="FFFFFF"/>
              </a:buClr>
              <a:buSzPts val="2400"/>
              <a:buNone/>
              <a:defRPr sz="2400">
                <a:solidFill>
                  <a:srgbClr val="FFFFFF"/>
                </a:solidFill>
              </a:defRPr>
            </a:lvl2pPr>
            <a:lvl3pPr lvl="2" algn="l">
              <a:lnSpc>
                <a:spcPct val="100000"/>
              </a:lnSpc>
              <a:spcBef>
                <a:spcPts val="0"/>
              </a:spcBef>
              <a:spcAft>
                <a:spcPts val="0"/>
              </a:spcAft>
              <a:buClr>
                <a:srgbClr val="FFFFFF"/>
              </a:buClr>
              <a:buSzPts val="2400"/>
              <a:buNone/>
              <a:defRPr sz="2400">
                <a:solidFill>
                  <a:srgbClr val="FFFFFF"/>
                </a:solidFill>
              </a:defRPr>
            </a:lvl3pPr>
            <a:lvl4pPr lvl="3" algn="l">
              <a:lnSpc>
                <a:spcPct val="100000"/>
              </a:lnSpc>
              <a:spcBef>
                <a:spcPts val="0"/>
              </a:spcBef>
              <a:spcAft>
                <a:spcPts val="0"/>
              </a:spcAft>
              <a:buClr>
                <a:srgbClr val="FFFFFF"/>
              </a:buClr>
              <a:buSzPts val="2400"/>
              <a:buNone/>
              <a:defRPr sz="2400">
                <a:solidFill>
                  <a:srgbClr val="FFFFFF"/>
                </a:solidFill>
              </a:defRPr>
            </a:lvl4pPr>
            <a:lvl5pPr lvl="4" algn="l">
              <a:lnSpc>
                <a:spcPct val="100000"/>
              </a:lnSpc>
              <a:spcBef>
                <a:spcPts val="0"/>
              </a:spcBef>
              <a:spcAft>
                <a:spcPts val="0"/>
              </a:spcAft>
              <a:buClr>
                <a:srgbClr val="FFFFFF"/>
              </a:buClr>
              <a:buSzPts val="2400"/>
              <a:buNone/>
              <a:defRPr sz="2400">
                <a:solidFill>
                  <a:srgbClr val="FFFFFF"/>
                </a:solidFill>
              </a:defRPr>
            </a:lvl5pPr>
            <a:lvl6pPr lvl="5" algn="l">
              <a:lnSpc>
                <a:spcPct val="100000"/>
              </a:lnSpc>
              <a:spcBef>
                <a:spcPts val="0"/>
              </a:spcBef>
              <a:spcAft>
                <a:spcPts val="0"/>
              </a:spcAft>
              <a:buClr>
                <a:srgbClr val="FFFFFF"/>
              </a:buClr>
              <a:buSzPts val="2400"/>
              <a:buNone/>
              <a:defRPr sz="2400">
                <a:solidFill>
                  <a:srgbClr val="FFFFFF"/>
                </a:solidFill>
              </a:defRPr>
            </a:lvl6pPr>
            <a:lvl7pPr lvl="6" algn="l">
              <a:lnSpc>
                <a:spcPct val="100000"/>
              </a:lnSpc>
              <a:spcBef>
                <a:spcPts val="0"/>
              </a:spcBef>
              <a:spcAft>
                <a:spcPts val="0"/>
              </a:spcAft>
              <a:buClr>
                <a:srgbClr val="FFFFFF"/>
              </a:buClr>
              <a:buSzPts val="2400"/>
              <a:buNone/>
              <a:defRPr sz="2400">
                <a:solidFill>
                  <a:srgbClr val="FFFFFF"/>
                </a:solidFill>
              </a:defRPr>
            </a:lvl7pPr>
            <a:lvl8pPr lvl="7" algn="l">
              <a:lnSpc>
                <a:spcPct val="100000"/>
              </a:lnSpc>
              <a:spcBef>
                <a:spcPts val="0"/>
              </a:spcBef>
              <a:spcAft>
                <a:spcPts val="0"/>
              </a:spcAft>
              <a:buClr>
                <a:srgbClr val="FFFFFF"/>
              </a:buClr>
              <a:buSzPts val="2400"/>
              <a:buNone/>
              <a:defRPr sz="2400">
                <a:solidFill>
                  <a:srgbClr val="FFFFFF"/>
                </a:solidFill>
              </a:defRPr>
            </a:lvl8pPr>
            <a:lvl9pPr lvl="8" algn="l">
              <a:lnSpc>
                <a:spcPct val="100000"/>
              </a:lnSpc>
              <a:spcBef>
                <a:spcPts val="0"/>
              </a:spcBef>
              <a:spcAft>
                <a:spcPts val="0"/>
              </a:spcAft>
              <a:buClr>
                <a:srgbClr val="FFFFFF"/>
              </a:buClr>
              <a:buSzPts val="2400"/>
              <a:buNone/>
              <a:defRPr sz="2400">
                <a:solidFill>
                  <a:srgbClr val="FFFFFF"/>
                </a:solidFill>
              </a:defRPr>
            </a:lvl9pPr>
          </a:lstStyle>
          <a:p/>
        </p:txBody>
      </p:sp>
      <p:grpSp>
        <p:nvGrpSpPr>
          <p:cNvPr id="75" name="Google Shape;75;p79"/>
          <p:cNvGrpSpPr/>
          <p:nvPr/>
        </p:nvGrpSpPr>
        <p:grpSpPr>
          <a:xfrm>
            <a:off x="436436" y="354787"/>
            <a:ext cx="4110766" cy="792572"/>
            <a:chOff x="436436" y="354787"/>
            <a:chExt cx="4110766" cy="792572"/>
          </a:xfrm>
        </p:grpSpPr>
        <p:pic>
          <p:nvPicPr>
            <p:cNvPr id="76" name="Google Shape;76;p79"/>
            <p:cNvPicPr preferRelativeResize="0"/>
            <p:nvPr/>
          </p:nvPicPr>
          <p:blipFill rotWithShape="1">
            <a:blip r:embed="rId2">
              <a:alphaModFix/>
            </a:blip>
            <a:srcRect b="0" l="0" r="0" t="0"/>
            <a:stretch/>
          </p:blipFill>
          <p:spPr>
            <a:xfrm>
              <a:off x="436436" y="354787"/>
              <a:ext cx="2143991" cy="792572"/>
            </a:xfrm>
            <a:prstGeom prst="rect">
              <a:avLst/>
            </a:prstGeom>
            <a:noFill/>
            <a:ln>
              <a:noFill/>
            </a:ln>
          </p:spPr>
        </p:pic>
        <p:cxnSp>
          <p:nvCxnSpPr>
            <p:cNvPr id="77" name="Google Shape;77;p79"/>
            <p:cNvCxnSpPr/>
            <p:nvPr/>
          </p:nvCxnSpPr>
          <p:spPr>
            <a:xfrm>
              <a:off x="2826477" y="522925"/>
              <a:ext cx="1713600" cy="0"/>
            </a:xfrm>
            <a:prstGeom prst="straightConnector1">
              <a:avLst/>
            </a:prstGeom>
            <a:noFill/>
            <a:ln cap="flat" cmpd="sng" w="9525">
              <a:solidFill>
                <a:srgbClr val="77C046"/>
              </a:solidFill>
              <a:prstDash val="solid"/>
              <a:round/>
              <a:headEnd len="sm" w="sm" type="none"/>
              <a:tailEnd len="sm" w="sm" type="none"/>
            </a:ln>
          </p:spPr>
        </p:cxnSp>
        <p:cxnSp>
          <p:nvCxnSpPr>
            <p:cNvPr id="78" name="Google Shape;78;p79"/>
            <p:cNvCxnSpPr/>
            <p:nvPr/>
          </p:nvCxnSpPr>
          <p:spPr>
            <a:xfrm>
              <a:off x="2826477" y="934200"/>
              <a:ext cx="1713600" cy="0"/>
            </a:xfrm>
            <a:prstGeom prst="straightConnector1">
              <a:avLst/>
            </a:prstGeom>
            <a:noFill/>
            <a:ln cap="flat" cmpd="sng" w="9525">
              <a:solidFill>
                <a:srgbClr val="77C046"/>
              </a:solidFill>
              <a:prstDash val="solid"/>
              <a:round/>
              <a:headEnd len="sm" w="sm" type="none"/>
              <a:tailEnd len="sm" w="sm" type="none"/>
            </a:ln>
          </p:spPr>
        </p:cxnSp>
        <p:pic>
          <p:nvPicPr>
            <p:cNvPr id="79" name="Google Shape;79;p79"/>
            <p:cNvPicPr preferRelativeResize="0"/>
            <p:nvPr/>
          </p:nvPicPr>
          <p:blipFill rotWithShape="1">
            <a:blip r:embed="rId3">
              <a:alphaModFix/>
            </a:blip>
            <a:srcRect b="0" l="0" r="9869" t="0"/>
            <a:stretch/>
          </p:blipFill>
          <p:spPr>
            <a:xfrm>
              <a:off x="2833625" y="516650"/>
              <a:ext cx="1713577" cy="471601"/>
            </a:xfrm>
            <a:prstGeom prst="rect">
              <a:avLst/>
            </a:prstGeom>
            <a:noFill/>
            <a:ln>
              <a:noFill/>
            </a:ln>
          </p:spPr>
        </p:pic>
      </p:grpSp>
      <p:pic>
        <p:nvPicPr>
          <p:cNvPr id="80" name="Google Shape;80;p79"/>
          <p:cNvPicPr preferRelativeResize="0"/>
          <p:nvPr/>
        </p:nvPicPr>
        <p:blipFill rotWithShape="1">
          <a:blip r:embed="rId4">
            <a:alphaModFix amt="20000"/>
          </a:blip>
          <a:srcRect b="0" l="0" r="0" t="0"/>
          <a:stretch/>
        </p:blipFill>
        <p:spPr>
          <a:xfrm>
            <a:off x="7713924" y="3562649"/>
            <a:ext cx="1430076" cy="15808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6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6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9" name="Google Shape;9;p65"/>
          <p:cNvSpPr txBox="1"/>
          <p:nvPr/>
        </p:nvSpPr>
        <p:spPr>
          <a:xfrm>
            <a:off x="63500" y="63500"/>
            <a:ext cx="371475"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1000" u="none" cap="none" strike="noStrike">
                <a:solidFill>
                  <a:srgbClr val="0000FF"/>
                </a:solidFill>
                <a:latin typeface="Arial"/>
                <a:ea typeface="Arial"/>
                <a:cs typeface="Arial"/>
                <a:sym typeface="Arial"/>
              </a:rPr>
              <a:t>Public</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gitlab.com/xen-project/xen/-/blob/staging/docs/misra/rules.rst?ref_type=head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gitlab.com/xen-project/xen/-/tree/staging/docs/fusa?ref_type=heads" TargetMode="External"/><Relationship Id="rId4" Type="http://schemas.openxmlformats.org/officeDocument/2006/relationships/hyperlink" Target="https://gitlab.com/xen-project/fusa/requiremen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gitlab.com/xen-project/fusa/architecture_specs/-/blob/master/domain_creation_and_runtime/domain_partially_emulated_resources/arm64/generic_timer.rst?ref_type=heads" TargetMode="External"/><Relationship Id="rId4"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gitlab.com/xen-project/fusa/test_specifications/-/blob/master/hw_sw_interface/test0_sgi_gicv3.rst" TargetMode="External"/><Relationship Id="rId4" Type="http://schemas.openxmlformats.org/officeDocument/2006/relationships/hyperlink" Target="https://lists.xenproject.org/archives/html/xen-devel/2025-09/msg00956.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gitlab.com/xen-project/fusa/test_specifications/-/blob/master/domain_creation_and_runtime/scheduling/test_sched_core_halt_on_scheduler_failure.rst?ref_type=head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gitlab.com/minervasys/public/xen/-/blob/minerva/warn/minerva_analysis/README.md" TargetMode="Externa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hyperlink" Target="https://gitlab.com/xen-project/fusa/requirements/-/tree/master/design_reqs/domain_creation_and_runtime/physical_resources/arm64/mmu/pt" TargetMode="External"/><Relationship Id="rId5"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6.png"/><Relationship Id="rId4" Type="http://schemas.openxmlformats.org/officeDocument/2006/relationships/hyperlink" Target="https://gitlab.com/xen-project/fusa/test_specifications/-/blob/master/domain_creation_and_runtime/physical_resources/arm64/mmu/pt/pt.tc.md" TargetMode="External"/><Relationship Id="rId5" Type="http://schemas.openxmlformats.org/officeDocument/2006/relationships/hyperlink" Target="https://gitlab.com/xen-project/fusa/test_specifications/-/blob/master/domain_creation_and_runtime/physical_resources/arm64/mmu/pt/pt.tc.md" TargetMode="External"/><Relationship Id="rId6" Type="http://schemas.openxmlformats.org/officeDocument/2006/relationships/hyperlink" Target="https://gitlab.com/xen-project/fusa/test_specifications/-/blob/master/domain_creation_and_runtime/physical_resources/arm64/mmu/pt/pt.tc.md" TargetMode="External"/><Relationship Id="rId7"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gitlab.com/xen-project/fusa/xen-integration/-/merge_requests/20" TargetMode="External"/><Relationship Id="rId4" Type="http://schemas.openxmlformats.org/officeDocument/2006/relationships/image" Target="../media/image38.png"/><Relationship Id="rId5"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1.png"/><Relationship Id="rId4" Type="http://schemas.openxmlformats.org/officeDocument/2006/relationships/hyperlink" Target="https://github.com/elisa-tech/wg-aerospace/pull/177"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2.png"/><Relationship Id="rId4" Type="http://schemas.openxmlformats.org/officeDocument/2006/relationships/image" Target="../media/image28.png"/><Relationship Id="rId5" Type="http://schemas.openxmlformats.org/officeDocument/2006/relationships/image" Target="../media/image23.png"/><Relationship Id="rId6"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hyperlink" Target="https://en.wikipedia.org/wiki/ARP4754" TargetMode="External"/><Relationship Id="rId4" Type="http://schemas.openxmlformats.org/officeDocument/2006/relationships/hyperlink" Target="https://en.wikipedia.org/wiki/DO-178C" TargetMode="External"/><Relationship Id="rId9" Type="http://schemas.openxmlformats.org/officeDocument/2006/relationships/image" Target="../media/image15.png"/><Relationship Id="rId5" Type="http://schemas.openxmlformats.org/officeDocument/2006/relationships/hyperlink" Target="https://en.wikipedia.org/wiki/ARINC_653" TargetMode="External"/><Relationship Id="rId6" Type="http://schemas.openxmlformats.org/officeDocument/2006/relationships/hyperlink" Target="https://en.wikipedia.org/wiki/DO-297" TargetMode="External"/><Relationship Id="rId7" Type="http://schemas.openxmlformats.org/officeDocument/2006/relationships/hyperlink" Target="https://www.faa.gov/documentLibrary/media/Advisory_Circular/AC_20-193.pdf" TargetMode="External"/><Relationship Id="rId8" Type="http://schemas.openxmlformats.org/officeDocument/2006/relationships/hyperlink" Target="https://en.wikipedia.org/wiki/ARINC#Standard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35.png"/><Relationship Id="rId6" Type="http://schemas.openxmlformats.org/officeDocument/2006/relationships/hyperlink" Target="https://patchew.org/Xen/20260318140900.3795710-1-ayan.kumar.halder@amd.com/"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hyperlink" Target="https://creativecommons.org/licenses/by/4.0/"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4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 name="Shape 84"/>
        <p:cNvGrpSpPr/>
        <p:nvPr/>
      </p:nvGrpSpPr>
      <p:grpSpPr>
        <a:xfrm>
          <a:off x="0" y="0"/>
          <a:ext cx="0" cy="0"/>
          <a:chOff x="0" y="0"/>
          <a:chExt cx="0" cy="0"/>
        </a:xfrm>
      </p:grpSpPr>
      <p:sp>
        <p:nvSpPr>
          <p:cNvPr id="85" name="Google Shape;85;p1"/>
          <p:cNvSpPr/>
          <p:nvPr/>
        </p:nvSpPr>
        <p:spPr>
          <a:xfrm>
            <a:off x="335700" y="2372975"/>
            <a:ext cx="4668900" cy="2211900"/>
          </a:xfrm>
          <a:prstGeom prst="rect">
            <a:avLst/>
          </a:prstGeom>
          <a:solidFill>
            <a:schemeClr val="lt1"/>
          </a:solidFill>
          <a:ln>
            <a:noFill/>
          </a:ln>
        </p:spPr>
        <p:txBody>
          <a:bodyPr anchorCtr="0" anchor="ctr" bIns="112875" lIns="112875" spcFirstLastPara="1" rIns="1128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
          <p:cNvSpPr txBox="1"/>
          <p:nvPr>
            <p:ph type="title"/>
          </p:nvPr>
        </p:nvSpPr>
        <p:spPr>
          <a:xfrm>
            <a:off x="460098" y="2491172"/>
            <a:ext cx="4481100" cy="2049900"/>
          </a:xfrm>
          <a:prstGeom prst="rect">
            <a:avLst/>
          </a:prstGeom>
          <a:solidFill>
            <a:schemeClr val="lt1"/>
          </a:solidFill>
          <a:ln>
            <a:noFill/>
          </a:ln>
        </p:spPr>
        <p:txBody>
          <a:bodyPr anchorCtr="0" anchor="t" bIns="112875" lIns="112875" spcFirstLastPara="1" rIns="112875" wrap="square" tIns="112875">
            <a:normAutofit fontScale="90000"/>
          </a:bodyPr>
          <a:lstStyle/>
          <a:p>
            <a:pPr indent="0" lvl="0" marL="0" rtl="0" algn="l">
              <a:lnSpc>
                <a:spcPct val="100000"/>
              </a:lnSpc>
              <a:spcBef>
                <a:spcPts val="0"/>
              </a:spcBef>
              <a:spcAft>
                <a:spcPts val="0"/>
              </a:spcAft>
              <a:buSzPct val="72150"/>
              <a:buNone/>
            </a:pPr>
            <a:r>
              <a:rPr lang="en-GB" sz="4312"/>
              <a:t>ELISA Workshop</a:t>
            </a:r>
            <a:br>
              <a:rPr lang="en-GB" sz="4312"/>
            </a:br>
            <a:r>
              <a:rPr lang="en-GB" sz="4312"/>
              <a:t>London, UK</a:t>
            </a:r>
            <a:endParaRPr sz="4312"/>
          </a:p>
          <a:p>
            <a:pPr indent="0" lvl="0" marL="0" rtl="0" algn="l">
              <a:lnSpc>
                <a:spcPct val="100000"/>
              </a:lnSpc>
              <a:spcBef>
                <a:spcPts val="0"/>
              </a:spcBef>
              <a:spcAft>
                <a:spcPts val="0"/>
              </a:spcAft>
              <a:buSzPct val="192519"/>
              <a:buNone/>
            </a:pPr>
            <a:r>
              <a:t/>
            </a:r>
            <a:endParaRPr sz="1616"/>
          </a:p>
          <a:p>
            <a:pPr indent="0" lvl="0" marL="0" rtl="0" algn="l">
              <a:lnSpc>
                <a:spcPct val="100000"/>
              </a:lnSpc>
              <a:spcBef>
                <a:spcPts val="0"/>
              </a:spcBef>
              <a:spcAft>
                <a:spcPts val="0"/>
              </a:spcAft>
              <a:buClr>
                <a:schemeClr val="dk1"/>
              </a:buClr>
              <a:buSzPct val="68082"/>
              <a:buFont typeface="Arial"/>
              <a:buNone/>
            </a:pPr>
            <a:r>
              <a:rPr lang="en-GB" sz="1616"/>
              <a:t>June 9-11, 2026</a:t>
            </a:r>
            <a:endParaRPr sz="1616"/>
          </a:p>
          <a:p>
            <a:pPr indent="0" lvl="0" marL="0" rtl="0" algn="l">
              <a:lnSpc>
                <a:spcPct val="100000"/>
              </a:lnSpc>
              <a:spcBef>
                <a:spcPts val="0"/>
              </a:spcBef>
              <a:spcAft>
                <a:spcPts val="0"/>
              </a:spcAft>
              <a:buSzPct val="192519"/>
              <a:buNone/>
            </a:pPr>
            <a:r>
              <a:rPr lang="en-GB" sz="1616"/>
              <a:t>Co-hosted with Canonical</a:t>
            </a:r>
            <a:endParaRPr sz="1314"/>
          </a:p>
          <a:p>
            <a:pPr indent="0" lvl="0" marL="0" rtl="0" algn="l">
              <a:lnSpc>
                <a:spcPct val="100000"/>
              </a:lnSpc>
              <a:spcBef>
                <a:spcPts val="0"/>
              </a:spcBef>
              <a:spcAft>
                <a:spcPts val="0"/>
              </a:spcAft>
              <a:buSzPct val="96919"/>
              <a:buNone/>
            </a:pPr>
            <a:r>
              <a:t/>
            </a:r>
            <a:endParaRPr sz="3210"/>
          </a:p>
          <a:p>
            <a:pPr indent="0" lvl="0" marL="0" rtl="0" algn="l">
              <a:lnSpc>
                <a:spcPct val="100000"/>
              </a:lnSpc>
              <a:spcBef>
                <a:spcPts val="0"/>
              </a:spcBef>
              <a:spcAft>
                <a:spcPts val="0"/>
              </a:spcAft>
              <a:buSzPct val="96919"/>
              <a:buNone/>
            </a:pPr>
            <a:r>
              <a:t/>
            </a:r>
            <a:endParaRPr sz="3210"/>
          </a:p>
          <a:p>
            <a:pPr indent="0" lvl="0" marL="0" rtl="0" algn="l">
              <a:lnSpc>
                <a:spcPct val="100000"/>
              </a:lnSpc>
              <a:spcBef>
                <a:spcPts val="0"/>
              </a:spcBef>
              <a:spcAft>
                <a:spcPts val="0"/>
              </a:spcAft>
              <a:buSzPct val="96919"/>
              <a:buNone/>
            </a:pPr>
            <a:r>
              <a:t/>
            </a:r>
            <a:endParaRPr sz="3210"/>
          </a:p>
          <a:p>
            <a:pPr indent="0" lvl="0" marL="0" rtl="0" algn="l">
              <a:lnSpc>
                <a:spcPct val="100000"/>
              </a:lnSpc>
              <a:spcBef>
                <a:spcPts val="0"/>
              </a:spcBef>
              <a:spcAft>
                <a:spcPts val="0"/>
              </a:spcAft>
              <a:buSzPct val="90021"/>
              <a:buNone/>
            </a:pPr>
            <a:r>
              <a:t/>
            </a:r>
            <a:endParaRPr sz="3456"/>
          </a:p>
        </p:txBody>
      </p:sp>
      <p:pic>
        <p:nvPicPr>
          <p:cNvPr id="87" name="Google Shape;87;p1" title="elisa-horizontal-color.png"/>
          <p:cNvPicPr preferRelativeResize="0"/>
          <p:nvPr/>
        </p:nvPicPr>
        <p:blipFill rotWithShape="1">
          <a:blip r:embed="rId4">
            <a:alphaModFix/>
          </a:blip>
          <a:srcRect b="0" l="0" r="0" t="0"/>
          <a:stretch/>
        </p:blipFill>
        <p:spPr>
          <a:xfrm>
            <a:off x="460100" y="501600"/>
            <a:ext cx="1523625" cy="5623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2"/>
          <p:cNvSpPr/>
          <p:nvPr/>
        </p:nvSpPr>
        <p:spPr>
          <a:xfrm>
            <a:off x="460100" y="1698900"/>
            <a:ext cx="5026500" cy="26961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
          <p:cNvSpPr txBox="1"/>
          <p:nvPr>
            <p:ph type="title"/>
          </p:nvPr>
        </p:nvSpPr>
        <p:spPr>
          <a:xfrm>
            <a:off x="460100" y="1443990"/>
            <a:ext cx="7686040" cy="1921200"/>
          </a:xfrm>
          <a:prstGeom prst="rect">
            <a:avLst/>
          </a:prstGeom>
          <a:solidFill>
            <a:srgbClr val="FFFFFF"/>
          </a:solidFill>
          <a:ln>
            <a:noFill/>
          </a:ln>
        </p:spPr>
        <p:txBody>
          <a:bodyPr anchorCtr="0" anchor="t" bIns="112875" lIns="112875" spcFirstLastPara="1" rIns="112875" wrap="square" tIns="112875">
            <a:normAutofit fontScale="90000"/>
          </a:bodyPr>
          <a:lstStyle/>
          <a:p>
            <a:pPr indent="0" lvl="0" marL="0" rtl="0" algn="l">
              <a:lnSpc>
                <a:spcPct val="100000"/>
              </a:lnSpc>
              <a:spcBef>
                <a:spcPts val="0"/>
              </a:spcBef>
              <a:spcAft>
                <a:spcPts val="0"/>
              </a:spcAft>
              <a:buSzPct val="148148"/>
              <a:buNone/>
            </a:pPr>
            <a:r>
              <a:rPr lang="en-GB" sz="3600"/>
              <a:t>Functional Safety with Xen, Zephyr, and Linux</a:t>
            </a:r>
            <a:br>
              <a:rPr lang="en-GB" sz="3600"/>
            </a:br>
            <a:r>
              <a:rPr lang="en-GB" sz="3600">
                <a:solidFill>
                  <a:schemeClr val="lt1"/>
                </a:solidFill>
              </a:rPr>
              <a:t>for Avionics, Automotive and Industrial</a:t>
            </a:r>
            <a:r>
              <a:rPr lang="en-GB" sz="3600"/>
              <a:t> </a:t>
            </a:r>
            <a:r>
              <a:rPr b="0" lang="en-GB" sz="2220">
                <a:solidFill>
                  <a:srgbClr val="595959"/>
                </a:solidFill>
                <a:latin typeface="Arial"/>
                <a:ea typeface="Arial"/>
                <a:cs typeface="Arial"/>
                <a:sym typeface="Arial"/>
              </a:rPr>
              <a:t>[Matthew Weber, Ayan Kumar Halder]</a:t>
            </a:r>
            <a:endParaRPr b="0" sz="2220">
              <a:solidFill>
                <a:srgbClr val="595959"/>
              </a:solidFill>
              <a:latin typeface="Arial"/>
              <a:ea typeface="Arial"/>
              <a:cs typeface="Arial"/>
              <a:sym typeface="Arial"/>
            </a:endParaRPr>
          </a:p>
          <a:p>
            <a:pPr indent="0" lvl="0" marL="0" rtl="0" algn="l">
              <a:lnSpc>
                <a:spcPct val="100000"/>
              </a:lnSpc>
              <a:spcBef>
                <a:spcPts val="2250"/>
              </a:spcBef>
              <a:spcAft>
                <a:spcPts val="0"/>
              </a:spcAft>
              <a:buSzPct val="186854"/>
              <a:buNone/>
            </a:pPr>
            <a:r>
              <a:rPr b="0" lang="en-GB" sz="1665">
                <a:solidFill>
                  <a:srgbClr val="000000"/>
                </a:solidFill>
                <a:latin typeface="Arial"/>
                <a:ea typeface="Arial"/>
                <a:cs typeface="Arial"/>
                <a:sym typeface="Arial"/>
              </a:rPr>
              <a:t>ELISA Workshop: London, UK</a:t>
            </a:r>
            <a:endParaRPr b="0" sz="1665">
              <a:solidFill>
                <a:srgbClr val="000000"/>
              </a:solidFill>
              <a:latin typeface="Arial"/>
              <a:ea typeface="Arial"/>
              <a:cs typeface="Arial"/>
              <a:sym typeface="Arial"/>
            </a:endParaRPr>
          </a:p>
          <a:p>
            <a:pPr indent="0" lvl="0" marL="0" rtl="0" algn="l">
              <a:lnSpc>
                <a:spcPct val="100000"/>
              </a:lnSpc>
              <a:spcBef>
                <a:spcPts val="375"/>
              </a:spcBef>
              <a:spcAft>
                <a:spcPts val="0"/>
              </a:spcAft>
              <a:buSzPct val="240240"/>
              <a:buNone/>
            </a:pPr>
            <a:r>
              <a:rPr b="0" lang="en-GB" sz="1295">
                <a:solidFill>
                  <a:srgbClr val="000000"/>
                </a:solidFill>
                <a:latin typeface="Arial"/>
                <a:ea typeface="Arial"/>
                <a:cs typeface="Arial"/>
                <a:sym typeface="Arial"/>
              </a:rPr>
              <a:t>June 9-11, 2026</a:t>
            </a:r>
            <a:endParaRPr b="0" sz="1295">
              <a:solidFill>
                <a:srgbClr val="000000"/>
              </a:solidFill>
              <a:latin typeface="Arial"/>
              <a:ea typeface="Arial"/>
              <a:cs typeface="Arial"/>
              <a:sym typeface="Arial"/>
            </a:endParaRPr>
          </a:p>
          <a:p>
            <a:pPr indent="0" lvl="0" marL="0" rtl="0" algn="l">
              <a:lnSpc>
                <a:spcPct val="100000"/>
              </a:lnSpc>
              <a:spcBef>
                <a:spcPts val="0"/>
              </a:spcBef>
              <a:spcAft>
                <a:spcPts val="0"/>
              </a:spcAft>
              <a:buSzPct val="240240"/>
              <a:buNone/>
            </a:pPr>
            <a:r>
              <a:rPr b="0" lang="en-GB" sz="1295">
                <a:solidFill>
                  <a:srgbClr val="000000"/>
                </a:solidFill>
                <a:latin typeface="Arial"/>
                <a:ea typeface="Arial"/>
                <a:cs typeface="Arial"/>
                <a:sym typeface="Arial"/>
              </a:rPr>
              <a:t>Co-hosted with Canonical</a:t>
            </a:r>
            <a:endParaRPr sz="1295">
              <a:solidFill>
                <a:srgbClr val="000000"/>
              </a:solidFill>
            </a:endParaRPr>
          </a:p>
        </p:txBody>
      </p:sp>
      <p:pic>
        <p:nvPicPr>
          <p:cNvPr id="94" name="Google Shape;94;p2" title="elisa-horizontal-color.png"/>
          <p:cNvPicPr preferRelativeResize="0"/>
          <p:nvPr/>
        </p:nvPicPr>
        <p:blipFill rotWithShape="1">
          <a:blip r:embed="rId4">
            <a:alphaModFix/>
          </a:blip>
          <a:srcRect b="0" l="0" r="0" t="0"/>
          <a:stretch/>
        </p:blipFill>
        <p:spPr>
          <a:xfrm>
            <a:off x="460100" y="501600"/>
            <a:ext cx="1523625" cy="5623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ed1c26bf42_0_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flow</a:t>
            </a:r>
            <a:endParaRPr/>
          </a:p>
        </p:txBody>
      </p:sp>
      <p:sp>
        <p:nvSpPr>
          <p:cNvPr id="100" name="Google Shape;100;g3ed1c26bf42_0_9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GB"/>
              <a:t>Why use a hypervisor?</a:t>
            </a:r>
            <a:endParaRPr/>
          </a:p>
          <a:p>
            <a:pPr indent="-317500" lvl="1" marL="914400" rtl="0" algn="l">
              <a:spcBef>
                <a:spcPts val="0"/>
              </a:spcBef>
              <a:spcAft>
                <a:spcPts val="0"/>
              </a:spcAft>
              <a:buSzPts val="1400"/>
              <a:buChar char="○"/>
            </a:pPr>
            <a:r>
              <a:rPr lang="en-GB"/>
              <a:t>Key features of Xen which makes it useful for safety critical system</a:t>
            </a:r>
            <a:endParaRPr/>
          </a:p>
          <a:p>
            <a:pPr indent="-317500" lvl="1" marL="914400" rtl="0" algn="l">
              <a:spcBef>
                <a:spcPts val="0"/>
              </a:spcBef>
              <a:spcAft>
                <a:spcPts val="0"/>
              </a:spcAft>
              <a:buSzPts val="1400"/>
              <a:buChar char="○"/>
            </a:pPr>
            <a:r>
              <a:rPr lang="en-GB"/>
              <a:t>How Xen shares responsibility with Linux and Zephyr to enable a safety system</a:t>
            </a:r>
            <a:endParaRPr/>
          </a:p>
          <a:p>
            <a:pPr indent="-342900" lvl="0" marL="457200" rtl="0" algn="l">
              <a:spcBef>
                <a:spcPts val="0"/>
              </a:spcBef>
              <a:spcAft>
                <a:spcPts val="0"/>
              </a:spcAft>
              <a:buSzPts val="1800"/>
              <a:buChar char="●"/>
            </a:pPr>
            <a:r>
              <a:rPr lang="en-GB"/>
              <a:t>It all begins with requirements</a:t>
            </a:r>
            <a:endParaRPr/>
          </a:p>
          <a:p>
            <a:pPr indent="-317500" lvl="1" marL="914400" rtl="0" algn="l">
              <a:spcBef>
                <a:spcPts val="0"/>
              </a:spcBef>
              <a:spcAft>
                <a:spcPts val="0"/>
              </a:spcAft>
              <a:buSzPts val="1400"/>
              <a:buChar char="○"/>
            </a:pPr>
            <a:r>
              <a:rPr lang="en-GB"/>
              <a:t>Describing the features that Xen provides to the domain - in our case market requirements</a:t>
            </a:r>
            <a:endParaRPr/>
          </a:p>
          <a:p>
            <a:pPr indent="-317500" lvl="1" marL="914400" rtl="0" algn="l">
              <a:spcBef>
                <a:spcPts val="0"/>
              </a:spcBef>
              <a:spcAft>
                <a:spcPts val="0"/>
              </a:spcAft>
              <a:buSzPts val="1400"/>
              <a:buChar char="○"/>
            </a:pPr>
            <a:r>
              <a:rPr lang="en-GB"/>
              <a:t>The flow from market to product to SSR</a:t>
            </a:r>
            <a:endParaRPr/>
          </a:p>
          <a:p>
            <a:pPr indent="-317500" lvl="1" marL="914400" rtl="0" algn="l">
              <a:spcBef>
                <a:spcPts val="0"/>
              </a:spcBef>
              <a:spcAft>
                <a:spcPts val="0"/>
              </a:spcAft>
              <a:buSzPts val="1400"/>
              <a:buChar char="○"/>
            </a:pPr>
            <a:r>
              <a:rPr lang="en-GB"/>
              <a:t>Why AoUs and the key AoUs</a:t>
            </a:r>
            <a:endParaRPr/>
          </a:p>
          <a:p>
            <a:pPr indent="-317500" lvl="1" marL="914400" rtl="0" algn="l">
              <a:spcBef>
                <a:spcPts val="0"/>
              </a:spcBef>
              <a:spcAft>
                <a:spcPts val="0"/>
              </a:spcAft>
              <a:buSzPts val="1400"/>
              <a:buChar char="○"/>
            </a:pPr>
            <a:r>
              <a:rPr lang="en-GB"/>
              <a:t>Why Arch spec</a:t>
            </a:r>
            <a:endParaRPr/>
          </a:p>
          <a:p>
            <a:pPr indent="-342900" lvl="0" marL="457200" rtl="0" algn="l">
              <a:spcBef>
                <a:spcPts val="0"/>
              </a:spcBef>
              <a:spcAft>
                <a:spcPts val="0"/>
              </a:spcAft>
              <a:buSzPts val="1800"/>
              <a:buChar char="●"/>
            </a:pPr>
            <a:r>
              <a:rPr lang="en-GB"/>
              <a:t>How do you verify and validate a complex system?</a:t>
            </a:r>
            <a:endParaRPr/>
          </a:p>
          <a:p>
            <a:pPr indent="-317500" lvl="1" marL="914400" rtl="0" algn="l">
              <a:spcBef>
                <a:spcPts val="0"/>
              </a:spcBef>
              <a:spcAft>
                <a:spcPts val="0"/>
              </a:spcAft>
              <a:buSzPts val="1400"/>
              <a:buChar char="○"/>
            </a:pPr>
            <a:r>
              <a:rPr lang="en-GB"/>
              <a:t>The various kinds of tests - req based tests, BVA, fault injection, runtime</a:t>
            </a:r>
            <a:endParaRPr/>
          </a:p>
          <a:p>
            <a:pPr indent="-317500" lvl="1" marL="914400" rtl="0" algn="l">
              <a:spcBef>
                <a:spcPts val="0"/>
              </a:spcBef>
              <a:spcAft>
                <a:spcPts val="0"/>
              </a:spcAft>
              <a:buSzPts val="1400"/>
              <a:buChar char="○"/>
            </a:pPr>
            <a:r>
              <a:rPr lang="en-GB"/>
              <a:t>The tooling around - MCDC coverage</a:t>
            </a:r>
            <a:endParaRPr/>
          </a:p>
          <a:p>
            <a:pPr indent="-317500" lvl="1" marL="914400" rtl="0" algn="l">
              <a:spcBef>
                <a:spcPts val="0"/>
              </a:spcBef>
              <a:spcAft>
                <a:spcPts val="0"/>
              </a:spcAft>
              <a:buSzPts val="1400"/>
              <a:buChar char="○"/>
            </a:pPr>
            <a:r>
              <a:rPr lang="en-GB"/>
              <a:t>Further </a:t>
            </a:r>
            <a:r>
              <a:rPr lang="en-GB"/>
              <a:t>splitting</a:t>
            </a:r>
            <a:r>
              <a:rPr lang="en-GB"/>
              <a:t> the requirements to tie them to functions - making DO</a:t>
            </a:r>
            <a:endParaRPr/>
          </a:p>
          <a:p>
            <a:pPr indent="-342900" lvl="0" marL="457200" rtl="0" algn="l">
              <a:spcBef>
                <a:spcPts val="0"/>
              </a:spcBef>
              <a:spcAft>
                <a:spcPts val="0"/>
              </a:spcAft>
              <a:buSzPts val="1800"/>
              <a:buChar char="●"/>
            </a:pPr>
            <a:r>
              <a:rPr lang="en-GB"/>
              <a:t>The Big question - evergreen certifiability - upstream, </a:t>
            </a:r>
            <a:r>
              <a:rPr lang="en-GB"/>
              <a:t>maintain</a:t>
            </a:r>
            <a:endParaRPr/>
          </a:p>
          <a:p>
            <a:pPr indent="-317500" lvl="1" marL="914400" rtl="0" algn="l">
              <a:spcBef>
                <a:spcPts val="0"/>
              </a:spcBef>
              <a:spcAft>
                <a:spcPts val="0"/>
              </a:spcAft>
              <a:buSzPts val="1400"/>
              <a:buChar char="○"/>
            </a:pPr>
            <a:r>
              <a:rPr lang="en-GB"/>
              <a:t>So Join us - Xen Project, Xen Safety Committee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e8ad9642dd_0_0"/>
          <p:cNvSpPr txBox="1"/>
          <p:nvPr>
            <p:ph type="title"/>
          </p:nvPr>
        </p:nvSpPr>
        <p:spPr>
          <a:xfrm>
            <a:off x="311700" y="-3285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Our shared vision - OSS meets FuSa</a:t>
            </a:r>
            <a:endParaRPr/>
          </a:p>
        </p:txBody>
      </p:sp>
      <p:pic>
        <p:nvPicPr>
          <p:cNvPr id="106" name="Google Shape;106;g3e8ad9642dd_0_0" title="circles_oval.jpg"/>
          <p:cNvPicPr preferRelativeResize="0"/>
          <p:nvPr/>
        </p:nvPicPr>
        <p:blipFill>
          <a:blip r:embed="rId3">
            <a:alphaModFix/>
          </a:blip>
          <a:stretch>
            <a:fillRect/>
          </a:stretch>
        </p:blipFill>
        <p:spPr>
          <a:xfrm>
            <a:off x="648600" y="625300"/>
            <a:ext cx="7718175" cy="43658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ed1c26bf42_0_5"/>
          <p:cNvSpPr txBox="1"/>
          <p:nvPr>
            <p:ph type="title"/>
          </p:nvPr>
        </p:nvSpPr>
        <p:spPr>
          <a:xfrm>
            <a:off x="311700" y="-4626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Safety certification approach - Need for hypervisor</a:t>
            </a:r>
            <a:endParaRPr/>
          </a:p>
        </p:txBody>
      </p:sp>
      <p:pic>
        <p:nvPicPr>
          <p:cNvPr id="112" name="Google Shape;112;g3ed1c26bf42_0_5" title="arch.jpg"/>
          <p:cNvPicPr preferRelativeResize="0"/>
          <p:nvPr/>
        </p:nvPicPr>
        <p:blipFill>
          <a:blip r:embed="rId3">
            <a:alphaModFix/>
          </a:blip>
          <a:stretch>
            <a:fillRect/>
          </a:stretch>
        </p:blipFill>
        <p:spPr>
          <a:xfrm>
            <a:off x="353850" y="450305"/>
            <a:ext cx="8161377" cy="44294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1"/>
          <p:cNvSpPr txBox="1"/>
          <p:nvPr>
            <p:ph type="title"/>
          </p:nvPr>
        </p:nvSpPr>
        <p:spPr>
          <a:xfrm>
            <a:off x="104404" y="86076"/>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sz="2800">
                <a:solidFill>
                  <a:srgbClr val="434343"/>
                </a:solidFill>
                <a:latin typeface="Arial"/>
                <a:ea typeface="Arial"/>
                <a:cs typeface="Arial"/>
                <a:sym typeface="Arial"/>
              </a:rPr>
              <a:t>Key Features of Xen for safety certification </a:t>
            </a:r>
            <a:endParaRPr/>
          </a:p>
        </p:txBody>
      </p:sp>
      <p:grpSp>
        <p:nvGrpSpPr>
          <p:cNvPr id="118" name="Google Shape;118;p11"/>
          <p:cNvGrpSpPr/>
          <p:nvPr/>
        </p:nvGrpSpPr>
        <p:grpSpPr>
          <a:xfrm>
            <a:off x="3967565" y="1025840"/>
            <a:ext cx="5021450" cy="3652380"/>
            <a:chOff x="480448" y="1025840"/>
            <a:chExt cx="5021450" cy="3652380"/>
          </a:xfrm>
        </p:grpSpPr>
        <p:grpSp>
          <p:nvGrpSpPr>
            <p:cNvPr id="119" name="Google Shape;119;p11"/>
            <p:cNvGrpSpPr/>
            <p:nvPr/>
          </p:nvGrpSpPr>
          <p:grpSpPr>
            <a:xfrm>
              <a:off x="480448" y="1947314"/>
              <a:ext cx="4285281" cy="2730906"/>
              <a:chOff x="480448" y="1962812"/>
              <a:chExt cx="4285281" cy="2730906"/>
            </a:xfrm>
          </p:grpSpPr>
          <p:sp>
            <p:nvSpPr>
              <p:cNvPr id="120" name="Google Shape;120;p11"/>
              <p:cNvSpPr/>
              <p:nvPr/>
            </p:nvSpPr>
            <p:spPr>
              <a:xfrm>
                <a:off x="480448" y="3130656"/>
                <a:ext cx="4285281" cy="441702"/>
              </a:xfrm>
              <a:prstGeom prst="rect">
                <a:avLst/>
              </a:prstGeom>
              <a:gradFill>
                <a:gsLst>
                  <a:gs pos="0">
                    <a:srgbClr val="BBBBBB"/>
                  </a:gs>
                  <a:gs pos="35000">
                    <a:srgbClr val="CFCFCF"/>
                  </a:gs>
                  <a:gs pos="100000">
                    <a:srgbClr val="EDEDED"/>
                  </a:gs>
                </a:gsLst>
                <a:lin ang="16200000" scaled="0"/>
              </a:gradFill>
              <a:ln cap="flat" cmpd="sng" w="9525">
                <a:solidFill>
                  <a:srgbClr val="202020"/>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Safety certified Xen</a:t>
                </a:r>
                <a:endParaRPr b="0" i="0" sz="1400" u="none" cap="none" strike="noStrike">
                  <a:solidFill>
                    <a:srgbClr val="000000"/>
                  </a:solidFill>
                  <a:latin typeface="Arial"/>
                  <a:ea typeface="Arial"/>
                  <a:cs typeface="Arial"/>
                  <a:sym typeface="Arial"/>
                </a:endParaRPr>
              </a:p>
            </p:txBody>
          </p:sp>
          <p:sp>
            <p:nvSpPr>
              <p:cNvPr id="121" name="Google Shape;121;p11"/>
              <p:cNvSpPr/>
              <p:nvPr/>
            </p:nvSpPr>
            <p:spPr>
              <a:xfrm>
                <a:off x="480448" y="3812580"/>
                <a:ext cx="1449091" cy="247973"/>
              </a:xfrm>
              <a:prstGeom prst="rect">
                <a:avLst/>
              </a:prstGeom>
              <a:solidFill>
                <a:srgbClr val="C9EDF5"/>
              </a:solidFill>
              <a:ln cap="flat" cmpd="sng" w="25400">
                <a:solidFill>
                  <a:srgbClr val="6B4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Firmware</a:t>
                </a:r>
                <a:endParaRPr b="0" i="0" sz="1400" u="none" cap="none" strike="noStrike">
                  <a:solidFill>
                    <a:schemeClr val="dk1"/>
                  </a:solidFill>
                  <a:latin typeface="Arial"/>
                  <a:ea typeface="Arial"/>
                  <a:cs typeface="Arial"/>
                  <a:sym typeface="Arial"/>
                </a:endParaRPr>
              </a:p>
            </p:txBody>
          </p:sp>
          <p:sp>
            <p:nvSpPr>
              <p:cNvPr id="122" name="Google Shape;122;p11"/>
              <p:cNvSpPr/>
              <p:nvPr/>
            </p:nvSpPr>
            <p:spPr>
              <a:xfrm>
                <a:off x="480448" y="4355018"/>
                <a:ext cx="4285281" cy="338700"/>
              </a:xfrm>
              <a:prstGeom prst="rect">
                <a:avLst/>
              </a:prstGeom>
              <a:gradFill>
                <a:gsLst>
                  <a:gs pos="0">
                    <a:schemeClr val="accent2"/>
                  </a:gs>
                  <a:gs pos="100000">
                    <a:srgbClr val="BBBBBB"/>
                  </a:gs>
                </a:gsLst>
                <a:lin ang="16198662"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accent2"/>
                    </a:solidFill>
                    <a:latin typeface="Arial"/>
                    <a:ea typeface="Arial"/>
                    <a:cs typeface="Arial"/>
                    <a:sym typeface="Arial"/>
                  </a:rPr>
                  <a:t>Hardware</a:t>
                </a:r>
                <a:endParaRPr b="0" i="0" sz="1400" u="none" cap="none" strike="noStrike">
                  <a:solidFill>
                    <a:srgbClr val="000000"/>
                  </a:solidFill>
                  <a:latin typeface="Arial"/>
                  <a:ea typeface="Arial"/>
                  <a:cs typeface="Arial"/>
                  <a:sym typeface="Arial"/>
                </a:endParaRPr>
              </a:p>
            </p:txBody>
          </p:sp>
          <p:sp>
            <p:nvSpPr>
              <p:cNvPr id="123" name="Google Shape;123;p11"/>
              <p:cNvSpPr/>
              <p:nvPr/>
            </p:nvSpPr>
            <p:spPr>
              <a:xfrm>
                <a:off x="539857" y="2012844"/>
                <a:ext cx="1480072" cy="831098"/>
              </a:xfrm>
              <a:prstGeom prst="rect">
                <a:avLst/>
              </a:prstGeom>
              <a:gradFill>
                <a:gsLst>
                  <a:gs pos="0">
                    <a:srgbClr val="FFD17D"/>
                  </a:gs>
                  <a:gs pos="35000">
                    <a:srgbClr val="FFDCA3"/>
                  </a:gs>
                  <a:gs pos="100000">
                    <a:srgbClr val="FFF1D8"/>
                  </a:gs>
                </a:gsLst>
                <a:lin ang="16200000" scaled="0"/>
              </a:gradFill>
              <a:ln cap="flat" cmpd="sng" w="9525">
                <a:solidFill>
                  <a:srgbClr val="FDA739"/>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lang="en-GB">
                    <a:solidFill>
                      <a:schemeClr val="dk1"/>
                    </a:solidFill>
                  </a:rPr>
                  <a:t> </a:t>
                </a:r>
                <a:r>
                  <a:rPr b="0" i="0" lang="en-GB" sz="1400" u="none" cap="none" strike="noStrike">
                    <a:solidFill>
                      <a:schemeClr val="dk1"/>
                    </a:solidFill>
                    <a:latin typeface="Arial"/>
                    <a:ea typeface="Arial"/>
                    <a:cs typeface="Arial"/>
                    <a:sym typeface="Arial"/>
                  </a:rPr>
                  <a:t>VM/domain1</a:t>
                </a:r>
                <a:endParaRPr b="0" i="0" sz="1400" u="none" cap="none" strike="noStrike">
                  <a:solidFill>
                    <a:srgbClr val="000000"/>
                  </a:solidFill>
                  <a:latin typeface="Arial"/>
                  <a:ea typeface="Arial"/>
                  <a:cs typeface="Arial"/>
                  <a:sym typeface="Arial"/>
                </a:endParaRPr>
              </a:p>
            </p:txBody>
          </p:sp>
          <p:sp>
            <p:nvSpPr>
              <p:cNvPr id="124" name="Google Shape;124;p11"/>
              <p:cNvSpPr/>
              <p:nvPr/>
            </p:nvSpPr>
            <p:spPr>
              <a:xfrm>
                <a:off x="3308916" y="1962812"/>
                <a:ext cx="1456813" cy="862094"/>
              </a:xfrm>
              <a:prstGeom prst="rect">
                <a:avLst/>
              </a:prstGeom>
              <a:gradFill>
                <a:gsLst>
                  <a:gs pos="0">
                    <a:srgbClr val="9CE7F5"/>
                  </a:gs>
                  <a:gs pos="35000">
                    <a:srgbClr val="BBEAF6"/>
                  </a:gs>
                  <a:gs pos="100000">
                    <a:srgbClr val="E4F9FC"/>
                  </a:gs>
                </a:gsLst>
                <a:lin ang="16200000" scaled="0"/>
              </a:gradFill>
              <a:ln cap="flat" cmpd="sng" w="9525">
                <a:solidFill>
                  <a:srgbClr val="0096A7"/>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VM/domainn</a:t>
                </a:r>
                <a:endParaRPr b="0" i="0" sz="1400" u="none" cap="none" strike="noStrike">
                  <a:solidFill>
                    <a:schemeClr val="dk1"/>
                  </a:solidFill>
                  <a:latin typeface="Arial"/>
                  <a:ea typeface="Arial"/>
                  <a:cs typeface="Arial"/>
                  <a:sym typeface="Arial"/>
                </a:endParaRPr>
              </a:p>
            </p:txBody>
          </p:sp>
        </p:grpSp>
        <p:cxnSp>
          <p:nvCxnSpPr>
            <p:cNvPr id="125" name="Google Shape;125;p11"/>
            <p:cNvCxnSpPr/>
            <p:nvPr/>
          </p:nvCxnSpPr>
          <p:spPr>
            <a:xfrm>
              <a:off x="4038600" y="2843942"/>
              <a:ext cx="0" cy="302217"/>
            </a:xfrm>
            <a:prstGeom prst="straightConnector1">
              <a:avLst/>
            </a:prstGeom>
            <a:noFill/>
            <a:ln cap="flat" cmpd="sng" w="9525">
              <a:solidFill>
                <a:schemeClr val="dk1"/>
              </a:solidFill>
              <a:prstDash val="solid"/>
              <a:round/>
              <a:headEnd len="med" w="med" type="triangle"/>
              <a:tailEnd len="med" w="med" type="triangle"/>
            </a:ln>
          </p:spPr>
        </p:cxnSp>
        <p:cxnSp>
          <p:nvCxnSpPr>
            <p:cNvPr id="126" name="Google Shape;126;p11"/>
            <p:cNvCxnSpPr/>
            <p:nvPr/>
          </p:nvCxnSpPr>
          <p:spPr>
            <a:xfrm>
              <a:off x="1204993" y="2828439"/>
              <a:ext cx="0" cy="302217"/>
            </a:xfrm>
            <a:prstGeom prst="straightConnector1">
              <a:avLst/>
            </a:prstGeom>
            <a:noFill/>
            <a:ln cap="flat" cmpd="sng" w="9525">
              <a:solidFill>
                <a:schemeClr val="dk1"/>
              </a:solidFill>
              <a:prstDash val="solid"/>
              <a:round/>
              <a:headEnd len="med" w="med" type="triangle"/>
              <a:tailEnd len="med" w="med" type="triangle"/>
            </a:ln>
          </p:spPr>
        </p:cxnSp>
        <p:cxnSp>
          <p:nvCxnSpPr>
            <p:cNvPr id="127" name="Google Shape;127;p11"/>
            <p:cNvCxnSpPr/>
            <p:nvPr/>
          </p:nvCxnSpPr>
          <p:spPr>
            <a:xfrm>
              <a:off x="1215317" y="3546532"/>
              <a:ext cx="0" cy="302217"/>
            </a:xfrm>
            <a:prstGeom prst="straightConnector1">
              <a:avLst/>
            </a:prstGeom>
            <a:noFill/>
            <a:ln cap="flat" cmpd="sng" w="9525">
              <a:solidFill>
                <a:schemeClr val="dk1"/>
              </a:solidFill>
              <a:prstDash val="solid"/>
              <a:round/>
              <a:headEnd len="med" w="med" type="triangle"/>
              <a:tailEnd len="med" w="med" type="triangle"/>
            </a:ln>
          </p:spPr>
        </p:cxnSp>
        <p:cxnSp>
          <p:nvCxnSpPr>
            <p:cNvPr id="128" name="Google Shape;128;p11"/>
            <p:cNvCxnSpPr/>
            <p:nvPr/>
          </p:nvCxnSpPr>
          <p:spPr>
            <a:xfrm>
              <a:off x="4169045" y="3572358"/>
              <a:ext cx="1" cy="787353"/>
            </a:xfrm>
            <a:prstGeom prst="straightConnector1">
              <a:avLst/>
            </a:prstGeom>
            <a:noFill/>
            <a:ln cap="flat" cmpd="sng" w="9525">
              <a:solidFill>
                <a:schemeClr val="dk1"/>
              </a:solidFill>
              <a:prstDash val="solid"/>
              <a:round/>
              <a:headEnd len="med" w="med" type="triangle"/>
              <a:tailEnd len="med" w="med" type="triangle"/>
            </a:ln>
          </p:spPr>
        </p:cxnSp>
        <p:cxnSp>
          <p:nvCxnSpPr>
            <p:cNvPr id="129" name="Google Shape;129;p11"/>
            <p:cNvCxnSpPr/>
            <p:nvPr/>
          </p:nvCxnSpPr>
          <p:spPr>
            <a:xfrm>
              <a:off x="1215317" y="4057494"/>
              <a:ext cx="0" cy="302217"/>
            </a:xfrm>
            <a:prstGeom prst="straightConnector1">
              <a:avLst/>
            </a:prstGeom>
            <a:noFill/>
            <a:ln cap="flat" cmpd="sng" w="9525">
              <a:solidFill>
                <a:schemeClr val="dk1"/>
              </a:solidFill>
              <a:prstDash val="solid"/>
              <a:round/>
              <a:headEnd len="med" w="med" type="triangle"/>
              <a:tailEnd len="med" w="med" type="triangle"/>
            </a:ln>
          </p:spPr>
        </p:cxnSp>
        <p:sp>
          <p:nvSpPr>
            <p:cNvPr id="130" name="Google Shape;130;p11"/>
            <p:cNvSpPr/>
            <p:nvPr/>
          </p:nvSpPr>
          <p:spPr>
            <a:xfrm>
              <a:off x="539857" y="1055498"/>
              <a:ext cx="675460" cy="572700"/>
            </a:xfrm>
            <a:prstGeom prst="rect">
              <a:avLst/>
            </a:prstGeom>
            <a:solidFill>
              <a:srgbClr val="FEEDD8"/>
            </a:solidFill>
            <a:ln cap="flat" cmpd="sng" w="9525">
              <a:solidFill>
                <a:srgbClr val="FDA739"/>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App1</a:t>
              </a:r>
              <a:endParaRPr b="0" i="0" sz="1400" u="none" cap="none" strike="noStrike">
                <a:solidFill>
                  <a:srgbClr val="000000"/>
                </a:solidFill>
                <a:latin typeface="Arial"/>
                <a:ea typeface="Arial"/>
                <a:cs typeface="Arial"/>
                <a:sym typeface="Arial"/>
              </a:endParaRPr>
            </a:p>
          </p:txBody>
        </p:sp>
        <p:sp>
          <p:nvSpPr>
            <p:cNvPr id="131" name="Google Shape;131;p11"/>
            <p:cNvSpPr/>
            <p:nvPr/>
          </p:nvSpPr>
          <p:spPr>
            <a:xfrm>
              <a:off x="1344469" y="1070996"/>
              <a:ext cx="675460" cy="572700"/>
            </a:xfrm>
            <a:prstGeom prst="rect">
              <a:avLst/>
            </a:prstGeom>
            <a:solidFill>
              <a:srgbClr val="FEEDD8"/>
            </a:solidFill>
            <a:ln cap="flat" cmpd="sng" w="9525">
              <a:solidFill>
                <a:srgbClr val="FDA739"/>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App2</a:t>
              </a:r>
              <a:endParaRPr b="0" i="0" sz="1400" u="none" cap="none" strike="noStrike">
                <a:solidFill>
                  <a:srgbClr val="000000"/>
                </a:solidFill>
                <a:latin typeface="Arial"/>
                <a:ea typeface="Arial"/>
                <a:cs typeface="Arial"/>
                <a:sym typeface="Arial"/>
              </a:endParaRPr>
            </a:p>
          </p:txBody>
        </p:sp>
        <p:sp>
          <p:nvSpPr>
            <p:cNvPr id="132" name="Google Shape;132;p11"/>
            <p:cNvSpPr/>
            <p:nvPr/>
          </p:nvSpPr>
          <p:spPr>
            <a:xfrm>
              <a:off x="3285414" y="1025840"/>
              <a:ext cx="675460" cy="572700"/>
            </a:xfrm>
            <a:prstGeom prst="rect">
              <a:avLst/>
            </a:prstGeom>
            <a:solidFill>
              <a:srgbClr val="BAF8FF"/>
            </a:solidFill>
            <a:ln cap="flat" cmpd="sng" w="9525">
              <a:solidFill>
                <a:srgbClr val="FDA739"/>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App1</a:t>
              </a:r>
              <a:endParaRPr b="0" i="0" sz="1400" u="none" cap="none" strike="noStrike">
                <a:solidFill>
                  <a:srgbClr val="000000"/>
                </a:solidFill>
                <a:latin typeface="Arial"/>
                <a:ea typeface="Arial"/>
                <a:cs typeface="Arial"/>
                <a:sym typeface="Arial"/>
              </a:endParaRPr>
            </a:p>
          </p:txBody>
        </p:sp>
        <p:sp>
          <p:nvSpPr>
            <p:cNvPr id="133" name="Google Shape;133;p11"/>
            <p:cNvSpPr/>
            <p:nvPr/>
          </p:nvSpPr>
          <p:spPr>
            <a:xfrm>
              <a:off x="4129011" y="1033223"/>
              <a:ext cx="675460" cy="572700"/>
            </a:xfrm>
            <a:prstGeom prst="rect">
              <a:avLst/>
            </a:prstGeom>
            <a:solidFill>
              <a:srgbClr val="BAF8FF"/>
            </a:solidFill>
            <a:ln cap="flat" cmpd="sng" w="9525">
              <a:solidFill>
                <a:srgbClr val="FDA739"/>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App1</a:t>
              </a:r>
              <a:endParaRPr b="0" i="0" sz="1400" u="none" cap="none" strike="noStrike">
                <a:solidFill>
                  <a:srgbClr val="000000"/>
                </a:solidFill>
                <a:latin typeface="Arial"/>
                <a:ea typeface="Arial"/>
                <a:cs typeface="Arial"/>
                <a:sym typeface="Arial"/>
              </a:endParaRPr>
            </a:p>
          </p:txBody>
        </p:sp>
        <p:cxnSp>
          <p:nvCxnSpPr>
            <p:cNvPr id="134" name="Google Shape;134;p11"/>
            <p:cNvCxnSpPr/>
            <p:nvPr/>
          </p:nvCxnSpPr>
          <p:spPr>
            <a:xfrm>
              <a:off x="2208508" y="2642461"/>
              <a:ext cx="883404" cy="0"/>
            </a:xfrm>
            <a:prstGeom prst="straightConnector1">
              <a:avLst/>
            </a:prstGeom>
            <a:noFill/>
            <a:ln cap="flat" cmpd="sng" w="19050">
              <a:solidFill>
                <a:schemeClr val="accent4"/>
              </a:solidFill>
              <a:prstDash val="dash"/>
              <a:round/>
              <a:headEnd len="sm" w="sm" type="none"/>
              <a:tailEnd len="sm" w="sm" type="none"/>
            </a:ln>
          </p:spPr>
        </p:cxnSp>
        <p:cxnSp>
          <p:nvCxnSpPr>
            <p:cNvPr id="135" name="Google Shape;135;p11"/>
            <p:cNvCxnSpPr/>
            <p:nvPr/>
          </p:nvCxnSpPr>
          <p:spPr>
            <a:xfrm>
              <a:off x="923441" y="1674692"/>
              <a:ext cx="0" cy="302217"/>
            </a:xfrm>
            <a:prstGeom prst="straightConnector1">
              <a:avLst/>
            </a:prstGeom>
            <a:noFill/>
            <a:ln cap="flat" cmpd="sng" w="9525">
              <a:solidFill>
                <a:schemeClr val="dk1"/>
              </a:solidFill>
              <a:prstDash val="solid"/>
              <a:round/>
              <a:headEnd len="med" w="med" type="triangle"/>
              <a:tailEnd len="med" w="med" type="triangle"/>
            </a:ln>
          </p:spPr>
        </p:cxnSp>
        <p:cxnSp>
          <p:nvCxnSpPr>
            <p:cNvPr id="136" name="Google Shape;136;p11"/>
            <p:cNvCxnSpPr/>
            <p:nvPr/>
          </p:nvCxnSpPr>
          <p:spPr>
            <a:xfrm>
              <a:off x="1682199" y="1674692"/>
              <a:ext cx="0" cy="302217"/>
            </a:xfrm>
            <a:prstGeom prst="straightConnector1">
              <a:avLst/>
            </a:prstGeom>
            <a:noFill/>
            <a:ln cap="flat" cmpd="sng" w="9525">
              <a:solidFill>
                <a:schemeClr val="dk1"/>
              </a:solidFill>
              <a:prstDash val="solid"/>
              <a:round/>
              <a:headEnd len="med" w="med" type="triangle"/>
              <a:tailEnd len="med" w="med" type="triangle"/>
            </a:ln>
          </p:spPr>
        </p:cxnSp>
        <p:cxnSp>
          <p:nvCxnSpPr>
            <p:cNvPr id="137" name="Google Shape;137;p11"/>
            <p:cNvCxnSpPr/>
            <p:nvPr/>
          </p:nvCxnSpPr>
          <p:spPr>
            <a:xfrm>
              <a:off x="3621853" y="1643696"/>
              <a:ext cx="0" cy="302217"/>
            </a:xfrm>
            <a:prstGeom prst="straightConnector1">
              <a:avLst/>
            </a:prstGeom>
            <a:noFill/>
            <a:ln cap="flat" cmpd="sng" w="9525">
              <a:solidFill>
                <a:schemeClr val="dk1"/>
              </a:solidFill>
              <a:prstDash val="solid"/>
              <a:round/>
              <a:headEnd len="med" w="med" type="triangle"/>
              <a:tailEnd len="med" w="med" type="triangle"/>
            </a:ln>
          </p:spPr>
        </p:cxnSp>
        <p:cxnSp>
          <p:nvCxnSpPr>
            <p:cNvPr id="138" name="Google Shape;138;p11"/>
            <p:cNvCxnSpPr/>
            <p:nvPr/>
          </p:nvCxnSpPr>
          <p:spPr>
            <a:xfrm>
              <a:off x="4466741" y="1628198"/>
              <a:ext cx="0" cy="302217"/>
            </a:xfrm>
            <a:prstGeom prst="straightConnector1">
              <a:avLst/>
            </a:prstGeom>
            <a:noFill/>
            <a:ln cap="flat" cmpd="sng" w="9525">
              <a:solidFill>
                <a:schemeClr val="dk1"/>
              </a:solidFill>
              <a:prstDash val="solid"/>
              <a:round/>
              <a:headEnd len="med" w="med" type="triangle"/>
              <a:tailEnd len="med" w="med" type="triangle"/>
            </a:ln>
          </p:spPr>
        </p:cxnSp>
        <p:sp>
          <p:nvSpPr>
            <p:cNvPr id="139" name="Google Shape;139;p11"/>
            <p:cNvSpPr/>
            <p:nvPr/>
          </p:nvSpPr>
          <p:spPr>
            <a:xfrm>
              <a:off x="4972608" y="1033223"/>
              <a:ext cx="529290" cy="897192"/>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EL0</a:t>
              </a:r>
              <a:endParaRPr b="0" i="0" sz="1400" u="none" cap="none" strike="noStrike">
                <a:solidFill>
                  <a:srgbClr val="000000"/>
                </a:solidFill>
                <a:latin typeface="Arial"/>
                <a:ea typeface="Arial"/>
                <a:cs typeface="Arial"/>
                <a:sym typeface="Arial"/>
              </a:endParaRPr>
            </a:p>
          </p:txBody>
        </p:sp>
        <p:sp>
          <p:nvSpPr>
            <p:cNvPr id="140" name="Google Shape;140;p11"/>
            <p:cNvSpPr/>
            <p:nvPr/>
          </p:nvSpPr>
          <p:spPr>
            <a:xfrm>
              <a:off x="4967235" y="1948800"/>
              <a:ext cx="529290" cy="1166357"/>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EL1</a:t>
              </a:r>
              <a:endParaRPr b="0" i="0" sz="1400" u="none" cap="none" strike="noStrike">
                <a:solidFill>
                  <a:srgbClr val="000000"/>
                </a:solidFill>
                <a:latin typeface="Arial"/>
                <a:ea typeface="Arial"/>
                <a:cs typeface="Arial"/>
                <a:sym typeface="Arial"/>
              </a:endParaRPr>
            </a:p>
          </p:txBody>
        </p:sp>
        <p:sp>
          <p:nvSpPr>
            <p:cNvPr id="141" name="Google Shape;141;p11"/>
            <p:cNvSpPr/>
            <p:nvPr/>
          </p:nvSpPr>
          <p:spPr>
            <a:xfrm>
              <a:off x="4965401" y="3130657"/>
              <a:ext cx="529290" cy="666426"/>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EL2</a:t>
              </a:r>
              <a:endParaRPr b="0" i="0" sz="1400" u="none" cap="none" strike="noStrike">
                <a:solidFill>
                  <a:srgbClr val="000000"/>
                </a:solidFill>
                <a:latin typeface="Arial"/>
                <a:ea typeface="Arial"/>
                <a:cs typeface="Arial"/>
                <a:sym typeface="Arial"/>
              </a:endParaRPr>
            </a:p>
          </p:txBody>
        </p:sp>
        <p:sp>
          <p:nvSpPr>
            <p:cNvPr id="142" name="Google Shape;142;p11"/>
            <p:cNvSpPr/>
            <p:nvPr/>
          </p:nvSpPr>
          <p:spPr>
            <a:xfrm>
              <a:off x="4972608" y="3812583"/>
              <a:ext cx="529290" cy="604434"/>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EL3</a:t>
              </a:r>
              <a:endParaRPr b="0" i="0" sz="1400" u="none" cap="none" strike="noStrike">
                <a:solidFill>
                  <a:srgbClr val="000000"/>
                </a:solidFill>
                <a:latin typeface="Arial"/>
                <a:ea typeface="Arial"/>
                <a:cs typeface="Arial"/>
                <a:sym typeface="Arial"/>
              </a:endParaRPr>
            </a:p>
          </p:txBody>
        </p:sp>
      </p:grpSp>
      <p:sp>
        <p:nvSpPr>
          <p:cNvPr id="143" name="Google Shape;143;p11"/>
          <p:cNvSpPr txBox="1"/>
          <p:nvPr/>
        </p:nvSpPr>
        <p:spPr>
          <a:xfrm>
            <a:off x="209225" y="1033225"/>
            <a:ext cx="3502800" cy="3540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0000"/>
                </a:solidFill>
                <a:latin typeface="Arial"/>
                <a:ea typeface="Arial"/>
                <a:cs typeface="Arial"/>
                <a:sym typeface="Arial"/>
              </a:rPr>
              <a:t>Type1 hypervisor (Or Baremetal Hypervisor)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0000"/>
                </a:solidFill>
                <a:latin typeface="Arial"/>
                <a:ea typeface="Arial"/>
                <a:cs typeface="Arial"/>
                <a:sym typeface="Arial"/>
              </a:rPr>
              <a:t>Xen manages few hardware resources like Interrupt controller, IOMMU, Timer, UART, MMU</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1" lang="en-GB"/>
              <a:t>P</a:t>
            </a:r>
            <a:r>
              <a:rPr b="1" i="0" lang="en-GB" sz="1400" u="none" cap="none" strike="noStrike">
                <a:solidFill>
                  <a:srgbClr val="000000"/>
                </a:solidFill>
                <a:latin typeface="Arial"/>
                <a:ea typeface="Arial"/>
                <a:cs typeface="Arial"/>
                <a:sym typeface="Arial"/>
              </a:rPr>
              <a:t>artitioning</a:t>
            </a:r>
            <a:r>
              <a:rPr b="0" i="0" lang="en-GB" sz="1400" u="none" cap="none" strike="noStrike">
                <a:solidFill>
                  <a:srgbClr val="000000"/>
                </a:solidFill>
                <a:latin typeface="Arial"/>
                <a:ea typeface="Arial"/>
                <a:cs typeface="Arial"/>
                <a:sym typeface="Arial"/>
              </a:rPr>
              <a:t> of CPU cores, memory and hardware resources to VMs. Ensures that the other VM will not have access to the device and memory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000000"/>
                </a:solidFill>
                <a:latin typeface="Arial"/>
                <a:ea typeface="Arial"/>
                <a:cs typeface="Arial"/>
                <a:sym typeface="Arial"/>
              </a:rPr>
              <a:t>Xen can create and boot domains in parallel (Hyperlaunch). There is no </a:t>
            </a:r>
            <a:r>
              <a:rPr lang="en-GB"/>
              <a:t>dependency on</a:t>
            </a:r>
            <a:r>
              <a:rPr b="0" i="0" lang="en-GB" sz="1400" u="none" cap="none" strike="noStrike">
                <a:solidFill>
                  <a:srgbClr val="000000"/>
                </a:solidFill>
                <a:latin typeface="Arial"/>
                <a:ea typeface="Arial"/>
                <a:cs typeface="Arial"/>
                <a:sym typeface="Arial"/>
              </a:rPr>
              <a:t> Dom0 f</a:t>
            </a:r>
            <a:r>
              <a:rPr lang="en-GB"/>
              <a:t>or FuSa VMs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1" i="0" lang="en-GB" sz="1400" u="none" cap="none" strike="noStrike">
                <a:solidFill>
                  <a:srgbClr val="000000"/>
                </a:solidFill>
                <a:latin typeface="Arial"/>
                <a:ea typeface="Arial"/>
                <a:cs typeface="Arial"/>
                <a:sym typeface="Arial"/>
              </a:rPr>
              <a:t>Supports Arm safety cores and IPs: </a:t>
            </a:r>
            <a:r>
              <a:rPr b="0" i="1" lang="en-GB" sz="1400" u="none" cap="none" strike="noStrike">
                <a:solidFill>
                  <a:srgbClr val="000000"/>
                </a:solidFill>
                <a:latin typeface="Arial"/>
                <a:ea typeface="Arial"/>
                <a:cs typeface="Arial"/>
                <a:sym typeface="Arial"/>
              </a:rPr>
              <a:t>Cortex-A720AE, GIC-600AE, MMU-600AE</a:t>
            </a:r>
            <a:endParaRPr b="0" i="1" sz="1400" u="none" cap="none" strike="noStrike">
              <a:solidFill>
                <a:srgbClr val="000000"/>
              </a:solidFill>
              <a:latin typeface="Arial"/>
              <a:ea typeface="Arial"/>
              <a:cs typeface="Arial"/>
              <a:sym typeface="Arial"/>
            </a:endParaRPr>
          </a:p>
        </p:txBody>
      </p:sp>
      <p:sp>
        <p:nvSpPr>
          <p:cNvPr id="144" name="Google Shape;144;p11"/>
          <p:cNvSpPr txBox="1"/>
          <p:nvPr/>
        </p:nvSpPr>
        <p:spPr>
          <a:xfrm>
            <a:off x="11238575" y="2272025"/>
            <a:ext cx="7243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5"/>
          <p:cNvSpPr txBox="1"/>
          <p:nvPr>
            <p:ph type="title"/>
          </p:nvPr>
        </p:nvSpPr>
        <p:spPr>
          <a:xfrm>
            <a:off x="311700" y="139813"/>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Different Schedulers supported - Time partitioning</a:t>
            </a:r>
            <a:endParaRPr/>
          </a:p>
        </p:txBody>
      </p:sp>
      <p:grpSp>
        <p:nvGrpSpPr>
          <p:cNvPr id="150" name="Google Shape;150;p15"/>
          <p:cNvGrpSpPr/>
          <p:nvPr/>
        </p:nvGrpSpPr>
        <p:grpSpPr>
          <a:xfrm>
            <a:off x="656775" y="1066748"/>
            <a:ext cx="3406446" cy="1124415"/>
            <a:chOff x="4184542" y="1604130"/>
            <a:chExt cx="4647900" cy="1534200"/>
          </a:xfrm>
        </p:grpSpPr>
        <p:sp>
          <p:nvSpPr>
            <p:cNvPr id="151" name="Google Shape;151;p15"/>
            <p:cNvSpPr/>
            <p:nvPr/>
          </p:nvSpPr>
          <p:spPr>
            <a:xfrm>
              <a:off x="4184542" y="1604130"/>
              <a:ext cx="4647900" cy="1534200"/>
            </a:xfrm>
            <a:prstGeom prst="rect">
              <a:avLst/>
            </a:prstGeom>
            <a:solidFill>
              <a:schemeClr val="accent1"/>
            </a:solidFill>
            <a:ln cap="flat" cmpd="sng" w="18600">
              <a:solidFill>
                <a:srgbClr val="6B481B"/>
              </a:solidFill>
              <a:prstDash val="solid"/>
              <a:round/>
              <a:headEnd len="sm" w="sm" type="none"/>
              <a:tailEnd len="sm" w="sm" type="none"/>
            </a:ln>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t/>
              </a:r>
              <a:endParaRPr b="0" i="0" sz="1026" u="none" cap="none" strike="noStrike">
                <a:solidFill>
                  <a:schemeClr val="lt1"/>
                </a:solidFill>
                <a:latin typeface="Arial"/>
                <a:ea typeface="Arial"/>
                <a:cs typeface="Arial"/>
                <a:sym typeface="Arial"/>
              </a:endParaRPr>
            </a:p>
          </p:txBody>
        </p:sp>
        <p:sp>
          <p:nvSpPr>
            <p:cNvPr id="152" name="Google Shape;152;p15"/>
            <p:cNvSpPr/>
            <p:nvPr/>
          </p:nvSpPr>
          <p:spPr>
            <a:xfrm>
              <a:off x="4314135" y="1691405"/>
              <a:ext cx="2224007" cy="1205591"/>
            </a:xfrm>
            <a:prstGeom prst="rect">
              <a:avLst/>
            </a:prstGeom>
            <a:solidFill>
              <a:schemeClr val="accent5"/>
            </a:solidFill>
            <a:ln cap="flat" cmpd="sng" w="27925">
              <a:solidFill>
                <a:schemeClr val="lt1"/>
              </a:solidFill>
              <a:prstDash val="solid"/>
              <a:round/>
              <a:headEnd len="sm" w="sm" type="none"/>
              <a:tailEnd len="sm" w="sm" type="none"/>
            </a:ln>
            <a:effectLst>
              <a:outerShdw blurRad="29316" rotWithShape="0" dir="5400000" dist="14658">
                <a:srgbClr val="000000">
                  <a:alpha val="38039"/>
                </a:srgbClr>
              </a:outerShdw>
            </a:effectLst>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t/>
              </a:r>
              <a:endParaRPr b="0" i="0" sz="1026" u="none" cap="none" strike="noStrike">
                <a:solidFill>
                  <a:schemeClr val="lt1"/>
                </a:solidFill>
                <a:latin typeface="Arial"/>
                <a:ea typeface="Arial"/>
                <a:cs typeface="Arial"/>
                <a:sym typeface="Arial"/>
              </a:endParaRPr>
            </a:p>
          </p:txBody>
        </p:sp>
        <p:sp>
          <p:nvSpPr>
            <p:cNvPr id="153" name="Google Shape;153;p15"/>
            <p:cNvSpPr/>
            <p:nvPr/>
          </p:nvSpPr>
          <p:spPr>
            <a:xfrm>
              <a:off x="6667074" y="1668211"/>
              <a:ext cx="2097218" cy="1205591"/>
            </a:xfrm>
            <a:prstGeom prst="rect">
              <a:avLst/>
            </a:prstGeom>
            <a:solidFill>
              <a:schemeClr val="accent5"/>
            </a:solidFill>
            <a:ln cap="flat" cmpd="sng" w="27925">
              <a:solidFill>
                <a:schemeClr val="lt1"/>
              </a:solidFill>
              <a:prstDash val="solid"/>
              <a:round/>
              <a:headEnd len="sm" w="sm" type="none"/>
              <a:tailEnd len="sm" w="sm" type="none"/>
            </a:ln>
            <a:effectLst>
              <a:outerShdw blurRad="29316" rotWithShape="0" dir="5400000" dist="14658">
                <a:srgbClr val="000000">
                  <a:alpha val="38039"/>
                </a:srgbClr>
              </a:outerShdw>
            </a:effectLst>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t/>
              </a:r>
              <a:endParaRPr b="0" i="0" sz="1026" u="none" cap="none" strike="noStrike">
                <a:solidFill>
                  <a:schemeClr val="lt1"/>
                </a:solidFill>
                <a:latin typeface="Arial"/>
                <a:ea typeface="Arial"/>
                <a:cs typeface="Arial"/>
                <a:sym typeface="Arial"/>
              </a:endParaRPr>
            </a:p>
          </p:txBody>
        </p:sp>
        <p:sp>
          <p:nvSpPr>
            <p:cNvPr id="154" name="Google Shape;154;p15"/>
            <p:cNvSpPr txBox="1"/>
            <p:nvPr/>
          </p:nvSpPr>
          <p:spPr>
            <a:xfrm>
              <a:off x="4678755" y="1770830"/>
              <a:ext cx="1729800" cy="307800"/>
            </a:xfrm>
            <a:prstGeom prst="rect">
              <a:avLst/>
            </a:prstGeom>
            <a:noFill/>
            <a:ln>
              <a:noFill/>
            </a:ln>
          </p:spPr>
          <p:txBody>
            <a:bodyPr anchorCtr="0" anchor="t" bIns="33500" lIns="67000" spcFirstLastPara="1" rIns="67000" wrap="square" tIns="33500">
              <a:spAutoFit/>
            </a:bodyPr>
            <a:lstStyle/>
            <a:p>
              <a:pPr indent="0" lvl="0" marL="0" marR="0" rtl="0" algn="l">
                <a:lnSpc>
                  <a:spcPct val="100000"/>
                </a:lnSpc>
                <a:spcBef>
                  <a:spcPts val="0"/>
                </a:spcBef>
                <a:spcAft>
                  <a:spcPts val="0"/>
                </a:spcAft>
                <a:buClr>
                  <a:srgbClr val="000000"/>
                </a:buClr>
                <a:buSzPts val="1026"/>
                <a:buFont typeface="Arial"/>
                <a:buNone/>
              </a:pPr>
              <a:r>
                <a:rPr b="0" i="0" lang="en-GB" sz="1026" u="none" cap="none" strike="noStrike">
                  <a:solidFill>
                    <a:srgbClr val="000000"/>
                  </a:solidFill>
                  <a:latin typeface="Arial"/>
                  <a:ea typeface="Arial"/>
                  <a:cs typeface="Arial"/>
                  <a:sym typeface="Arial"/>
                </a:rPr>
                <a:t>pCPU</a:t>
              </a:r>
              <a:endParaRPr b="0" i="0" sz="1026" u="none" cap="none" strike="noStrike">
                <a:solidFill>
                  <a:srgbClr val="000000"/>
                </a:solidFill>
                <a:latin typeface="Arial"/>
                <a:ea typeface="Arial"/>
                <a:cs typeface="Arial"/>
                <a:sym typeface="Arial"/>
              </a:endParaRPr>
            </a:p>
          </p:txBody>
        </p:sp>
        <p:sp>
          <p:nvSpPr>
            <p:cNvPr id="155" name="Google Shape;155;p15"/>
            <p:cNvSpPr txBox="1"/>
            <p:nvPr/>
          </p:nvSpPr>
          <p:spPr>
            <a:xfrm>
              <a:off x="6967228" y="1755900"/>
              <a:ext cx="1729800" cy="307800"/>
            </a:xfrm>
            <a:prstGeom prst="rect">
              <a:avLst/>
            </a:prstGeom>
            <a:noFill/>
            <a:ln>
              <a:noFill/>
            </a:ln>
          </p:spPr>
          <p:txBody>
            <a:bodyPr anchorCtr="0" anchor="t" bIns="33500" lIns="67000" spcFirstLastPara="1" rIns="67000" wrap="square" tIns="33500">
              <a:spAutoFit/>
            </a:bodyPr>
            <a:lstStyle/>
            <a:p>
              <a:pPr indent="0" lvl="0" marL="0" marR="0" rtl="0" algn="l">
                <a:lnSpc>
                  <a:spcPct val="100000"/>
                </a:lnSpc>
                <a:spcBef>
                  <a:spcPts val="0"/>
                </a:spcBef>
                <a:spcAft>
                  <a:spcPts val="0"/>
                </a:spcAft>
                <a:buClr>
                  <a:srgbClr val="000000"/>
                </a:buClr>
                <a:buSzPts val="1026"/>
                <a:buFont typeface="Arial"/>
                <a:buNone/>
              </a:pPr>
              <a:r>
                <a:rPr b="0" i="0" lang="en-GB" sz="1026" u="none" cap="none" strike="noStrike">
                  <a:solidFill>
                    <a:srgbClr val="000000"/>
                  </a:solidFill>
                  <a:latin typeface="Arial"/>
                  <a:ea typeface="Arial"/>
                  <a:cs typeface="Arial"/>
                  <a:sym typeface="Arial"/>
                </a:rPr>
                <a:t>pCPU</a:t>
              </a:r>
              <a:endParaRPr b="0" i="0" sz="1026" u="none" cap="none" strike="noStrike">
                <a:solidFill>
                  <a:srgbClr val="000000"/>
                </a:solidFill>
                <a:latin typeface="Arial"/>
                <a:ea typeface="Arial"/>
                <a:cs typeface="Arial"/>
                <a:sym typeface="Arial"/>
              </a:endParaRPr>
            </a:p>
          </p:txBody>
        </p:sp>
        <p:sp>
          <p:nvSpPr>
            <p:cNvPr id="156" name="Google Shape;156;p15"/>
            <p:cNvSpPr/>
            <p:nvPr/>
          </p:nvSpPr>
          <p:spPr>
            <a:xfrm>
              <a:off x="4678755" y="2151365"/>
              <a:ext cx="1567200" cy="603600"/>
            </a:xfrm>
            <a:prstGeom prst="rect">
              <a:avLst/>
            </a:prstGeom>
            <a:gradFill>
              <a:gsLst>
                <a:gs pos="0">
                  <a:srgbClr val="00ABC0"/>
                </a:gs>
                <a:gs pos="100000">
                  <a:srgbClr val="94ECFD"/>
                </a:gs>
              </a:gsLst>
              <a:lin ang="16200000" scaled="0"/>
            </a:gradFill>
            <a:ln cap="flat" cmpd="sng" w="9525">
              <a:solidFill>
                <a:srgbClr val="0096A7"/>
              </a:solidFill>
              <a:prstDash val="solid"/>
              <a:round/>
              <a:headEnd len="sm" w="sm" type="none"/>
              <a:tailEnd len="sm" w="sm" type="none"/>
            </a:ln>
            <a:effectLst>
              <a:outerShdw blurRad="29316" rotWithShape="0" dir="5400000" dist="16857">
                <a:srgbClr val="000000">
                  <a:alpha val="34901"/>
                </a:srgbClr>
              </a:outerShdw>
            </a:effectLst>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rPr b="0" i="0" lang="en-GB" sz="1026" u="none" cap="none" strike="noStrike">
                  <a:solidFill>
                    <a:schemeClr val="lt1"/>
                  </a:solidFill>
                  <a:latin typeface="Arial"/>
                  <a:ea typeface="Arial"/>
                  <a:cs typeface="Arial"/>
                  <a:sym typeface="Arial"/>
                </a:rPr>
                <a:t>vCPU</a:t>
              </a:r>
              <a:endParaRPr b="0" i="0" sz="1026" u="none" cap="none" strike="noStrike">
                <a:solidFill>
                  <a:srgbClr val="000000"/>
                </a:solidFill>
                <a:latin typeface="Arial"/>
                <a:ea typeface="Arial"/>
                <a:cs typeface="Arial"/>
                <a:sym typeface="Arial"/>
              </a:endParaRPr>
            </a:p>
          </p:txBody>
        </p:sp>
        <p:sp>
          <p:nvSpPr>
            <p:cNvPr id="157" name="Google Shape;157;p15"/>
            <p:cNvSpPr/>
            <p:nvPr/>
          </p:nvSpPr>
          <p:spPr>
            <a:xfrm>
              <a:off x="6801818" y="2151365"/>
              <a:ext cx="1830600" cy="603600"/>
            </a:xfrm>
            <a:prstGeom prst="rect">
              <a:avLst/>
            </a:prstGeom>
            <a:gradFill>
              <a:gsLst>
                <a:gs pos="0">
                  <a:srgbClr val="00ABC0"/>
                </a:gs>
                <a:gs pos="100000">
                  <a:srgbClr val="94ECFD"/>
                </a:gs>
              </a:gsLst>
              <a:lin ang="16200000" scaled="0"/>
            </a:gradFill>
            <a:ln cap="flat" cmpd="sng" w="9525">
              <a:solidFill>
                <a:srgbClr val="0096A7"/>
              </a:solidFill>
              <a:prstDash val="solid"/>
              <a:round/>
              <a:headEnd len="sm" w="sm" type="none"/>
              <a:tailEnd len="sm" w="sm" type="none"/>
            </a:ln>
            <a:effectLst>
              <a:outerShdw blurRad="29316" rotWithShape="0" dir="5400000" dist="16857">
                <a:srgbClr val="000000">
                  <a:alpha val="34901"/>
                </a:srgbClr>
              </a:outerShdw>
            </a:effectLst>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rPr b="0" i="0" lang="en-GB" sz="1026" u="none" cap="none" strike="noStrike">
                  <a:solidFill>
                    <a:schemeClr val="lt1"/>
                  </a:solidFill>
                  <a:latin typeface="Arial"/>
                  <a:ea typeface="Arial"/>
                  <a:cs typeface="Arial"/>
                  <a:sym typeface="Arial"/>
                </a:rPr>
                <a:t>vCPU</a:t>
              </a:r>
              <a:endParaRPr b="0" i="0" sz="1026" u="none" cap="none" strike="noStrike">
                <a:solidFill>
                  <a:srgbClr val="000000"/>
                </a:solidFill>
                <a:latin typeface="Arial"/>
                <a:ea typeface="Arial"/>
                <a:cs typeface="Arial"/>
                <a:sym typeface="Arial"/>
              </a:endParaRPr>
            </a:p>
          </p:txBody>
        </p:sp>
      </p:grpSp>
      <p:grpSp>
        <p:nvGrpSpPr>
          <p:cNvPr id="158" name="Google Shape;158;p15"/>
          <p:cNvGrpSpPr/>
          <p:nvPr/>
        </p:nvGrpSpPr>
        <p:grpSpPr>
          <a:xfrm>
            <a:off x="5277527" y="3946686"/>
            <a:ext cx="3406342" cy="987371"/>
            <a:chOff x="4184541" y="3217040"/>
            <a:chExt cx="4647758" cy="1347211"/>
          </a:xfrm>
        </p:grpSpPr>
        <p:sp>
          <p:nvSpPr>
            <p:cNvPr id="159" name="Google Shape;159;p15"/>
            <p:cNvSpPr/>
            <p:nvPr/>
          </p:nvSpPr>
          <p:spPr>
            <a:xfrm>
              <a:off x="4184541" y="3217040"/>
              <a:ext cx="4647758" cy="1347211"/>
            </a:xfrm>
            <a:prstGeom prst="rect">
              <a:avLst/>
            </a:prstGeom>
            <a:solidFill>
              <a:schemeClr val="accent1"/>
            </a:solidFill>
            <a:ln cap="flat" cmpd="sng" w="18600">
              <a:solidFill>
                <a:srgbClr val="6B481B"/>
              </a:solidFill>
              <a:prstDash val="solid"/>
              <a:round/>
              <a:headEnd len="sm" w="sm" type="none"/>
              <a:tailEnd len="sm" w="sm" type="none"/>
            </a:ln>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t/>
              </a:r>
              <a:endParaRPr b="0" i="0" sz="1026" u="none" cap="none" strike="noStrike">
                <a:solidFill>
                  <a:schemeClr val="lt1"/>
                </a:solidFill>
                <a:latin typeface="Arial"/>
                <a:ea typeface="Arial"/>
                <a:cs typeface="Arial"/>
                <a:sym typeface="Arial"/>
              </a:endParaRPr>
            </a:p>
          </p:txBody>
        </p:sp>
        <p:sp>
          <p:nvSpPr>
            <p:cNvPr id="160" name="Google Shape;160;p15"/>
            <p:cNvSpPr/>
            <p:nvPr/>
          </p:nvSpPr>
          <p:spPr>
            <a:xfrm>
              <a:off x="4314135" y="3243583"/>
              <a:ext cx="2224007" cy="1205591"/>
            </a:xfrm>
            <a:prstGeom prst="rect">
              <a:avLst/>
            </a:prstGeom>
            <a:solidFill>
              <a:schemeClr val="accent5"/>
            </a:solidFill>
            <a:ln cap="flat" cmpd="sng" w="27925">
              <a:solidFill>
                <a:schemeClr val="lt1"/>
              </a:solidFill>
              <a:prstDash val="solid"/>
              <a:round/>
              <a:headEnd len="sm" w="sm" type="none"/>
              <a:tailEnd len="sm" w="sm" type="none"/>
            </a:ln>
            <a:effectLst>
              <a:outerShdw blurRad="29319" rotWithShape="0" dir="5400000" dist="14659">
                <a:srgbClr val="000000">
                  <a:alpha val="38039"/>
                </a:srgbClr>
              </a:outerShdw>
            </a:effectLst>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t/>
              </a:r>
              <a:endParaRPr b="0" i="0" sz="1026" u="none" cap="none" strike="noStrike">
                <a:solidFill>
                  <a:schemeClr val="lt1"/>
                </a:solidFill>
                <a:latin typeface="Arial"/>
                <a:ea typeface="Arial"/>
                <a:cs typeface="Arial"/>
                <a:sym typeface="Arial"/>
              </a:endParaRPr>
            </a:p>
          </p:txBody>
        </p:sp>
        <p:sp>
          <p:nvSpPr>
            <p:cNvPr id="161" name="Google Shape;161;p15"/>
            <p:cNvSpPr txBox="1"/>
            <p:nvPr/>
          </p:nvSpPr>
          <p:spPr>
            <a:xfrm>
              <a:off x="4678755" y="3323008"/>
              <a:ext cx="1729794" cy="307777"/>
            </a:xfrm>
            <a:prstGeom prst="rect">
              <a:avLst/>
            </a:prstGeom>
            <a:noFill/>
            <a:ln>
              <a:noFill/>
            </a:ln>
          </p:spPr>
          <p:txBody>
            <a:bodyPr anchorCtr="0" anchor="t" bIns="33500" lIns="67000" spcFirstLastPara="1" rIns="67000" wrap="square" tIns="33500">
              <a:spAutoFit/>
            </a:bodyPr>
            <a:lstStyle/>
            <a:p>
              <a:pPr indent="0" lvl="0" marL="0" marR="0" rtl="0" algn="l">
                <a:lnSpc>
                  <a:spcPct val="100000"/>
                </a:lnSpc>
                <a:spcBef>
                  <a:spcPts val="0"/>
                </a:spcBef>
                <a:spcAft>
                  <a:spcPts val="0"/>
                </a:spcAft>
                <a:buClr>
                  <a:srgbClr val="000000"/>
                </a:buClr>
                <a:buSzPts val="1026"/>
                <a:buFont typeface="Arial"/>
                <a:buNone/>
              </a:pPr>
              <a:r>
                <a:rPr b="0" i="0" lang="en-GB" sz="1026" u="none" cap="none" strike="noStrike">
                  <a:solidFill>
                    <a:srgbClr val="000000"/>
                  </a:solidFill>
                  <a:latin typeface="Arial"/>
                  <a:ea typeface="Arial"/>
                  <a:cs typeface="Arial"/>
                  <a:sym typeface="Arial"/>
                </a:rPr>
                <a:t>pCPU</a:t>
              </a:r>
              <a:endParaRPr b="0" i="0" sz="1026" u="none" cap="none" strike="noStrike">
                <a:solidFill>
                  <a:srgbClr val="000000"/>
                </a:solidFill>
                <a:latin typeface="Arial"/>
                <a:ea typeface="Arial"/>
                <a:cs typeface="Arial"/>
                <a:sym typeface="Arial"/>
              </a:endParaRPr>
            </a:p>
          </p:txBody>
        </p:sp>
        <p:sp>
          <p:nvSpPr>
            <p:cNvPr id="162" name="Google Shape;162;p15"/>
            <p:cNvSpPr/>
            <p:nvPr/>
          </p:nvSpPr>
          <p:spPr>
            <a:xfrm>
              <a:off x="4463510" y="3755464"/>
              <a:ext cx="962628" cy="603622"/>
            </a:xfrm>
            <a:prstGeom prst="rect">
              <a:avLst/>
            </a:prstGeom>
            <a:gradFill>
              <a:gsLst>
                <a:gs pos="0">
                  <a:srgbClr val="00ABC0"/>
                </a:gs>
                <a:gs pos="100000">
                  <a:srgbClr val="94ECFD"/>
                </a:gs>
              </a:gsLst>
              <a:lin ang="16200000" scaled="0"/>
            </a:gradFill>
            <a:ln cap="flat" cmpd="sng" w="9525">
              <a:solidFill>
                <a:srgbClr val="0096A7"/>
              </a:solidFill>
              <a:prstDash val="solid"/>
              <a:round/>
              <a:headEnd len="sm" w="sm" type="none"/>
              <a:tailEnd len="sm" w="sm" type="none"/>
            </a:ln>
            <a:effectLst>
              <a:outerShdw blurRad="29319" rotWithShape="0" dir="5400000" dist="16858">
                <a:srgbClr val="000000">
                  <a:alpha val="34901"/>
                </a:srgbClr>
              </a:outerShdw>
            </a:effectLst>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rPr b="0" i="0" lang="en-GB" sz="1026" u="none" cap="none" strike="noStrike">
                  <a:solidFill>
                    <a:schemeClr val="lt1"/>
                  </a:solidFill>
                  <a:latin typeface="Arial"/>
                  <a:ea typeface="Arial"/>
                  <a:cs typeface="Arial"/>
                  <a:sym typeface="Arial"/>
                </a:rPr>
                <a:t>vCPU</a:t>
              </a:r>
              <a:endParaRPr b="0" i="0" sz="1026" u="none" cap="none" strike="noStrike">
                <a:solidFill>
                  <a:srgbClr val="000000"/>
                </a:solidFill>
                <a:latin typeface="Arial"/>
                <a:ea typeface="Arial"/>
                <a:cs typeface="Arial"/>
                <a:sym typeface="Arial"/>
              </a:endParaRPr>
            </a:p>
          </p:txBody>
        </p:sp>
        <p:sp>
          <p:nvSpPr>
            <p:cNvPr id="163" name="Google Shape;163;p15"/>
            <p:cNvSpPr/>
            <p:nvPr/>
          </p:nvSpPr>
          <p:spPr>
            <a:xfrm>
              <a:off x="5500826" y="3763314"/>
              <a:ext cx="962628" cy="603622"/>
            </a:xfrm>
            <a:prstGeom prst="rect">
              <a:avLst/>
            </a:prstGeom>
            <a:gradFill>
              <a:gsLst>
                <a:gs pos="0">
                  <a:srgbClr val="00ABC0"/>
                </a:gs>
                <a:gs pos="100000">
                  <a:srgbClr val="94ECFD"/>
                </a:gs>
              </a:gsLst>
              <a:lin ang="16200000" scaled="0"/>
            </a:gradFill>
            <a:ln cap="flat" cmpd="sng" w="9525">
              <a:solidFill>
                <a:srgbClr val="0096A7"/>
              </a:solidFill>
              <a:prstDash val="solid"/>
              <a:round/>
              <a:headEnd len="sm" w="sm" type="none"/>
              <a:tailEnd len="sm" w="sm" type="none"/>
            </a:ln>
            <a:effectLst>
              <a:outerShdw blurRad="29319" rotWithShape="0" dir="5400000" dist="16858">
                <a:srgbClr val="000000">
                  <a:alpha val="34901"/>
                </a:srgbClr>
              </a:outerShdw>
            </a:effectLst>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rPr b="0" i="0" lang="en-GB" sz="1026" u="none" cap="none" strike="noStrike">
                  <a:solidFill>
                    <a:schemeClr val="lt1"/>
                  </a:solidFill>
                  <a:latin typeface="Arial"/>
                  <a:ea typeface="Arial"/>
                  <a:cs typeface="Arial"/>
                  <a:sym typeface="Arial"/>
                </a:rPr>
                <a:t>vCPU</a:t>
              </a:r>
              <a:endParaRPr b="0" i="0" sz="1026" u="none" cap="none" strike="noStrike">
                <a:solidFill>
                  <a:srgbClr val="000000"/>
                </a:solidFill>
                <a:latin typeface="Arial"/>
                <a:ea typeface="Arial"/>
                <a:cs typeface="Arial"/>
                <a:sym typeface="Arial"/>
              </a:endParaRPr>
            </a:p>
          </p:txBody>
        </p:sp>
        <p:sp>
          <p:nvSpPr>
            <p:cNvPr id="164" name="Google Shape;164;p15"/>
            <p:cNvSpPr/>
            <p:nvPr/>
          </p:nvSpPr>
          <p:spPr>
            <a:xfrm>
              <a:off x="6573217" y="3255413"/>
              <a:ext cx="2224007" cy="1205591"/>
            </a:xfrm>
            <a:prstGeom prst="rect">
              <a:avLst/>
            </a:prstGeom>
            <a:solidFill>
              <a:schemeClr val="accent5"/>
            </a:solidFill>
            <a:ln cap="flat" cmpd="sng" w="27925">
              <a:solidFill>
                <a:schemeClr val="lt1"/>
              </a:solidFill>
              <a:prstDash val="solid"/>
              <a:round/>
              <a:headEnd len="sm" w="sm" type="none"/>
              <a:tailEnd len="sm" w="sm" type="none"/>
            </a:ln>
            <a:effectLst>
              <a:outerShdw blurRad="29319" rotWithShape="0" dir="5400000" dist="14659">
                <a:srgbClr val="000000">
                  <a:alpha val="38039"/>
                </a:srgbClr>
              </a:outerShdw>
            </a:effectLst>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t/>
              </a:r>
              <a:endParaRPr b="0" i="0" sz="1026" u="none" cap="none" strike="noStrike">
                <a:solidFill>
                  <a:schemeClr val="lt1"/>
                </a:solidFill>
                <a:latin typeface="Arial"/>
                <a:ea typeface="Arial"/>
                <a:cs typeface="Arial"/>
                <a:sym typeface="Arial"/>
              </a:endParaRPr>
            </a:p>
          </p:txBody>
        </p:sp>
        <p:sp>
          <p:nvSpPr>
            <p:cNvPr id="165" name="Google Shape;165;p15"/>
            <p:cNvSpPr txBox="1"/>
            <p:nvPr/>
          </p:nvSpPr>
          <p:spPr>
            <a:xfrm>
              <a:off x="6937837" y="3334838"/>
              <a:ext cx="1729794" cy="307777"/>
            </a:xfrm>
            <a:prstGeom prst="rect">
              <a:avLst/>
            </a:prstGeom>
            <a:noFill/>
            <a:ln>
              <a:noFill/>
            </a:ln>
          </p:spPr>
          <p:txBody>
            <a:bodyPr anchorCtr="0" anchor="t" bIns="33500" lIns="67000" spcFirstLastPara="1" rIns="67000" wrap="square" tIns="33500">
              <a:spAutoFit/>
            </a:bodyPr>
            <a:lstStyle/>
            <a:p>
              <a:pPr indent="0" lvl="0" marL="0" marR="0" rtl="0" algn="l">
                <a:lnSpc>
                  <a:spcPct val="100000"/>
                </a:lnSpc>
                <a:spcBef>
                  <a:spcPts val="0"/>
                </a:spcBef>
                <a:spcAft>
                  <a:spcPts val="0"/>
                </a:spcAft>
                <a:buClr>
                  <a:srgbClr val="000000"/>
                </a:buClr>
                <a:buSzPts val="1026"/>
                <a:buFont typeface="Arial"/>
                <a:buNone/>
              </a:pPr>
              <a:r>
                <a:rPr b="0" i="0" lang="en-GB" sz="1026" u="none" cap="none" strike="noStrike">
                  <a:solidFill>
                    <a:srgbClr val="000000"/>
                  </a:solidFill>
                  <a:latin typeface="Arial"/>
                  <a:ea typeface="Arial"/>
                  <a:cs typeface="Arial"/>
                  <a:sym typeface="Arial"/>
                </a:rPr>
                <a:t>pCPU</a:t>
              </a:r>
              <a:endParaRPr b="0" i="0" sz="1026" u="none" cap="none" strike="noStrike">
                <a:solidFill>
                  <a:srgbClr val="000000"/>
                </a:solidFill>
                <a:latin typeface="Arial"/>
                <a:ea typeface="Arial"/>
                <a:cs typeface="Arial"/>
                <a:sym typeface="Arial"/>
              </a:endParaRPr>
            </a:p>
          </p:txBody>
        </p:sp>
        <p:sp>
          <p:nvSpPr>
            <p:cNvPr id="166" name="Google Shape;166;p15"/>
            <p:cNvSpPr/>
            <p:nvPr/>
          </p:nvSpPr>
          <p:spPr>
            <a:xfrm>
              <a:off x="6722592" y="3767294"/>
              <a:ext cx="962628" cy="603622"/>
            </a:xfrm>
            <a:prstGeom prst="rect">
              <a:avLst/>
            </a:prstGeom>
            <a:gradFill>
              <a:gsLst>
                <a:gs pos="0">
                  <a:srgbClr val="00ABC0"/>
                </a:gs>
                <a:gs pos="100000">
                  <a:srgbClr val="94ECFD"/>
                </a:gs>
              </a:gsLst>
              <a:lin ang="16200000" scaled="0"/>
            </a:gradFill>
            <a:ln cap="flat" cmpd="sng" w="9525">
              <a:solidFill>
                <a:srgbClr val="0096A7"/>
              </a:solidFill>
              <a:prstDash val="solid"/>
              <a:round/>
              <a:headEnd len="sm" w="sm" type="none"/>
              <a:tailEnd len="sm" w="sm" type="none"/>
            </a:ln>
            <a:effectLst>
              <a:outerShdw blurRad="29319" rotWithShape="0" dir="5400000" dist="16858">
                <a:srgbClr val="000000">
                  <a:alpha val="34901"/>
                </a:srgbClr>
              </a:outerShdw>
            </a:effectLst>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rPr b="0" i="0" lang="en-GB" sz="1026" u="none" cap="none" strike="noStrike">
                  <a:solidFill>
                    <a:schemeClr val="lt1"/>
                  </a:solidFill>
                  <a:latin typeface="Arial"/>
                  <a:ea typeface="Arial"/>
                  <a:cs typeface="Arial"/>
                  <a:sym typeface="Arial"/>
                </a:rPr>
                <a:t>vCPU</a:t>
              </a:r>
              <a:endParaRPr b="0" i="0" sz="1026" u="none" cap="none" strike="noStrike">
                <a:solidFill>
                  <a:srgbClr val="000000"/>
                </a:solidFill>
                <a:latin typeface="Arial"/>
                <a:ea typeface="Arial"/>
                <a:cs typeface="Arial"/>
                <a:sym typeface="Arial"/>
              </a:endParaRPr>
            </a:p>
          </p:txBody>
        </p:sp>
        <p:sp>
          <p:nvSpPr>
            <p:cNvPr id="167" name="Google Shape;167;p15"/>
            <p:cNvSpPr/>
            <p:nvPr/>
          </p:nvSpPr>
          <p:spPr>
            <a:xfrm>
              <a:off x="7759908" y="3775144"/>
              <a:ext cx="962628" cy="603622"/>
            </a:xfrm>
            <a:prstGeom prst="rect">
              <a:avLst/>
            </a:prstGeom>
            <a:gradFill>
              <a:gsLst>
                <a:gs pos="0">
                  <a:srgbClr val="00ABC0"/>
                </a:gs>
                <a:gs pos="100000">
                  <a:srgbClr val="94ECFD"/>
                </a:gs>
              </a:gsLst>
              <a:lin ang="16200000" scaled="0"/>
            </a:gradFill>
            <a:ln cap="flat" cmpd="sng" w="9525">
              <a:solidFill>
                <a:srgbClr val="0096A7"/>
              </a:solidFill>
              <a:prstDash val="solid"/>
              <a:round/>
              <a:headEnd len="sm" w="sm" type="none"/>
              <a:tailEnd len="sm" w="sm" type="none"/>
            </a:ln>
            <a:effectLst>
              <a:outerShdw blurRad="29319" rotWithShape="0" dir="5400000" dist="16858">
                <a:srgbClr val="000000">
                  <a:alpha val="34901"/>
                </a:srgbClr>
              </a:outerShdw>
            </a:effectLst>
          </p:spPr>
          <p:txBody>
            <a:bodyPr anchorCtr="0" anchor="ctr" bIns="33500" lIns="67000" spcFirstLastPara="1" rIns="67000" wrap="square" tIns="33500">
              <a:noAutofit/>
            </a:bodyPr>
            <a:lstStyle/>
            <a:p>
              <a:pPr indent="0" lvl="0" marL="0" marR="0" rtl="0" algn="ctr">
                <a:lnSpc>
                  <a:spcPct val="100000"/>
                </a:lnSpc>
                <a:spcBef>
                  <a:spcPts val="0"/>
                </a:spcBef>
                <a:spcAft>
                  <a:spcPts val="0"/>
                </a:spcAft>
                <a:buClr>
                  <a:srgbClr val="000000"/>
                </a:buClr>
                <a:buSzPts val="1026"/>
                <a:buFont typeface="Arial"/>
                <a:buNone/>
              </a:pPr>
              <a:r>
                <a:rPr b="0" i="0" lang="en-GB" sz="1026" u="none" cap="none" strike="noStrike">
                  <a:solidFill>
                    <a:schemeClr val="lt1"/>
                  </a:solidFill>
                  <a:latin typeface="Arial"/>
                  <a:ea typeface="Arial"/>
                  <a:cs typeface="Arial"/>
                  <a:sym typeface="Arial"/>
                </a:rPr>
                <a:t>vCPU</a:t>
              </a:r>
              <a:endParaRPr b="0" i="0" sz="1026" u="none" cap="none" strike="noStrike">
                <a:solidFill>
                  <a:srgbClr val="000000"/>
                </a:solidFill>
                <a:latin typeface="Arial"/>
                <a:ea typeface="Arial"/>
                <a:cs typeface="Arial"/>
                <a:sym typeface="Arial"/>
              </a:endParaRPr>
            </a:p>
          </p:txBody>
        </p:sp>
      </p:grpSp>
      <p:sp>
        <p:nvSpPr>
          <p:cNvPr id="168" name="Google Shape;168;p15"/>
          <p:cNvSpPr txBox="1"/>
          <p:nvPr/>
        </p:nvSpPr>
        <p:spPr>
          <a:xfrm>
            <a:off x="1334857" y="716188"/>
            <a:ext cx="1887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NULL – static pinning</a:t>
            </a:r>
            <a:endParaRPr b="0" i="0" sz="1400" u="none" cap="none" strike="noStrike">
              <a:solidFill>
                <a:srgbClr val="000000"/>
              </a:solidFill>
              <a:latin typeface="Arial"/>
              <a:ea typeface="Arial"/>
              <a:cs typeface="Arial"/>
              <a:sym typeface="Arial"/>
            </a:endParaRPr>
          </a:p>
        </p:txBody>
      </p:sp>
      <p:sp>
        <p:nvSpPr>
          <p:cNvPr id="169" name="Google Shape;169;p15"/>
          <p:cNvSpPr txBox="1"/>
          <p:nvPr/>
        </p:nvSpPr>
        <p:spPr>
          <a:xfrm>
            <a:off x="6442543" y="3638878"/>
            <a:ext cx="761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Credit2</a:t>
            </a:r>
            <a:endParaRPr b="0" i="0" sz="1400" u="none" cap="none" strike="noStrike">
              <a:solidFill>
                <a:srgbClr val="000000"/>
              </a:solidFill>
              <a:latin typeface="Arial"/>
              <a:ea typeface="Arial"/>
              <a:cs typeface="Arial"/>
              <a:sym typeface="Arial"/>
            </a:endParaRPr>
          </a:p>
        </p:txBody>
      </p:sp>
      <p:pic>
        <p:nvPicPr>
          <p:cNvPr id="170" name="Google Shape;170;p15"/>
          <p:cNvPicPr preferRelativeResize="0"/>
          <p:nvPr/>
        </p:nvPicPr>
        <p:blipFill rotWithShape="1">
          <a:blip r:embed="rId3">
            <a:alphaModFix/>
          </a:blip>
          <a:srcRect b="0" l="0" r="0" t="0"/>
          <a:stretch/>
        </p:blipFill>
        <p:spPr>
          <a:xfrm>
            <a:off x="4935750" y="1030318"/>
            <a:ext cx="3611001" cy="2510025"/>
          </a:xfrm>
          <a:prstGeom prst="rect">
            <a:avLst/>
          </a:prstGeom>
          <a:noFill/>
          <a:ln>
            <a:noFill/>
          </a:ln>
        </p:spPr>
      </p:pic>
      <p:sp>
        <p:nvSpPr>
          <p:cNvPr id="171" name="Google Shape;171;p15"/>
          <p:cNvSpPr txBox="1"/>
          <p:nvPr/>
        </p:nvSpPr>
        <p:spPr>
          <a:xfrm>
            <a:off x="6068200" y="716198"/>
            <a:ext cx="1346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ARINC653</a:t>
            </a:r>
            <a:endParaRPr b="0" i="0" sz="1400" u="none" cap="none" strike="noStrike">
              <a:solidFill>
                <a:srgbClr val="000000"/>
              </a:solidFill>
              <a:latin typeface="Arial"/>
              <a:ea typeface="Arial"/>
              <a:cs typeface="Arial"/>
              <a:sym typeface="Arial"/>
            </a:endParaRPr>
          </a:p>
        </p:txBody>
      </p:sp>
      <p:sp>
        <p:nvSpPr>
          <p:cNvPr id="172" name="Google Shape;172;p15"/>
          <p:cNvSpPr txBox="1"/>
          <p:nvPr/>
        </p:nvSpPr>
        <p:spPr>
          <a:xfrm>
            <a:off x="7884182" y="3332920"/>
            <a:ext cx="2473200" cy="2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rgbClr val="000000"/>
                </a:solidFill>
                <a:latin typeface="Arial"/>
                <a:ea typeface="Arial"/>
                <a:cs typeface="Arial"/>
                <a:sym typeface="Arial"/>
              </a:rPr>
              <a:t>(Partition == Domain)</a:t>
            </a:r>
            <a:endParaRPr b="0" i="0" sz="700" u="none" cap="none" strike="noStrike">
              <a:solidFill>
                <a:srgbClr val="000000"/>
              </a:solidFill>
              <a:latin typeface="Arial"/>
              <a:ea typeface="Arial"/>
              <a:cs typeface="Arial"/>
              <a:sym typeface="Arial"/>
            </a:endParaRPr>
          </a:p>
        </p:txBody>
      </p:sp>
      <p:pic>
        <p:nvPicPr>
          <p:cNvPr id="173" name="Google Shape;173;p15" title="graph (4).png"/>
          <p:cNvPicPr preferRelativeResize="0"/>
          <p:nvPr/>
        </p:nvPicPr>
        <p:blipFill>
          <a:blip r:embed="rId4">
            <a:alphaModFix/>
          </a:blip>
          <a:stretch>
            <a:fillRect/>
          </a:stretch>
        </p:blipFill>
        <p:spPr>
          <a:xfrm>
            <a:off x="465854" y="2832220"/>
            <a:ext cx="3879741" cy="2144535"/>
          </a:xfrm>
          <a:prstGeom prst="rect">
            <a:avLst/>
          </a:prstGeom>
          <a:noFill/>
          <a:ln>
            <a:noFill/>
          </a:ln>
        </p:spPr>
      </p:pic>
      <p:sp>
        <p:nvSpPr>
          <p:cNvPr id="174" name="Google Shape;174;p15"/>
          <p:cNvSpPr txBox="1"/>
          <p:nvPr/>
        </p:nvSpPr>
        <p:spPr>
          <a:xfrm>
            <a:off x="2015117" y="2433040"/>
            <a:ext cx="14391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RTDS</a:t>
            </a:r>
            <a:endParaRPr>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3"/>
          <p:cNvSpPr txBox="1"/>
          <p:nvPr>
            <p:ph type="title"/>
          </p:nvPr>
        </p:nvSpPr>
        <p:spPr>
          <a:xfrm>
            <a:off x="311700" y="72341"/>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Xen relies on Domains to manage the system</a:t>
            </a:r>
            <a:endParaRPr/>
          </a:p>
        </p:txBody>
      </p:sp>
      <p:sp>
        <p:nvSpPr>
          <p:cNvPr id="180" name="Google Shape;180;p13"/>
          <p:cNvSpPr/>
          <p:nvPr/>
        </p:nvSpPr>
        <p:spPr>
          <a:xfrm>
            <a:off x="464951" y="906653"/>
            <a:ext cx="1526583" cy="572700"/>
          </a:xfrm>
          <a:prstGeom prst="rect">
            <a:avLst/>
          </a:prstGeom>
          <a:gradFill>
            <a:gsLst>
              <a:gs pos="0">
                <a:srgbClr val="9CE7F5"/>
              </a:gs>
              <a:gs pos="35000">
                <a:srgbClr val="BBEAF6"/>
              </a:gs>
              <a:gs pos="100000">
                <a:srgbClr val="E4F9FC"/>
              </a:gs>
            </a:gsLst>
            <a:lin ang="16200000" scaled="0"/>
          </a:gradFill>
          <a:ln cap="flat" cmpd="sng" w="9525">
            <a:solidFill>
              <a:srgbClr val="0096A7"/>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Control domain</a:t>
            </a:r>
            <a:endParaRPr b="0" i="0" sz="1400" u="none" cap="none" strike="noStrike">
              <a:solidFill>
                <a:srgbClr val="000000"/>
              </a:solidFill>
              <a:latin typeface="Arial"/>
              <a:ea typeface="Arial"/>
              <a:cs typeface="Arial"/>
              <a:sym typeface="Arial"/>
            </a:endParaRPr>
          </a:p>
        </p:txBody>
      </p:sp>
      <p:cxnSp>
        <p:nvCxnSpPr>
          <p:cNvPr id="181" name="Google Shape;181;p13"/>
          <p:cNvCxnSpPr/>
          <p:nvPr/>
        </p:nvCxnSpPr>
        <p:spPr>
          <a:xfrm>
            <a:off x="1991534" y="1297983"/>
            <a:ext cx="3138405" cy="0"/>
          </a:xfrm>
          <a:prstGeom prst="straightConnector1">
            <a:avLst/>
          </a:prstGeom>
          <a:noFill/>
          <a:ln cap="flat" cmpd="sng" w="9525">
            <a:solidFill>
              <a:srgbClr val="FDA739"/>
            </a:solidFill>
            <a:prstDash val="solid"/>
            <a:round/>
            <a:headEnd len="sm" w="sm" type="none"/>
            <a:tailEnd len="med" w="med" type="triangle"/>
          </a:ln>
        </p:spPr>
      </p:cxnSp>
      <p:sp>
        <p:nvSpPr>
          <p:cNvPr id="182" name="Google Shape;182;p13"/>
          <p:cNvSpPr txBox="1"/>
          <p:nvPr/>
        </p:nvSpPr>
        <p:spPr>
          <a:xfrm>
            <a:off x="1991534" y="958541"/>
            <a:ext cx="323914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suspend/resume, pause/unpause,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Shutdown/restart  </a:t>
            </a:r>
            <a:endParaRPr b="0" i="0" sz="1400" u="none" cap="none" strike="noStrike">
              <a:solidFill>
                <a:srgbClr val="000000"/>
              </a:solidFill>
              <a:latin typeface="Arial"/>
              <a:ea typeface="Arial"/>
              <a:cs typeface="Arial"/>
              <a:sym typeface="Arial"/>
            </a:endParaRPr>
          </a:p>
        </p:txBody>
      </p:sp>
      <p:sp>
        <p:nvSpPr>
          <p:cNvPr id="183" name="Google Shape;183;p13"/>
          <p:cNvSpPr/>
          <p:nvPr/>
        </p:nvSpPr>
        <p:spPr>
          <a:xfrm>
            <a:off x="5129939" y="898902"/>
            <a:ext cx="1526583" cy="523221"/>
          </a:xfrm>
          <a:prstGeom prst="rect">
            <a:avLst/>
          </a:prstGeom>
          <a:solidFill>
            <a:srgbClr val="C8D2D6"/>
          </a:solidFill>
          <a:ln cap="flat" cmpd="sng" w="9525">
            <a:solidFill>
              <a:srgbClr val="0096A7"/>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Regular domains</a:t>
            </a:r>
            <a:endParaRPr b="0" i="0" sz="1400" u="none" cap="none" strike="noStrike">
              <a:solidFill>
                <a:srgbClr val="000000"/>
              </a:solidFill>
              <a:latin typeface="Arial"/>
              <a:ea typeface="Arial"/>
              <a:cs typeface="Arial"/>
              <a:sym typeface="Arial"/>
            </a:endParaRPr>
          </a:p>
        </p:txBody>
      </p:sp>
      <p:sp>
        <p:nvSpPr>
          <p:cNvPr id="184" name="Google Shape;184;p13"/>
          <p:cNvSpPr/>
          <p:nvPr/>
        </p:nvSpPr>
        <p:spPr>
          <a:xfrm>
            <a:off x="5230678" y="2257241"/>
            <a:ext cx="1526583" cy="572700"/>
          </a:xfrm>
          <a:prstGeom prst="rect">
            <a:avLst/>
          </a:prstGeom>
          <a:gradFill>
            <a:gsLst>
              <a:gs pos="0">
                <a:srgbClr val="9CE7F5"/>
              </a:gs>
              <a:gs pos="35000">
                <a:srgbClr val="BBEAF6"/>
              </a:gs>
              <a:gs pos="100000">
                <a:srgbClr val="E4F9FC"/>
              </a:gs>
            </a:gsLst>
            <a:lin ang="16200000" scaled="0"/>
          </a:gradFill>
          <a:ln cap="flat" cmpd="sng" w="9525">
            <a:solidFill>
              <a:srgbClr val="0096A7"/>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Hardware domain</a:t>
            </a:r>
            <a:endParaRPr b="0" i="0" sz="1400" u="none" cap="none" strike="noStrike">
              <a:solidFill>
                <a:srgbClr val="000000"/>
              </a:solidFill>
              <a:latin typeface="Arial"/>
              <a:ea typeface="Arial"/>
              <a:cs typeface="Arial"/>
              <a:sym typeface="Arial"/>
            </a:endParaRPr>
          </a:p>
        </p:txBody>
      </p:sp>
      <p:sp>
        <p:nvSpPr>
          <p:cNvPr id="185" name="Google Shape;185;p13"/>
          <p:cNvSpPr txBox="1"/>
          <p:nvPr/>
        </p:nvSpPr>
        <p:spPr>
          <a:xfrm>
            <a:off x="6790194" y="2033984"/>
            <a:ext cx="2251125"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*Default owner of the platform unless a device is assigned to another domain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6" name="Google Shape;186;p13"/>
          <p:cNvCxnSpPr>
            <a:stCxn id="180" idx="2"/>
            <a:endCxn id="184" idx="1"/>
          </p:cNvCxnSpPr>
          <p:nvPr/>
        </p:nvCxnSpPr>
        <p:spPr>
          <a:xfrm>
            <a:off x="1228243" y="1479353"/>
            <a:ext cx="4002300" cy="1064100"/>
          </a:xfrm>
          <a:prstGeom prst="straightConnector1">
            <a:avLst/>
          </a:prstGeom>
          <a:noFill/>
          <a:ln cap="flat" cmpd="sng" w="9525">
            <a:solidFill>
              <a:srgbClr val="FDA739"/>
            </a:solidFill>
            <a:prstDash val="solid"/>
            <a:round/>
            <a:headEnd len="sm" w="sm" type="none"/>
            <a:tailEnd len="med" w="med" type="triangle"/>
          </a:ln>
        </p:spPr>
      </p:cxnSp>
      <p:sp>
        <p:nvSpPr>
          <p:cNvPr id="187" name="Google Shape;187;p13"/>
          <p:cNvSpPr txBox="1"/>
          <p:nvPr/>
        </p:nvSpPr>
        <p:spPr>
          <a:xfrm>
            <a:off x="2282126" y="2387294"/>
            <a:ext cx="457974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Platform specific operations</a:t>
            </a:r>
            <a:endParaRPr b="0" i="0" sz="1400" u="none" cap="none" strike="noStrike">
              <a:solidFill>
                <a:srgbClr val="000000"/>
              </a:solidFill>
              <a:latin typeface="Arial"/>
              <a:ea typeface="Arial"/>
              <a:cs typeface="Arial"/>
              <a:sym typeface="Arial"/>
            </a:endParaRPr>
          </a:p>
        </p:txBody>
      </p:sp>
      <p:cxnSp>
        <p:nvCxnSpPr>
          <p:cNvPr id="188" name="Google Shape;188;p13"/>
          <p:cNvCxnSpPr>
            <a:endCxn id="183" idx="2"/>
          </p:cNvCxnSpPr>
          <p:nvPr/>
        </p:nvCxnSpPr>
        <p:spPr>
          <a:xfrm rot="10800000">
            <a:off x="5893231" y="1422123"/>
            <a:ext cx="0" cy="835200"/>
          </a:xfrm>
          <a:prstGeom prst="straightConnector1">
            <a:avLst/>
          </a:prstGeom>
          <a:noFill/>
          <a:ln cap="flat" cmpd="sng" w="9525">
            <a:solidFill>
              <a:srgbClr val="FDA739"/>
            </a:solidFill>
            <a:prstDash val="solid"/>
            <a:round/>
            <a:headEnd len="sm" w="sm" type="none"/>
            <a:tailEnd len="med" w="med" type="triangle"/>
          </a:ln>
        </p:spPr>
      </p:cxnSp>
      <p:sp>
        <p:nvSpPr>
          <p:cNvPr id="189" name="Google Shape;189;p13"/>
          <p:cNvSpPr txBox="1"/>
          <p:nvPr/>
        </p:nvSpPr>
        <p:spPr>
          <a:xfrm>
            <a:off x="5829301" y="1621544"/>
            <a:ext cx="19217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Impacts the platform</a:t>
            </a:r>
            <a:endParaRPr b="0" i="0" sz="1400" u="none" cap="none" strike="noStrike">
              <a:solidFill>
                <a:srgbClr val="000000"/>
              </a:solidFill>
              <a:latin typeface="Arial"/>
              <a:ea typeface="Arial"/>
              <a:cs typeface="Arial"/>
              <a:sym typeface="Arial"/>
            </a:endParaRPr>
          </a:p>
        </p:txBody>
      </p:sp>
      <p:sp>
        <p:nvSpPr>
          <p:cNvPr id="190" name="Google Shape;190;p13"/>
          <p:cNvSpPr/>
          <p:nvPr/>
        </p:nvSpPr>
        <p:spPr>
          <a:xfrm>
            <a:off x="2733513" y="4045693"/>
            <a:ext cx="1654445" cy="485445"/>
          </a:xfrm>
          <a:prstGeom prst="rect">
            <a:avLst/>
          </a:prstGeom>
          <a:solidFill>
            <a:schemeClr val="accent1"/>
          </a:solidFill>
          <a:ln cap="flat" cmpd="sng" w="25400">
            <a:solidFill>
              <a:srgbClr val="6B4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lt1"/>
                </a:solidFill>
                <a:latin typeface="Arial"/>
                <a:ea typeface="Arial"/>
                <a:cs typeface="Arial"/>
                <a:sym typeface="Arial"/>
              </a:rPr>
              <a:t>Untargetable</a:t>
            </a:r>
            <a:endParaRPr b="0" i="0" sz="1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lt1"/>
                </a:solidFill>
                <a:latin typeface="Arial"/>
                <a:ea typeface="Arial"/>
                <a:cs typeface="Arial"/>
                <a:sym typeface="Arial"/>
              </a:rPr>
              <a:t>Regular domains</a:t>
            </a:r>
            <a:endParaRPr b="0" i="0" sz="1400" u="none" cap="none" strike="noStrike">
              <a:solidFill>
                <a:srgbClr val="000000"/>
              </a:solidFill>
              <a:latin typeface="Arial"/>
              <a:ea typeface="Arial"/>
              <a:cs typeface="Arial"/>
              <a:sym typeface="Arial"/>
            </a:endParaRPr>
          </a:p>
        </p:txBody>
      </p:sp>
      <p:sp>
        <p:nvSpPr>
          <p:cNvPr id="191" name="Google Shape;191;p13"/>
          <p:cNvSpPr txBox="1"/>
          <p:nvPr/>
        </p:nvSpPr>
        <p:spPr>
          <a:xfrm>
            <a:off x="6757261" y="831595"/>
            <a:ext cx="225112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Can be assigned one or more hardware</a:t>
            </a:r>
            <a:endParaRPr b="0" i="0" sz="1400" u="none" cap="none" strike="noStrike">
              <a:solidFill>
                <a:srgbClr val="000000"/>
              </a:solidFill>
              <a:latin typeface="Arial"/>
              <a:ea typeface="Arial"/>
              <a:cs typeface="Arial"/>
              <a:sym typeface="Arial"/>
            </a:endParaRPr>
          </a:p>
        </p:txBody>
      </p:sp>
      <p:cxnSp>
        <p:nvCxnSpPr>
          <p:cNvPr id="192" name="Google Shape;192;p13"/>
          <p:cNvCxnSpPr/>
          <p:nvPr/>
        </p:nvCxnSpPr>
        <p:spPr>
          <a:xfrm>
            <a:off x="953146" y="1549831"/>
            <a:ext cx="2061274" cy="2456481"/>
          </a:xfrm>
          <a:prstGeom prst="straightConnector1">
            <a:avLst/>
          </a:prstGeom>
          <a:noFill/>
          <a:ln cap="flat" cmpd="sng" w="9525">
            <a:solidFill>
              <a:srgbClr val="FDA739"/>
            </a:solidFill>
            <a:prstDash val="solid"/>
            <a:round/>
            <a:headEnd len="sm" w="sm" type="none"/>
            <a:tailEnd len="med" w="med" type="triangle"/>
          </a:ln>
        </p:spPr>
      </p:cxnSp>
      <p:sp>
        <p:nvSpPr>
          <p:cNvPr id="193" name="Google Shape;193;p13"/>
          <p:cNvSpPr/>
          <p:nvPr/>
        </p:nvSpPr>
        <p:spPr>
          <a:xfrm>
            <a:off x="1487837" y="2387294"/>
            <a:ext cx="906651" cy="816241"/>
          </a:xfrm>
          <a:prstGeom prst="noSmoking">
            <a:avLst>
              <a:gd fmla="val 18750" name="adj"/>
            </a:avLst>
          </a:prstGeom>
          <a:solidFill>
            <a:schemeClr val="accent1"/>
          </a:solidFill>
          <a:ln cap="flat" cmpd="sng" w="25400">
            <a:solidFill>
              <a:srgbClr val="6B4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cxnSp>
        <p:nvCxnSpPr>
          <p:cNvPr id="194" name="Google Shape;194;p13"/>
          <p:cNvCxnSpPr>
            <a:stCxn id="184" idx="2"/>
          </p:cNvCxnSpPr>
          <p:nvPr/>
        </p:nvCxnSpPr>
        <p:spPr>
          <a:xfrm flipH="1">
            <a:off x="4388070" y="2829941"/>
            <a:ext cx="1605900" cy="1355100"/>
          </a:xfrm>
          <a:prstGeom prst="straightConnector1">
            <a:avLst/>
          </a:prstGeom>
          <a:noFill/>
          <a:ln cap="flat" cmpd="sng" w="9525">
            <a:solidFill>
              <a:srgbClr val="FDA739"/>
            </a:solidFill>
            <a:prstDash val="solid"/>
            <a:round/>
            <a:headEnd len="sm" w="sm" type="none"/>
            <a:tailEnd len="med" w="med" type="triangle"/>
          </a:ln>
        </p:spPr>
      </p:cxnSp>
      <p:sp>
        <p:nvSpPr>
          <p:cNvPr id="195" name="Google Shape;195;p13"/>
          <p:cNvSpPr/>
          <p:nvPr/>
        </p:nvSpPr>
        <p:spPr>
          <a:xfrm>
            <a:off x="4771540" y="3001564"/>
            <a:ext cx="906651" cy="816241"/>
          </a:xfrm>
          <a:prstGeom prst="noSmoking">
            <a:avLst>
              <a:gd fmla="val 18750" name="adj"/>
            </a:avLst>
          </a:prstGeom>
          <a:solidFill>
            <a:schemeClr val="accent1"/>
          </a:solidFill>
          <a:ln cap="flat" cmpd="sng" w="25400">
            <a:solidFill>
              <a:srgbClr val="6B4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6" name="Google Shape;196;p13"/>
          <p:cNvSpPr txBox="1"/>
          <p:nvPr/>
        </p:nvSpPr>
        <p:spPr>
          <a:xfrm>
            <a:off x="5761496" y="3882704"/>
            <a:ext cx="2983424"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The control domain can be a safety cert RTOS like Zephyr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The hardware domain can be a rich OS which supports many drivers like Linux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2"/>
          <p:cNvSpPr txBox="1"/>
          <p:nvPr>
            <p:ph type="title"/>
          </p:nvPr>
        </p:nvSpPr>
        <p:spPr>
          <a:xfrm>
            <a:off x="309500"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Xen with Zephyr and Linux as VMs</a:t>
            </a:r>
            <a:endParaRPr/>
          </a:p>
        </p:txBody>
      </p:sp>
      <p:sp>
        <p:nvSpPr>
          <p:cNvPr id="202" name="Google Shape;202;p12"/>
          <p:cNvSpPr txBox="1"/>
          <p:nvPr>
            <p:ph idx="1" type="body"/>
          </p:nvPr>
        </p:nvSpPr>
        <p:spPr>
          <a:xfrm>
            <a:off x="309500" y="3301876"/>
            <a:ext cx="8521700" cy="511444"/>
          </a:xfrm>
          <a:prstGeom prst="rect">
            <a:avLst/>
          </a:prstGeom>
          <a:gradFill>
            <a:gsLst>
              <a:gs pos="0">
                <a:srgbClr val="BBBBBB"/>
              </a:gs>
              <a:gs pos="35000">
                <a:srgbClr val="CFCFCF"/>
              </a:gs>
              <a:gs pos="100000">
                <a:srgbClr val="EDEDED"/>
              </a:gs>
            </a:gsLst>
            <a:lin ang="16200000" scaled="0"/>
          </a:gradFill>
          <a:ln cap="flat" cmpd="sng" w="9525">
            <a:solidFill>
              <a:srgbClr val="202020"/>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91425" lIns="91425" spcFirstLastPara="1" rIns="91425" wrap="square" tIns="91425">
            <a:noAutofit/>
          </a:bodyPr>
          <a:lstStyle/>
          <a:p>
            <a:pPr indent="0" lvl="0" marL="114300" rtl="0" algn="ctr">
              <a:lnSpc>
                <a:spcPct val="114000"/>
              </a:lnSpc>
              <a:spcBef>
                <a:spcPts val="0"/>
              </a:spcBef>
              <a:spcAft>
                <a:spcPts val="0"/>
              </a:spcAft>
              <a:buSzPts val="1800"/>
              <a:buNone/>
            </a:pPr>
            <a:r>
              <a:rPr lang="en-GB">
                <a:solidFill>
                  <a:schemeClr val="dk1"/>
                </a:solidFill>
                <a:latin typeface="Arial"/>
                <a:ea typeface="Arial"/>
                <a:cs typeface="Arial"/>
                <a:sym typeface="Arial"/>
              </a:rPr>
              <a:t>Safety certified Xen – ASIL D / SIL3</a:t>
            </a:r>
            <a:endParaRPr/>
          </a:p>
        </p:txBody>
      </p:sp>
      <p:sp>
        <p:nvSpPr>
          <p:cNvPr id="203" name="Google Shape;203;p12"/>
          <p:cNvSpPr/>
          <p:nvPr/>
        </p:nvSpPr>
        <p:spPr>
          <a:xfrm>
            <a:off x="309500" y="3907047"/>
            <a:ext cx="8520600" cy="286718"/>
          </a:xfrm>
          <a:prstGeom prst="rect">
            <a:avLst/>
          </a:prstGeom>
          <a:gradFill>
            <a:gsLst>
              <a:gs pos="0">
                <a:srgbClr val="BDD5E1"/>
              </a:gs>
              <a:gs pos="35000">
                <a:srgbClr val="D2E1E7"/>
              </a:gs>
              <a:gs pos="100000">
                <a:srgbClr val="ECF3F6"/>
              </a:gs>
            </a:gsLst>
            <a:lin ang="16200000" scaled="0"/>
          </a:gradFill>
          <a:ln cap="flat" cmpd="sng" w="9525">
            <a:solidFill>
              <a:srgbClr val="748C98"/>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Arm Trusted Firmware</a:t>
            </a:r>
            <a:endParaRPr b="0" i="0" sz="1400" u="none" cap="none" strike="noStrike">
              <a:solidFill>
                <a:srgbClr val="000000"/>
              </a:solidFill>
              <a:latin typeface="Arial"/>
              <a:ea typeface="Arial"/>
              <a:cs typeface="Arial"/>
              <a:sym typeface="Arial"/>
            </a:endParaRPr>
          </a:p>
        </p:txBody>
      </p:sp>
      <p:sp>
        <p:nvSpPr>
          <p:cNvPr id="204" name="Google Shape;204;p12"/>
          <p:cNvSpPr/>
          <p:nvPr/>
        </p:nvSpPr>
        <p:spPr>
          <a:xfrm>
            <a:off x="312800" y="4287492"/>
            <a:ext cx="8517300" cy="286718"/>
          </a:xfrm>
          <a:prstGeom prst="rect">
            <a:avLst/>
          </a:prstGeom>
          <a:gradFill>
            <a:gsLst>
              <a:gs pos="0">
                <a:schemeClr val="accent2"/>
              </a:gs>
              <a:gs pos="100000">
                <a:srgbClr val="BBBBBB"/>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lt1"/>
                </a:solidFill>
                <a:latin typeface="Arial"/>
                <a:ea typeface="Arial"/>
                <a:cs typeface="Arial"/>
                <a:sym typeface="Arial"/>
              </a:rPr>
              <a:t>Hardware</a:t>
            </a:r>
            <a:endParaRPr b="0" i="0" sz="1400" u="none" cap="none" strike="noStrike">
              <a:solidFill>
                <a:srgbClr val="000000"/>
              </a:solidFill>
              <a:latin typeface="Arial"/>
              <a:ea typeface="Arial"/>
              <a:cs typeface="Arial"/>
              <a:sym typeface="Arial"/>
            </a:endParaRPr>
          </a:p>
        </p:txBody>
      </p:sp>
      <p:sp>
        <p:nvSpPr>
          <p:cNvPr id="205" name="Google Shape;205;p12"/>
          <p:cNvSpPr/>
          <p:nvPr/>
        </p:nvSpPr>
        <p:spPr>
          <a:xfrm>
            <a:off x="387457" y="1642819"/>
            <a:ext cx="1356101" cy="1565329"/>
          </a:xfrm>
          <a:prstGeom prst="rect">
            <a:avLst/>
          </a:prstGeom>
          <a:gradFill>
            <a:gsLst>
              <a:gs pos="0">
                <a:srgbClr val="9CE7F5"/>
              </a:gs>
              <a:gs pos="35000">
                <a:srgbClr val="BBEAF6"/>
              </a:gs>
              <a:gs pos="100000">
                <a:srgbClr val="E4F9FC"/>
              </a:gs>
            </a:gsLst>
            <a:lin ang="16200000" scaled="0"/>
          </a:gradFill>
          <a:ln cap="flat" cmpd="sng" w="9525">
            <a:solidFill>
              <a:srgbClr val="0096A7"/>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Control domain - Zephyr</a:t>
            </a:r>
            <a:endParaRPr b="0" i="0" sz="1400" u="none" cap="none" strike="noStrike">
              <a:solidFill>
                <a:srgbClr val="000000"/>
              </a:solidFill>
              <a:latin typeface="Arial"/>
              <a:ea typeface="Arial"/>
              <a:cs typeface="Arial"/>
              <a:sym typeface="Arial"/>
            </a:endParaRPr>
          </a:p>
        </p:txBody>
      </p:sp>
      <p:sp>
        <p:nvSpPr>
          <p:cNvPr id="206" name="Google Shape;206;p12"/>
          <p:cNvSpPr txBox="1"/>
          <p:nvPr/>
        </p:nvSpPr>
        <p:spPr>
          <a:xfrm>
            <a:off x="364211" y="501595"/>
            <a:ext cx="1356101"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Preferably safety cert RTOS. Very minimal functionality</a:t>
            </a:r>
            <a:endParaRPr b="0" i="0" sz="1400" u="none" cap="none" strike="noStrike">
              <a:solidFill>
                <a:srgbClr val="000000"/>
              </a:solidFill>
              <a:latin typeface="Arial"/>
              <a:ea typeface="Arial"/>
              <a:cs typeface="Arial"/>
              <a:sym typeface="Arial"/>
            </a:endParaRPr>
          </a:p>
        </p:txBody>
      </p:sp>
      <p:sp>
        <p:nvSpPr>
          <p:cNvPr id="207" name="Google Shape;207;p12"/>
          <p:cNvSpPr/>
          <p:nvPr/>
        </p:nvSpPr>
        <p:spPr>
          <a:xfrm>
            <a:off x="1872711" y="1642818"/>
            <a:ext cx="1356101" cy="1565329"/>
          </a:xfrm>
          <a:prstGeom prst="rect">
            <a:avLst/>
          </a:prstGeom>
          <a:gradFill>
            <a:gsLst>
              <a:gs pos="0">
                <a:srgbClr val="FFD17D"/>
              </a:gs>
              <a:gs pos="35000">
                <a:srgbClr val="FFDCA3"/>
              </a:gs>
              <a:gs pos="100000">
                <a:srgbClr val="FFF1D8"/>
              </a:gs>
            </a:gsLst>
            <a:lin ang="16200000" scaled="0"/>
          </a:gradFill>
          <a:ln cap="flat" cmpd="sng" w="9525">
            <a:solidFill>
              <a:srgbClr val="FDA739"/>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Hardware domain - Linux</a:t>
            </a:r>
            <a:endParaRPr b="0" i="0" sz="1400" u="none" cap="none" strike="noStrike">
              <a:solidFill>
                <a:srgbClr val="000000"/>
              </a:solidFill>
              <a:latin typeface="Arial"/>
              <a:ea typeface="Arial"/>
              <a:cs typeface="Arial"/>
              <a:sym typeface="Arial"/>
            </a:endParaRPr>
          </a:p>
        </p:txBody>
      </p:sp>
      <p:sp>
        <p:nvSpPr>
          <p:cNvPr id="208" name="Google Shape;208;p12"/>
          <p:cNvSpPr txBox="1"/>
          <p:nvPr/>
        </p:nvSpPr>
        <p:spPr>
          <a:xfrm>
            <a:off x="3357964" y="691591"/>
            <a:ext cx="135610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Minimal OS which can be interrupted by other domains</a:t>
            </a:r>
            <a:endParaRPr b="0" i="0" sz="1400" u="none" cap="none" strike="noStrike">
              <a:solidFill>
                <a:srgbClr val="000000"/>
              </a:solidFill>
              <a:latin typeface="Arial"/>
              <a:ea typeface="Arial"/>
              <a:cs typeface="Arial"/>
              <a:sym typeface="Arial"/>
            </a:endParaRPr>
          </a:p>
        </p:txBody>
      </p:sp>
      <p:sp>
        <p:nvSpPr>
          <p:cNvPr id="209" name="Google Shape;209;p12"/>
          <p:cNvSpPr/>
          <p:nvPr/>
        </p:nvSpPr>
        <p:spPr>
          <a:xfrm>
            <a:off x="3357965" y="1642817"/>
            <a:ext cx="1356101" cy="1565329"/>
          </a:xfrm>
          <a:prstGeom prst="rect">
            <a:avLst/>
          </a:prstGeom>
          <a:gradFill>
            <a:gsLst>
              <a:gs pos="0">
                <a:srgbClr val="F8F8F8"/>
              </a:gs>
              <a:gs pos="40000">
                <a:srgbClr val="F6F6F6"/>
              </a:gs>
              <a:gs pos="100000">
                <a:srgbClr val="727272"/>
              </a:gs>
            </a:gsLst>
            <a:path path="circle">
              <a:fillToRect b="50%" l="50%" r="50%" t="50%"/>
            </a:path>
            <a:tileRect/>
          </a:gradFill>
          <a:ln cap="flat" cmpd="sng" w="9525">
            <a:solidFill>
              <a:srgbClr val="FDA739"/>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Targetable regular domain – Zephyr</a:t>
            </a:r>
            <a:endParaRPr b="0" i="0" sz="1400" u="none" cap="none" strike="noStrike">
              <a:solidFill>
                <a:srgbClr val="000000"/>
              </a:solidFill>
              <a:latin typeface="Arial"/>
              <a:ea typeface="Arial"/>
              <a:cs typeface="Arial"/>
              <a:sym typeface="Arial"/>
            </a:endParaRPr>
          </a:p>
        </p:txBody>
      </p:sp>
      <p:sp>
        <p:nvSpPr>
          <p:cNvPr id="210" name="Google Shape;210;p12"/>
          <p:cNvSpPr txBox="1"/>
          <p:nvPr/>
        </p:nvSpPr>
        <p:spPr>
          <a:xfrm>
            <a:off x="1937286" y="717039"/>
            <a:ext cx="135610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A rich OS which has support for many drivers</a:t>
            </a:r>
            <a:endParaRPr b="0" i="0" sz="1400" u="none" cap="none" strike="noStrike">
              <a:solidFill>
                <a:srgbClr val="000000"/>
              </a:solidFill>
              <a:latin typeface="Arial"/>
              <a:ea typeface="Arial"/>
              <a:cs typeface="Arial"/>
              <a:sym typeface="Arial"/>
            </a:endParaRPr>
          </a:p>
        </p:txBody>
      </p:sp>
      <p:sp>
        <p:nvSpPr>
          <p:cNvPr id="211" name="Google Shape;211;p12"/>
          <p:cNvSpPr/>
          <p:nvPr/>
        </p:nvSpPr>
        <p:spPr>
          <a:xfrm>
            <a:off x="4843218" y="1642816"/>
            <a:ext cx="1356101" cy="1565329"/>
          </a:xfrm>
          <a:prstGeom prst="rect">
            <a:avLst/>
          </a:prstGeom>
          <a:solidFill>
            <a:schemeClr val="accent3"/>
          </a:solidFill>
          <a:ln cap="flat" cmpd="sng" w="25400">
            <a:solidFill>
              <a:srgbClr val="323C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chemeClr val="lt1"/>
                </a:solidFill>
                <a:latin typeface="Arial"/>
                <a:ea typeface="Arial"/>
                <a:cs typeface="Arial"/>
                <a:sym typeface="Arial"/>
              </a:rPr>
              <a:t>Untargetable</a:t>
            </a:r>
            <a:r>
              <a:rPr b="0" i="0" lang="en-GB" sz="1400" u="none" cap="none" strike="noStrike">
                <a:solidFill>
                  <a:schemeClr val="lt1"/>
                </a:solidFill>
                <a:latin typeface="Arial"/>
                <a:ea typeface="Arial"/>
                <a:cs typeface="Arial"/>
                <a:sym typeface="Arial"/>
              </a:rPr>
              <a:t> regular domain - Zephyr</a:t>
            </a:r>
            <a:endParaRPr b="0" i="0" sz="1400" u="none" cap="none" strike="noStrike">
              <a:solidFill>
                <a:srgbClr val="000000"/>
              </a:solidFill>
              <a:latin typeface="Arial"/>
              <a:ea typeface="Arial"/>
              <a:cs typeface="Arial"/>
              <a:sym typeface="Arial"/>
            </a:endParaRPr>
          </a:p>
        </p:txBody>
      </p:sp>
      <p:sp>
        <p:nvSpPr>
          <p:cNvPr id="212" name="Google Shape;212;p12"/>
          <p:cNvSpPr txBox="1"/>
          <p:nvPr/>
        </p:nvSpPr>
        <p:spPr>
          <a:xfrm>
            <a:off x="4742480" y="691591"/>
            <a:ext cx="168156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Minimal OS which </a:t>
            </a:r>
            <a:r>
              <a:rPr b="1" i="0" lang="en-GB" sz="1400" u="none" cap="none" strike="noStrike">
                <a:solidFill>
                  <a:srgbClr val="000000"/>
                </a:solidFill>
                <a:latin typeface="Arial"/>
                <a:ea typeface="Arial"/>
                <a:cs typeface="Arial"/>
                <a:sym typeface="Arial"/>
              </a:rPr>
              <a:t>cannot</a:t>
            </a:r>
            <a:r>
              <a:rPr b="0" i="0" lang="en-GB" sz="1400" u="none" cap="none" strike="noStrike">
                <a:solidFill>
                  <a:srgbClr val="000000"/>
                </a:solidFill>
                <a:latin typeface="Arial"/>
                <a:ea typeface="Arial"/>
                <a:cs typeface="Arial"/>
                <a:sym typeface="Arial"/>
              </a:rPr>
              <a:t> be interrupted by other domains</a:t>
            </a:r>
            <a:endParaRPr b="0" i="0" sz="1400" u="none" cap="none" strike="noStrike">
              <a:solidFill>
                <a:srgbClr val="000000"/>
              </a:solidFill>
              <a:latin typeface="Arial"/>
              <a:ea typeface="Arial"/>
              <a:cs typeface="Arial"/>
              <a:sym typeface="Arial"/>
            </a:endParaRPr>
          </a:p>
        </p:txBody>
      </p:sp>
      <p:sp>
        <p:nvSpPr>
          <p:cNvPr id="213" name="Google Shape;213;p12"/>
          <p:cNvSpPr txBox="1"/>
          <p:nvPr/>
        </p:nvSpPr>
        <p:spPr>
          <a:xfrm>
            <a:off x="6524787" y="870475"/>
            <a:ext cx="2484642"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There can be 0-1 control domain and/or 0-1 hardware domain and/or 0-N targetable/untargetable domains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Xen supports both static mapped domains created at boot time and dynamic domain created at run time.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4"/>
          <p:cNvSpPr txBox="1"/>
          <p:nvPr>
            <p:ph type="title"/>
          </p:nvPr>
        </p:nvSpPr>
        <p:spPr>
          <a:xfrm>
            <a:off x="311700" y="197053"/>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Assumptions on domains</a:t>
            </a:r>
            <a:endParaRPr/>
          </a:p>
        </p:txBody>
      </p:sp>
      <p:sp>
        <p:nvSpPr>
          <p:cNvPr id="219" name="Google Shape;219;p14"/>
          <p:cNvSpPr txBox="1"/>
          <p:nvPr>
            <p:ph idx="1" type="body"/>
          </p:nvPr>
        </p:nvSpPr>
        <p:spPr>
          <a:xfrm>
            <a:off x="311700" y="850259"/>
            <a:ext cx="3012686" cy="3512514"/>
          </a:xfrm>
          <a:prstGeom prst="rect">
            <a:avLst/>
          </a:prstGeom>
          <a:noFill/>
          <a:ln>
            <a:noFill/>
          </a:ln>
        </p:spPr>
        <p:txBody>
          <a:bodyPr anchorCtr="0" anchor="t" bIns="91425" lIns="91425" spcFirstLastPara="1" rIns="91425" wrap="square" tIns="91425">
            <a:noAutofit/>
          </a:bodyPr>
          <a:lstStyle/>
          <a:p>
            <a:pPr indent="0" lvl="0" marL="114300" rtl="0" algn="l">
              <a:lnSpc>
                <a:spcPct val="114000"/>
              </a:lnSpc>
              <a:spcBef>
                <a:spcPts val="0"/>
              </a:spcBef>
              <a:spcAft>
                <a:spcPts val="0"/>
              </a:spcAft>
              <a:buSzPts val="1800"/>
              <a:buNone/>
            </a:pPr>
            <a:r>
              <a:rPr lang="en-GB" sz="1500"/>
              <a:t>Control domain</a:t>
            </a:r>
            <a:endParaRPr sz="1500"/>
          </a:p>
          <a:p>
            <a:pPr indent="-323850" lvl="0" marL="457200" rtl="0" algn="l">
              <a:lnSpc>
                <a:spcPct val="114000"/>
              </a:lnSpc>
              <a:spcBef>
                <a:spcPts val="0"/>
              </a:spcBef>
              <a:spcAft>
                <a:spcPts val="0"/>
              </a:spcAft>
              <a:buSzPts val="1500"/>
              <a:buChar char="●"/>
            </a:pPr>
            <a:r>
              <a:rPr lang="en-GB" sz="1500"/>
              <a:t>Has the toolstack to create/destroy domains at runtime.</a:t>
            </a:r>
            <a:endParaRPr sz="1500"/>
          </a:p>
          <a:p>
            <a:pPr indent="-323850" lvl="0" marL="457200" rtl="0" algn="l">
              <a:lnSpc>
                <a:spcPct val="114000"/>
              </a:lnSpc>
              <a:spcBef>
                <a:spcPts val="0"/>
              </a:spcBef>
              <a:spcAft>
                <a:spcPts val="0"/>
              </a:spcAft>
              <a:buSzPts val="1500"/>
              <a:buChar char="●"/>
            </a:pPr>
            <a:r>
              <a:rPr lang="en-GB" sz="1500"/>
              <a:t>Can run privileged operations to impact other domains (via mapping memory, etc)</a:t>
            </a:r>
            <a:endParaRPr sz="1500"/>
          </a:p>
          <a:p>
            <a:pPr indent="-323850" lvl="0" marL="457200" rtl="0" algn="l">
              <a:lnSpc>
                <a:spcPct val="114000"/>
              </a:lnSpc>
              <a:spcBef>
                <a:spcPts val="0"/>
              </a:spcBef>
              <a:spcAft>
                <a:spcPts val="0"/>
              </a:spcAft>
              <a:buSzPts val="1500"/>
              <a:buChar char="●"/>
            </a:pPr>
            <a:r>
              <a:rPr lang="en-GB" sz="1500"/>
              <a:t>Should be untargetable</a:t>
            </a:r>
            <a:endParaRPr sz="1500"/>
          </a:p>
          <a:p>
            <a:pPr indent="0" lvl="0" marL="114300" rtl="0" algn="l">
              <a:lnSpc>
                <a:spcPct val="114000"/>
              </a:lnSpc>
              <a:spcBef>
                <a:spcPts val="0"/>
              </a:spcBef>
              <a:spcAft>
                <a:spcPts val="0"/>
              </a:spcAft>
              <a:buSzPts val="1800"/>
              <a:buNone/>
            </a:pPr>
            <a:r>
              <a:t/>
            </a:r>
            <a:endParaRPr/>
          </a:p>
          <a:p>
            <a:pPr indent="0" lvl="0" marL="114300" rtl="0" algn="l">
              <a:lnSpc>
                <a:spcPct val="114000"/>
              </a:lnSpc>
              <a:spcBef>
                <a:spcPts val="0"/>
              </a:spcBef>
              <a:spcAft>
                <a:spcPts val="0"/>
              </a:spcAft>
              <a:buSzPts val="1800"/>
              <a:buNone/>
            </a:pPr>
            <a:r>
              <a:t/>
            </a:r>
            <a:endParaRPr/>
          </a:p>
        </p:txBody>
      </p:sp>
      <p:sp>
        <p:nvSpPr>
          <p:cNvPr id="220" name="Google Shape;220;p14"/>
          <p:cNvSpPr txBox="1"/>
          <p:nvPr/>
        </p:nvSpPr>
        <p:spPr>
          <a:xfrm>
            <a:off x="3122059" y="850259"/>
            <a:ext cx="2617480" cy="3512514"/>
          </a:xfrm>
          <a:prstGeom prst="rect">
            <a:avLst/>
          </a:prstGeom>
          <a:noFill/>
          <a:ln>
            <a:noFill/>
          </a:ln>
        </p:spPr>
        <p:txBody>
          <a:bodyPr anchorCtr="0" anchor="t" bIns="91425" lIns="91425" spcFirstLastPara="1" rIns="91425" wrap="square" tIns="91425">
            <a:noAutofit/>
          </a:bodyPr>
          <a:lstStyle/>
          <a:p>
            <a:pPr indent="0" lvl="0" marL="114300" marR="0" rtl="0" algn="l">
              <a:lnSpc>
                <a:spcPct val="114000"/>
              </a:lnSpc>
              <a:spcBef>
                <a:spcPts val="0"/>
              </a:spcBef>
              <a:spcAft>
                <a:spcPts val="0"/>
              </a:spcAft>
              <a:buClr>
                <a:srgbClr val="434343"/>
              </a:buClr>
              <a:buSzPts val="1800"/>
              <a:buFont typeface="Arial"/>
              <a:buNone/>
            </a:pPr>
            <a:r>
              <a:rPr b="0" i="0" lang="en-GB" sz="1500" u="none" cap="none" strike="noStrike">
                <a:solidFill>
                  <a:srgbClr val="434343"/>
                </a:solidFill>
                <a:latin typeface="Arial"/>
                <a:ea typeface="Arial"/>
                <a:cs typeface="Arial"/>
                <a:sym typeface="Arial"/>
              </a:rPr>
              <a:t>Hardware domain</a:t>
            </a:r>
            <a:endParaRPr b="0" i="0" sz="1500" u="none" cap="none" strike="noStrike">
              <a:solidFill>
                <a:srgbClr val="000000"/>
              </a:solidFill>
              <a:latin typeface="Arial"/>
              <a:ea typeface="Arial"/>
              <a:cs typeface="Arial"/>
              <a:sym typeface="Arial"/>
            </a:endParaRPr>
          </a:p>
          <a:p>
            <a:pPr indent="-323850" lvl="0" marL="457200" marR="0" rtl="0" algn="l">
              <a:lnSpc>
                <a:spcPct val="114000"/>
              </a:lnSpc>
              <a:spcBef>
                <a:spcPts val="0"/>
              </a:spcBef>
              <a:spcAft>
                <a:spcPts val="0"/>
              </a:spcAft>
              <a:buClr>
                <a:srgbClr val="434343"/>
              </a:buClr>
              <a:buSzPts val="1500"/>
              <a:buFont typeface="Arial"/>
              <a:buChar char="●"/>
            </a:pPr>
            <a:r>
              <a:rPr b="0" i="0" lang="en-GB" sz="1500" u="none" cap="none" strike="noStrike">
                <a:solidFill>
                  <a:srgbClr val="434343"/>
                </a:solidFill>
                <a:latin typeface="Arial"/>
                <a:ea typeface="Arial"/>
                <a:cs typeface="Arial"/>
                <a:sym typeface="Arial"/>
              </a:rPr>
              <a:t>Can be a part of control domain (ie dom0) or separate.</a:t>
            </a:r>
            <a:endParaRPr b="0" i="0" sz="1500" u="none" cap="none" strike="noStrike">
              <a:solidFill>
                <a:srgbClr val="000000"/>
              </a:solidFill>
              <a:latin typeface="Arial"/>
              <a:ea typeface="Arial"/>
              <a:cs typeface="Arial"/>
              <a:sym typeface="Arial"/>
            </a:endParaRPr>
          </a:p>
          <a:p>
            <a:pPr indent="-323850" lvl="0" marL="457200" marR="0" rtl="0" algn="l">
              <a:lnSpc>
                <a:spcPct val="114000"/>
              </a:lnSpc>
              <a:spcBef>
                <a:spcPts val="0"/>
              </a:spcBef>
              <a:spcAft>
                <a:spcPts val="0"/>
              </a:spcAft>
              <a:buClr>
                <a:srgbClr val="434343"/>
              </a:buClr>
              <a:buSzPts val="1500"/>
              <a:buFont typeface="Arial"/>
              <a:buChar char="●"/>
            </a:pPr>
            <a:r>
              <a:rPr b="0" i="0" lang="en-GB" sz="1500" u="none" cap="none" strike="noStrike">
                <a:solidFill>
                  <a:srgbClr val="434343"/>
                </a:solidFill>
                <a:latin typeface="Arial"/>
                <a:ea typeface="Arial"/>
                <a:cs typeface="Arial"/>
                <a:sym typeface="Arial"/>
              </a:rPr>
              <a:t>Able to support all the platform devices</a:t>
            </a:r>
            <a:endParaRPr b="0" i="0" sz="1500" u="none" cap="none" strike="noStrike">
              <a:solidFill>
                <a:srgbClr val="000000"/>
              </a:solidFill>
              <a:latin typeface="Arial"/>
              <a:ea typeface="Arial"/>
              <a:cs typeface="Arial"/>
              <a:sym typeface="Arial"/>
            </a:endParaRPr>
          </a:p>
          <a:p>
            <a:pPr indent="-323850" lvl="0" marL="457200" marR="0" rtl="0" algn="l">
              <a:lnSpc>
                <a:spcPct val="114000"/>
              </a:lnSpc>
              <a:spcBef>
                <a:spcPts val="0"/>
              </a:spcBef>
              <a:spcAft>
                <a:spcPts val="0"/>
              </a:spcAft>
              <a:buClr>
                <a:srgbClr val="434343"/>
              </a:buClr>
              <a:buSzPts val="1500"/>
              <a:buFont typeface="Arial"/>
              <a:buChar char="●"/>
            </a:pPr>
            <a:r>
              <a:rPr b="0" i="0" lang="en-GB" sz="1500" u="none" cap="none" strike="noStrike">
                <a:solidFill>
                  <a:srgbClr val="434343"/>
                </a:solidFill>
                <a:latin typeface="Arial"/>
                <a:ea typeface="Arial"/>
                <a:cs typeface="Arial"/>
                <a:sym typeface="Arial"/>
              </a:rPr>
              <a:t>Can run device emulation (backend)</a:t>
            </a:r>
            <a:endParaRPr b="0" i="0" sz="1500" u="none" cap="none" strike="noStrike">
              <a:solidFill>
                <a:srgbClr val="000000"/>
              </a:solidFill>
              <a:latin typeface="Arial"/>
              <a:ea typeface="Arial"/>
              <a:cs typeface="Arial"/>
              <a:sym typeface="Arial"/>
            </a:endParaRPr>
          </a:p>
          <a:p>
            <a:pPr indent="-323850" lvl="0" marL="457200" marR="0" rtl="0" algn="l">
              <a:lnSpc>
                <a:spcPct val="114000"/>
              </a:lnSpc>
              <a:spcBef>
                <a:spcPts val="0"/>
              </a:spcBef>
              <a:spcAft>
                <a:spcPts val="0"/>
              </a:spcAft>
              <a:buClr>
                <a:srgbClr val="434343"/>
              </a:buClr>
              <a:buSzPts val="1500"/>
              <a:buFont typeface="Arial"/>
              <a:buChar char="●"/>
            </a:pPr>
            <a:r>
              <a:rPr b="0" i="0" lang="en-GB" sz="1500" u="none" cap="none" strike="noStrike">
                <a:solidFill>
                  <a:srgbClr val="434343"/>
                </a:solidFill>
                <a:latin typeface="Arial"/>
                <a:ea typeface="Arial"/>
                <a:cs typeface="Arial"/>
                <a:sym typeface="Arial"/>
              </a:rPr>
              <a:t>Should be targetable </a:t>
            </a:r>
            <a:endParaRPr b="0" i="0" sz="1500" u="none" cap="none" strike="noStrike">
              <a:solidFill>
                <a:srgbClr val="000000"/>
              </a:solidFill>
              <a:latin typeface="Arial"/>
              <a:ea typeface="Arial"/>
              <a:cs typeface="Arial"/>
              <a:sym typeface="Arial"/>
            </a:endParaRPr>
          </a:p>
          <a:p>
            <a:pPr indent="-228600" lvl="0" marL="457200" marR="0" rtl="0" algn="l">
              <a:lnSpc>
                <a:spcPct val="114000"/>
              </a:lnSpc>
              <a:spcBef>
                <a:spcPts val="0"/>
              </a:spcBef>
              <a:spcAft>
                <a:spcPts val="0"/>
              </a:spcAft>
              <a:buClr>
                <a:srgbClr val="434343"/>
              </a:buClr>
              <a:buSzPts val="1800"/>
              <a:buFont typeface="Arial"/>
              <a:buNone/>
            </a:pPr>
            <a:r>
              <a:t/>
            </a:r>
            <a:endParaRPr b="0" i="0" sz="1800" u="none" cap="none" strike="noStrike">
              <a:solidFill>
                <a:srgbClr val="434343"/>
              </a:solidFill>
              <a:latin typeface="Arial"/>
              <a:ea typeface="Arial"/>
              <a:cs typeface="Arial"/>
              <a:sym typeface="Arial"/>
            </a:endParaRPr>
          </a:p>
          <a:p>
            <a:pPr indent="0" lvl="0" marL="114300" marR="0" rtl="0" algn="l">
              <a:lnSpc>
                <a:spcPct val="114000"/>
              </a:lnSpc>
              <a:spcBef>
                <a:spcPts val="0"/>
              </a:spcBef>
              <a:spcAft>
                <a:spcPts val="0"/>
              </a:spcAft>
              <a:buClr>
                <a:srgbClr val="434343"/>
              </a:buClr>
              <a:buSzPts val="1800"/>
              <a:buFont typeface="Arial"/>
              <a:buNone/>
            </a:pPr>
            <a:r>
              <a:t/>
            </a:r>
            <a:endParaRPr b="0" i="0" sz="1800" u="none" cap="none" strike="noStrike">
              <a:solidFill>
                <a:srgbClr val="434343"/>
              </a:solidFill>
              <a:latin typeface="Arial"/>
              <a:ea typeface="Arial"/>
              <a:cs typeface="Arial"/>
              <a:sym typeface="Arial"/>
            </a:endParaRPr>
          </a:p>
          <a:p>
            <a:pPr indent="0" lvl="0" marL="114300" marR="0" rtl="0" algn="l">
              <a:lnSpc>
                <a:spcPct val="114000"/>
              </a:lnSpc>
              <a:spcBef>
                <a:spcPts val="0"/>
              </a:spcBef>
              <a:spcAft>
                <a:spcPts val="0"/>
              </a:spcAft>
              <a:buClr>
                <a:srgbClr val="434343"/>
              </a:buClr>
              <a:buSzPts val="1800"/>
              <a:buFont typeface="Arial"/>
              <a:buNone/>
            </a:pPr>
            <a:r>
              <a:t/>
            </a:r>
            <a:endParaRPr b="0" i="0" sz="1800" u="none" cap="none" strike="noStrike">
              <a:solidFill>
                <a:srgbClr val="434343"/>
              </a:solidFill>
              <a:latin typeface="Arial"/>
              <a:ea typeface="Arial"/>
              <a:cs typeface="Arial"/>
              <a:sym typeface="Arial"/>
            </a:endParaRPr>
          </a:p>
        </p:txBody>
      </p:sp>
      <p:sp>
        <p:nvSpPr>
          <p:cNvPr id="221" name="Google Shape;221;p14"/>
          <p:cNvSpPr txBox="1"/>
          <p:nvPr/>
        </p:nvSpPr>
        <p:spPr>
          <a:xfrm>
            <a:off x="5862676" y="909669"/>
            <a:ext cx="2617480" cy="3512514"/>
          </a:xfrm>
          <a:prstGeom prst="rect">
            <a:avLst/>
          </a:prstGeom>
          <a:noFill/>
          <a:ln>
            <a:noFill/>
          </a:ln>
        </p:spPr>
        <p:txBody>
          <a:bodyPr anchorCtr="0" anchor="t" bIns="91425" lIns="91425" spcFirstLastPara="1" rIns="91425" wrap="square" tIns="91425">
            <a:noAutofit/>
          </a:bodyPr>
          <a:lstStyle/>
          <a:p>
            <a:pPr indent="0" lvl="0" marL="114300" marR="0" rtl="0" algn="l">
              <a:lnSpc>
                <a:spcPct val="114000"/>
              </a:lnSpc>
              <a:spcBef>
                <a:spcPts val="0"/>
              </a:spcBef>
              <a:spcAft>
                <a:spcPts val="0"/>
              </a:spcAft>
              <a:buClr>
                <a:srgbClr val="434343"/>
              </a:buClr>
              <a:buSzPts val="1800"/>
              <a:buFont typeface="Arial"/>
              <a:buNone/>
            </a:pPr>
            <a:r>
              <a:rPr b="0" i="0" lang="en-GB" sz="1500" u="none" cap="none" strike="noStrike">
                <a:solidFill>
                  <a:srgbClr val="434343"/>
                </a:solidFill>
                <a:latin typeface="Arial"/>
                <a:ea typeface="Arial"/>
                <a:cs typeface="Arial"/>
                <a:sym typeface="Arial"/>
              </a:rPr>
              <a:t>Regular domain</a:t>
            </a:r>
            <a:endParaRPr b="0" i="0" sz="1500" u="none" cap="none" strike="noStrike">
              <a:solidFill>
                <a:srgbClr val="000000"/>
              </a:solidFill>
              <a:latin typeface="Arial"/>
              <a:ea typeface="Arial"/>
              <a:cs typeface="Arial"/>
              <a:sym typeface="Arial"/>
            </a:endParaRPr>
          </a:p>
          <a:p>
            <a:pPr indent="-323850" lvl="0" marL="457200" marR="0" rtl="0" algn="l">
              <a:lnSpc>
                <a:spcPct val="114000"/>
              </a:lnSpc>
              <a:spcBef>
                <a:spcPts val="0"/>
              </a:spcBef>
              <a:spcAft>
                <a:spcPts val="0"/>
              </a:spcAft>
              <a:buClr>
                <a:srgbClr val="434343"/>
              </a:buClr>
              <a:buSzPts val="1500"/>
              <a:buFont typeface="Arial"/>
              <a:buChar char="●"/>
            </a:pPr>
            <a:r>
              <a:rPr b="0" i="0" lang="en-GB" sz="1500" u="none" cap="none" strike="noStrike">
                <a:solidFill>
                  <a:srgbClr val="434343"/>
                </a:solidFill>
                <a:latin typeface="Arial"/>
                <a:ea typeface="Arial"/>
                <a:cs typeface="Arial"/>
                <a:sym typeface="Arial"/>
              </a:rPr>
              <a:t>Can be assigned one or more platform devices.</a:t>
            </a:r>
            <a:endParaRPr b="0" i="0" sz="1500" u="none" cap="none" strike="noStrike">
              <a:solidFill>
                <a:srgbClr val="000000"/>
              </a:solidFill>
              <a:latin typeface="Arial"/>
              <a:ea typeface="Arial"/>
              <a:cs typeface="Arial"/>
              <a:sym typeface="Arial"/>
            </a:endParaRPr>
          </a:p>
          <a:p>
            <a:pPr indent="-323850" lvl="0" marL="457200" marR="0" rtl="0" algn="l">
              <a:lnSpc>
                <a:spcPct val="114000"/>
              </a:lnSpc>
              <a:spcBef>
                <a:spcPts val="0"/>
              </a:spcBef>
              <a:spcAft>
                <a:spcPts val="0"/>
              </a:spcAft>
              <a:buClr>
                <a:srgbClr val="434343"/>
              </a:buClr>
              <a:buSzPts val="1500"/>
              <a:buFont typeface="Arial"/>
              <a:buChar char="●"/>
            </a:pPr>
            <a:r>
              <a:rPr b="0" i="0" lang="en-GB" sz="1500" u="none" cap="none" strike="noStrike">
                <a:solidFill>
                  <a:srgbClr val="434343"/>
                </a:solidFill>
                <a:latin typeface="Arial"/>
                <a:ea typeface="Arial"/>
                <a:cs typeface="Arial"/>
                <a:sym typeface="Arial"/>
              </a:rPr>
              <a:t>Can share devices using PV or VirtIO with other domains.</a:t>
            </a:r>
            <a:endParaRPr b="0" i="0" sz="1500" u="none" cap="none" strike="noStrike">
              <a:solidFill>
                <a:srgbClr val="000000"/>
              </a:solidFill>
              <a:latin typeface="Arial"/>
              <a:ea typeface="Arial"/>
              <a:cs typeface="Arial"/>
              <a:sym typeface="Arial"/>
            </a:endParaRPr>
          </a:p>
          <a:p>
            <a:pPr indent="-323850" lvl="0" marL="457200" marR="0" rtl="0" algn="l">
              <a:lnSpc>
                <a:spcPct val="114000"/>
              </a:lnSpc>
              <a:spcBef>
                <a:spcPts val="0"/>
              </a:spcBef>
              <a:spcAft>
                <a:spcPts val="0"/>
              </a:spcAft>
              <a:buClr>
                <a:srgbClr val="434343"/>
              </a:buClr>
              <a:buSzPts val="1500"/>
              <a:buFont typeface="Arial"/>
              <a:buChar char="●"/>
            </a:pPr>
            <a:r>
              <a:rPr b="0" i="0" lang="en-GB" sz="1500" u="none" cap="none" strike="noStrike">
                <a:solidFill>
                  <a:srgbClr val="434343"/>
                </a:solidFill>
                <a:latin typeface="Arial"/>
                <a:ea typeface="Arial"/>
                <a:cs typeface="Arial"/>
                <a:sym typeface="Arial"/>
              </a:rPr>
              <a:t>Can be targetable (for PV/VirtIO) or untargetable</a:t>
            </a:r>
            <a:endParaRPr b="0" i="0" sz="1500" u="none" cap="none" strike="noStrike">
              <a:solidFill>
                <a:srgbClr val="434343"/>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7"/>
          <p:cNvSpPr txBox="1"/>
          <p:nvPr/>
        </p:nvSpPr>
        <p:spPr>
          <a:xfrm>
            <a:off x="257456" y="9106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434343"/>
              </a:buClr>
              <a:buSzPts val="2800"/>
              <a:buFont typeface="Arial"/>
              <a:buNone/>
            </a:pPr>
            <a:r>
              <a:rPr lang="en-GB" sz="2800">
                <a:solidFill>
                  <a:srgbClr val="434343"/>
                </a:solidFill>
              </a:rPr>
              <a:t>FUSA hardening with </a:t>
            </a:r>
            <a:r>
              <a:rPr b="0" i="0" lang="en-GB" sz="2800" u="none" cap="none" strike="noStrike">
                <a:solidFill>
                  <a:srgbClr val="434343"/>
                </a:solidFill>
                <a:latin typeface="Arial"/>
                <a:ea typeface="Arial"/>
                <a:cs typeface="Arial"/>
                <a:sym typeface="Arial"/>
              </a:rPr>
              <a:t>MISRA</a:t>
            </a:r>
            <a:r>
              <a:rPr lang="en-GB" sz="2800">
                <a:solidFill>
                  <a:srgbClr val="434343"/>
                </a:solidFill>
              </a:rPr>
              <a:t>,</a:t>
            </a:r>
            <a:r>
              <a:rPr b="0" i="0" lang="en-GB" sz="2800" u="none" cap="none" strike="noStrike">
                <a:solidFill>
                  <a:srgbClr val="434343"/>
                </a:solidFill>
                <a:latin typeface="Arial"/>
                <a:ea typeface="Arial"/>
                <a:cs typeface="Arial"/>
                <a:sym typeface="Arial"/>
              </a:rPr>
              <a:t> D</a:t>
            </a:r>
            <a:r>
              <a:rPr lang="en-GB" sz="2800">
                <a:solidFill>
                  <a:srgbClr val="434343"/>
                </a:solidFill>
              </a:rPr>
              <a:t>CE</a:t>
            </a:r>
            <a:endParaRPr b="0" i="0" sz="2800" u="none" cap="none" strike="noStrike">
              <a:solidFill>
                <a:srgbClr val="434343"/>
              </a:solidFill>
              <a:latin typeface="Arial"/>
              <a:ea typeface="Arial"/>
              <a:cs typeface="Arial"/>
              <a:sym typeface="Arial"/>
            </a:endParaRPr>
          </a:p>
        </p:txBody>
      </p:sp>
      <p:sp>
        <p:nvSpPr>
          <p:cNvPr id="227" name="Google Shape;227;p17"/>
          <p:cNvSpPr txBox="1"/>
          <p:nvPr/>
        </p:nvSpPr>
        <p:spPr>
          <a:xfrm>
            <a:off x="129958" y="911083"/>
            <a:ext cx="4818900" cy="3690300"/>
          </a:xfrm>
          <a:prstGeom prst="rect">
            <a:avLst/>
          </a:prstGeom>
          <a:noFill/>
          <a:ln>
            <a:noFill/>
          </a:ln>
        </p:spPr>
        <p:txBody>
          <a:bodyPr anchorCtr="0" anchor="t" bIns="0" lIns="0" spcFirstLastPara="1" rIns="0" wrap="square" tIns="0">
            <a:noAutofit/>
          </a:bodyPr>
          <a:lstStyle/>
          <a:p>
            <a:pPr indent="-342900" lvl="0" marL="457200" marR="0" rtl="0" algn="l">
              <a:lnSpc>
                <a:spcPct val="114000"/>
              </a:lnSpc>
              <a:spcBef>
                <a:spcPts val="0"/>
              </a:spcBef>
              <a:spcAft>
                <a:spcPts val="0"/>
              </a:spcAft>
              <a:buClr>
                <a:srgbClr val="434343"/>
              </a:buClr>
              <a:buSzPts val="1800"/>
              <a:buFont typeface="Arial"/>
              <a:buChar char="●"/>
            </a:pPr>
            <a:r>
              <a:rPr b="0" i="0" lang="en-GB" sz="1500" u="none" cap="none" strike="noStrike">
                <a:solidFill>
                  <a:srgbClr val="434343"/>
                </a:solidFill>
                <a:latin typeface="Arial"/>
                <a:ea typeface="Arial"/>
                <a:cs typeface="Arial"/>
                <a:sym typeface="Arial"/>
              </a:rPr>
              <a:t>Directives 1.1, 2.1, 4.1, 4.7, 4.10, 4.11, 4.14 adopted</a:t>
            </a:r>
            <a:endParaRPr b="0" i="0" sz="1400" u="none" cap="none" strike="noStrike">
              <a:solidFill>
                <a:srgbClr val="000000"/>
              </a:solidFill>
              <a:latin typeface="Arial"/>
              <a:ea typeface="Arial"/>
              <a:cs typeface="Arial"/>
              <a:sym typeface="Arial"/>
            </a:endParaRPr>
          </a:p>
          <a:p>
            <a:pPr indent="-342900" lvl="0" marL="457200" marR="0" rtl="0" algn="l">
              <a:lnSpc>
                <a:spcPct val="114000"/>
              </a:lnSpc>
              <a:spcBef>
                <a:spcPts val="0"/>
              </a:spcBef>
              <a:spcAft>
                <a:spcPts val="0"/>
              </a:spcAft>
              <a:buClr>
                <a:srgbClr val="434343"/>
              </a:buClr>
              <a:buSzPts val="1800"/>
              <a:buFont typeface="Arial"/>
              <a:buChar char="●"/>
            </a:pPr>
            <a:r>
              <a:rPr b="0" i="0" lang="en-GB" sz="1500" u="none" cap="none" strike="noStrike">
                <a:solidFill>
                  <a:srgbClr val="434343"/>
                </a:solidFill>
                <a:latin typeface="Arial"/>
                <a:ea typeface="Arial"/>
                <a:cs typeface="Arial"/>
                <a:sym typeface="Arial"/>
              </a:rPr>
              <a:t>120 MISRA C rules adopted</a:t>
            </a:r>
            <a:endParaRPr b="0" i="0" sz="1400" u="none" cap="none" strike="noStrike">
              <a:solidFill>
                <a:srgbClr val="000000"/>
              </a:solidFill>
              <a:latin typeface="Arial"/>
              <a:ea typeface="Arial"/>
              <a:cs typeface="Arial"/>
              <a:sym typeface="Arial"/>
            </a:endParaRPr>
          </a:p>
          <a:p>
            <a:pPr indent="-317500" lvl="1" marL="914400" marR="0" rtl="0" algn="l">
              <a:lnSpc>
                <a:spcPct val="114000"/>
              </a:lnSpc>
              <a:spcBef>
                <a:spcPts val="800"/>
              </a:spcBef>
              <a:spcAft>
                <a:spcPts val="0"/>
              </a:spcAft>
              <a:buClr>
                <a:srgbClr val="434343"/>
              </a:buClr>
              <a:buSzPts val="1400"/>
              <a:buFont typeface="Arial"/>
              <a:buChar char="○"/>
            </a:pPr>
            <a:r>
              <a:rPr b="0" i="0" lang="en-GB" sz="1100" u="sng" cap="none" strike="noStrike">
                <a:solidFill>
                  <a:srgbClr val="434343"/>
                </a:solidFill>
                <a:latin typeface="Arial"/>
                <a:ea typeface="Arial"/>
                <a:cs typeface="Arial"/>
                <a:sym typeface="Arial"/>
                <a:hlinkClick r:id="rId3">
                  <a:extLst>
                    <a:ext uri="{A12FA001-AC4F-418D-AE19-62706E023703}">
                      <ahyp:hlinkClr val="tx"/>
                    </a:ext>
                  </a:extLst>
                </a:hlinkClick>
              </a:rPr>
              <a:t>https://gitlab.com/xen-project/xen/-/blob/staging/docs/misra/rules.rst?ref_type=heads</a:t>
            </a:r>
            <a:endParaRPr b="0" i="0" sz="1100" u="none" cap="none" strike="noStrike">
              <a:solidFill>
                <a:srgbClr val="434343"/>
              </a:solidFill>
              <a:latin typeface="Arial"/>
              <a:ea typeface="Arial"/>
              <a:cs typeface="Arial"/>
              <a:sym typeface="Arial"/>
            </a:endParaRPr>
          </a:p>
          <a:p>
            <a:pPr indent="-342900" lvl="0" marL="457200" marR="0" rtl="0" algn="l">
              <a:lnSpc>
                <a:spcPct val="114000"/>
              </a:lnSpc>
              <a:spcBef>
                <a:spcPts val="0"/>
              </a:spcBef>
              <a:spcAft>
                <a:spcPts val="0"/>
              </a:spcAft>
              <a:buClr>
                <a:srgbClr val="434343"/>
              </a:buClr>
              <a:buSzPts val="1800"/>
              <a:buFont typeface="Arial"/>
              <a:buChar char="●"/>
            </a:pPr>
            <a:r>
              <a:rPr b="0" i="0" lang="en-GB" sz="1500" u="none" cap="none" strike="noStrike">
                <a:solidFill>
                  <a:srgbClr val="434343"/>
                </a:solidFill>
                <a:latin typeface="Arial"/>
                <a:ea typeface="Arial"/>
                <a:cs typeface="Arial"/>
                <a:sym typeface="Arial"/>
              </a:rPr>
              <a:t>ÉCLAIR MISRA C scanner used in upstream CI loop.</a:t>
            </a:r>
            <a:endParaRPr b="0" i="0" sz="1400" u="none" cap="none" strike="noStrike">
              <a:solidFill>
                <a:srgbClr val="000000"/>
              </a:solidFill>
              <a:latin typeface="Arial"/>
              <a:ea typeface="Arial"/>
              <a:cs typeface="Arial"/>
              <a:sym typeface="Arial"/>
            </a:endParaRPr>
          </a:p>
          <a:p>
            <a:pPr indent="-342900" lvl="0" marL="457200" marR="0" rtl="0" algn="l">
              <a:lnSpc>
                <a:spcPct val="114000"/>
              </a:lnSpc>
              <a:spcBef>
                <a:spcPts val="0"/>
              </a:spcBef>
              <a:spcAft>
                <a:spcPts val="0"/>
              </a:spcAft>
              <a:buClr>
                <a:srgbClr val="434343"/>
              </a:buClr>
              <a:buSzPts val="1800"/>
              <a:buFont typeface="Arial"/>
              <a:buChar char="●"/>
            </a:pPr>
            <a:r>
              <a:rPr b="0" i="0" lang="en-GB" sz="1500" u="none" cap="none" strike="noStrike">
                <a:solidFill>
                  <a:srgbClr val="434343"/>
                </a:solidFill>
                <a:latin typeface="Arial"/>
                <a:ea typeface="Arial"/>
                <a:cs typeface="Arial"/>
                <a:sym typeface="Arial"/>
              </a:rPr>
              <a:t>Every patch submission goes through the MISRA C scans to avoid regressions.</a:t>
            </a:r>
            <a:endParaRPr b="0" i="0" sz="1400" u="none" cap="none" strike="noStrike">
              <a:solidFill>
                <a:srgbClr val="000000"/>
              </a:solidFill>
              <a:latin typeface="Arial"/>
              <a:ea typeface="Arial"/>
              <a:cs typeface="Arial"/>
              <a:sym typeface="Arial"/>
            </a:endParaRPr>
          </a:p>
          <a:p>
            <a:pPr indent="-342900" lvl="0" marL="457200" marR="0" rtl="0" algn="l">
              <a:lnSpc>
                <a:spcPct val="114000"/>
              </a:lnSpc>
              <a:spcBef>
                <a:spcPts val="0"/>
              </a:spcBef>
              <a:spcAft>
                <a:spcPts val="0"/>
              </a:spcAft>
              <a:buClr>
                <a:srgbClr val="434343"/>
              </a:buClr>
              <a:buSzPts val="1800"/>
              <a:buFont typeface="Arial"/>
              <a:buChar char="●"/>
            </a:pPr>
            <a:r>
              <a:rPr b="1" i="0" lang="en-GB" sz="1500" u="none" cap="none" strike="noStrike">
                <a:solidFill>
                  <a:srgbClr val="434343"/>
                </a:solidFill>
                <a:latin typeface="Arial"/>
                <a:ea typeface="Arial"/>
                <a:cs typeface="Arial"/>
                <a:sym typeface="Arial"/>
              </a:rPr>
              <a:t>C language extensions and the assumptions on the toolchain (GCC) are documented</a:t>
            </a:r>
            <a:endParaRPr b="0" i="0" sz="1400" u="none" cap="none" strike="noStrike">
              <a:solidFill>
                <a:srgbClr val="000000"/>
              </a:solidFill>
              <a:latin typeface="Arial"/>
              <a:ea typeface="Arial"/>
              <a:cs typeface="Arial"/>
              <a:sym typeface="Arial"/>
            </a:endParaRPr>
          </a:p>
          <a:p>
            <a:pPr indent="0" lvl="0" marL="914400" marR="0" rtl="0" algn="l">
              <a:lnSpc>
                <a:spcPct val="114000"/>
              </a:lnSpc>
              <a:spcBef>
                <a:spcPts val="800"/>
              </a:spcBef>
              <a:spcAft>
                <a:spcPts val="0"/>
              </a:spcAft>
              <a:buNone/>
            </a:pPr>
            <a:r>
              <a:t/>
            </a:r>
            <a:endParaRPr b="0" i="0" sz="1400" u="none" cap="none" strike="noStrike">
              <a:solidFill>
                <a:srgbClr val="434343"/>
              </a:solidFill>
              <a:latin typeface="Arial"/>
              <a:ea typeface="Arial"/>
              <a:cs typeface="Arial"/>
              <a:sym typeface="Arial"/>
            </a:endParaRPr>
          </a:p>
        </p:txBody>
      </p:sp>
      <p:sp>
        <p:nvSpPr>
          <p:cNvPr id="228" name="Google Shape;228;p17"/>
          <p:cNvSpPr txBox="1"/>
          <p:nvPr/>
        </p:nvSpPr>
        <p:spPr>
          <a:xfrm>
            <a:off x="5064050" y="911075"/>
            <a:ext cx="3714000" cy="36480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2"/>
              </a:buClr>
              <a:buSzPts val="1500"/>
              <a:buChar char="●"/>
            </a:pPr>
            <a:r>
              <a:rPr lang="en-GB" sz="1500">
                <a:solidFill>
                  <a:schemeClr val="dk2"/>
                </a:solidFill>
              </a:rPr>
              <a:t>Dead code elimination using granular KConfig, compiler nuances (constant conditionals) and VRP</a:t>
            </a:r>
            <a:endParaRPr sz="1500">
              <a:solidFill>
                <a:schemeClr val="dk2"/>
              </a:solidFill>
            </a:endParaRPr>
          </a:p>
          <a:p>
            <a:pPr indent="-323850" lvl="0" marL="457200" rtl="0" algn="l">
              <a:spcBef>
                <a:spcPts val="0"/>
              </a:spcBef>
              <a:spcAft>
                <a:spcPts val="0"/>
              </a:spcAft>
              <a:buClr>
                <a:schemeClr val="dk2"/>
              </a:buClr>
              <a:buSzPts val="1500"/>
              <a:buChar char="●"/>
            </a:pPr>
            <a:r>
              <a:rPr lang="en-GB" sz="1500">
                <a:solidFill>
                  <a:schemeClr val="dk2"/>
                </a:solidFill>
              </a:rPr>
              <a:t>The aim is to ensure the minimal footprint of Xen for the specific platform while making the code configurable to support as wide range of platforms</a:t>
            </a:r>
            <a:endParaRPr sz="1500">
              <a:solidFill>
                <a:schemeClr val="dk2"/>
              </a:solidFill>
            </a:endParaRPr>
          </a:p>
          <a:p>
            <a:pPr indent="-323850" lvl="0" marL="457200" rtl="0" algn="l">
              <a:spcBef>
                <a:spcPts val="0"/>
              </a:spcBef>
              <a:spcAft>
                <a:spcPts val="0"/>
              </a:spcAft>
              <a:buClr>
                <a:schemeClr val="dk2"/>
              </a:buClr>
              <a:buSzPts val="1500"/>
              <a:buChar char="●"/>
            </a:pPr>
            <a:r>
              <a:rPr lang="en-GB" sz="1500">
                <a:solidFill>
                  <a:schemeClr val="dk2"/>
                </a:solidFill>
              </a:rPr>
              <a:t>Enables upstreaming and common code between FuSa &amp; non FuSa players</a:t>
            </a:r>
            <a:endParaRPr sz="1500">
              <a:solidFill>
                <a:schemeClr val="dk2"/>
              </a:solidFill>
            </a:endParaRPr>
          </a:p>
          <a:p>
            <a:pPr indent="-323850" lvl="0" marL="457200" rtl="0" algn="l">
              <a:spcBef>
                <a:spcPts val="0"/>
              </a:spcBef>
              <a:spcAft>
                <a:spcPts val="0"/>
              </a:spcAft>
              <a:buClr>
                <a:schemeClr val="dk2"/>
              </a:buClr>
              <a:buSzPts val="1500"/>
              <a:buChar char="●"/>
            </a:pPr>
            <a:r>
              <a:rPr lang="en-GB" sz="1500">
                <a:solidFill>
                  <a:schemeClr val="dk2"/>
                </a:solidFill>
              </a:rPr>
              <a:t>Refer “</a:t>
            </a:r>
            <a:r>
              <a:rPr lang="en-GB" sz="1500">
                <a:solidFill>
                  <a:srgbClr val="333333"/>
                </a:solidFill>
                <a:highlight>
                  <a:srgbClr val="E9EAEA"/>
                </a:highlight>
              </a:rPr>
              <a:t>[PATCH v2] xen: gic-v3: Introduce CONFIG_GICV3_NR_LRS </a:t>
            </a:r>
            <a:endParaRPr sz="1500">
              <a:solidFill>
                <a:srgbClr val="333333"/>
              </a:solidFill>
              <a:highlight>
                <a:srgbClr val="E9EAEA"/>
              </a:highlight>
            </a:endParaRPr>
          </a:p>
          <a:p>
            <a:pPr indent="0" lvl="0" marL="457200" rtl="0" algn="l">
              <a:spcBef>
                <a:spcPts val="0"/>
              </a:spcBef>
              <a:spcAft>
                <a:spcPts val="0"/>
              </a:spcAft>
              <a:buNone/>
            </a:pPr>
            <a:r>
              <a:rPr lang="en-GB" sz="1500">
                <a:solidFill>
                  <a:schemeClr val="dk2"/>
                </a:solidFill>
              </a:rPr>
              <a:t>” on xen-devel</a:t>
            </a:r>
            <a:endParaRPr sz="15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e5c2ad4d7e_0_4"/>
          <p:cNvSpPr txBox="1"/>
          <p:nvPr>
            <p:ph type="title"/>
          </p:nvPr>
        </p:nvSpPr>
        <p:spPr>
          <a:xfrm>
            <a:off x="311700" y="971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It all begins with requirements</a:t>
            </a:r>
            <a:endParaRPr/>
          </a:p>
        </p:txBody>
      </p:sp>
      <p:sp>
        <p:nvSpPr>
          <p:cNvPr id="234" name="Google Shape;234;g3e5c2ad4d7e_0_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235" name="Google Shape;235;g3e5c2ad4d7e_0_4" title="graph (6).png"/>
          <p:cNvPicPr preferRelativeResize="0"/>
          <p:nvPr/>
        </p:nvPicPr>
        <p:blipFill>
          <a:blip r:embed="rId3">
            <a:alphaModFix/>
          </a:blip>
          <a:stretch>
            <a:fillRect/>
          </a:stretch>
        </p:blipFill>
        <p:spPr>
          <a:xfrm>
            <a:off x="0" y="559160"/>
            <a:ext cx="9144001" cy="4460489"/>
          </a:xfrm>
          <a:prstGeom prst="rect">
            <a:avLst/>
          </a:prstGeom>
          <a:noFill/>
          <a:ln>
            <a:noFill/>
          </a:ln>
        </p:spPr>
      </p:pic>
      <p:sp>
        <p:nvSpPr>
          <p:cNvPr id="236" name="Google Shape;236;g3e5c2ad4d7e_0_4"/>
          <p:cNvSpPr/>
          <p:nvPr/>
        </p:nvSpPr>
        <p:spPr>
          <a:xfrm>
            <a:off x="203000" y="1006200"/>
            <a:ext cx="2789100" cy="2100600"/>
          </a:xfrm>
          <a:prstGeom prst="rect">
            <a:avLst/>
          </a:prstGeom>
          <a:noFill/>
          <a:ln cap="flat" cmpd="sng" w="2857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g3e5c2ad4d7e_0_4"/>
          <p:cNvSpPr txBox="1"/>
          <p:nvPr/>
        </p:nvSpPr>
        <p:spPr>
          <a:xfrm>
            <a:off x="6549100" y="0"/>
            <a:ext cx="27300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rgbClr val="00FF00"/>
                </a:solidFill>
              </a:rPr>
              <a:t>*</a:t>
            </a:r>
            <a:r>
              <a:rPr lang="en-GB" sz="1100">
                <a:solidFill>
                  <a:schemeClr val="dk2"/>
                </a:solidFill>
              </a:rPr>
              <a:t>Code exists and drives requirements</a:t>
            </a:r>
            <a:br>
              <a:rPr lang="en-GB" sz="1100">
                <a:solidFill>
                  <a:schemeClr val="dk2"/>
                </a:solidFill>
              </a:rPr>
            </a:br>
            <a:r>
              <a:rPr lang="en-GB" sz="1100">
                <a:solidFill>
                  <a:schemeClr val="dk2"/>
                </a:solidFill>
              </a:rPr>
              <a:t>  (IEC61508 Route 3S “Reuse”)</a:t>
            </a:r>
            <a:endParaRPr sz="1100">
              <a:solidFill>
                <a:schemeClr val="dk2"/>
              </a:solidFill>
            </a:endParaRPr>
          </a:p>
        </p:txBody>
      </p:sp>
      <p:sp>
        <p:nvSpPr>
          <p:cNvPr id="238" name="Google Shape;238;g3e5c2ad4d7e_0_4"/>
          <p:cNvSpPr txBox="1"/>
          <p:nvPr/>
        </p:nvSpPr>
        <p:spPr>
          <a:xfrm>
            <a:off x="7943650" y="1538125"/>
            <a:ext cx="54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00FF00"/>
                </a:solidFill>
              </a:rPr>
              <a:t>*</a:t>
            </a:r>
            <a:endParaRPr sz="1600">
              <a:solidFill>
                <a:srgbClr val="00FF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8"/>
          <p:cNvSpPr txBox="1"/>
          <p:nvPr>
            <p:ph type="title"/>
          </p:nvPr>
        </p:nvSpPr>
        <p:spPr>
          <a:xfrm>
            <a:off x="174235" y="4408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do we define requirements in Xen</a:t>
            </a:r>
            <a:endParaRPr/>
          </a:p>
        </p:txBody>
      </p:sp>
      <p:pic>
        <p:nvPicPr>
          <p:cNvPr id="244" name="Google Shape;244;p18" title="xenreq.jpg"/>
          <p:cNvPicPr preferRelativeResize="0"/>
          <p:nvPr/>
        </p:nvPicPr>
        <p:blipFill>
          <a:blip r:embed="rId3">
            <a:alphaModFix/>
          </a:blip>
          <a:stretch>
            <a:fillRect/>
          </a:stretch>
        </p:blipFill>
        <p:spPr>
          <a:xfrm>
            <a:off x="530775" y="514600"/>
            <a:ext cx="8328101" cy="4568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4"/>
          <p:cNvSpPr txBox="1"/>
          <p:nvPr>
            <p:ph type="title"/>
          </p:nvPr>
        </p:nvSpPr>
        <p:spPr>
          <a:xfrm>
            <a:off x="125720" y="-100606"/>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Organizing the software safety requirements</a:t>
            </a:r>
            <a:endParaRPr/>
          </a:p>
        </p:txBody>
      </p:sp>
      <p:sp>
        <p:nvSpPr>
          <p:cNvPr id="250" name="Google Shape;250;p24"/>
          <p:cNvSpPr/>
          <p:nvPr/>
        </p:nvSpPr>
        <p:spPr>
          <a:xfrm>
            <a:off x="343725" y="637192"/>
            <a:ext cx="2628300" cy="5727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Domain Creation</a:t>
            </a:r>
            <a:endParaRPr b="0" i="0" sz="1400" u="none" cap="none" strike="noStrike">
              <a:solidFill>
                <a:srgbClr val="000000"/>
              </a:solidFill>
              <a:latin typeface="Arial"/>
              <a:ea typeface="Arial"/>
              <a:cs typeface="Arial"/>
              <a:sym typeface="Arial"/>
            </a:endParaRPr>
          </a:p>
        </p:txBody>
      </p:sp>
      <p:sp>
        <p:nvSpPr>
          <p:cNvPr id="251" name="Google Shape;251;p24"/>
          <p:cNvSpPr/>
          <p:nvPr/>
        </p:nvSpPr>
        <p:spPr>
          <a:xfrm>
            <a:off x="343725" y="1619592"/>
            <a:ext cx="2628300" cy="5727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Domain Fully Emulated</a:t>
            </a:r>
            <a:endParaRPr b="0" i="0" sz="1400" u="none" cap="none" strike="noStrike">
              <a:solidFill>
                <a:srgbClr val="000000"/>
              </a:solidFill>
              <a:latin typeface="Arial"/>
              <a:ea typeface="Arial"/>
              <a:cs typeface="Arial"/>
              <a:sym typeface="Arial"/>
            </a:endParaRPr>
          </a:p>
        </p:txBody>
      </p:sp>
      <p:sp>
        <p:nvSpPr>
          <p:cNvPr id="252" name="Google Shape;252;p24"/>
          <p:cNvSpPr/>
          <p:nvPr/>
        </p:nvSpPr>
        <p:spPr>
          <a:xfrm>
            <a:off x="381452" y="2652308"/>
            <a:ext cx="2628300" cy="5727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Domain Partially Emulated</a:t>
            </a:r>
            <a:endParaRPr b="0" i="0" sz="1400" u="none" cap="none" strike="noStrike">
              <a:solidFill>
                <a:srgbClr val="000000"/>
              </a:solidFill>
              <a:latin typeface="Arial"/>
              <a:ea typeface="Arial"/>
              <a:cs typeface="Arial"/>
              <a:sym typeface="Arial"/>
            </a:endParaRPr>
          </a:p>
        </p:txBody>
      </p:sp>
      <p:sp>
        <p:nvSpPr>
          <p:cNvPr id="253" name="Google Shape;253;p24"/>
          <p:cNvSpPr/>
          <p:nvPr/>
        </p:nvSpPr>
        <p:spPr>
          <a:xfrm>
            <a:off x="381452" y="3722739"/>
            <a:ext cx="2628300" cy="5727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Hypercall</a:t>
            </a:r>
            <a:endParaRPr b="0" i="0" sz="1400" u="none" cap="none" strike="noStrike">
              <a:solidFill>
                <a:srgbClr val="000000"/>
              </a:solidFill>
              <a:latin typeface="Arial"/>
              <a:ea typeface="Arial"/>
              <a:cs typeface="Arial"/>
              <a:sym typeface="Arial"/>
            </a:endParaRPr>
          </a:p>
        </p:txBody>
      </p:sp>
      <p:sp>
        <p:nvSpPr>
          <p:cNvPr id="254" name="Google Shape;254;p24"/>
          <p:cNvSpPr/>
          <p:nvPr/>
        </p:nvSpPr>
        <p:spPr>
          <a:xfrm>
            <a:off x="3426267" y="637192"/>
            <a:ext cx="2628300" cy="5727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Domain Firmware</a:t>
            </a:r>
            <a:endParaRPr b="0" i="0" sz="1400" u="none" cap="none" strike="noStrike">
              <a:solidFill>
                <a:srgbClr val="000000"/>
              </a:solidFill>
              <a:latin typeface="Arial"/>
              <a:ea typeface="Arial"/>
              <a:cs typeface="Arial"/>
              <a:sym typeface="Arial"/>
            </a:endParaRPr>
          </a:p>
        </p:txBody>
      </p:sp>
      <p:sp>
        <p:nvSpPr>
          <p:cNvPr id="255" name="Google Shape;255;p24"/>
          <p:cNvSpPr/>
          <p:nvPr/>
        </p:nvSpPr>
        <p:spPr>
          <a:xfrm>
            <a:off x="3451419" y="1632163"/>
            <a:ext cx="2628300" cy="5727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Instruction emulation</a:t>
            </a:r>
            <a:endParaRPr b="0" i="0" sz="1400" u="none" cap="none" strike="noStrike">
              <a:solidFill>
                <a:srgbClr val="000000"/>
              </a:solidFill>
              <a:latin typeface="Arial"/>
              <a:ea typeface="Arial"/>
              <a:cs typeface="Arial"/>
              <a:sym typeface="Arial"/>
            </a:endParaRPr>
          </a:p>
        </p:txBody>
      </p:sp>
      <p:sp>
        <p:nvSpPr>
          <p:cNvPr id="256" name="Google Shape;256;p24"/>
          <p:cNvSpPr/>
          <p:nvPr/>
        </p:nvSpPr>
        <p:spPr>
          <a:xfrm>
            <a:off x="3528370" y="2627138"/>
            <a:ext cx="2628300" cy="5727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Physical resources</a:t>
            </a:r>
            <a:endParaRPr b="0" i="0" sz="1400" u="none" cap="none" strike="noStrike">
              <a:solidFill>
                <a:srgbClr val="000000"/>
              </a:solidFill>
              <a:latin typeface="Arial"/>
              <a:ea typeface="Arial"/>
              <a:cs typeface="Arial"/>
              <a:sym typeface="Arial"/>
            </a:endParaRPr>
          </a:p>
        </p:txBody>
      </p:sp>
      <p:sp>
        <p:nvSpPr>
          <p:cNvPr id="257" name="Google Shape;257;p24"/>
          <p:cNvSpPr/>
          <p:nvPr/>
        </p:nvSpPr>
        <p:spPr>
          <a:xfrm>
            <a:off x="3528370" y="3722738"/>
            <a:ext cx="2628300" cy="5727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Scheduling</a:t>
            </a:r>
            <a:endParaRPr b="0" i="0" sz="1400" u="none" cap="none" strike="noStrike">
              <a:solidFill>
                <a:srgbClr val="000000"/>
              </a:solidFill>
              <a:latin typeface="Arial"/>
              <a:ea typeface="Arial"/>
              <a:cs typeface="Arial"/>
              <a:sym typeface="Arial"/>
            </a:endParaRPr>
          </a:p>
        </p:txBody>
      </p:sp>
      <p:sp>
        <p:nvSpPr>
          <p:cNvPr id="258" name="Google Shape;258;p24"/>
          <p:cNvSpPr txBox="1"/>
          <p:nvPr/>
        </p:nvSpPr>
        <p:spPr>
          <a:xfrm>
            <a:off x="2255259" y="2221725"/>
            <a:ext cx="3785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434343"/>
                </a:solidFill>
                <a:latin typeface="Arial"/>
                <a:ea typeface="Arial"/>
                <a:cs typeface="Arial"/>
                <a:sym typeface="Arial"/>
              </a:rPr>
              <a:t>Domain Exposed</a:t>
            </a:r>
            <a:endParaRPr b="0" i="0" sz="1800" u="none" cap="none" strike="noStrike">
              <a:solidFill>
                <a:srgbClr val="434343"/>
              </a:solidFill>
              <a:latin typeface="Arial"/>
              <a:ea typeface="Arial"/>
              <a:cs typeface="Arial"/>
              <a:sym typeface="Arial"/>
            </a:endParaRPr>
          </a:p>
        </p:txBody>
      </p:sp>
      <p:sp>
        <p:nvSpPr>
          <p:cNvPr id="259" name="Google Shape;259;p24"/>
          <p:cNvSpPr/>
          <p:nvPr/>
        </p:nvSpPr>
        <p:spPr>
          <a:xfrm>
            <a:off x="6357923" y="637192"/>
            <a:ext cx="2628300" cy="572700"/>
          </a:xfrm>
          <a:prstGeom prst="rect">
            <a:avLst/>
          </a:prstGeom>
          <a:solidFill>
            <a:srgbClr val="FFF1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Booting</a:t>
            </a:r>
            <a:endParaRPr b="0" i="0" sz="1400" u="none" cap="none" strike="noStrike">
              <a:solidFill>
                <a:srgbClr val="000000"/>
              </a:solidFill>
              <a:latin typeface="Arial"/>
              <a:ea typeface="Arial"/>
              <a:cs typeface="Arial"/>
              <a:sym typeface="Arial"/>
            </a:endParaRPr>
          </a:p>
        </p:txBody>
      </p:sp>
      <p:sp>
        <p:nvSpPr>
          <p:cNvPr id="260" name="Google Shape;260;p24"/>
          <p:cNvSpPr/>
          <p:nvPr/>
        </p:nvSpPr>
        <p:spPr>
          <a:xfrm>
            <a:off x="6447448" y="1632167"/>
            <a:ext cx="2628300" cy="572700"/>
          </a:xfrm>
          <a:prstGeom prst="rect">
            <a:avLst/>
          </a:prstGeom>
          <a:solidFill>
            <a:srgbClr val="FFF1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Firmware</a:t>
            </a:r>
            <a:endParaRPr b="0" i="0" sz="1400" u="none" cap="none" strike="noStrike">
              <a:solidFill>
                <a:srgbClr val="000000"/>
              </a:solidFill>
              <a:latin typeface="Arial"/>
              <a:ea typeface="Arial"/>
              <a:cs typeface="Arial"/>
              <a:sym typeface="Arial"/>
            </a:endParaRPr>
          </a:p>
        </p:txBody>
      </p:sp>
      <p:sp>
        <p:nvSpPr>
          <p:cNvPr id="261" name="Google Shape;261;p24"/>
          <p:cNvSpPr/>
          <p:nvPr/>
        </p:nvSpPr>
        <p:spPr>
          <a:xfrm>
            <a:off x="6515698" y="2627142"/>
            <a:ext cx="2628300" cy="572700"/>
          </a:xfrm>
          <a:prstGeom prst="rect">
            <a:avLst/>
          </a:prstGeom>
          <a:solidFill>
            <a:srgbClr val="FFF1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Physical resources</a:t>
            </a:r>
            <a:endParaRPr b="0" i="0" sz="1400" u="none" cap="none" strike="noStrike">
              <a:solidFill>
                <a:srgbClr val="000000"/>
              </a:solidFill>
              <a:latin typeface="Arial"/>
              <a:ea typeface="Arial"/>
              <a:cs typeface="Arial"/>
              <a:sym typeface="Arial"/>
            </a:endParaRPr>
          </a:p>
        </p:txBody>
      </p:sp>
      <p:sp>
        <p:nvSpPr>
          <p:cNvPr id="262" name="Google Shape;262;p24"/>
          <p:cNvSpPr txBox="1"/>
          <p:nvPr/>
        </p:nvSpPr>
        <p:spPr>
          <a:xfrm>
            <a:off x="7071789" y="2196560"/>
            <a:ext cx="1907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434343"/>
                </a:solidFill>
                <a:latin typeface="Arial"/>
                <a:ea typeface="Arial"/>
                <a:cs typeface="Arial"/>
                <a:sym typeface="Arial"/>
              </a:rPr>
              <a:t>Xen Internals</a:t>
            </a:r>
            <a:endParaRPr b="0" i="0" sz="1800" u="none" cap="none" strike="noStrike">
              <a:solidFill>
                <a:srgbClr val="434343"/>
              </a:solidFill>
              <a:latin typeface="Arial"/>
              <a:ea typeface="Arial"/>
              <a:cs typeface="Arial"/>
              <a:sym typeface="Arial"/>
            </a:endParaRPr>
          </a:p>
        </p:txBody>
      </p:sp>
      <p:sp>
        <p:nvSpPr>
          <p:cNvPr id="263" name="Google Shape;263;p24"/>
          <p:cNvSpPr/>
          <p:nvPr/>
        </p:nvSpPr>
        <p:spPr>
          <a:xfrm>
            <a:off x="6447445" y="3722738"/>
            <a:ext cx="2628300" cy="5727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FFI</a:t>
            </a:r>
            <a:endParaRPr b="0" i="0" sz="1400" u="none" cap="none" strike="noStrike">
              <a:solidFill>
                <a:srgbClr val="000000"/>
              </a:solidFill>
              <a:latin typeface="Arial"/>
              <a:ea typeface="Arial"/>
              <a:cs typeface="Arial"/>
              <a:sym typeface="Arial"/>
            </a:endParaRPr>
          </a:p>
        </p:txBody>
      </p:sp>
      <p:sp>
        <p:nvSpPr>
          <p:cNvPr id="264" name="Google Shape;264;p24"/>
          <p:cNvSpPr txBox="1"/>
          <p:nvPr/>
        </p:nvSpPr>
        <p:spPr>
          <a:xfrm>
            <a:off x="414725" y="4395276"/>
            <a:ext cx="85716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hlink"/>
                </a:solidFill>
                <a:hlinkClick r:id="rId3"/>
              </a:rPr>
              <a:t>https://gitlab.com/xen-project/xen/-/tree/staging/docs/fusa?ref_type=heads</a:t>
            </a:r>
            <a:br>
              <a:rPr lang="en-GB" sz="1800">
                <a:solidFill>
                  <a:schemeClr val="dk2"/>
                </a:solidFill>
              </a:rPr>
            </a:br>
            <a:r>
              <a:rPr lang="en-GB" sz="1800" u="sng">
                <a:solidFill>
                  <a:schemeClr val="hlink"/>
                </a:solidFill>
                <a:hlinkClick r:id="rId4"/>
              </a:rPr>
              <a:t>https://gitlab.com/xen-project/fusa/requirements</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e5c2ad4d7e_0_51"/>
          <p:cNvSpPr txBox="1"/>
          <p:nvPr>
            <p:ph type="title"/>
          </p:nvPr>
        </p:nvSpPr>
        <p:spPr>
          <a:xfrm>
            <a:off x="311700" y="-173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Remember Xen is SEooC</a:t>
            </a:r>
            <a:endParaRPr/>
          </a:p>
          <a:p>
            <a:pPr indent="0" lvl="0" marL="0" rtl="0" algn="l">
              <a:spcBef>
                <a:spcPts val="0"/>
              </a:spcBef>
              <a:spcAft>
                <a:spcPts val="0"/>
              </a:spcAft>
              <a:buNone/>
            </a:pPr>
            <a:r>
              <a:t/>
            </a:r>
            <a:endParaRPr/>
          </a:p>
          <a:p>
            <a:pPr indent="0" lvl="0" marL="0" rtl="0" algn="l">
              <a:spcBef>
                <a:spcPts val="0"/>
              </a:spcBef>
              <a:spcAft>
                <a:spcPts val="0"/>
              </a:spcAft>
              <a:buNone/>
            </a:pPr>
            <a:br>
              <a:rPr lang="en-GB"/>
            </a:br>
            <a:endParaRPr/>
          </a:p>
        </p:txBody>
      </p:sp>
      <p:sp>
        <p:nvSpPr>
          <p:cNvPr id="270" name="Google Shape;270;g3e5c2ad4d7e_0_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271" name="Google Shape;271;g3e5c2ad4d7e_0_51" title="graph (8).png"/>
          <p:cNvPicPr preferRelativeResize="0"/>
          <p:nvPr/>
        </p:nvPicPr>
        <p:blipFill>
          <a:blip r:embed="rId3">
            <a:alphaModFix/>
          </a:blip>
          <a:stretch>
            <a:fillRect/>
          </a:stretch>
        </p:blipFill>
        <p:spPr>
          <a:xfrm>
            <a:off x="39875" y="721800"/>
            <a:ext cx="9064250" cy="4677651"/>
          </a:xfrm>
          <a:prstGeom prst="rect">
            <a:avLst/>
          </a:prstGeom>
          <a:noFill/>
          <a:ln>
            <a:noFill/>
          </a:ln>
        </p:spPr>
      </p:pic>
      <p:sp>
        <p:nvSpPr>
          <p:cNvPr id="272" name="Google Shape;272;g3e5c2ad4d7e_0_51"/>
          <p:cNvSpPr txBox="1"/>
          <p:nvPr/>
        </p:nvSpPr>
        <p:spPr>
          <a:xfrm>
            <a:off x="388350" y="414850"/>
            <a:ext cx="5083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dk2"/>
                </a:solidFill>
              </a:rPr>
              <a:t>(Safety Element out of Context)</a:t>
            </a:r>
            <a:endParaRPr sz="13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5"/>
          <p:cNvSpPr txBox="1"/>
          <p:nvPr>
            <p:ph type="title"/>
          </p:nvPr>
        </p:nvSpPr>
        <p:spPr>
          <a:xfrm>
            <a:off x="109672" y="-66944"/>
            <a:ext cx="8521700" cy="573088"/>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Assumption of Use</a:t>
            </a:r>
            <a:endParaRPr/>
          </a:p>
        </p:txBody>
      </p:sp>
      <p:grpSp>
        <p:nvGrpSpPr>
          <p:cNvPr id="278" name="Google Shape;278;p25"/>
          <p:cNvGrpSpPr/>
          <p:nvPr/>
        </p:nvGrpSpPr>
        <p:grpSpPr>
          <a:xfrm>
            <a:off x="2505976" y="1078357"/>
            <a:ext cx="4128475" cy="3568038"/>
            <a:chOff x="2067826" y="2031"/>
            <a:chExt cx="4128475" cy="3568038"/>
          </a:xfrm>
        </p:grpSpPr>
        <p:sp>
          <p:nvSpPr>
            <p:cNvPr id="279" name="Google Shape;279;p25"/>
            <p:cNvSpPr/>
            <p:nvPr/>
          </p:nvSpPr>
          <p:spPr>
            <a:xfrm>
              <a:off x="3536869" y="2031"/>
              <a:ext cx="1190389" cy="773753"/>
            </a:xfrm>
            <a:prstGeom prst="roundRect">
              <a:avLst>
                <a:gd fmla="val 16667" name="adj"/>
              </a:avLst>
            </a:prstGeom>
            <a:solidFill>
              <a:srgbClr val="FFAA3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5"/>
            <p:cNvSpPr txBox="1"/>
            <p:nvPr/>
          </p:nvSpPr>
          <p:spPr>
            <a:xfrm>
              <a:off x="3574641" y="39803"/>
              <a:ext cx="1114845" cy="698209"/>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rgbClr val="000000"/>
                </a:buClr>
                <a:buSzPts val="1600"/>
                <a:buFont typeface="Arial"/>
                <a:buNone/>
              </a:pPr>
              <a:r>
                <a:rPr b="0" i="0" lang="en-GB" sz="1600" u="none" cap="none" strike="noStrike">
                  <a:solidFill>
                    <a:schemeClr val="lt1"/>
                  </a:solidFill>
                  <a:latin typeface="Arial"/>
                  <a:ea typeface="Arial"/>
                  <a:cs typeface="Arial"/>
                  <a:sym typeface="Arial"/>
                </a:rPr>
                <a:t>Hardware</a:t>
              </a:r>
              <a:endParaRPr b="0" i="0" sz="1600" u="none" cap="none" strike="noStrike">
                <a:solidFill>
                  <a:schemeClr val="lt1"/>
                </a:solidFill>
                <a:latin typeface="Arial"/>
                <a:ea typeface="Arial"/>
                <a:cs typeface="Arial"/>
                <a:sym typeface="Arial"/>
              </a:endParaRPr>
            </a:p>
          </p:txBody>
        </p:sp>
        <p:sp>
          <p:nvSpPr>
            <p:cNvPr id="281" name="Google Shape;281;p25"/>
            <p:cNvSpPr/>
            <p:nvPr/>
          </p:nvSpPr>
          <p:spPr>
            <a:xfrm>
              <a:off x="2587421" y="388907"/>
              <a:ext cx="3089286" cy="3089286"/>
            </a:xfrm>
            <a:custGeom>
              <a:rect b="b" l="l" r="r" t="t"/>
              <a:pathLst>
                <a:path extrusionOk="0" h="120000" w="120000">
                  <a:moveTo>
                    <a:pt x="83437" y="4767"/>
                  </a:moveTo>
                  <a:cubicBezTo>
                    <a:pt x="94003" y="9250"/>
                    <a:pt x="103061" y="16670"/>
                    <a:pt x="109538" y="26147"/>
                  </a:cubicBezTo>
                </a:path>
              </a:pathLst>
            </a:custGeom>
            <a:noFill/>
            <a:ln cap="flat" cmpd="sng" w="9525">
              <a:solidFill>
                <a:srgbClr val="FFAA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5"/>
            <p:cNvSpPr/>
            <p:nvPr/>
          </p:nvSpPr>
          <p:spPr>
            <a:xfrm>
              <a:off x="5005912" y="1069353"/>
              <a:ext cx="1190389" cy="773753"/>
            </a:xfrm>
            <a:prstGeom prst="roundRect">
              <a:avLst>
                <a:gd fmla="val 16667" name="adj"/>
              </a:avLst>
            </a:prstGeom>
            <a:solidFill>
              <a:srgbClr val="FFAA3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5"/>
            <p:cNvSpPr txBox="1"/>
            <p:nvPr/>
          </p:nvSpPr>
          <p:spPr>
            <a:xfrm>
              <a:off x="5043684" y="1107125"/>
              <a:ext cx="1114845" cy="698209"/>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rgbClr val="000000"/>
                </a:buClr>
                <a:buSzPts val="1600"/>
                <a:buFont typeface="Arial"/>
                <a:buNone/>
              </a:pPr>
              <a:r>
                <a:rPr b="0" i="0" lang="en-GB" sz="1600" u="none" cap="none" strike="noStrike">
                  <a:solidFill>
                    <a:schemeClr val="lt1"/>
                  </a:solidFill>
                  <a:latin typeface="Arial"/>
                  <a:ea typeface="Arial"/>
                  <a:cs typeface="Arial"/>
                  <a:sym typeface="Arial"/>
                </a:rPr>
                <a:t>Firmware</a:t>
              </a:r>
              <a:endParaRPr b="0" i="0" sz="1600" u="none" cap="none" strike="noStrike">
                <a:solidFill>
                  <a:schemeClr val="lt1"/>
                </a:solidFill>
                <a:latin typeface="Arial"/>
                <a:ea typeface="Arial"/>
                <a:cs typeface="Arial"/>
                <a:sym typeface="Arial"/>
              </a:endParaRPr>
            </a:p>
          </p:txBody>
        </p:sp>
        <p:sp>
          <p:nvSpPr>
            <p:cNvPr id="284" name="Google Shape;284;p25"/>
            <p:cNvSpPr/>
            <p:nvPr/>
          </p:nvSpPr>
          <p:spPr>
            <a:xfrm>
              <a:off x="2587421" y="388907"/>
              <a:ext cx="3089286" cy="3089286"/>
            </a:xfrm>
            <a:custGeom>
              <a:rect b="b" l="l" r="r" t="t"/>
              <a:pathLst>
                <a:path extrusionOk="0" h="120000" w="120000">
                  <a:moveTo>
                    <a:pt x="119918" y="56870"/>
                  </a:moveTo>
                  <a:cubicBezTo>
                    <a:pt x="120590" y="69731"/>
                    <a:pt x="117106" y="82466"/>
                    <a:pt x="109981" y="93194"/>
                  </a:cubicBezTo>
                </a:path>
              </a:pathLst>
            </a:custGeom>
            <a:noFill/>
            <a:ln cap="flat" cmpd="sng" w="9525">
              <a:solidFill>
                <a:srgbClr val="FFAA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5"/>
            <p:cNvSpPr/>
            <p:nvPr/>
          </p:nvSpPr>
          <p:spPr>
            <a:xfrm>
              <a:off x="4444788" y="2796316"/>
              <a:ext cx="1190389" cy="773753"/>
            </a:xfrm>
            <a:prstGeom prst="roundRect">
              <a:avLst>
                <a:gd fmla="val 16667" name="adj"/>
              </a:avLst>
            </a:prstGeom>
            <a:solidFill>
              <a:srgbClr val="FFAA3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5"/>
            <p:cNvSpPr txBox="1"/>
            <p:nvPr/>
          </p:nvSpPr>
          <p:spPr>
            <a:xfrm>
              <a:off x="4482560" y="2834088"/>
              <a:ext cx="1114845" cy="698209"/>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rgbClr val="000000"/>
                </a:buClr>
                <a:buSzPts val="1600"/>
                <a:buFont typeface="Arial"/>
                <a:buNone/>
              </a:pPr>
              <a:r>
                <a:rPr b="0" i="0" lang="en-GB" sz="1600" u="none" cap="none" strike="noStrike">
                  <a:solidFill>
                    <a:schemeClr val="lt1"/>
                  </a:solidFill>
                  <a:latin typeface="Arial"/>
                  <a:ea typeface="Arial"/>
                  <a:cs typeface="Arial"/>
                  <a:sym typeface="Arial"/>
                </a:rPr>
                <a:t>Bootloader</a:t>
              </a:r>
              <a:endParaRPr b="0" i="0" sz="1600" u="none" cap="none" strike="noStrike">
                <a:solidFill>
                  <a:schemeClr val="lt1"/>
                </a:solidFill>
                <a:latin typeface="Arial"/>
                <a:ea typeface="Arial"/>
                <a:cs typeface="Arial"/>
                <a:sym typeface="Arial"/>
              </a:endParaRPr>
            </a:p>
          </p:txBody>
        </p:sp>
        <p:sp>
          <p:nvSpPr>
            <p:cNvPr id="287" name="Google Shape;287;p25"/>
            <p:cNvSpPr/>
            <p:nvPr/>
          </p:nvSpPr>
          <p:spPr>
            <a:xfrm>
              <a:off x="2587421" y="388907"/>
              <a:ext cx="3089286" cy="3089286"/>
            </a:xfrm>
            <a:custGeom>
              <a:rect b="b" l="l" r="r" t="t"/>
              <a:pathLst>
                <a:path extrusionOk="0" h="120000" w="120000">
                  <a:moveTo>
                    <a:pt x="71909" y="118806"/>
                  </a:moveTo>
                  <a:cubicBezTo>
                    <a:pt x="64049" y="120398"/>
                    <a:pt x="55950" y="120398"/>
                    <a:pt x="48090" y="118806"/>
                  </a:cubicBezTo>
                </a:path>
              </a:pathLst>
            </a:custGeom>
            <a:noFill/>
            <a:ln cap="flat" cmpd="sng" w="9525">
              <a:solidFill>
                <a:srgbClr val="FFAA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5"/>
            <p:cNvSpPr/>
            <p:nvPr/>
          </p:nvSpPr>
          <p:spPr>
            <a:xfrm>
              <a:off x="2628951" y="2796316"/>
              <a:ext cx="1190389" cy="773753"/>
            </a:xfrm>
            <a:prstGeom prst="roundRect">
              <a:avLst>
                <a:gd fmla="val 16667" name="adj"/>
              </a:avLst>
            </a:prstGeom>
            <a:solidFill>
              <a:srgbClr val="FFAA3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5"/>
            <p:cNvSpPr txBox="1"/>
            <p:nvPr/>
          </p:nvSpPr>
          <p:spPr>
            <a:xfrm>
              <a:off x="2666723" y="2834088"/>
              <a:ext cx="1114845" cy="698209"/>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rgbClr val="000000"/>
                </a:buClr>
                <a:buSzPts val="1600"/>
                <a:buFont typeface="Arial"/>
                <a:buNone/>
              </a:pPr>
              <a:r>
                <a:rPr b="0" i="0" lang="en-GB" sz="1600" u="none" cap="none" strike="noStrike">
                  <a:solidFill>
                    <a:schemeClr val="lt1"/>
                  </a:solidFill>
                  <a:latin typeface="Arial"/>
                  <a:ea typeface="Arial"/>
                  <a:cs typeface="Arial"/>
                  <a:sym typeface="Arial"/>
                </a:rPr>
                <a:t>Domain</a:t>
              </a:r>
              <a:endParaRPr b="0" i="0" sz="1600" u="none" cap="none" strike="noStrike">
                <a:solidFill>
                  <a:schemeClr val="lt1"/>
                </a:solidFill>
                <a:latin typeface="Arial"/>
                <a:ea typeface="Arial"/>
                <a:cs typeface="Arial"/>
                <a:sym typeface="Arial"/>
              </a:endParaRPr>
            </a:p>
          </p:txBody>
        </p:sp>
        <p:sp>
          <p:nvSpPr>
            <p:cNvPr id="290" name="Google Shape;290;p25"/>
            <p:cNvSpPr/>
            <p:nvPr/>
          </p:nvSpPr>
          <p:spPr>
            <a:xfrm>
              <a:off x="2587421" y="388907"/>
              <a:ext cx="3089286" cy="3089286"/>
            </a:xfrm>
            <a:custGeom>
              <a:rect b="b" l="l" r="r" t="t"/>
              <a:pathLst>
                <a:path extrusionOk="0" h="120000" w="120000">
                  <a:moveTo>
                    <a:pt x="10018" y="93194"/>
                  </a:moveTo>
                  <a:cubicBezTo>
                    <a:pt x="2893" y="82466"/>
                    <a:pt x="-591" y="69731"/>
                    <a:pt x="81" y="56870"/>
                  </a:cubicBezTo>
                </a:path>
              </a:pathLst>
            </a:custGeom>
            <a:noFill/>
            <a:ln cap="flat" cmpd="sng" w="9525">
              <a:solidFill>
                <a:srgbClr val="FFAA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5"/>
            <p:cNvSpPr/>
            <p:nvPr/>
          </p:nvSpPr>
          <p:spPr>
            <a:xfrm>
              <a:off x="2067826" y="1069353"/>
              <a:ext cx="1190389" cy="773753"/>
            </a:xfrm>
            <a:prstGeom prst="roundRect">
              <a:avLst>
                <a:gd fmla="val 16667" name="adj"/>
              </a:avLst>
            </a:prstGeom>
            <a:solidFill>
              <a:srgbClr val="FFAA3F"/>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5"/>
            <p:cNvSpPr txBox="1"/>
            <p:nvPr/>
          </p:nvSpPr>
          <p:spPr>
            <a:xfrm>
              <a:off x="2105598" y="1107125"/>
              <a:ext cx="1114845" cy="698209"/>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rgbClr val="000000"/>
                </a:buClr>
                <a:buSzPts val="1600"/>
                <a:buFont typeface="Arial"/>
                <a:buNone/>
              </a:pPr>
              <a:r>
                <a:rPr b="0" i="0" lang="en-GB" sz="1600" u="none" cap="none" strike="noStrike">
                  <a:solidFill>
                    <a:schemeClr val="lt1"/>
                  </a:solidFill>
                  <a:latin typeface="Arial"/>
                  <a:ea typeface="Arial"/>
                  <a:cs typeface="Arial"/>
                  <a:sym typeface="Arial"/>
                </a:rPr>
                <a:t>Compiler</a:t>
              </a:r>
              <a:endParaRPr b="0" i="0" sz="1600" u="none" cap="none" strike="noStrike">
                <a:solidFill>
                  <a:schemeClr val="lt1"/>
                </a:solidFill>
                <a:latin typeface="Arial"/>
                <a:ea typeface="Arial"/>
                <a:cs typeface="Arial"/>
                <a:sym typeface="Arial"/>
              </a:endParaRPr>
            </a:p>
          </p:txBody>
        </p:sp>
        <p:sp>
          <p:nvSpPr>
            <p:cNvPr id="293" name="Google Shape;293;p25"/>
            <p:cNvSpPr/>
            <p:nvPr/>
          </p:nvSpPr>
          <p:spPr>
            <a:xfrm>
              <a:off x="2587421" y="388907"/>
              <a:ext cx="3089286" cy="3089286"/>
            </a:xfrm>
            <a:custGeom>
              <a:rect b="b" l="l" r="r" t="t"/>
              <a:pathLst>
                <a:path extrusionOk="0" h="120000" w="120000">
                  <a:moveTo>
                    <a:pt x="10463" y="26147"/>
                  </a:moveTo>
                  <a:cubicBezTo>
                    <a:pt x="16939" y="16671"/>
                    <a:pt x="25998" y="9251"/>
                    <a:pt x="36564" y="4767"/>
                  </a:cubicBezTo>
                </a:path>
              </a:pathLst>
            </a:custGeom>
            <a:noFill/>
            <a:ln cap="flat" cmpd="sng" w="9525">
              <a:solidFill>
                <a:srgbClr val="FFAA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4" name="Google Shape;294;p25"/>
          <p:cNvSpPr txBox="1"/>
          <p:nvPr/>
        </p:nvSpPr>
        <p:spPr>
          <a:xfrm>
            <a:off x="3953436" y="2716306"/>
            <a:ext cx="1337981" cy="3231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rgbClr val="000000"/>
                </a:solidFill>
                <a:latin typeface="Arial"/>
                <a:ea typeface="Arial"/>
                <a:cs typeface="Arial"/>
                <a:sym typeface="Arial"/>
              </a:rPr>
              <a:t>Xen relies on them to fulfill its functionality</a:t>
            </a:r>
            <a:endParaRPr b="0" i="0" sz="1400" u="none" cap="none" strike="noStrike">
              <a:solidFill>
                <a:srgbClr val="000000"/>
              </a:solidFill>
              <a:latin typeface="Arial"/>
              <a:ea typeface="Arial"/>
              <a:cs typeface="Arial"/>
              <a:sym typeface="Arial"/>
            </a:endParaRPr>
          </a:p>
        </p:txBody>
      </p:sp>
      <p:sp>
        <p:nvSpPr>
          <p:cNvPr id="295" name="Google Shape;295;p25"/>
          <p:cNvSpPr/>
          <p:nvPr/>
        </p:nvSpPr>
        <p:spPr>
          <a:xfrm>
            <a:off x="260950" y="1876369"/>
            <a:ext cx="2313000" cy="1163100"/>
          </a:xfrm>
          <a:prstGeom prst="roundRect">
            <a:avLst>
              <a:gd fmla="val 16667" name="adj"/>
            </a:avLst>
          </a:prstGeom>
          <a:solidFill>
            <a:schemeClr val="accent3"/>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141288" lvl="0" marL="128588" marR="0" rtl="0" algn="l">
              <a:lnSpc>
                <a:spcPct val="100000"/>
              </a:lnSpc>
              <a:spcBef>
                <a:spcPts val="0"/>
              </a:spcBef>
              <a:spcAft>
                <a:spcPts val="0"/>
              </a:spcAft>
              <a:buClr>
                <a:srgbClr val="000000"/>
              </a:buClr>
              <a:buSzPts val="950"/>
              <a:buFont typeface="Arial"/>
              <a:buChar char="•"/>
            </a:pPr>
            <a:r>
              <a:rPr b="0" i="0" lang="en-GB" sz="950" u="none" cap="none" strike="noStrike">
                <a:solidFill>
                  <a:schemeClr val="dk1"/>
                </a:solidFill>
                <a:latin typeface="Arial"/>
                <a:ea typeface="Arial"/>
                <a:cs typeface="Arial"/>
                <a:sym typeface="Arial"/>
              </a:rPr>
              <a:t>GCC version shall be 5.1 or later (arm64)</a:t>
            </a:r>
            <a:endParaRPr b="0" i="0" sz="1600" u="none" cap="none" strike="noStrike">
              <a:solidFill>
                <a:srgbClr val="000000"/>
              </a:solidFill>
              <a:latin typeface="Arial"/>
              <a:ea typeface="Arial"/>
              <a:cs typeface="Arial"/>
              <a:sym typeface="Arial"/>
            </a:endParaRPr>
          </a:p>
          <a:p>
            <a:pPr indent="-141288" lvl="0" marL="128588" marR="0" rtl="0" algn="l">
              <a:lnSpc>
                <a:spcPct val="100000"/>
              </a:lnSpc>
              <a:spcBef>
                <a:spcPts val="0"/>
              </a:spcBef>
              <a:spcAft>
                <a:spcPts val="0"/>
              </a:spcAft>
              <a:buClr>
                <a:srgbClr val="000000"/>
              </a:buClr>
              <a:buSzPts val="950"/>
              <a:buFont typeface="Arial"/>
              <a:buChar char="•"/>
            </a:pPr>
            <a:r>
              <a:rPr b="0" i="0" lang="en-GB" sz="950" u="none" cap="none" strike="noStrike">
                <a:solidFill>
                  <a:schemeClr val="dk1"/>
                </a:solidFill>
                <a:latin typeface="Arial"/>
                <a:ea typeface="Arial"/>
                <a:cs typeface="Arial"/>
                <a:sym typeface="Arial"/>
              </a:rPr>
              <a:t>GCC version shall be 4.1.2_20070115 or later (x86)</a:t>
            </a:r>
            <a:endParaRPr b="0" i="0" sz="950" u="none" cap="none" strike="noStrike">
              <a:solidFill>
                <a:schemeClr val="dk1"/>
              </a:solidFill>
              <a:latin typeface="Arial"/>
              <a:ea typeface="Arial"/>
              <a:cs typeface="Arial"/>
              <a:sym typeface="Arial"/>
            </a:endParaRPr>
          </a:p>
          <a:p>
            <a:pPr indent="-141288" lvl="0" marL="128588" marR="0" rtl="0" algn="l">
              <a:lnSpc>
                <a:spcPct val="100000"/>
              </a:lnSpc>
              <a:spcBef>
                <a:spcPts val="0"/>
              </a:spcBef>
              <a:spcAft>
                <a:spcPts val="0"/>
              </a:spcAft>
              <a:buClr>
                <a:srgbClr val="000000"/>
              </a:buClr>
              <a:buSzPts val="950"/>
              <a:buFont typeface="Arial"/>
              <a:buChar char="•"/>
            </a:pPr>
            <a:r>
              <a:rPr b="0" i="0" lang="en-GB" sz="950" u="none" cap="none" strike="noStrike">
                <a:solidFill>
                  <a:schemeClr val="dk1"/>
                </a:solidFill>
                <a:latin typeface="Arial"/>
                <a:ea typeface="Arial"/>
                <a:cs typeface="Arial"/>
                <a:sym typeface="Arial"/>
              </a:rPr>
              <a:t>Arm Compiler for Embedded FuSa (based on LLVM 22.1)</a:t>
            </a:r>
            <a:endParaRPr b="0" i="0" sz="95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750"/>
              <a:buFont typeface="Arial"/>
              <a:buNone/>
            </a:pPr>
            <a:r>
              <a:t/>
            </a:r>
            <a:endParaRPr b="0" i="0" sz="950" u="none" cap="none" strike="noStrike">
              <a:solidFill>
                <a:schemeClr val="dk1"/>
              </a:solidFill>
              <a:latin typeface="Arial"/>
              <a:ea typeface="Arial"/>
              <a:cs typeface="Arial"/>
              <a:sym typeface="Arial"/>
            </a:endParaRPr>
          </a:p>
        </p:txBody>
      </p:sp>
      <p:sp>
        <p:nvSpPr>
          <p:cNvPr id="296" name="Google Shape;296;p25"/>
          <p:cNvSpPr/>
          <p:nvPr/>
        </p:nvSpPr>
        <p:spPr>
          <a:xfrm>
            <a:off x="6016300" y="3645275"/>
            <a:ext cx="2313000" cy="1271100"/>
          </a:xfrm>
          <a:prstGeom prst="roundRect">
            <a:avLst>
              <a:gd fmla="val 16667" name="adj"/>
            </a:avLst>
          </a:prstGeom>
          <a:solidFill>
            <a:schemeClr val="accent3"/>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141288" lvl="0" marL="128588" marR="0" rtl="0" algn="l">
              <a:lnSpc>
                <a:spcPct val="100000"/>
              </a:lnSpc>
              <a:spcBef>
                <a:spcPts val="0"/>
              </a:spcBef>
              <a:spcAft>
                <a:spcPts val="0"/>
              </a:spcAft>
              <a:buClr>
                <a:srgbClr val="000000"/>
              </a:buClr>
              <a:buSzPts val="950"/>
              <a:buFont typeface="Arial"/>
              <a:buChar char="•"/>
            </a:pPr>
            <a:r>
              <a:rPr b="0" i="0" lang="en-GB" sz="950" u="none" cap="none" strike="noStrike">
                <a:solidFill>
                  <a:schemeClr val="dk1"/>
                </a:solidFill>
                <a:latin typeface="Arial"/>
                <a:ea typeface="Arial"/>
                <a:cs typeface="Arial"/>
                <a:sym typeface="Arial"/>
              </a:rPr>
              <a:t>Xen shall be loaded at Non-Secure EL2 exception level.</a:t>
            </a:r>
            <a:endParaRPr b="0" i="0" sz="1600" u="none" cap="none" strike="noStrike">
              <a:solidFill>
                <a:srgbClr val="000000"/>
              </a:solidFill>
              <a:latin typeface="Arial"/>
              <a:ea typeface="Arial"/>
              <a:cs typeface="Arial"/>
              <a:sym typeface="Arial"/>
            </a:endParaRPr>
          </a:p>
          <a:p>
            <a:pPr indent="-141288" lvl="0" marL="128588" marR="0" rtl="0" algn="l">
              <a:lnSpc>
                <a:spcPct val="100000"/>
              </a:lnSpc>
              <a:spcBef>
                <a:spcPts val="0"/>
              </a:spcBef>
              <a:spcAft>
                <a:spcPts val="0"/>
              </a:spcAft>
              <a:buClr>
                <a:srgbClr val="000000"/>
              </a:buClr>
              <a:buSzPts val="950"/>
              <a:buFont typeface="Arial"/>
              <a:buChar char="•"/>
            </a:pPr>
            <a:r>
              <a:rPr b="0" i="0" lang="en-GB" sz="950" u="none" cap="none" strike="noStrike">
                <a:solidFill>
                  <a:schemeClr val="dk1"/>
                </a:solidFill>
                <a:latin typeface="Arial"/>
                <a:ea typeface="Arial"/>
                <a:cs typeface="Arial"/>
                <a:sym typeface="Arial"/>
              </a:rPr>
              <a:t>Bootloader shall pass physical address of the host device tree in x0 register.</a:t>
            </a:r>
            <a:endParaRPr b="0" i="0" sz="950" u="none" cap="none" strike="noStrike">
              <a:solidFill>
                <a:schemeClr val="dk1"/>
              </a:solidFill>
              <a:latin typeface="Arial"/>
              <a:ea typeface="Arial"/>
              <a:cs typeface="Arial"/>
              <a:sym typeface="Arial"/>
            </a:endParaRPr>
          </a:p>
          <a:p>
            <a:pPr indent="-141288" lvl="0" marL="128588" marR="0" rtl="0" algn="l">
              <a:lnSpc>
                <a:spcPct val="100000"/>
              </a:lnSpc>
              <a:spcBef>
                <a:spcPts val="0"/>
              </a:spcBef>
              <a:spcAft>
                <a:spcPts val="0"/>
              </a:spcAft>
              <a:buClr>
                <a:schemeClr val="dk1"/>
              </a:buClr>
              <a:buSzPts val="950"/>
              <a:buFont typeface="Arial"/>
              <a:buChar char="•"/>
            </a:pPr>
            <a:r>
              <a:rPr b="0" i="0" lang="en-GB" sz="950" u="none" cap="none" strike="noStrike">
                <a:solidFill>
                  <a:schemeClr val="dk1"/>
                </a:solidFill>
                <a:latin typeface="Arial"/>
                <a:ea typeface="Arial"/>
                <a:cs typeface="Arial"/>
                <a:sym typeface="Arial"/>
              </a:rPr>
              <a:t>DDR shall be initialized, DMA devices shall be stopped</a:t>
            </a:r>
            <a:endParaRPr b="0" i="0" sz="950" u="none" cap="none" strike="noStrike">
              <a:solidFill>
                <a:schemeClr val="dk1"/>
              </a:solidFill>
              <a:latin typeface="Arial"/>
              <a:ea typeface="Arial"/>
              <a:cs typeface="Arial"/>
              <a:sym typeface="Arial"/>
            </a:endParaRPr>
          </a:p>
        </p:txBody>
      </p:sp>
      <p:sp>
        <p:nvSpPr>
          <p:cNvPr id="297" name="Google Shape;297;p25"/>
          <p:cNvSpPr/>
          <p:nvPr/>
        </p:nvSpPr>
        <p:spPr>
          <a:xfrm>
            <a:off x="3266375" y="291275"/>
            <a:ext cx="2749800" cy="948000"/>
          </a:xfrm>
          <a:prstGeom prst="roundRect">
            <a:avLst>
              <a:gd fmla="val 16667" name="adj"/>
            </a:avLst>
          </a:prstGeom>
          <a:solidFill>
            <a:schemeClr val="accent3"/>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141288" lvl="0" marL="128588" marR="0" rtl="0" algn="l">
              <a:lnSpc>
                <a:spcPct val="100000"/>
              </a:lnSpc>
              <a:spcBef>
                <a:spcPts val="0"/>
              </a:spcBef>
              <a:spcAft>
                <a:spcPts val="0"/>
              </a:spcAft>
              <a:buClr>
                <a:srgbClr val="000000"/>
              </a:buClr>
              <a:buSzPts val="950"/>
              <a:buFont typeface="Arial"/>
              <a:buChar char="•"/>
            </a:pPr>
            <a:r>
              <a:rPr b="0" i="0" lang="en-GB" sz="950" u="none" cap="none" strike="noStrike">
                <a:solidFill>
                  <a:schemeClr val="dk1"/>
                </a:solidFill>
                <a:latin typeface="Arial"/>
                <a:ea typeface="Arial"/>
                <a:cs typeface="Arial"/>
                <a:sym typeface="Arial"/>
              </a:rPr>
              <a:t>The hardware needs to have the ARM Generic Interrupt Controller, version 3</a:t>
            </a:r>
            <a:endParaRPr b="0" i="0" sz="1600" u="none" cap="none" strike="noStrike">
              <a:solidFill>
                <a:srgbClr val="000000"/>
              </a:solidFill>
              <a:latin typeface="Arial"/>
              <a:ea typeface="Arial"/>
              <a:cs typeface="Arial"/>
              <a:sym typeface="Arial"/>
            </a:endParaRPr>
          </a:p>
          <a:p>
            <a:pPr indent="-141288" lvl="0" marL="128588" marR="0" rtl="0" algn="l">
              <a:lnSpc>
                <a:spcPct val="100000"/>
              </a:lnSpc>
              <a:spcBef>
                <a:spcPts val="0"/>
              </a:spcBef>
              <a:spcAft>
                <a:spcPts val="0"/>
              </a:spcAft>
              <a:buClr>
                <a:srgbClr val="000000"/>
              </a:buClr>
              <a:buSzPts val="950"/>
              <a:buFont typeface="Arial"/>
              <a:buChar char="•"/>
            </a:pPr>
            <a:r>
              <a:rPr b="0" i="0" lang="en-GB" sz="950" u="none" cap="none" strike="noStrike">
                <a:solidFill>
                  <a:schemeClr val="dk1"/>
                </a:solidFill>
                <a:latin typeface="Arial"/>
                <a:ea typeface="Arial"/>
                <a:cs typeface="Arial"/>
                <a:sym typeface="Arial"/>
              </a:rPr>
              <a:t>The hardware needs to have the Arm System Memory Management Unit, version 3 onwards</a:t>
            </a:r>
            <a:endParaRPr b="0" i="0" sz="950" u="none" cap="none" strike="noStrike">
              <a:solidFill>
                <a:schemeClr val="dk1"/>
              </a:solidFill>
              <a:latin typeface="Arial"/>
              <a:ea typeface="Arial"/>
              <a:cs typeface="Arial"/>
              <a:sym typeface="Arial"/>
            </a:endParaRPr>
          </a:p>
        </p:txBody>
      </p:sp>
      <p:sp>
        <p:nvSpPr>
          <p:cNvPr id="298" name="Google Shape;298;p25"/>
          <p:cNvSpPr/>
          <p:nvPr/>
        </p:nvSpPr>
        <p:spPr>
          <a:xfrm>
            <a:off x="866075" y="3645250"/>
            <a:ext cx="2313000" cy="1179300"/>
          </a:xfrm>
          <a:prstGeom prst="roundRect">
            <a:avLst>
              <a:gd fmla="val 16667" name="adj"/>
            </a:avLst>
          </a:prstGeom>
          <a:solidFill>
            <a:schemeClr val="accent3"/>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141288" lvl="0" marL="128588" marR="0" rtl="0" algn="l">
              <a:lnSpc>
                <a:spcPct val="100000"/>
              </a:lnSpc>
              <a:spcBef>
                <a:spcPts val="0"/>
              </a:spcBef>
              <a:spcAft>
                <a:spcPts val="0"/>
              </a:spcAft>
              <a:buClr>
                <a:srgbClr val="000000"/>
              </a:buClr>
              <a:buSzPts val="950"/>
              <a:buFont typeface="Arial"/>
              <a:buChar char="•"/>
            </a:pPr>
            <a:r>
              <a:rPr b="0" i="0" lang="en-GB" sz="950" u="none" cap="none" strike="noStrike">
                <a:solidFill>
                  <a:schemeClr val="dk1"/>
                </a:solidFill>
                <a:latin typeface="Arial"/>
                <a:ea typeface="Arial"/>
                <a:cs typeface="Arial"/>
                <a:sym typeface="Arial"/>
              </a:rPr>
              <a:t>Domain shall not write access GICD_ISACTIVER&lt;n&gt; registers</a:t>
            </a:r>
            <a:endParaRPr b="0" i="0" sz="1600" u="none" cap="none" strike="noStrike">
              <a:solidFill>
                <a:srgbClr val="000000"/>
              </a:solidFill>
              <a:latin typeface="Arial"/>
              <a:ea typeface="Arial"/>
              <a:cs typeface="Arial"/>
              <a:sym typeface="Arial"/>
            </a:endParaRPr>
          </a:p>
          <a:p>
            <a:pPr indent="-141288" lvl="0" marL="128588" marR="0" rtl="0" algn="l">
              <a:lnSpc>
                <a:spcPct val="100000"/>
              </a:lnSpc>
              <a:spcBef>
                <a:spcPts val="0"/>
              </a:spcBef>
              <a:spcAft>
                <a:spcPts val="0"/>
              </a:spcAft>
              <a:buClr>
                <a:srgbClr val="000000"/>
              </a:buClr>
              <a:buSzPts val="950"/>
              <a:buFont typeface="Arial"/>
              <a:buChar char="•"/>
            </a:pPr>
            <a:r>
              <a:rPr b="0" i="0" lang="en-GB" sz="950" u="none" cap="none" strike="noStrike">
                <a:solidFill>
                  <a:schemeClr val="dk1"/>
                </a:solidFill>
                <a:latin typeface="Arial"/>
                <a:ea typeface="Arial"/>
                <a:cs typeface="Arial"/>
                <a:sym typeface="Arial"/>
              </a:rPr>
              <a:t>Domain shall not use physical LPIs without ITS</a:t>
            </a:r>
            <a:endParaRPr b="0" i="0" sz="1250" u="none" cap="none" strike="noStrike">
              <a:solidFill>
                <a:schemeClr val="dk1"/>
              </a:solidFill>
              <a:latin typeface="Arial"/>
              <a:ea typeface="Arial"/>
              <a:cs typeface="Arial"/>
              <a:sym typeface="Arial"/>
            </a:endParaRPr>
          </a:p>
          <a:p>
            <a:pPr indent="-80963" lvl="0" marL="128588" marR="0" rtl="0" algn="l">
              <a:lnSpc>
                <a:spcPct val="100000"/>
              </a:lnSpc>
              <a:spcBef>
                <a:spcPts val="0"/>
              </a:spcBef>
              <a:spcAft>
                <a:spcPts val="0"/>
              </a:spcAft>
              <a:buClr>
                <a:srgbClr val="000000"/>
              </a:buClr>
              <a:buSzPts val="750"/>
              <a:buFont typeface="Arial"/>
              <a:buNone/>
            </a:pPr>
            <a:r>
              <a:t/>
            </a:r>
            <a:endParaRPr b="0" i="0" sz="950" u="none" cap="none" strike="noStrike">
              <a:solidFill>
                <a:schemeClr val="dk1"/>
              </a:solidFill>
              <a:latin typeface="Arial"/>
              <a:ea typeface="Arial"/>
              <a:cs typeface="Arial"/>
              <a:sym typeface="Arial"/>
            </a:endParaRPr>
          </a:p>
        </p:txBody>
      </p:sp>
      <p:sp>
        <p:nvSpPr>
          <p:cNvPr id="299" name="Google Shape;299;p25"/>
          <p:cNvSpPr/>
          <p:nvPr/>
        </p:nvSpPr>
        <p:spPr>
          <a:xfrm>
            <a:off x="6540725" y="1876375"/>
            <a:ext cx="2470800" cy="1179300"/>
          </a:xfrm>
          <a:prstGeom prst="roundRect">
            <a:avLst>
              <a:gd fmla="val 16667" name="adj"/>
            </a:avLst>
          </a:prstGeom>
          <a:solidFill>
            <a:schemeClr val="accent3"/>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141288" lvl="0" marL="128588" marR="0" rtl="0" algn="l">
              <a:lnSpc>
                <a:spcPct val="100000"/>
              </a:lnSpc>
              <a:spcBef>
                <a:spcPts val="0"/>
              </a:spcBef>
              <a:spcAft>
                <a:spcPts val="0"/>
              </a:spcAft>
              <a:buClr>
                <a:srgbClr val="000000"/>
              </a:buClr>
              <a:buSzPts val="950"/>
              <a:buFont typeface="Arial"/>
              <a:buChar char="•"/>
            </a:pPr>
            <a:r>
              <a:rPr b="0" i="0" lang="en-GB" sz="950" u="none" cap="none" strike="noStrike">
                <a:solidFill>
                  <a:schemeClr val="dk1"/>
                </a:solidFill>
                <a:latin typeface="Arial"/>
                <a:ea typeface="Arial"/>
                <a:cs typeface="Arial"/>
                <a:sym typeface="Arial"/>
              </a:rPr>
              <a:t>CNTFRQ_EL0 needs to be programmed with the system timer frequency. Or the "clock-frequency" dt property should be used.</a:t>
            </a:r>
            <a:endParaRPr b="0" i="0" sz="1600" u="none" cap="none" strike="noStrike">
              <a:solidFill>
                <a:srgbClr val="000000"/>
              </a:solidFill>
              <a:latin typeface="Arial"/>
              <a:ea typeface="Arial"/>
              <a:cs typeface="Arial"/>
              <a:sym typeface="Arial"/>
            </a:endParaRPr>
          </a:p>
          <a:p>
            <a:pPr indent="-141288" lvl="0" marL="128588" marR="0" rtl="0" algn="l">
              <a:lnSpc>
                <a:spcPct val="100000"/>
              </a:lnSpc>
              <a:spcBef>
                <a:spcPts val="0"/>
              </a:spcBef>
              <a:spcAft>
                <a:spcPts val="0"/>
              </a:spcAft>
              <a:buClr>
                <a:srgbClr val="000000"/>
              </a:buClr>
              <a:buSzPts val="950"/>
              <a:buFont typeface="Arial"/>
              <a:buChar char="•"/>
            </a:pPr>
            <a:r>
              <a:rPr b="0" i="0" lang="en-GB" sz="950" u="none" cap="none" strike="noStrike">
                <a:solidFill>
                  <a:schemeClr val="dk1"/>
                </a:solidFill>
                <a:latin typeface="Arial"/>
                <a:ea typeface="Arial"/>
                <a:cs typeface="Arial"/>
                <a:sym typeface="Arial"/>
              </a:rPr>
              <a:t>TF-A shall provide PSCI api (PSCI_VERSION) to read the version.</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6"/>
          <p:cNvSpPr txBox="1"/>
          <p:nvPr>
            <p:ph type="title"/>
          </p:nvPr>
        </p:nvSpPr>
        <p:spPr>
          <a:xfrm>
            <a:off x="311700" y="15135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Example: Key Assumption of Use on Domains</a:t>
            </a:r>
            <a:endParaRPr/>
          </a:p>
        </p:txBody>
      </p:sp>
      <p:sp>
        <p:nvSpPr>
          <p:cNvPr id="305" name="Google Shape;305;p26"/>
          <p:cNvSpPr txBox="1"/>
          <p:nvPr>
            <p:ph idx="1" type="body"/>
          </p:nvPr>
        </p:nvSpPr>
        <p:spPr>
          <a:xfrm>
            <a:off x="311700" y="844635"/>
            <a:ext cx="8520600" cy="3050100"/>
          </a:xfrm>
          <a:prstGeom prst="rect">
            <a:avLst/>
          </a:prstGeom>
          <a:noFill/>
          <a:ln>
            <a:noFill/>
          </a:ln>
        </p:spPr>
        <p:txBody>
          <a:bodyPr anchorCtr="0" anchor="t" bIns="91425" lIns="91425" spcFirstLastPara="1" rIns="91425" wrap="square" tIns="91425">
            <a:noAutofit/>
          </a:bodyPr>
          <a:lstStyle/>
          <a:p>
            <a:pPr indent="-323850" lvl="0" marL="457200" rtl="0" algn="l">
              <a:lnSpc>
                <a:spcPct val="114000"/>
              </a:lnSpc>
              <a:spcBef>
                <a:spcPts val="0"/>
              </a:spcBef>
              <a:spcAft>
                <a:spcPts val="0"/>
              </a:spcAft>
              <a:buSzPts val="1500"/>
              <a:buChar char="●"/>
            </a:pPr>
            <a:r>
              <a:rPr lang="en-GB" sz="1500"/>
              <a:t>On Zephyr as safety critical domain – It should mask its event channel notifications during the safety critical task to avoid being interrupted by other domains</a:t>
            </a:r>
            <a:endParaRPr sz="1500"/>
          </a:p>
          <a:p>
            <a:pPr indent="-323850" lvl="0" marL="457200" rtl="0" algn="l">
              <a:lnSpc>
                <a:spcPct val="114000"/>
              </a:lnSpc>
              <a:spcBef>
                <a:spcPts val="0"/>
              </a:spcBef>
              <a:spcAft>
                <a:spcPts val="0"/>
              </a:spcAft>
              <a:buSzPts val="1500"/>
              <a:buChar char="●"/>
            </a:pPr>
            <a:r>
              <a:rPr lang="en-GB" sz="1500"/>
              <a:t>On Linux as QM domain – It shall enable the platform devices and perform platform operations (suspend, power off, reset, reboot) only when requested by the control domain. </a:t>
            </a:r>
            <a:endParaRPr sz="1500"/>
          </a:p>
          <a:p>
            <a:pPr indent="-317500" lvl="1" marL="914400" rtl="0" algn="l">
              <a:lnSpc>
                <a:spcPct val="114000"/>
              </a:lnSpc>
              <a:spcBef>
                <a:spcPts val="800"/>
              </a:spcBef>
              <a:spcAft>
                <a:spcPts val="0"/>
              </a:spcAft>
              <a:buSzPts val="1400"/>
              <a:buChar char="○"/>
            </a:pPr>
            <a:r>
              <a:rPr lang="en-GB"/>
              <a:t>It shall enable the PV.VirtIO backend drivers to perform device emulation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e73d05718d_0_0"/>
          <p:cNvSpPr txBox="1"/>
          <p:nvPr>
            <p:ph type="title"/>
          </p:nvPr>
        </p:nvSpPr>
        <p:spPr>
          <a:xfrm>
            <a:off x="311700" y="971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Architecture and Design</a:t>
            </a:r>
            <a:endParaRPr/>
          </a:p>
        </p:txBody>
      </p:sp>
      <p:sp>
        <p:nvSpPr>
          <p:cNvPr id="311" name="Google Shape;311;g3e73d05718d_0_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312" name="Google Shape;312;g3e73d05718d_0_0" title="graph (6).png"/>
          <p:cNvPicPr preferRelativeResize="0"/>
          <p:nvPr/>
        </p:nvPicPr>
        <p:blipFill>
          <a:blip r:embed="rId3">
            <a:alphaModFix/>
          </a:blip>
          <a:stretch>
            <a:fillRect/>
          </a:stretch>
        </p:blipFill>
        <p:spPr>
          <a:xfrm>
            <a:off x="0" y="559160"/>
            <a:ext cx="9144001" cy="4460489"/>
          </a:xfrm>
          <a:prstGeom prst="rect">
            <a:avLst/>
          </a:prstGeom>
          <a:noFill/>
          <a:ln>
            <a:noFill/>
          </a:ln>
        </p:spPr>
      </p:pic>
      <p:sp>
        <p:nvSpPr>
          <p:cNvPr id="313" name="Google Shape;313;g3e73d05718d_0_0"/>
          <p:cNvSpPr/>
          <p:nvPr/>
        </p:nvSpPr>
        <p:spPr>
          <a:xfrm>
            <a:off x="3221575" y="962075"/>
            <a:ext cx="2789100" cy="2100600"/>
          </a:xfrm>
          <a:prstGeom prst="rect">
            <a:avLst/>
          </a:prstGeom>
          <a:noFill/>
          <a:ln cap="flat" cmpd="sng" w="2857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7"/>
          <p:cNvSpPr txBox="1"/>
          <p:nvPr>
            <p:ph type="title"/>
          </p:nvPr>
        </p:nvSpPr>
        <p:spPr>
          <a:xfrm>
            <a:off x="164466"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Architecture Spec</a:t>
            </a:r>
            <a:endParaRPr/>
          </a:p>
        </p:txBody>
      </p:sp>
      <p:sp>
        <p:nvSpPr>
          <p:cNvPr id="319" name="Google Shape;319;p27"/>
          <p:cNvSpPr txBox="1"/>
          <p:nvPr>
            <p:ph idx="1" type="body"/>
          </p:nvPr>
        </p:nvSpPr>
        <p:spPr>
          <a:xfrm>
            <a:off x="0" y="676425"/>
            <a:ext cx="4724400" cy="3050100"/>
          </a:xfrm>
          <a:prstGeom prst="rect">
            <a:avLst/>
          </a:prstGeom>
          <a:noFill/>
          <a:ln>
            <a:noFill/>
          </a:ln>
        </p:spPr>
        <p:txBody>
          <a:bodyPr anchorCtr="0" anchor="t" bIns="91425" lIns="91425" spcFirstLastPara="1" rIns="91425" wrap="square" tIns="91425">
            <a:noAutofit/>
          </a:bodyPr>
          <a:lstStyle/>
          <a:p>
            <a:pPr indent="-323850" lvl="0" marL="457200" rtl="0" algn="l">
              <a:lnSpc>
                <a:spcPct val="114000"/>
              </a:lnSpc>
              <a:spcBef>
                <a:spcPts val="0"/>
              </a:spcBef>
              <a:spcAft>
                <a:spcPts val="0"/>
              </a:spcAft>
              <a:buSzPts val="1500"/>
              <a:buChar char="●"/>
            </a:pPr>
            <a:r>
              <a:rPr lang="en-GB" sz="1500"/>
              <a:t>While requirements describe the features that Xen provides, architecture spec describes how the feature is implemented, interfaces to the other architectural components, error propagation, data/control flow, etc</a:t>
            </a:r>
            <a:endParaRPr sz="1500"/>
          </a:p>
          <a:p>
            <a:pPr indent="-323850" lvl="0" marL="457200" rtl="0" algn="l">
              <a:lnSpc>
                <a:spcPct val="114000"/>
              </a:lnSpc>
              <a:spcBef>
                <a:spcPts val="0"/>
              </a:spcBef>
              <a:spcAft>
                <a:spcPts val="0"/>
              </a:spcAft>
              <a:buSzPts val="1500"/>
              <a:buChar char="●"/>
            </a:pPr>
            <a:r>
              <a:rPr lang="en-GB" sz="1500"/>
              <a:t>Architecture Spec is linked to a set SSRs belonging to a component</a:t>
            </a:r>
            <a:endParaRPr sz="1500"/>
          </a:p>
          <a:p>
            <a:pPr indent="-323850" lvl="0" marL="457200" rtl="0" algn="l">
              <a:lnSpc>
                <a:spcPct val="114000"/>
              </a:lnSpc>
              <a:spcBef>
                <a:spcPts val="0"/>
              </a:spcBef>
              <a:spcAft>
                <a:spcPts val="0"/>
              </a:spcAft>
              <a:buSzPts val="1500"/>
              <a:buChar char="●"/>
            </a:pPr>
            <a:r>
              <a:rPr lang="en-GB" sz="1500"/>
              <a:t>By linking SSRs to Arch spec , we </a:t>
            </a:r>
            <a:r>
              <a:rPr b="1" lang="en-GB" sz="1500"/>
              <a:t>avoid </a:t>
            </a:r>
            <a:r>
              <a:rPr lang="en-GB" sz="1500"/>
              <a:t>putting any markers in the code (and thereby ensure the code is clean).</a:t>
            </a:r>
            <a:endParaRPr sz="1500"/>
          </a:p>
          <a:p>
            <a:pPr indent="-323850" lvl="0" marL="457200" rtl="0" algn="l">
              <a:lnSpc>
                <a:spcPct val="114000"/>
              </a:lnSpc>
              <a:spcBef>
                <a:spcPts val="0"/>
              </a:spcBef>
              <a:spcAft>
                <a:spcPts val="0"/>
              </a:spcAft>
              <a:buSzPts val="1500"/>
              <a:buChar char="●"/>
            </a:pPr>
            <a:r>
              <a:rPr lang="en-GB" sz="1500" u="sng">
                <a:solidFill>
                  <a:schemeClr val="hlink"/>
                </a:solidFill>
                <a:hlinkClick r:id="rId3"/>
              </a:rPr>
              <a:t>https://gitlab.com/xen-project/fusa/architecture_specs/-/blob/master/domain_creation_and_runtime/domain_partially_emulated_resources/arm64/generic_timer.rst</a:t>
            </a:r>
            <a:endParaRPr sz="1500"/>
          </a:p>
        </p:txBody>
      </p:sp>
      <p:pic>
        <p:nvPicPr>
          <p:cNvPr id="320" name="Google Shape;320;p27" title="timer_half.jpg"/>
          <p:cNvPicPr preferRelativeResize="0"/>
          <p:nvPr/>
        </p:nvPicPr>
        <p:blipFill>
          <a:blip r:embed="rId4">
            <a:alphaModFix/>
          </a:blip>
          <a:stretch>
            <a:fillRect/>
          </a:stretch>
        </p:blipFill>
        <p:spPr>
          <a:xfrm>
            <a:off x="4774187" y="725100"/>
            <a:ext cx="4114800" cy="348316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eca4397e55_1_14"/>
          <p:cNvSpPr txBox="1"/>
          <p:nvPr>
            <p:ph type="title"/>
          </p:nvPr>
        </p:nvSpPr>
        <p:spPr>
          <a:xfrm>
            <a:off x="311700" y="971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do you verify and validate a complex system?</a:t>
            </a:r>
            <a:endParaRPr/>
          </a:p>
        </p:txBody>
      </p:sp>
      <p:sp>
        <p:nvSpPr>
          <p:cNvPr id="326" name="Google Shape;326;g3eca4397e55_1_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327" name="Google Shape;327;g3eca4397e55_1_14" title="graph (6).png"/>
          <p:cNvPicPr preferRelativeResize="0"/>
          <p:nvPr/>
        </p:nvPicPr>
        <p:blipFill>
          <a:blip r:embed="rId3">
            <a:alphaModFix/>
          </a:blip>
          <a:stretch>
            <a:fillRect/>
          </a:stretch>
        </p:blipFill>
        <p:spPr>
          <a:xfrm>
            <a:off x="0" y="559160"/>
            <a:ext cx="9144001" cy="4460489"/>
          </a:xfrm>
          <a:prstGeom prst="rect">
            <a:avLst/>
          </a:prstGeom>
          <a:noFill/>
          <a:ln>
            <a:noFill/>
          </a:ln>
        </p:spPr>
      </p:pic>
      <p:sp>
        <p:nvSpPr>
          <p:cNvPr id="328" name="Google Shape;328;g3eca4397e55_1_14"/>
          <p:cNvSpPr/>
          <p:nvPr/>
        </p:nvSpPr>
        <p:spPr>
          <a:xfrm>
            <a:off x="61775" y="3248050"/>
            <a:ext cx="9029400" cy="1685700"/>
          </a:xfrm>
          <a:prstGeom prst="rect">
            <a:avLst/>
          </a:prstGeom>
          <a:noFill/>
          <a:ln cap="flat" cmpd="sng" w="2857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9"/>
          <p:cNvSpPr txBox="1"/>
          <p:nvPr>
            <p:ph type="title"/>
          </p:nvPr>
        </p:nvSpPr>
        <p:spPr>
          <a:xfrm>
            <a:off x="311700" y="13063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Overall Testing deployment</a:t>
            </a:r>
            <a:endParaRPr/>
          </a:p>
        </p:txBody>
      </p:sp>
      <p:sp>
        <p:nvSpPr>
          <p:cNvPr id="334" name="Google Shape;334;p29"/>
          <p:cNvSpPr/>
          <p:nvPr/>
        </p:nvSpPr>
        <p:spPr>
          <a:xfrm>
            <a:off x="532371" y="2737325"/>
            <a:ext cx="7709100" cy="69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                          Xen ASIL D (SEooC)</a:t>
            </a:r>
            <a:endParaRPr b="0" i="0" sz="1800" u="none" cap="none" strike="noStrike">
              <a:solidFill>
                <a:srgbClr val="000000"/>
              </a:solidFill>
              <a:latin typeface="Arial"/>
              <a:ea typeface="Arial"/>
              <a:cs typeface="Arial"/>
              <a:sym typeface="Arial"/>
            </a:endParaRPr>
          </a:p>
        </p:txBody>
      </p:sp>
      <p:sp>
        <p:nvSpPr>
          <p:cNvPr id="335" name="Google Shape;335;p29"/>
          <p:cNvSpPr/>
          <p:nvPr/>
        </p:nvSpPr>
        <p:spPr>
          <a:xfrm>
            <a:off x="595246" y="888685"/>
            <a:ext cx="1358100" cy="1722900"/>
          </a:xfrm>
          <a:prstGeom prst="rect">
            <a:avLst/>
          </a:prstGeom>
          <a:solidFill>
            <a:srgbClr val="FFF1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Domain based validation tests or domain/Xen interface tests</a:t>
            </a:r>
            <a:endParaRPr b="0" i="0" sz="1400" u="none" cap="none" strike="noStrike">
              <a:solidFill>
                <a:srgbClr val="000000"/>
              </a:solidFill>
              <a:latin typeface="Arial"/>
              <a:ea typeface="Arial"/>
              <a:cs typeface="Arial"/>
              <a:sym typeface="Arial"/>
            </a:endParaRPr>
          </a:p>
        </p:txBody>
      </p:sp>
      <p:sp>
        <p:nvSpPr>
          <p:cNvPr id="336" name="Google Shape;336;p29"/>
          <p:cNvSpPr txBox="1"/>
          <p:nvPr/>
        </p:nvSpPr>
        <p:spPr>
          <a:xfrm>
            <a:off x="3814646" y="926429"/>
            <a:ext cx="3873300" cy="44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Arial"/>
              <a:ea typeface="Arial"/>
              <a:cs typeface="Arial"/>
              <a:sym typeface="Arial"/>
            </a:endParaRPr>
          </a:p>
        </p:txBody>
      </p:sp>
      <p:sp>
        <p:nvSpPr>
          <p:cNvPr id="337" name="Google Shape;337;p29"/>
          <p:cNvSpPr/>
          <p:nvPr/>
        </p:nvSpPr>
        <p:spPr>
          <a:xfrm>
            <a:off x="2858887" y="888685"/>
            <a:ext cx="1358100" cy="17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Domain based validation tests or domain/Xen interface tests</a:t>
            </a:r>
            <a:endParaRPr b="0" i="0" sz="1400" u="none" cap="none" strike="noStrike">
              <a:solidFill>
                <a:srgbClr val="000000"/>
              </a:solidFill>
              <a:latin typeface="Arial"/>
              <a:ea typeface="Arial"/>
              <a:cs typeface="Arial"/>
              <a:sym typeface="Arial"/>
            </a:endParaRPr>
          </a:p>
        </p:txBody>
      </p:sp>
      <p:sp>
        <p:nvSpPr>
          <p:cNvPr id="338" name="Google Shape;338;p29"/>
          <p:cNvSpPr/>
          <p:nvPr/>
        </p:nvSpPr>
        <p:spPr>
          <a:xfrm>
            <a:off x="4355410" y="901260"/>
            <a:ext cx="1358100" cy="1710300"/>
          </a:xfrm>
          <a:prstGeom prst="rect">
            <a:avLst/>
          </a:prstGeom>
          <a:solidFill>
            <a:srgbClr val="EADC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Domain based fault injection tests to Xen or negative tests</a:t>
            </a:r>
            <a:endParaRPr b="0" i="0" sz="1400" u="none" cap="none" strike="noStrike">
              <a:solidFill>
                <a:srgbClr val="000000"/>
              </a:solidFill>
              <a:latin typeface="Arial"/>
              <a:ea typeface="Arial"/>
              <a:cs typeface="Arial"/>
              <a:sym typeface="Arial"/>
            </a:endParaRPr>
          </a:p>
        </p:txBody>
      </p:sp>
      <p:sp>
        <p:nvSpPr>
          <p:cNvPr id="339" name="Google Shape;339;p29"/>
          <p:cNvSpPr/>
          <p:nvPr/>
        </p:nvSpPr>
        <p:spPr>
          <a:xfrm>
            <a:off x="6519938" y="920185"/>
            <a:ext cx="276600" cy="16599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9"/>
          <p:cNvSpPr/>
          <p:nvPr/>
        </p:nvSpPr>
        <p:spPr>
          <a:xfrm>
            <a:off x="7436522" y="926449"/>
            <a:ext cx="276600" cy="16599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9"/>
          <p:cNvSpPr/>
          <p:nvPr/>
        </p:nvSpPr>
        <p:spPr>
          <a:xfrm>
            <a:off x="7830802" y="901263"/>
            <a:ext cx="276600" cy="16599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9"/>
          <p:cNvSpPr txBox="1"/>
          <p:nvPr/>
        </p:nvSpPr>
        <p:spPr>
          <a:xfrm>
            <a:off x="6786037" y="829765"/>
            <a:ext cx="862200" cy="69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434343"/>
                </a:solidFill>
                <a:latin typeface="Arial"/>
                <a:ea typeface="Arial"/>
                <a:cs typeface="Arial"/>
                <a:sym typeface="Arial"/>
              </a:rPr>
              <a:t>Runtime tests/ memory stress tests</a:t>
            </a:r>
            <a:endParaRPr b="0" i="0" sz="1100" u="none" cap="none" strike="noStrike">
              <a:solidFill>
                <a:srgbClr val="434343"/>
              </a:solidFill>
              <a:latin typeface="Arial"/>
              <a:ea typeface="Arial"/>
              <a:cs typeface="Arial"/>
              <a:sym typeface="Arial"/>
            </a:endParaRPr>
          </a:p>
        </p:txBody>
      </p:sp>
      <p:cxnSp>
        <p:nvCxnSpPr>
          <p:cNvPr id="343" name="Google Shape;343;p29"/>
          <p:cNvCxnSpPr>
            <a:endCxn id="337" idx="1"/>
          </p:cNvCxnSpPr>
          <p:nvPr/>
        </p:nvCxnSpPr>
        <p:spPr>
          <a:xfrm>
            <a:off x="1953487" y="1750135"/>
            <a:ext cx="905400" cy="0"/>
          </a:xfrm>
          <a:prstGeom prst="straightConnector1">
            <a:avLst/>
          </a:prstGeom>
          <a:noFill/>
          <a:ln cap="flat" cmpd="sng" w="9525">
            <a:solidFill>
              <a:schemeClr val="dk2"/>
            </a:solidFill>
            <a:prstDash val="dash"/>
            <a:round/>
            <a:headEnd len="sm" w="sm" type="none"/>
            <a:tailEnd len="sm" w="sm" type="none"/>
          </a:ln>
        </p:spPr>
      </p:cxnSp>
      <p:sp>
        <p:nvSpPr>
          <p:cNvPr id="344" name="Google Shape;344;p29"/>
          <p:cNvSpPr txBox="1"/>
          <p:nvPr/>
        </p:nvSpPr>
        <p:spPr>
          <a:xfrm>
            <a:off x="2016321" y="1442024"/>
            <a:ext cx="1631400" cy="81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434343"/>
                </a:solidFill>
                <a:latin typeface="Arial"/>
                <a:ea typeface="Arial"/>
                <a:cs typeface="Arial"/>
                <a:sym typeface="Arial"/>
              </a:rPr>
              <a:t>FFI tests</a:t>
            </a:r>
            <a:endParaRPr b="0" i="0" sz="1200" u="none" cap="none" strike="noStrike">
              <a:solidFill>
                <a:srgbClr val="434343"/>
              </a:solidFill>
              <a:latin typeface="Arial"/>
              <a:ea typeface="Arial"/>
              <a:cs typeface="Arial"/>
              <a:sym typeface="Arial"/>
            </a:endParaRPr>
          </a:p>
        </p:txBody>
      </p:sp>
      <p:sp>
        <p:nvSpPr>
          <p:cNvPr id="345" name="Google Shape;345;p29"/>
          <p:cNvSpPr txBox="1"/>
          <p:nvPr/>
        </p:nvSpPr>
        <p:spPr>
          <a:xfrm>
            <a:off x="2368446" y="2322335"/>
            <a:ext cx="6321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Arial"/>
              <a:ea typeface="Arial"/>
              <a:cs typeface="Arial"/>
              <a:sym typeface="Arial"/>
            </a:endParaRPr>
          </a:p>
        </p:txBody>
      </p:sp>
      <p:sp>
        <p:nvSpPr>
          <p:cNvPr id="346" name="Google Shape;346;p29"/>
          <p:cNvSpPr/>
          <p:nvPr/>
        </p:nvSpPr>
        <p:spPr>
          <a:xfrm>
            <a:off x="532371" y="3491804"/>
            <a:ext cx="3282300" cy="461700"/>
          </a:xfrm>
          <a:prstGeom prst="rect">
            <a:avLst/>
          </a:prstGeom>
          <a:solidFill>
            <a:srgbClr val="BDD5E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DTB/Firmware/Bootloader fault injection tests</a:t>
            </a:r>
            <a:endParaRPr b="0" i="0" sz="1400" u="none" cap="none" strike="noStrike">
              <a:solidFill>
                <a:srgbClr val="000000"/>
              </a:solidFill>
              <a:latin typeface="Arial"/>
              <a:ea typeface="Arial"/>
              <a:cs typeface="Arial"/>
              <a:sym typeface="Arial"/>
            </a:endParaRPr>
          </a:p>
        </p:txBody>
      </p:sp>
      <p:sp>
        <p:nvSpPr>
          <p:cNvPr id="347" name="Google Shape;347;p29"/>
          <p:cNvSpPr txBox="1"/>
          <p:nvPr/>
        </p:nvSpPr>
        <p:spPr>
          <a:xfrm>
            <a:off x="897079" y="3152343"/>
            <a:ext cx="3370200" cy="81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434343"/>
                </a:solidFill>
                <a:latin typeface="Arial"/>
                <a:ea typeface="Arial"/>
                <a:cs typeface="Arial"/>
                <a:sym typeface="Arial"/>
              </a:rPr>
              <a:t>Xen/Bootloader/Firmware interface tests</a:t>
            </a:r>
            <a:endParaRPr b="0" i="0" sz="1200" u="none" cap="none" strike="noStrike">
              <a:solidFill>
                <a:srgbClr val="434343"/>
              </a:solidFill>
              <a:latin typeface="Arial"/>
              <a:ea typeface="Arial"/>
              <a:cs typeface="Arial"/>
              <a:sym typeface="Arial"/>
            </a:endParaRPr>
          </a:p>
        </p:txBody>
      </p:sp>
      <p:sp>
        <p:nvSpPr>
          <p:cNvPr id="348" name="Google Shape;348;p29"/>
          <p:cNvSpPr/>
          <p:nvPr/>
        </p:nvSpPr>
        <p:spPr>
          <a:xfrm>
            <a:off x="544946" y="4108104"/>
            <a:ext cx="7721700" cy="4401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Qemu/Hardware</a:t>
            </a:r>
            <a:endParaRPr b="0" i="0" sz="1400" u="none" cap="none" strike="noStrike">
              <a:solidFill>
                <a:srgbClr val="000000"/>
              </a:solidFill>
              <a:latin typeface="Arial"/>
              <a:ea typeface="Arial"/>
              <a:cs typeface="Arial"/>
              <a:sym typeface="Arial"/>
            </a:endParaRPr>
          </a:p>
        </p:txBody>
      </p:sp>
      <p:sp>
        <p:nvSpPr>
          <p:cNvPr id="349" name="Google Shape;349;p29"/>
          <p:cNvSpPr txBox="1"/>
          <p:nvPr/>
        </p:nvSpPr>
        <p:spPr>
          <a:xfrm>
            <a:off x="4080246" y="3141238"/>
            <a:ext cx="3370200" cy="81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434343"/>
                </a:solidFill>
                <a:latin typeface="Arial"/>
                <a:ea typeface="Arial"/>
                <a:cs typeface="Arial"/>
                <a:sym typeface="Arial"/>
              </a:rPr>
              <a:t>Xen/hardware  interface tests</a:t>
            </a:r>
            <a:endParaRPr b="0" i="0" sz="1200" u="none" cap="none" strike="noStrike">
              <a:solidFill>
                <a:srgbClr val="434343"/>
              </a:solidFill>
              <a:latin typeface="Arial"/>
              <a:ea typeface="Arial"/>
              <a:cs typeface="Arial"/>
              <a:sym typeface="Arial"/>
            </a:endParaRPr>
          </a:p>
        </p:txBody>
      </p:sp>
      <p:cxnSp>
        <p:nvCxnSpPr>
          <p:cNvPr id="350" name="Google Shape;350;p29"/>
          <p:cNvCxnSpPr/>
          <p:nvPr/>
        </p:nvCxnSpPr>
        <p:spPr>
          <a:xfrm>
            <a:off x="5172846" y="3542179"/>
            <a:ext cx="0" cy="465300"/>
          </a:xfrm>
          <a:prstGeom prst="straightConnector1">
            <a:avLst/>
          </a:prstGeom>
          <a:noFill/>
          <a:ln cap="flat" cmpd="sng" w="9525">
            <a:solidFill>
              <a:schemeClr val="dk2"/>
            </a:solidFill>
            <a:prstDash val="solid"/>
            <a:round/>
            <a:headEnd len="med" w="med" type="stealth"/>
            <a:tailEnd len="med" w="med" type="stealth"/>
          </a:ln>
        </p:spPr>
      </p:cxnSp>
      <p:sp>
        <p:nvSpPr>
          <p:cNvPr id="351" name="Google Shape;351;p29"/>
          <p:cNvSpPr txBox="1"/>
          <p:nvPr/>
        </p:nvSpPr>
        <p:spPr>
          <a:xfrm>
            <a:off x="6708505" y="4070370"/>
            <a:ext cx="1939800" cy="2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434343"/>
                </a:solidFill>
                <a:latin typeface="Arial"/>
                <a:ea typeface="Arial"/>
                <a:cs typeface="Arial"/>
                <a:sym typeface="Arial"/>
              </a:rPr>
              <a:t>Hardware based fault injection</a:t>
            </a:r>
            <a:endParaRPr b="0" i="0" sz="1100" u="none" cap="none" strike="noStrike">
              <a:solidFill>
                <a:srgbClr val="434343"/>
              </a:solidFill>
              <a:latin typeface="Arial"/>
              <a:ea typeface="Arial"/>
              <a:cs typeface="Arial"/>
              <a:sym typeface="Arial"/>
            </a:endParaRPr>
          </a:p>
        </p:txBody>
      </p:sp>
      <p:cxnSp>
        <p:nvCxnSpPr>
          <p:cNvPr id="352" name="Google Shape;352;p29"/>
          <p:cNvCxnSpPr/>
          <p:nvPr/>
        </p:nvCxnSpPr>
        <p:spPr>
          <a:xfrm rot="10800000">
            <a:off x="7021496" y="3328379"/>
            <a:ext cx="0" cy="792300"/>
          </a:xfrm>
          <a:prstGeom prst="straightConnector1">
            <a:avLst/>
          </a:prstGeom>
          <a:noFill/>
          <a:ln cap="flat" cmpd="sng" w="9525">
            <a:solidFill>
              <a:srgbClr val="FF0000"/>
            </a:solidFill>
            <a:prstDash val="solid"/>
            <a:round/>
            <a:headEnd len="sm" w="sm" type="none"/>
            <a:tailEnd len="med" w="med" type="triangle"/>
          </a:ln>
        </p:spPr>
      </p:cxnSp>
      <p:cxnSp>
        <p:nvCxnSpPr>
          <p:cNvPr id="353" name="Google Shape;353;p29"/>
          <p:cNvCxnSpPr/>
          <p:nvPr/>
        </p:nvCxnSpPr>
        <p:spPr>
          <a:xfrm rot="10800000">
            <a:off x="7830796" y="3326504"/>
            <a:ext cx="0" cy="792300"/>
          </a:xfrm>
          <a:prstGeom prst="straightConnector1">
            <a:avLst/>
          </a:prstGeom>
          <a:noFill/>
          <a:ln cap="flat" cmpd="sng" w="9525">
            <a:solidFill>
              <a:srgbClr val="FF0000"/>
            </a:solidFill>
            <a:prstDash val="solid"/>
            <a:round/>
            <a:headEnd len="sm" w="sm" type="none"/>
            <a:tailEnd len="med" w="med" type="triangle"/>
          </a:ln>
        </p:spPr>
      </p:cxnSp>
      <p:sp>
        <p:nvSpPr>
          <p:cNvPr id="354" name="Google Shape;354;p29"/>
          <p:cNvSpPr/>
          <p:nvPr/>
        </p:nvSpPr>
        <p:spPr>
          <a:xfrm>
            <a:off x="607840" y="2888229"/>
            <a:ext cx="1094100" cy="264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Mem alloc</a:t>
            </a:r>
            <a:endParaRPr b="0" i="0" sz="1400" u="none" cap="none" strike="noStrike">
              <a:solidFill>
                <a:srgbClr val="000000"/>
              </a:solidFill>
              <a:latin typeface="Arial"/>
              <a:ea typeface="Arial"/>
              <a:cs typeface="Arial"/>
              <a:sym typeface="Arial"/>
            </a:endParaRPr>
          </a:p>
        </p:txBody>
      </p:sp>
      <p:sp>
        <p:nvSpPr>
          <p:cNvPr id="355" name="Google Shape;355;p29"/>
          <p:cNvSpPr/>
          <p:nvPr/>
        </p:nvSpPr>
        <p:spPr>
          <a:xfrm>
            <a:off x="2835246" y="2889719"/>
            <a:ext cx="1094100" cy="264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Scheduler</a:t>
            </a:r>
            <a:endParaRPr b="0" i="0" sz="1400" u="none" cap="none" strike="noStrike">
              <a:solidFill>
                <a:srgbClr val="000000"/>
              </a:solidFill>
              <a:latin typeface="Arial"/>
              <a:ea typeface="Arial"/>
              <a:cs typeface="Arial"/>
              <a:sym typeface="Arial"/>
            </a:endParaRPr>
          </a:p>
        </p:txBody>
      </p:sp>
      <p:cxnSp>
        <p:nvCxnSpPr>
          <p:cNvPr id="356" name="Google Shape;356;p29"/>
          <p:cNvCxnSpPr>
            <a:stCxn id="354" idx="3"/>
            <a:endCxn id="355" idx="1"/>
          </p:cNvCxnSpPr>
          <p:nvPr/>
        </p:nvCxnSpPr>
        <p:spPr>
          <a:xfrm>
            <a:off x="1701940" y="3020229"/>
            <a:ext cx="1133400" cy="1500"/>
          </a:xfrm>
          <a:prstGeom prst="straightConnector1">
            <a:avLst/>
          </a:prstGeom>
          <a:noFill/>
          <a:ln cap="flat" cmpd="sng" w="9525">
            <a:solidFill>
              <a:schemeClr val="dk2"/>
            </a:solidFill>
            <a:prstDash val="dash"/>
            <a:round/>
            <a:headEnd len="sm" w="sm" type="none"/>
            <a:tailEnd len="sm" w="sm" type="none"/>
          </a:ln>
        </p:spPr>
      </p:cxnSp>
      <p:sp>
        <p:nvSpPr>
          <p:cNvPr id="357" name="Google Shape;357;p29"/>
          <p:cNvSpPr txBox="1"/>
          <p:nvPr/>
        </p:nvSpPr>
        <p:spPr>
          <a:xfrm>
            <a:off x="1525852" y="2661865"/>
            <a:ext cx="6874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434343"/>
                </a:solidFill>
                <a:latin typeface="Arial"/>
                <a:ea typeface="Arial"/>
                <a:cs typeface="Arial"/>
                <a:sym typeface="Arial"/>
              </a:rPr>
              <a:t>Internal interface tests</a:t>
            </a:r>
            <a:endParaRPr b="0" i="0" sz="1000" u="none" cap="none" strike="noStrike">
              <a:solidFill>
                <a:srgbClr val="434343"/>
              </a:solidFill>
              <a:latin typeface="Arial"/>
              <a:ea typeface="Arial"/>
              <a:cs typeface="Arial"/>
              <a:sym typeface="Arial"/>
            </a:endParaRPr>
          </a:p>
        </p:txBody>
      </p:sp>
      <p:cxnSp>
        <p:nvCxnSpPr>
          <p:cNvPr id="358" name="Google Shape;358;p29"/>
          <p:cNvCxnSpPr/>
          <p:nvPr/>
        </p:nvCxnSpPr>
        <p:spPr>
          <a:xfrm flipH="1" rot="10800000">
            <a:off x="3952996" y="3001404"/>
            <a:ext cx="377400" cy="12600"/>
          </a:xfrm>
          <a:prstGeom prst="straightConnector1">
            <a:avLst/>
          </a:prstGeom>
          <a:noFill/>
          <a:ln cap="flat" cmpd="sng" w="9525">
            <a:solidFill>
              <a:schemeClr val="dk2"/>
            </a:solidFill>
            <a:prstDash val="dash"/>
            <a:round/>
            <a:headEnd len="sm" w="sm" type="none"/>
            <a:tailEnd len="sm" w="sm" type="none"/>
          </a:ln>
        </p:spPr>
      </p:cxnSp>
      <p:sp>
        <p:nvSpPr>
          <p:cNvPr id="359" name="Google Shape;359;p29"/>
          <p:cNvSpPr/>
          <p:nvPr/>
        </p:nvSpPr>
        <p:spPr>
          <a:xfrm>
            <a:off x="6933568" y="2924204"/>
            <a:ext cx="1249500" cy="264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Trap handler</a:t>
            </a:r>
            <a:endParaRPr b="0" i="0" sz="1400" u="none" cap="none" strike="noStrike">
              <a:solidFill>
                <a:srgbClr val="000000"/>
              </a:solidFill>
              <a:latin typeface="Arial"/>
              <a:ea typeface="Arial"/>
              <a:cs typeface="Arial"/>
              <a:sym typeface="Arial"/>
            </a:endParaRPr>
          </a:p>
        </p:txBody>
      </p:sp>
      <p:cxnSp>
        <p:nvCxnSpPr>
          <p:cNvPr id="360" name="Google Shape;360;p29"/>
          <p:cNvCxnSpPr/>
          <p:nvPr/>
        </p:nvCxnSpPr>
        <p:spPr>
          <a:xfrm flipH="1">
            <a:off x="6531040" y="3056204"/>
            <a:ext cx="364800" cy="8100"/>
          </a:xfrm>
          <a:prstGeom prst="straightConnector1">
            <a:avLst/>
          </a:prstGeom>
          <a:noFill/>
          <a:ln cap="flat" cmpd="sng" w="9525">
            <a:solidFill>
              <a:schemeClr val="dk2"/>
            </a:solidFill>
            <a:prstDash val="dash"/>
            <a:round/>
            <a:headEnd len="sm" w="sm" type="none"/>
            <a:tailEnd len="sm" w="sm" type="none"/>
          </a:ln>
        </p:spPr>
      </p:cxnSp>
      <p:sp>
        <p:nvSpPr>
          <p:cNvPr id="361" name="Google Shape;361;p29"/>
          <p:cNvSpPr/>
          <p:nvPr/>
        </p:nvSpPr>
        <p:spPr>
          <a:xfrm>
            <a:off x="5851947" y="913831"/>
            <a:ext cx="504738" cy="1722924"/>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9"/>
          <p:cNvSpPr txBox="1"/>
          <p:nvPr/>
        </p:nvSpPr>
        <p:spPr>
          <a:xfrm>
            <a:off x="5801638" y="712616"/>
            <a:ext cx="592500" cy="2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434343"/>
                </a:solidFill>
                <a:latin typeface="Arial"/>
                <a:ea typeface="Arial"/>
                <a:cs typeface="Arial"/>
                <a:sym typeface="Arial"/>
              </a:rPr>
              <a:t>Fuzz</a:t>
            </a:r>
            <a:endParaRPr b="0" i="0" sz="1200" u="none" cap="none" strike="noStrike">
              <a:solidFill>
                <a:srgbClr val="434343"/>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0"/>
          <p:cNvSpPr txBox="1"/>
          <p:nvPr>
            <p:ph type="title"/>
          </p:nvPr>
        </p:nvSpPr>
        <p:spPr>
          <a:xfrm>
            <a:off x="311700" y="117800"/>
            <a:ext cx="88323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Domain based Tests/SSR tests/Xen domain interface</a:t>
            </a:r>
            <a:endParaRPr/>
          </a:p>
        </p:txBody>
      </p:sp>
      <p:sp>
        <p:nvSpPr>
          <p:cNvPr id="368" name="Google Shape;368;p30"/>
          <p:cNvSpPr txBox="1"/>
          <p:nvPr>
            <p:ph idx="1" type="body"/>
          </p:nvPr>
        </p:nvSpPr>
        <p:spPr>
          <a:xfrm>
            <a:off x="311700" y="750050"/>
            <a:ext cx="8520600" cy="3050100"/>
          </a:xfrm>
          <a:prstGeom prst="rect">
            <a:avLst/>
          </a:prstGeom>
          <a:noFill/>
          <a:ln>
            <a:noFill/>
          </a:ln>
        </p:spPr>
        <p:txBody>
          <a:bodyPr anchorCtr="0" anchor="t" bIns="91425" lIns="91425" spcFirstLastPara="1" rIns="91425" wrap="square" tIns="91425">
            <a:noAutofit/>
          </a:bodyPr>
          <a:lstStyle/>
          <a:p>
            <a:pPr indent="0" lvl="0" marL="114300" rtl="0" algn="l">
              <a:lnSpc>
                <a:spcPct val="114000"/>
              </a:lnSpc>
              <a:spcBef>
                <a:spcPts val="0"/>
              </a:spcBef>
              <a:spcAft>
                <a:spcPts val="0"/>
              </a:spcAft>
              <a:buSzPts val="1800"/>
              <a:buNone/>
            </a:pPr>
            <a:r>
              <a:rPr lang="en-GB" sz="1500"/>
              <a:t>Domain based tests are used to verify the blackbox requirements or perform fault injection from domain</a:t>
            </a:r>
            <a:endParaRPr sz="1500"/>
          </a:p>
          <a:p>
            <a:pPr indent="457200" lvl="0" marL="0" rtl="0" algn="l">
              <a:lnSpc>
                <a:spcPct val="114000"/>
              </a:lnSpc>
              <a:spcBef>
                <a:spcPts val="0"/>
              </a:spcBef>
              <a:spcAft>
                <a:spcPts val="0"/>
              </a:spcAft>
              <a:buSzPts val="1800"/>
              <a:buNone/>
            </a:pPr>
            <a:r>
              <a:rPr lang="en-GB"/>
              <a:t>For eg - </a:t>
            </a:r>
            <a:r>
              <a:rPr lang="en-GB" sz="1400"/>
              <a:t>Xen shall support transmission of data in polling mode for the domain. </a:t>
            </a:r>
            <a:endParaRPr sz="1400"/>
          </a:p>
          <a:p>
            <a:pPr indent="0" lvl="0" marL="114300" rtl="0" algn="l">
              <a:lnSpc>
                <a:spcPct val="114000"/>
              </a:lnSpc>
              <a:spcBef>
                <a:spcPts val="0"/>
              </a:spcBef>
              <a:spcAft>
                <a:spcPts val="0"/>
              </a:spcAft>
              <a:buSzPts val="1800"/>
              <a:buNone/>
            </a:pPr>
            <a:r>
              <a:t/>
            </a:r>
            <a:endParaRPr/>
          </a:p>
          <a:p>
            <a:pPr indent="0" lvl="0" marL="114300" rtl="0" algn="l">
              <a:lnSpc>
                <a:spcPct val="114000"/>
              </a:lnSpc>
              <a:spcBef>
                <a:spcPts val="0"/>
              </a:spcBef>
              <a:spcAft>
                <a:spcPts val="0"/>
              </a:spcAft>
              <a:buSzPts val="1800"/>
              <a:buNone/>
            </a:pPr>
            <a:r>
              <a:t/>
            </a:r>
            <a:endParaRPr/>
          </a:p>
          <a:p>
            <a:pPr indent="0" lvl="0" marL="114300" rtl="0" algn="l">
              <a:lnSpc>
                <a:spcPct val="114000"/>
              </a:lnSpc>
              <a:spcBef>
                <a:spcPts val="0"/>
              </a:spcBef>
              <a:spcAft>
                <a:spcPts val="0"/>
              </a:spcAft>
              <a:buSzPts val="1800"/>
              <a:buNone/>
            </a:pPr>
            <a:r>
              <a:t/>
            </a:r>
            <a:endParaRPr/>
          </a:p>
          <a:p>
            <a:pPr indent="0" lvl="0" marL="114300" rtl="0" algn="l">
              <a:lnSpc>
                <a:spcPct val="114000"/>
              </a:lnSpc>
              <a:spcBef>
                <a:spcPts val="0"/>
              </a:spcBef>
              <a:spcAft>
                <a:spcPts val="0"/>
              </a:spcAft>
              <a:buSzPts val="1800"/>
              <a:buNone/>
            </a:pPr>
            <a:r>
              <a:t/>
            </a:r>
            <a:endParaRPr/>
          </a:p>
          <a:p>
            <a:pPr indent="0" lvl="0" marL="114300" rtl="0" algn="l">
              <a:lnSpc>
                <a:spcPct val="114000"/>
              </a:lnSpc>
              <a:spcBef>
                <a:spcPts val="0"/>
              </a:spcBef>
              <a:spcAft>
                <a:spcPts val="0"/>
              </a:spcAft>
              <a:buSzPts val="1800"/>
              <a:buNone/>
            </a:pPr>
            <a:r>
              <a:t/>
            </a:r>
            <a:endParaRPr/>
          </a:p>
          <a:p>
            <a:pPr indent="0" lvl="0" marL="114300" rtl="0" algn="l">
              <a:lnSpc>
                <a:spcPct val="114000"/>
              </a:lnSpc>
              <a:spcBef>
                <a:spcPts val="0"/>
              </a:spcBef>
              <a:spcAft>
                <a:spcPts val="0"/>
              </a:spcAft>
              <a:buSzPts val="1800"/>
              <a:buNone/>
            </a:pPr>
            <a:r>
              <a:t/>
            </a:r>
            <a:endParaRPr/>
          </a:p>
          <a:p>
            <a:pPr indent="0" lvl="0" marL="114300" rtl="0" algn="l">
              <a:lnSpc>
                <a:spcPct val="114000"/>
              </a:lnSpc>
              <a:spcBef>
                <a:spcPts val="0"/>
              </a:spcBef>
              <a:spcAft>
                <a:spcPts val="0"/>
              </a:spcAft>
              <a:buSzPts val="1800"/>
              <a:buNone/>
            </a:pPr>
            <a:r>
              <a:t/>
            </a:r>
            <a:endParaRPr/>
          </a:p>
          <a:p>
            <a:pPr indent="0" lvl="0" marL="114300" rtl="0" algn="l">
              <a:lnSpc>
                <a:spcPct val="114000"/>
              </a:lnSpc>
              <a:spcBef>
                <a:spcPts val="0"/>
              </a:spcBef>
              <a:spcAft>
                <a:spcPts val="0"/>
              </a:spcAft>
              <a:buSzPts val="1800"/>
              <a:buNone/>
            </a:pPr>
            <a:r>
              <a:rPr lang="en-GB" sz="1500"/>
              <a:t>Pros - Xen is unmodified. It is tested in the way it will be used in production.</a:t>
            </a:r>
            <a:endParaRPr sz="1500"/>
          </a:p>
          <a:p>
            <a:pPr indent="0" lvl="0" marL="114300" rtl="0" algn="l">
              <a:lnSpc>
                <a:spcPct val="114000"/>
              </a:lnSpc>
              <a:spcBef>
                <a:spcPts val="0"/>
              </a:spcBef>
              <a:spcAft>
                <a:spcPts val="0"/>
              </a:spcAft>
              <a:buSzPts val="1800"/>
              <a:buNone/>
            </a:pPr>
            <a:r>
              <a:rPr lang="en-GB" sz="1500"/>
              <a:t>Cons - The tests are relatively high level. They can test a lot of code together.</a:t>
            </a:r>
            <a:endParaRPr sz="1500"/>
          </a:p>
          <a:p>
            <a:pPr indent="0" lvl="0" marL="114300" rtl="0" algn="l">
              <a:lnSpc>
                <a:spcPct val="114000"/>
              </a:lnSpc>
              <a:spcBef>
                <a:spcPts val="0"/>
              </a:spcBef>
              <a:spcAft>
                <a:spcPts val="0"/>
              </a:spcAft>
              <a:buSzPts val="1800"/>
              <a:buNone/>
            </a:pPr>
            <a:r>
              <a:t/>
            </a:r>
            <a:endParaRPr/>
          </a:p>
          <a:p>
            <a:pPr indent="0" lvl="0" marL="114300" rtl="0" algn="l">
              <a:lnSpc>
                <a:spcPct val="114000"/>
              </a:lnSpc>
              <a:spcBef>
                <a:spcPts val="0"/>
              </a:spcBef>
              <a:spcAft>
                <a:spcPts val="0"/>
              </a:spcAft>
              <a:buSzPts val="1800"/>
              <a:buNone/>
            </a:pPr>
            <a:r>
              <a:t/>
            </a:r>
            <a:endParaRPr/>
          </a:p>
          <a:p>
            <a:pPr indent="0" lvl="0" marL="0" rtl="0" algn="l">
              <a:lnSpc>
                <a:spcPct val="114000"/>
              </a:lnSpc>
              <a:spcBef>
                <a:spcPts val="0"/>
              </a:spcBef>
              <a:spcAft>
                <a:spcPts val="0"/>
              </a:spcAft>
              <a:buSzPts val="1800"/>
              <a:buNone/>
            </a:pPr>
            <a:r>
              <a:t/>
            </a:r>
            <a:endParaRPr/>
          </a:p>
        </p:txBody>
      </p:sp>
      <p:sp>
        <p:nvSpPr>
          <p:cNvPr id="369" name="Google Shape;369;p30"/>
          <p:cNvSpPr/>
          <p:nvPr/>
        </p:nvSpPr>
        <p:spPr>
          <a:xfrm>
            <a:off x="595250" y="2448110"/>
            <a:ext cx="4263300" cy="118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30"/>
          <p:cNvSpPr/>
          <p:nvPr/>
        </p:nvSpPr>
        <p:spPr>
          <a:xfrm>
            <a:off x="2035100" y="2473235"/>
            <a:ext cx="1383600" cy="114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Emulated UART</a:t>
            </a:r>
            <a:endParaRPr b="0" i="0" sz="1400" u="none" cap="none" strike="noStrike">
              <a:solidFill>
                <a:srgbClr val="000000"/>
              </a:solidFill>
              <a:latin typeface="Arial"/>
              <a:ea typeface="Arial"/>
              <a:cs typeface="Arial"/>
              <a:sym typeface="Arial"/>
            </a:endParaRPr>
          </a:p>
        </p:txBody>
      </p:sp>
      <p:sp>
        <p:nvSpPr>
          <p:cNvPr id="371" name="Google Shape;371;p30"/>
          <p:cNvSpPr txBox="1"/>
          <p:nvPr/>
        </p:nvSpPr>
        <p:spPr>
          <a:xfrm>
            <a:off x="950100" y="2814625"/>
            <a:ext cx="7243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434343"/>
                </a:solidFill>
                <a:latin typeface="Arial"/>
                <a:ea typeface="Arial"/>
                <a:cs typeface="Arial"/>
                <a:sym typeface="Arial"/>
              </a:rPr>
              <a:t>Xen</a:t>
            </a:r>
            <a:endParaRPr b="0" i="0" sz="1800" u="none" cap="none" strike="noStrike">
              <a:solidFill>
                <a:srgbClr val="434343"/>
              </a:solidFill>
              <a:latin typeface="Arial"/>
              <a:ea typeface="Arial"/>
              <a:cs typeface="Arial"/>
              <a:sym typeface="Arial"/>
            </a:endParaRPr>
          </a:p>
        </p:txBody>
      </p:sp>
      <p:sp>
        <p:nvSpPr>
          <p:cNvPr id="372" name="Google Shape;372;p30"/>
          <p:cNvSpPr/>
          <p:nvPr/>
        </p:nvSpPr>
        <p:spPr>
          <a:xfrm>
            <a:off x="3474950" y="2473235"/>
            <a:ext cx="1383600" cy="114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Trap/Exception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handler</a:t>
            </a:r>
            <a:endParaRPr b="0" i="0" sz="1400" u="none" cap="none" strike="noStrike">
              <a:solidFill>
                <a:srgbClr val="000000"/>
              </a:solidFill>
              <a:latin typeface="Arial"/>
              <a:ea typeface="Arial"/>
              <a:cs typeface="Arial"/>
              <a:sym typeface="Arial"/>
            </a:endParaRPr>
          </a:p>
        </p:txBody>
      </p:sp>
      <p:sp>
        <p:nvSpPr>
          <p:cNvPr id="373" name="Google Shape;373;p30"/>
          <p:cNvSpPr/>
          <p:nvPr/>
        </p:nvSpPr>
        <p:spPr>
          <a:xfrm>
            <a:off x="6493300" y="2454485"/>
            <a:ext cx="1735500" cy="11820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Linux/Zephyr/XTF as domain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with UART driver and application</a:t>
            </a:r>
            <a:endParaRPr b="0" i="0" sz="1400" u="none" cap="none" strike="noStrike">
              <a:solidFill>
                <a:srgbClr val="000000"/>
              </a:solidFill>
              <a:latin typeface="Arial"/>
              <a:ea typeface="Arial"/>
              <a:cs typeface="Arial"/>
              <a:sym typeface="Arial"/>
            </a:endParaRPr>
          </a:p>
        </p:txBody>
      </p:sp>
      <p:cxnSp>
        <p:nvCxnSpPr>
          <p:cNvPr id="374" name="Google Shape;374;p30"/>
          <p:cNvCxnSpPr>
            <a:stCxn id="373" idx="1"/>
            <a:endCxn id="372" idx="3"/>
          </p:cNvCxnSpPr>
          <p:nvPr/>
        </p:nvCxnSpPr>
        <p:spPr>
          <a:xfrm rot="10800000">
            <a:off x="4858600" y="3045485"/>
            <a:ext cx="1634700" cy="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1"/>
          <p:cNvSpPr txBox="1"/>
          <p:nvPr>
            <p:ph type="title"/>
          </p:nvPr>
        </p:nvSpPr>
        <p:spPr>
          <a:xfrm>
            <a:off x="311700" y="1558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Xen/HW interface Test</a:t>
            </a:r>
            <a:endParaRPr/>
          </a:p>
        </p:txBody>
      </p:sp>
      <p:sp>
        <p:nvSpPr>
          <p:cNvPr id="380" name="Google Shape;380;p31"/>
          <p:cNvSpPr txBox="1"/>
          <p:nvPr>
            <p:ph idx="1" type="body"/>
          </p:nvPr>
        </p:nvSpPr>
        <p:spPr>
          <a:xfrm>
            <a:off x="223675" y="812925"/>
            <a:ext cx="8520600" cy="3050100"/>
          </a:xfrm>
          <a:prstGeom prst="rect">
            <a:avLst/>
          </a:prstGeom>
          <a:noFill/>
          <a:ln>
            <a:noFill/>
          </a:ln>
        </p:spPr>
        <p:txBody>
          <a:bodyPr anchorCtr="0" anchor="t" bIns="91425" lIns="91425" spcFirstLastPara="1" rIns="91425" wrap="square" tIns="91425">
            <a:noAutofit/>
          </a:bodyPr>
          <a:lstStyle/>
          <a:p>
            <a:pPr indent="0" lvl="0" marL="0" rtl="0" algn="l">
              <a:lnSpc>
                <a:spcPct val="114000"/>
              </a:lnSpc>
              <a:spcBef>
                <a:spcPts val="0"/>
              </a:spcBef>
              <a:spcAft>
                <a:spcPts val="0"/>
              </a:spcAft>
              <a:buSzPts val="1800"/>
              <a:buNone/>
            </a:pPr>
            <a:r>
              <a:rPr lang="en-GB" sz="1500"/>
              <a:t>The test aims to validate Xen’s configuration of the hardware. For eg Xen’s GICv3 driver should be able to generate software generated interrupt</a:t>
            </a:r>
            <a:endParaRPr sz="1500"/>
          </a:p>
          <a:p>
            <a:pPr indent="0" lvl="0" marL="0" rtl="0" algn="l">
              <a:lnSpc>
                <a:spcPct val="114000"/>
              </a:lnSpc>
              <a:spcBef>
                <a:spcPts val="0"/>
              </a:spcBef>
              <a:spcAft>
                <a:spcPts val="0"/>
              </a:spcAft>
              <a:buSzPts val="1800"/>
              <a:buNone/>
            </a:pPr>
            <a:r>
              <a:rPr lang="en-GB" sz="1500"/>
              <a:t>For this, we introduce self tests within Xen. </a:t>
            </a:r>
            <a:endParaRPr sz="1500"/>
          </a:p>
          <a:p>
            <a:pPr indent="0" lvl="0" marL="0" rtl="0" algn="l">
              <a:lnSpc>
                <a:spcPct val="114000"/>
              </a:lnSpc>
              <a:spcBef>
                <a:spcPts val="0"/>
              </a:spcBef>
              <a:spcAft>
                <a:spcPts val="0"/>
              </a:spcAft>
              <a:buSzPts val="1800"/>
              <a:buNone/>
            </a:pPr>
            <a:r>
              <a:t/>
            </a:r>
            <a:endParaRPr/>
          </a:p>
          <a:p>
            <a:pPr indent="0" lvl="0" marL="0" rtl="0" algn="l">
              <a:lnSpc>
                <a:spcPct val="114000"/>
              </a:lnSpc>
              <a:spcBef>
                <a:spcPts val="0"/>
              </a:spcBef>
              <a:spcAft>
                <a:spcPts val="0"/>
              </a:spcAft>
              <a:buSzPts val="1800"/>
              <a:buNone/>
            </a:pPr>
            <a:r>
              <a:t/>
            </a:r>
            <a:endParaRPr/>
          </a:p>
          <a:p>
            <a:pPr indent="0" lvl="0" marL="0" rtl="0" algn="l">
              <a:lnSpc>
                <a:spcPct val="114000"/>
              </a:lnSpc>
              <a:spcBef>
                <a:spcPts val="0"/>
              </a:spcBef>
              <a:spcAft>
                <a:spcPts val="0"/>
              </a:spcAft>
              <a:buSzPts val="1800"/>
              <a:buNone/>
            </a:pPr>
            <a:r>
              <a:t/>
            </a:r>
            <a:endParaRPr/>
          </a:p>
          <a:p>
            <a:pPr indent="0" lvl="0" marL="0" rtl="0" algn="l">
              <a:lnSpc>
                <a:spcPct val="114000"/>
              </a:lnSpc>
              <a:spcBef>
                <a:spcPts val="0"/>
              </a:spcBef>
              <a:spcAft>
                <a:spcPts val="0"/>
              </a:spcAft>
              <a:buSzPts val="1800"/>
              <a:buNone/>
            </a:pPr>
            <a:r>
              <a:t/>
            </a:r>
            <a:endParaRPr/>
          </a:p>
          <a:p>
            <a:pPr indent="0" lvl="0" marL="457200" rtl="0" algn="l">
              <a:lnSpc>
                <a:spcPct val="114000"/>
              </a:lnSpc>
              <a:spcBef>
                <a:spcPts val="0"/>
              </a:spcBef>
              <a:spcAft>
                <a:spcPts val="0"/>
              </a:spcAft>
              <a:buSzPts val="1800"/>
              <a:buNone/>
            </a:pPr>
            <a:r>
              <a:t/>
            </a:r>
            <a:endParaRPr/>
          </a:p>
          <a:p>
            <a:pPr indent="0" lvl="0" marL="457200" rtl="0" algn="l">
              <a:lnSpc>
                <a:spcPct val="114000"/>
              </a:lnSpc>
              <a:spcBef>
                <a:spcPts val="0"/>
              </a:spcBef>
              <a:spcAft>
                <a:spcPts val="0"/>
              </a:spcAft>
              <a:buSzPts val="1800"/>
              <a:buNone/>
            </a:pPr>
            <a:r>
              <a:t/>
            </a:r>
            <a:endParaRPr sz="1500"/>
          </a:p>
          <a:p>
            <a:pPr indent="-323850" lvl="0" marL="457200" rtl="0" algn="l">
              <a:lnSpc>
                <a:spcPct val="114000"/>
              </a:lnSpc>
              <a:spcBef>
                <a:spcPts val="0"/>
              </a:spcBef>
              <a:spcAft>
                <a:spcPts val="0"/>
              </a:spcAft>
              <a:buSzPts val="1500"/>
              <a:buChar char="●"/>
            </a:pPr>
            <a:r>
              <a:rPr lang="en-GB" sz="1500" u="sng">
                <a:solidFill>
                  <a:schemeClr val="hlink"/>
                </a:solidFill>
                <a:hlinkClick r:id="rId3"/>
              </a:rPr>
              <a:t>https://gitlab.com/xen-project/fusa/test_specifications/-/blob/master/hw_sw_interface/test0_sgi_gicv3.rst</a:t>
            </a:r>
            <a:endParaRPr sz="1500"/>
          </a:p>
          <a:p>
            <a:pPr indent="-323850" lvl="0" marL="457200" rtl="0" algn="l">
              <a:lnSpc>
                <a:spcPct val="114000"/>
              </a:lnSpc>
              <a:spcBef>
                <a:spcPts val="0"/>
              </a:spcBef>
              <a:spcAft>
                <a:spcPts val="0"/>
              </a:spcAft>
              <a:buSzPts val="1500"/>
              <a:buChar char="●"/>
            </a:pPr>
            <a:r>
              <a:rPr lang="en-GB" sz="1500" u="sng">
                <a:solidFill>
                  <a:schemeClr val="hlink"/>
                </a:solidFill>
                <a:hlinkClick r:id="rId4"/>
              </a:rPr>
              <a:t>https://lists.xenproject.org/archives/html/xen-devel/2025-09/msg00956.html</a:t>
            </a:r>
            <a:endParaRPr sz="1500"/>
          </a:p>
        </p:txBody>
      </p:sp>
      <p:sp>
        <p:nvSpPr>
          <p:cNvPr id="381" name="Google Shape;381;p31"/>
          <p:cNvSpPr/>
          <p:nvPr/>
        </p:nvSpPr>
        <p:spPr>
          <a:xfrm>
            <a:off x="419200" y="1828305"/>
            <a:ext cx="4602600" cy="14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Xen </a:t>
            </a:r>
            <a:endParaRPr b="0" i="0" sz="1400" u="none" cap="none" strike="noStrike">
              <a:solidFill>
                <a:srgbClr val="000000"/>
              </a:solidFill>
              <a:latin typeface="Arial"/>
              <a:ea typeface="Arial"/>
              <a:cs typeface="Arial"/>
              <a:sym typeface="Arial"/>
            </a:endParaRPr>
          </a:p>
        </p:txBody>
      </p:sp>
      <p:sp>
        <p:nvSpPr>
          <p:cNvPr id="382" name="Google Shape;382;p31"/>
          <p:cNvSpPr/>
          <p:nvPr/>
        </p:nvSpPr>
        <p:spPr>
          <a:xfrm>
            <a:off x="2280450" y="1930298"/>
            <a:ext cx="1207200" cy="120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GICv3 driver</a:t>
            </a:r>
            <a:endParaRPr b="0" i="0" sz="1400" u="none" cap="none" strike="noStrike">
              <a:solidFill>
                <a:srgbClr val="000000"/>
              </a:solidFill>
              <a:latin typeface="Arial"/>
              <a:ea typeface="Arial"/>
              <a:cs typeface="Arial"/>
              <a:sym typeface="Arial"/>
            </a:endParaRPr>
          </a:p>
        </p:txBody>
      </p:sp>
      <p:sp>
        <p:nvSpPr>
          <p:cNvPr id="383" name="Google Shape;383;p31"/>
          <p:cNvSpPr/>
          <p:nvPr/>
        </p:nvSpPr>
        <p:spPr>
          <a:xfrm>
            <a:off x="3814600" y="1930298"/>
            <a:ext cx="830100" cy="1207200"/>
          </a:xfrm>
          <a:prstGeom prst="rect">
            <a:avLst/>
          </a:prstGeom>
          <a:solidFill>
            <a:srgbClr val="FBFE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GICv3 Test</a:t>
            </a:r>
            <a:endParaRPr b="0" i="0" sz="1400" u="none" cap="none" strike="noStrike">
              <a:solidFill>
                <a:srgbClr val="000000"/>
              </a:solidFill>
              <a:latin typeface="Arial"/>
              <a:ea typeface="Arial"/>
              <a:cs typeface="Arial"/>
              <a:sym typeface="Arial"/>
            </a:endParaRPr>
          </a:p>
        </p:txBody>
      </p:sp>
      <p:cxnSp>
        <p:nvCxnSpPr>
          <p:cNvPr id="384" name="Google Shape;384;p31"/>
          <p:cNvCxnSpPr>
            <a:stCxn id="383" idx="1"/>
            <a:endCxn id="382" idx="3"/>
          </p:cNvCxnSpPr>
          <p:nvPr/>
        </p:nvCxnSpPr>
        <p:spPr>
          <a:xfrm rot="10800000">
            <a:off x="3487600" y="2533898"/>
            <a:ext cx="327000" cy="0"/>
          </a:xfrm>
          <a:prstGeom prst="straightConnector1">
            <a:avLst/>
          </a:prstGeom>
          <a:noFill/>
          <a:ln cap="flat" cmpd="sng" w="9525">
            <a:solidFill>
              <a:schemeClr val="dk2"/>
            </a:solidFill>
            <a:prstDash val="solid"/>
            <a:round/>
            <a:headEnd len="sm" w="sm" type="none"/>
            <a:tailEnd len="med" w="med" type="triangle"/>
          </a:ln>
        </p:spPr>
      </p:cxnSp>
      <p:sp>
        <p:nvSpPr>
          <p:cNvPr id="385" name="Google Shape;385;p31"/>
          <p:cNvSpPr txBox="1"/>
          <p:nvPr/>
        </p:nvSpPr>
        <p:spPr>
          <a:xfrm>
            <a:off x="5487250" y="1995350"/>
            <a:ext cx="3483600" cy="148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500" u="none" cap="none" strike="noStrike">
                <a:solidFill>
                  <a:srgbClr val="434343"/>
                </a:solidFill>
                <a:latin typeface="Arial"/>
                <a:ea typeface="Arial"/>
                <a:cs typeface="Arial"/>
                <a:sym typeface="Arial"/>
              </a:rPr>
              <a:t>The test can be compiled out in the production build</a:t>
            </a:r>
            <a:endParaRPr b="0" i="0" sz="15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500" u="none" cap="none" strike="noStrike">
                <a:solidFill>
                  <a:srgbClr val="434343"/>
                </a:solidFill>
                <a:latin typeface="Arial"/>
                <a:ea typeface="Arial"/>
                <a:cs typeface="Arial"/>
                <a:sym typeface="Arial"/>
              </a:rPr>
              <a:t>The test runs during boot time</a:t>
            </a:r>
            <a:endParaRPr b="0" i="0" sz="1500" u="none" cap="none" strike="noStrike">
              <a:solidFill>
                <a:srgbClr val="434343"/>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3"/>
          <p:cNvSpPr txBox="1"/>
          <p:nvPr>
            <p:ph type="title"/>
          </p:nvPr>
        </p:nvSpPr>
        <p:spPr>
          <a:xfrm>
            <a:off x="311700" y="1180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GDB based tests for internal interface</a:t>
            </a:r>
            <a:endParaRPr/>
          </a:p>
        </p:txBody>
      </p:sp>
      <p:sp>
        <p:nvSpPr>
          <p:cNvPr id="391" name="Google Shape;391;p33"/>
          <p:cNvSpPr txBox="1"/>
          <p:nvPr>
            <p:ph idx="1" type="body"/>
          </p:nvPr>
        </p:nvSpPr>
        <p:spPr>
          <a:xfrm>
            <a:off x="311700" y="762625"/>
            <a:ext cx="8520600" cy="3050100"/>
          </a:xfrm>
          <a:prstGeom prst="rect">
            <a:avLst/>
          </a:prstGeom>
          <a:noFill/>
          <a:ln>
            <a:noFill/>
          </a:ln>
        </p:spPr>
        <p:txBody>
          <a:bodyPr anchorCtr="0" anchor="t" bIns="91425" lIns="91425" spcFirstLastPara="1" rIns="91425" wrap="square" tIns="91425">
            <a:noAutofit/>
          </a:bodyPr>
          <a:lstStyle/>
          <a:p>
            <a:pPr indent="0" lvl="0" marL="0" rtl="0" algn="l">
              <a:lnSpc>
                <a:spcPct val="114000"/>
              </a:lnSpc>
              <a:spcBef>
                <a:spcPts val="0"/>
              </a:spcBef>
              <a:spcAft>
                <a:spcPts val="0"/>
              </a:spcAft>
              <a:buSzPts val="1800"/>
              <a:buNone/>
            </a:pPr>
            <a:r>
              <a:rPr lang="en-GB" sz="1500"/>
              <a:t>Xen has lots of internal components which invoke one other. We need a way to test the interface between the components. Also, we need a way to inspect the internal data structure and mock the error handling paths.</a:t>
            </a:r>
            <a:endParaRPr sz="1500"/>
          </a:p>
          <a:p>
            <a:pPr indent="0" lvl="0" marL="0" rtl="0" algn="l">
              <a:lnSpc>
                <a:spcPct val="114000"/>
              </a:lnSpc>
              <a:spcBef>
                <a:spcPts val="0"/>
              </a:spcBef>
              <a:spcAft>
                <a:spcPts val="0"/>
              </a:spcAft>
              <a:buSzPts val="1800"/>
              <a:buNone/>
            </a:pPr>
            <a:r>
              <a:t/>
            </a:r>
            <a:endParaRPr sz="1500"/>
          </a:p>
          <a:p>
            <a:pPr indent="0" lvl="0" marL="0" rtl="0" algn="l">
              <a:lnSpc>
                <a:spcPct val="114000"/>
              </a:lnSpc>
              <a:spcBef>
                <a:spcPts val="0"/>
              </a:spcBef>
              <a:spcAft>
                <a:spcPts val="0"/>
              </a:spcAft>
              <a:buSzPts val="1800"/>
              <a:buNone/>
            </a:pPr>
            <a:r>
              <a:t/>
            </a:r>
            <a:endParaRPr/>
          </a:p>
          <a:p>
            <a:pPr indent="0" lvl="0" marL="0" rtl="0" algn="l">
              <a:lnSpc>
                <a:spcPct val="114000"/>
              </a:lnSpc>
              <a:spcBef>
                <a:spcPts val="0"/>
              </a:spcBef>
              <a:spcAft>
                <a:spcPts val="0"/>
              </a:spcAft>
              <a:buSzPts val="1800"/>
              <a:buNone/>
            </a:pPr>
            <a:r>
              <a:t/>
            </a:r>
            <a:endParaRPr/>
          </a:p>
          <a:p>
            <a:pPr indent="0" lvl="0" marL="0" rtl="0" algn="l">
              <a:lnSpc>
                <a:spcPct val="114000"/>
              </a:lnSpc>
              <a:spcBef>
                <a:spcPts val="0"/>
              </a:spcBef>
              <a:spcAft>
                <a:spcPts val="0"/>
              </a:spcAft>
              <a:buSzPts val="1800"/>
              <a:buNone/>
            </a:pPr>
            <a:r>
              <a:t/>
            </a:r>
            <a:endParaRPr/>
          </a:p>
          <a:p>
            <a:pPr indent="0" lvl="0" marL="0" rtl="0" algn="l">
              <a:lnSpc>
                <a:spcPct val="114000"/>
              </a:lnSpc>
              <a:spcBef>
                <a:spcPts val="0"/>
              </a:spcBef>
              <a:spcAft>
                <a:spcPts val="0"/>
              </a:spcAft>
              <a:buSzPts val="1800"/>
              <a:buNone/>
            </a:pPr>
            <a:r>
              <a:rPr lang="en-GB"/>
              <a:t> </a:t>
            </a:r>
            <a:endParaRPr/>
          </a:p>
          <a:p>
            <a:pPr indent="0" lvl="0" marL="0" rtl="0" algn="l">
              <a:lnSpc>
                <a:spcPct val="114000"/>
              </a:lnSpc>
              <a:spcBef>
                <a:spcPts val="0"/>
              </a:spcBef>
              <a:spcAft>
                <a:spcPts val="0"/>
              </a:spcAft>
              <a:buSzPts val="1800"/>
              <a:buNone/>
            </a:pPr>
            <a:r>
              <a:t/>
            </a:r>
            <a:endParaRPr/>
          </a:p>
          <a:p>
            <a:pPr indent="0" lvl="0" marL="0" rtl="0" algn="l">
              <a:lnSpc>
                <a:spcPct val="114000"/>
              </a:lnSpc>
              <a:spcBef>
                <a:spcPts val="0"/>
              </a:spcBef>
              <a:spcAft>
                <a:spcPts val="0"/>
              </a:spcAft>
              <a:buSzPts val="1800"/>
              <a:buNone/>
            </a:pPr>
            <a:r>
              <a:rPr lang="en-GB" sz="1500"/>
              <a:t>Use GDB to validate the internal data structures or the interface between different arch components</a:t>
            </a:r>
            <a:endParaRPr sz="1500"/>
          </a:p>
          <a:p>
            <a:pPr indent="0" lvl="0" marL="0" rtl="0" algn="l">
              <a:lnSpc>
                <a:spcPct val="114000"/>
              </a:lnSpc>
              <a:spcBef>
                <a:spcPts val="0"/>
              </a:spcBef>
              <a:spcAft>
                <a:spcPts val="0"/>
              </a:spcAft>
              <a:buSzPts val="1800"/>
              <a:buNone/>
            </a:pPr>
            <a:r>
              <a:rPr lang="en-GB" sz="1200" u="sng">
                <a:solidFill>
                  <a:schemeClr val="hlink"/>
                </a:solidFill>
                <a:hlinkClick r:id="rId3"/>
              </a:rPr>
              <a:t>https://gitlab.com/xen-project/fusa/test_specifications/-/blob/master/domain_creation_and_runtime/scheduling/test_sched_core_halt_on_scheduler_failure.rst</a:t>
            </a:r>
            <a:endParaRPr sz="1200"/>
          </a:p>
        </p:txBody>
      </p:sp>
      <p:sp>
        <p:nvSpPr>
          <p:cNvPr id="392" name="Google Shape;392;p33"/>
          <p:cNvSpPr/>
          <p:nvPr/>
        </p:nvSpPr>
        <p:spPr>
          <a:xfrm>
            <a:off x="419200" y="1829850"/>
            <a:ext cx="4602600" cy="14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Xen </a:t>
            </a:r>
            <a:endParaRPr b="0" i="0" sz="1400" u="none" cap="none" strike="noStrike">
              <a:solidFill>
                <a:srgbClr val="000000"/>
              </a:solidFill>
              <a:latin typeface="Arial"/>
              <a:ea typeface="Arial"/>
              <a:cs typeface="Arial"/>
              <a:sym typeface="Arial"/>
            </a:endParaRPr>
          </a:p>
        </p:txBody>
      </p:sp>
      <p:sp>
        <p:nvSpPr>
          <p:cNvPr id="393" name="Google Shape;393;p33"/>
          <p:cNvSpPr/>
          <p:nvPr/>
        </p:nvSpPr>
        <p:spPr>
          <a:xfrm>
            <a:off x="1450450" y="1968150"/>
            <a:ext cx="1207200" cy="120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Credit2 scheduler</a:t>
            </a:r>
            <a:endParaRPr b="0" i="0" sz="1400" u="none" cap="none" strike="noStrike">
              <a:solidFill>
                <a:srgbClr val="000000"/>
              </a:solidFill>
              <a:latin typeface="Arial"/>
              <a:ea typeface="Arial"/>
              <a:cs typeface="Arial"/>
              <a:sym typeface="Arial"/>
            </a:endParaRPr>
          </a:p>
        </p:txBody>
      </p:sp>
      <p:sp>
        <p:nvSpPr>
          <p:cNvPr id="394" name="Google Shape;394;p33"/>
          <p:cNvSpPr/>
          <p:nvPr/>
        </p:nvSpPr>
        <p:spPr>
          <a:xfrm>
            <a:off x="3589825" y="1968150"/>
            <a:ext cx="1207200" cy="120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Core scheduler subsystem</a:t>
            </a:r>
            <a:endParaRPr b="0" i="0" sz="1400" u="none" cap="none" strike="noStrike">
              <a:solidFill>
                <a:srgbClr val="000000"/>
              </a:solidFill>
              <a:latin typeface="Arial"/>
              <a:ea typeface="Arial"/>
              <a:cs typeface="Arial"/>
              <a:sym typeface="Arial"/>
            </a:endParaRPr>
          </a:p>
        </p:txBody>
      </p:sp>
      <p:cxnSp>
        <p:nvCxnSpPr>
          <p:cNvPr id="395" name="Google Shape;395;p33"/>
          <p:cNvCxnSpPr/>
          <p:nvPr/>
        </p:nvCxnSpPr>
        <p:spPr>
          <a:xfrm>
            <a:off x="2684425" y="2385200"/>
            <a:ext cx="905400" cy="0"/>
          </a:xfrm>
          <a:prstGeom prst="straightConnector1">
            <a:avLst/>
          </a:prstGeom>
          <a:noFill/>
          <a:ln cap="flat" cmpd="sng" w="9525">
            <a:solidFill>
              <a:schemeClr val="dk2"/>
            </a:solidFill>
            <a:prstDash val="solid"/>
            <a:round/>
            <a:headEnd len="sm" w="sm" type="none"/>
            <a:tailEnd len="med" w="med" type="triangle"/>
          </a:ln>
        </p:spPr>
      </p:cxnSp>
      <p:cxnSp>
        <p:nvCxnSpPr>
          <p:cNvPr id="396" name="Google Shape;396;p33"/>
          <p:cNvCxnSpPr/>
          <p:nvPr/>
        </p:nvCxnSpPr>
        <p:spPr>
          <a:xfrm rot="10800000">
            <a:off x="3072650" y="2372637"/>
            <a:ext cx="12600" cy="616200"/>
          </a:xfrm>
          <a:prstGeom prst="straightConnector1">
            <a:avLst/>
          </a:prstGeom>
          <a:noFill/>
          <a:ln cap="flat" cmpd="sng" w="9525">
            <a:solidFill>
              <a:schemeClr val="dk2"/>
            </a:solidFill>
            <a:prstDash val="solid"/>
            <a:round/>
            <a:headEnd len="sm" w="sm" type="none"/>
            <a:tailEnd len="med" w="med" type="triangle"/>
          </a:ln>
        </p:spPr>
      </p:cxnSp>
      <p:cxnSp>
        <p:nvCxnSpPr>
          <p:cNvPr id="397" name="Google Shape;397;p33"/>
          <p:cNvCxnSpPr/>
          <p:nvPr/>
        </p:nvCxnSpPr>
        <p:spPr>
          <a:xfrm>
            <a:off x="3072698" y="2976274"/>
            <a:ext cx="2766600" cy="25200"/>
          </a:xfrm>
          <a:prstGeom prst="straightConnector1">
            <a:avLst/>
          </a:prstGeom>
          <a:noFill/>
          <a:ln cap="flat" cmpd="sng" w="9525">
            <a:solidFill>
              <a:schemeClr val="dk2"/>
            </a:solidFill>
            <a:prstDash val="solid"/>
            <a:round/>
            <a:headEnd len="sm" w="sm" type="none"/>
            <a:tailEnd len="sm" w="sm" type="none"/>
          </a:ln>
        </p:spPr>
      </p:cxnSp>
      <p:sp>
        <p:nvSpPr>
          <p:cNvPr id="398" name="Google Shape;398;p33"/>
          <p:cNvSpPr/>
          <p:nvPr/>
        </p:nvSpPr>
        <p:spPr>
          <a:xfrm>
            <a:off x="5889675" y="2702525"/>
            <a:ext cx="2640900" cy="572700"/>
          </a:xfrm>
          <a:prstGeom prst="rect">
            <a:avLst/>
          </a:prstGeom>
          <a:solidFill>
            <a:srgbClr val="FFF1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GDB to inspect return values and modify to simulate failures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4"/>
          <p:cNvSpPr txBox="1"/>
          <p:nvPr>
            <p:ph type="title"/>
          </p:nvPr>
        </p:nvSpPr>
        <p:spPr>
          <a:xfrm>
            <a:off x="311700" y="2060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Hardware Fault Injection using Qemu</a:t>
            </a:r>
            <a:endParaRPr/>
          </a:p>
        </p:txBody>
      </p:sp>
      <p:sp>
        <p:nvSpPr>
          <p:cNvPr id="404" name="Google Shape;404;p34"/>
          <p:cNvSpPr txBox="1"/>
          <p:nvPr>
            <p:ph idx="1" type="body"/>
          </p:nvPr>
        </p:nvSpPr>
        <p:spPr>
          <a:xfrm>
            <a:off x="311700" y="1152475"/>
            <a:ext cx="8520600" cy="3050100"/>
          </a:xfrm>
          <a:prstGeom prst="rect">
            <a:avLst/>
          </a:prstGeom>
          <a:noFill/>
          <a:ln>
            <a:noFill/>
          </a:ln>
        </p:spPr>
        <p:txBody>
          <a:bodyPr anchorCtr="0" anchor="t" bIns="91425" lIns="91425" spcFirstLastPara="1" rIns="91425" wrap="square" tIns="91425">
            <a:noAutofit/>
          </a:bodyPr>
          <a:lstStyle/>
          <a:p>
            <a:pPr indent="0" lvl="0" marL="0" rtl="0" algn="l">
              <a:lnSpc>
                <a:spcPct val="114000"/>
              </a:lnSpc>
              <a:spcBef>
                <a:spcPts val="0"/>
              </a:spcBef>
              <a:spcAft>
                <a:spcPts val="0"/>
              </a:spcAft>
              <a:buSzPts val="1800"/>
              <a:buNone/>
            </a:pPr>
            <a:r>
              <a:rPr lang="en-GB"/>
              <a:t>Using Qemu testing framework</a:t>
            </a:r>
            <a:endParaRPr/>
          </a:p>
        </p:txBody>
      </p:sp>
      <p:sp>
        <p:nvSpPr>
          <p:cNvPr id="405" name="Google Shape;405;p34"/>
          <p:cNvSpPr/>
          <p:nvPr/>
        </p:nvSpPr>
        <p:spPr>
          <a:xfrm>
            <a:off x="1450425" y="1829850"/>
            <a:ext cx="4602600" cy="14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Xen </a:t>
            </a:r>
            <a:endParaRPr b="0" i="0" sz="1400" u="none" cap="none" strike="noStrike">
              <a:solidFill>
                <a:srgbClr val="000000"/>
              </a:solidFill>
              <a:latin typeface="Arial"/>
              <a:ea typeface="Arial"/>
              <a:cs typeface="Arial"/>
              <a:sym typeface="Arial"/>
            </a:endParaRPr>
          </a:p>
        </p:txBody>
      </p:sp>
      <p:sp>
        <p:nvSpPr>
          <p:cNvPr id="406" name="Google Shape;406;p34"/>
          <p:cNvSpPr/>
          <p:nvPr/>
        </p:nvSpPr>
        <p:spPr>
          <a:xfrm>
            <a:off x="3638625" y="1968150"/>
            <a:ext cx="1207200" cy="120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GICv3 driver</a:t>
            </a:r>
            <a:endParaRPr b="0" i="0" sz="1400" u="none" cap="none" strike="noStrike">
              <a:solidFill>
                <a:srgbClr val="000000"/>
              </a:solidFill>
              <a:latin typeface="Arial"/>
              <a:ea typeface="Arial"/>
              <a:cs typeface="Arial"/>
              <a:sym typeface="Arial"/>
            </a:endParaRPr>
          </a:p>
        </p:txBody>
      </p:sp>
      <p:sp>
        <p:nvSpPr>
          <p:cNvPr id="407" name="Google Shape;407;p34"/>
          <p:cNvSpPr/>
          <p:nvPr/>
        </p:nvSpPr>
        <p:spPr>
          <a:xfrm>
            <a:off x="1462975" y="3542175"/>
            <a:ext cx="4565100" cy="955800"/>
          </a:xfrm>
          <a:prstGeom prst="rect">
            <a:avLst/>
          </a:prstGeom>
          <a:solidFill>
            <a:srgbClr val="FFF1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Qemu</a:t>
            </a:r>
            <a:endParaRPr b="0" i="0" sz="1400" u="none" cap="none" strike="noStrike">
              <a:solidFill>
                <a:srgbClr val="000000"/>
              </a:solidFill>
              <a:latin typeface="Arial"/>
              <a:ea typeface="Arial"/>
              <a:cs typeface="Arial"/>
              <a:sym typeface="Arial"/>
            </a:endParaRPr>
          </a:p>
        </p:txBody>
      </p:sp>
      <p:sp>
        <p:nvSpPr>
          <p:cNvPr id="408" name="Google Shape;408;p34"/>
          <p:cNvSpPr/>
          <p:nvPr/>
        </p:nvSpPr>
        <p:spPr>
          <a:xfrm>
            <a:off x="3751775" y="3642800"/>
            <a:ext cx="1094100" cy="704100"/>
          </a:xfrm>
          <a:prstGeom prst="rect">
            <a:avLst/>
          </a:prstGeom>
          <a:solidFill>
            <a:srgbClr val="FFF1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GICv3 hardware</a:t>
            </a:r>
            <a:endParaRPr b="0" i="0" sz="1400" u="none" cap="none" strike="noStrike">
              <a:solidFill>
                <a:srgbClr val="000000"/>
              </a:solidFill>
              <a:latin typeface="Arial"/>
              <a:ea typeface="Arial"/>
              <a:cs typeface="Arial"/>
              <a:sym typeface="Arial"/>
            </a:endParaRPr>
          </a:p>
        </p:txBody>
      </p:sp>
      <p:sp>
        <p:nvSpPr>
          <p:cNvPr id="409" name="Google Shape;409;p34"/>
          <p:cNvSpPr/>
          <p:nvPr/>
        </p:nvSpPr>
        <p:spPr>
          <a:xfrm>
            <a:off x="2269317" y="3642800"/>
            <a:ext cx="1094100" cy="704100"/>
          </a:xfrm>
          <a:prstGeom prst="rect">
            <a:avLst/>
          </a:prstGeom>
          <a:solidFill>
            <a:srgbClr val="FFF1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QTest</a:t>
            </a:r>
            <a:endParaRPr b="0" i="0" sz="1400" u="none" cap="none" strike="noStrike">
              <a:solidFill>
                <a:srgbClr val="000000"/>
              </a:solidFill>
              <a:latin typeface="Arial"/>
              <a:ea typeface="Arial"/>
              <a:cs typeface="Arial"/>
              <a:sym typeface="Arial"/>
            </a:endParaRPr>
          </a:p>
        </p:txBody>
      </p:sp>
      <p:cxnSp>
        <p:nvCxnSpPr>
          <p:cNvPr id="410" name="Google Shape;410;p34"/>
          <p:cNvCxnSpPr>
            <a:stCxn id="409" idx="3"/>
            <a:endCxn id="408" idx="1"/>
          </p:cNvCxnSpPr>
          <p:nvPr/>
        </p:nvCxnSpPr>
        <p:spPr>
          <a:xfrm>
            <a:off x="3363417" y="3994850"/>
            <a:ext cx="388500" cy="0"/>
          </a:xfrm>
          <a:prstGeom prst="straightConnector1">
            <a:avLst/>
          </a:prstGeom>
          <a:noFill/>
          <a:ln cap="flat" cmpd="sng" w="9525">
            <a:solidFill>
              <a:schemeClr val="dk2"/>
            </a:solidFill>
            <a:prstDash val="solid"/>
            <a:round/>
            <a:headEnd len="sm" w="sm" type="none"/>
            <a:tailEnd len="med" w="med" type="triangle"/>
          </a:ln>
        </p:spPr>
      </p:cxnSp>
      <p:cxnSp>
        <p:nvCxnSpPr>
          <p:cNvPr id="411" name="Google Shape;411;p34"/>
          <p:cNvCxnSpPr/>
          <p:nvPr/>
        </p:nvCxnSpPr>
        <p:spPr>
          <a:xfrm rot="10800000">
            <a:off x="4242225" y="3099825"/>
            <a:ext cx="0" cy="681300"/>
          </a:xfrm>
          <a:prstGeom prst="straightConnector1">
            <a:avLst/>
          </a:prstGeom>
          <a:noFill/>
          <a:ln cap="flat" cmpd="sng" w="9525">
            <a:solidFill>
              <a:schemeClr val="dk2"/>
            </a:solidFill>
            <a:prstDash val="solid"/>
            <a:round/>
            <a:headEnd len="sm" w="sm" type="none"/>
            <a:tailEnd len="med" w="med" type="triangle"/>
          </a:ln>
        </p:spPr>
      </p:cxnSp>
      <p:sp>
        <p:nvSpPr>
          <p:cNvPr id="412" name="Google Shape;412;p34"/>
          <p:cNvSpPr txBox="1"/>
          <p:nvPr/>
        </p:nvSpPr>
        <p:spPr>
          <a:xfrm>
            <a:off x="4217074" y="3215218"/>
            <a:ext cx="1509000" cy="21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434343"/>
                </a:solidFill>
                <a:latin typeface="Arial"/>
                <a:ea typeface="Arial"/>
                <a:cs typeface="Arial"/>
                <a:sym typeface="Arial"/>
              </a:rPr>
              <a:t>Inject fault</a:t>
            </a:r>
            <a:endParaRPr b="0" i="0" sz="1400" u="none" cap="none" strike="noStrike">
              <a:solidFill>
                <a:srgbClr val="434343"/>
              </a:solidFill>
              <a:latin typeface="Arial"/>
              <a:ea typeface="Arial"/>
              <a:cs typeface="Arial"/>
              <a:sym typeface="Arial"/>
            </a:endParaRPr>
          </a:p>
        </p:txBody>
      </p:sp>
      <p:sp>
        <p:nvSpPr>
          <p:cNvPr id="413" name="Google Shape;413;p34"/>
          <p:cNvSpPr txBox="1"/>
          <p:nvPr/>
        </p:nvSpPr>
        <p:spPr>
          <a:xfrm>
            <a:off x="6178911" y="2638125"/>
            <a:ext cx="4120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434343"/>
                </a:solidFill>
                <a:latin typeface="Arial"/>
                <a:ea typeface="Arial"/>
                <a:cs typeface="Arial"/>
                <a:sym typeface="Arial"/>
              </a:rPr>
              <a:t>Xen panics</a:t>
            </a:r>
            <a:endParaRPr b="0" i="0" sz="1800" u="none" cap="none" strike="noStrike">
              <a:solidFill>
                <a:srgbClr val="434343"/>
              </a:solidFill>
              <a:latin typeface="Arial"/>
              <a:ea typeface="Arial"/>
              <a:cs typeface="Arial"/>
              <a:sym typeface="Arial"/>
            </a:endParaRPr>
          </a:p>
        </p:txBody>
      </p:sp>
      <p:sp>
        <p:nvSpPr>
          <p:cNvPr id="414" name="Google Shape;414;p34"/>
          <p:cNvSpPr txBox="1"/>
          <p:nvPr/>
        </p:nvSpPr>
        <p:spPr>
          <a:xfrm>
            <a:off x="6279600" y="3781125"/>
            <a:ext cx="2728800" cy="105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434343"/>
                </a:solidFill>
                <a:latin typeface="Arial"/>
                <a:ea typeface="Arial"/>
                <a:cs typeface="Arial"/>
                <a:sym typeface="Arial"/>
              </a:rPr>
              <a:t>Qemu can emulate most of the hardware faults which are observed by Xen</a:t>
            </a:r>
            <a:endParaRPr b="0" i="0" sz="14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434343"/>
                </a:solidFill>
                <a:latin typeface="Arial"/>
                <a:ea typeface="Arial"/>
                <a:cs typeface="Arial"/>
                <a:sym typeface="Arial"/>
              </a:rPr>
              <a:t>It emulates many of AE IPs which have test registers</a:t>
            </a:r>
            <a:endParaRPr b="0" i="0" sz="1400" u="none" cap="none" strike="noStrike">
              <a:solidFill>
                <a:srgbClr val="434343"/>
              </a:solidFill>
              <a:latin typeface="Arial"/>
              <a:ea typeface="Arial"/>
              <a:cs typeface="Arial"/>
              <a:sym typeface="Arial"/>
            </a:endParaRPr>
          </a:p>
        </p:txBody>
      </p:sp>
      <p:sp>
        <p:nvSpPr>
          <p:cNvPr id="415" name="Google Shape;415;p34"/>
          <p:cNvSpPr txBox="1"/>
          <p:nvPr/>
        </p:nvSpPr>
        <p:spPr>
          <a:xfrm>
            <a:off x="7838900" y="4435075"/>
            <a:ext cx="1316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5"/>
          <p:cNvSpPr txBox="1"/>
          <p:nvPr>
            <p:ph type="title"/>
          </p:nvPr>
        </p:nvSpPr>
        <p:spPr>
          <a:xfrm>
            <a:off x="311700" y="1180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Software fault injection/negative tests</a:t>
            </a:r>
            <a:endParaRPr/>
          </a:p>
        </p:txBody>
      </p:sp>
      <p:sp>
        <p:nvSpPr>
          <p:cNvPr id="421" name="Google Shape;421;p35"/>
          <p:cNvSpPr txBox="1"/>
          <p:nvPr>
            <p:ph idx="1" type="body"/>
          </p:nvPr>
        </p:nvSpPr>
        <p:spPr>
          <a:xfrm>
            <a:off x="236225" y="721825"/>
            <a:ext cx="8520600" cy="3050100"/>
          </a:xfrm>
          <a:prstGeom prst="rect">
            <a:avLst/>
          </a:prstGeom>
          <a:noFill/>
          <a:ln>
            <a:noFill/>
          </a:ln>
        </p:spPr>
        <p:txBody>
          <a:bodyPr anchorCtr="0" anchor="t" bIns="91425" lIns="91425" spcFirstLastPara="1" rIns="91425" wrap="square" tIns="91425">
            <a:noAutofit/>
          </a:bodyPr>
          <a:lstStyle/>
          <a:p>
            <a:pPr indent="0" lvl="0" marL="0" rtl="0" algn="l">
              <a:lnSpc>
                <a:spcPct val="114000"/>
              </a:lnSpc>
              <a:spcBef>
                <a:spcPts val="0"/>
              </a:spcBef>
              <a:spcAft>
                <a:spcPts val="0"/>
              </a:spcAft>
              <a:buSzPts val="1800"/>
              <a:buNone/>
            </a:pPr>
            <a:r>
              <a:rPr lang="en-GB"/>
              <a:t>Using domains, device tree binaries, etc</a:t>
            </a:r>
            <a:endParaRPr/>
          </a:p>
        </p:txBody>
      </p:sp>
      <p:sp>
        <p:nvSpPr>
          <p:cNvPr id="422" name="Google Shape;422;p35"/>
          <p:cNvSpPr/>
          <p:nvPr/>
        </p:nvSpPr>
        <p:spPr>
          <a:xfrm>
            <a:off x="469500" y="1300323"/>
            <a:ext cx="4024200" cy="148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Xen </a:t>
            </a:r>
            <a:endParaRPr b="0" i="0" sz="1400" u="none" cap="none" strike="noStrike">
              <a:solidFill>
                <a:srgbClr val="000000"/>
              </a:solidFill>
              <a:latin typeface="Arial"/>
              <a:ea typeface="Arial"/>
              <a:cs typeface="Arial"/>
              <a:sym typeface="Arial"/>
            </a:endParaRPr>
          </a:p>
        </p:txBody>
      </p:sp>
      <p:sp>
        <p:nvSpPr>
          <p:cNvPr id="423" name="Google Shape;423;p35"/>
          <p:cNvSpPr/>
          <p:nvPr/>
        </p:nvSpPr>
        <p:spPr>
          <a:xfrm>
            <a:off x="6279700" y="1342925"/>
            <a:ext cx="2163000" cy="13986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Domain</a:t>
            </a:r>
            <a:endParaRPr b="0" i="0" sz="1400" u="none" cap="none" strike="noStrike">
              <a:solidFill>
                <a:srgbClr val="000000"/>
              </a:solidFill>
              <a:latin typeface="Arial"/>
              <a:ea typeface="Arial"/>
              <a:cs typeface="Arial"/>
              <a:sym typeface="Arial"/>
            </a:endParaRPr>
          </a:p>
        </p:txBody>
      </p:sp>
      <p:cxnSp>
        <p:nvCxnSpPr>
          <p:cNvPr id="424" name="Google Shape;424;p35"/>
          <p:cNvCxnSpPr>
            <a:stCxn id="423" idx="1"/>
            <a:endCxn id="422" idx="3"/>
          </p:cNvCxnSpPr>
          <p:nvPr/>
        </p:nvCxnSpPr>
        <p:spPr>
          <a:xfrm rot="10800000">
            <a:off x="4493800" y="2042225"/>
            <a:ext cx="1785900" cy="0"/>
          </a:xfrm>
          <a:prstGeom prst="straightConnector1">
            <a:avLst/>
          </a:prstGeom>
          <a:noFill/>
          <a:ln cap="flat" cmpd="sng" w="9525">
            <a:solidFill>
              <a:schemeClr val="dk2"/>
            </a:solidFill>
            <a:prstDash val="solid"/>
            <a:round/>
            <a:headEnd len="sm" w="sm" type="none"/>
            <a:tailEnd len="med" w="med" type="triangle"/>
          </a:ln>
        </p:spPr>
      </p:cxnSp>
      <p:sp>
        <p:nvSpPr>
          <p:cNvPr id="425" name="Google Shape;425;p35"/>
          <p:cNvSpPr txBox="1"/>
          <p:nvPr/>
        </p:nvSpPr>
        <p:spPr>
          <a:xfrm>
            <a:off x="4493750" y="1354000"/>
            <a:ext cx="19743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434343"/>
                </a:solidFill>
                <a:latin typeface="Arial"/>
                <a:ea typeface="Arial"/>
                <a:cs typeface="Arial"/>
                <a:sym typeface="Arial"/>
              </a:rPr>
              <a:t>Invokes hypercall with incorrect params or performs an illegal action</a:t>
            </a:r>
            <a:endParaRPr b="0" i="0" sz="1200" u="none" cap="none" strike="noStrike">
              <a:solidFill>
                <a:srgbClr val="434343"/>
              </a:solidFill>
              <a:latin typeface="Arial"/>
              <a:ea typeface="Arial"/>
              <a:cs typeface="Arial"/>
              <a:sym typeface="Arial"/>
            </a:endParaRPr>
          </a:p>
        </p:txBody>
      </p:sp>
      <p:sp>
        <p:nvSpPr>
          <p:cNvPr id="426" name="Google Shape;426;p35"/>
          <p:cNvSpPr txBox="1"/>
          <p:nvPr/>
        </p:nvSpPr>
        <p:spPr>
          <a:xfrm>
            <a:off x="5789050" y="1278548"/>
            <a:ext cx="3366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Arial"/>
              <a:ea typeface="Arial"/>
              <a:cs typeface="Arial"/>
              <a:sym typeface="Arial"/>
            </a:endParaRPr>
          </a:p>
        </p:txBody>
      </p:sp>
      <p:cxnSp>
        <p:nvCxnSpPr>
          <p:cNvPr id="427" name="Google Shape;427;p35"/>
          <p:cNvCxnSpPr/>
          <p:nvPr/>
        </p:nvCxnSpPr>
        <p:spPr>
          <a:xfrm>
            <a:off x="4506325" y="2246886"/>
            <a:ext cx="1773300" cy="0"/>
          </a:xfrm>
          <a:prstGeom prst="straightConnector1">
            <a:avLst/>
          </a:prstGeom>
          <a:noFill/>
          <a:ln cap="flat" cmpd="sng" w="9525">
            <a:solidFill>
              <a:schemeClr val="dk2"/>
            </a:solidFill>
            <a:prstDash val="solid"/>
            <a:round/>
            <a:headEnd len="sm" w="sm" type="none"/>
            <a:tailEnd len="med" w="med" type="triangle"/>
          </a:ln>
        </p:spPr>
      </p:cxnSp>
      <p:sp>
        <p:nvSpPr>
          <p:cNvPr id="428" name="Google Shape;428;p35"/>
          <p:cNvSpPr txBox="1"/>
          <p:nvPr/>
        </p:nvSpPr>
        <p:spPr>
          <a:xfrm>
            <a:off x="4544138" y="2166324"/>
            <a:ext cx="16851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434343"/>
                </a:solidFill>
                <a:latin typeface="Arial"/>
                <a:ea typeface="Arial"/>
                <a:cs typeface="Arial"/>
                <a:sym typeface="Arial"/>
              </a:rPr>
              <a:t>Returns error or takes appropriate action</a:t>
            </a:r>
            <a:endParaRPr b="0" i="0" sz="1400" u="none" cap="none" strike="noStrike">
              <a:solidFill>
                <a:srgbClr val="434343"/>
              </a:solidFill>
              <a:latin typeface="Arial"/>
              <a:ea typeface="Arial"/>
              <a:cs typeface="Arial"/>
              <a:sym typeface="Arial"/>
            </a:endParaRPr>
          </a:p>
        </p:txBody>
      </p:sp>
      <p:sp>
        <p:nvSpPr>
          <p:cNvPr id="429" name="Google Shape;429;p35"/>
          <p:cNvSpPr/>
          <p:nvPr/>
        </p:nvSpPr>
        <p:spPr>
          <a:xfrm>
            <a:off x="689550" y="4108100"/>
            <a:ext cx="2754100" cy="461700"/>
          </a:xfrm>
          <a:prstGeom prst="flowChartProcess">
            <a:avLst/>
          </a:prstGeom>
          <a:solidFill>
            <a:srgbClr val="FFD1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Improper HW configuration in device tree</a:t>
            </a:r>
            <a:endParaRPr b="0" i="0" sz="1400" u="none" cap="none" strike="noStrike">
              <a:solidFill>
                <a:srgbClr val="000000"/>
              </a:solidFill>
              <a:latin typeface="Arial"/>
              <a:ea typeface="Arial"/>
              <a:cs typeface="Arial"/>
              <a:sym typeface="Arial"/>
            </a:endParaRPr>
          </a:p>
        </p:txBody>
      </p:sp>
      <p:cxnSp>
        <p:nvCxnSpPr>
          <p:cNvPr id="430" name="Google Shape;430;p35"/>
          <p:cNvCxnSpPr/>
          <p:nvPr/>
        </p:nvCxnSpPr>
        <p:spPr>
          <a:xfrm rot="10800000">
            <a:off x="2066600" y="3617600"/>
            <a:ext cx="0" cy="490500"/>
          </a:xfrm>
          <a:prstGeom prst="straightConnector1">
            <a:avLst/>
          </a:prstGeom>
          <a:noFill/>
          <a:ln cap="flat" cmpd="sng" w="9525">
            <a:solidFill>
              <a:schemeClr val="dk2"/>
            </a:solidFill>
            <a:prstDash val="solid"/>
            <a:round/>
            <a:headEnd len="sm" w="sm" type="none"/>
            <a:tailEnd len="med" w="med" type="triangle"/>
          </a:ln>
        </p:spPr>
      </p:cxnSp>
      <p:sp>
        <p:nvSpPr>
          <p:cNvPr id="431" name="Google Shape;431;p35"/>
          <p:cNvSpPr txBox="1"/>
          <p:nvPr/>
        </p:nvSpPr>
        <p:spPr>
          <a:xfrm>
            <a:off x="2255250" y="3441575"/>
            <a:ext cx="603600" cy="7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Arial"/>
              <a:ea typeface="Arial"/>
              <a:cs typeface="Arial"/>
              <a:sym typeface="Arial"/>
            </a:endParaRPr>
          </a:p>
        </p:txBody>
      </p:sp>
      <p:sp>
        <p:nvSpPr>
          <p:cNvPr id="432" name="Google Shape;432;p35"/>
          <p:cNvSpPr/>
          <p:nvPr/>
        </p:nvSpPr>
        <p:spPr>
          <a:xfrm>
            <a:off x="469500" y="2986975"/>
            <a:ext cx="4024200" cy="63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Xen </a:t>
            </a:r>
            <a:endParaRPr b="0" i="0" sz="1400" u="none" cap="none" strike="noStrike">
              <a:solidFill>
                <a:srgbClr val="000000"/>
              </a:solidFill>
              <a:latin typeface="Arial"/>
              <a:ea typeface="Arial"/>
              <a:cs typeface="Arial"/>
              <a:sym typeface="Arial"/>
            </a:endParaRPr>
          </a:p>
        </p:txBody>
      </p:sp>
      <p:sp>
        <p:nvSpPr>
          <p:cNvPr id="433" name="Google Shape;433;p35"/>
          <p:cNvSpPr txBox="1"/>
          <p:nvPr/>
        </p:nvSpPr>
        <p:spPr>
          <a:xfrm>
            <a:off x="2016329" y="3718244"/>
            <a:ext cx="681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434343"/>
                </a:solidFill>
                <a:latin typeface="Arial"/>
                <a:ea typeface="Arial"/>
                <a:cs typeface="Arial"/>
                <a:sym typeface="Arial"/>
              </a:rPr>
              <a:t>Xen stops booting</a:t>
            </a:r>
            <a:endParaRPr b="0" i="0" sz="1400" u="none" cap="none" strike="noStrike">
              <a:solidFill>
                <a:srgbClr val="434343"/>
              </a:solidFill>
              <a:latin typeface="Arial"/>
              <a:ea typeface="Arial"/>
              <a:cs typeface="Arial"/>
              <a:sym typeface="Arial"/>
            </a:endParaRPr>
          </a:p>
        </p:txBody>
      </p:sp>
      <p:sp>
        <p:nvSpPr>
          <p:cNvPr id="434" name="Google Shape;434;p35"/>
          <p:cNvSpPr txBox="1"/>
          <p:nvPr/>
        </p:nvSpPr>
        <p:spPr>
          <a:xfrm>
            <a:off x="5399200" y="3215200"/>
            <a:ext cx="3366000" cy="139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500" u="none" cap="none" strike="noStrike">
                <a:solidFill>
                  <a:srgbClr val="434343"/>
                </a:solidFill>
                <a:latin typeface="Arial"/>
                <a:ea typeface="Arial"/>
                <a:cs typeface="Arial"/>
                <a:sym typeface="Arial"/>
              </a:rPr>
              <a:t>Some of the fault injection tests are derived from boundary value analysis/equivalence class partition of hypercall parameters </a:t>
            </a:r>
            <a:endParaRPr b="0" i="0" sz="1500" u="none" cap="none" strike="noStrike">
              <a:solidFill>
                <a:srgbClr val="434343"/>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6"/>
          <p:cNvSpPr txBox="1"/>
          <p:nvPr>
            <p:ph type="title"/>
          </p:nvPr>
        </p:nvSpPr>
        <p:spPr>
          <a:xfrm>
            <a:off x="311700" y="143221"/>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Runtime tests</a:t>
            </a:r>
            <a:endParaRPr/>
          </a:p>
        </p:txBody>
      </p:sp>
      <p:sp>
        <p:nvSpPr>
          <p:cNvPr id="440" name="Google Shape;440;p36"/>
          <p:cNvSpPr txBox="1"/>
          <p:nvPr>
            <p:ph idx="1" type="body"/>
          </p:nvPr>
        </p:nvSpPr>
        <p:spPr>
          <a:xfrm>
            <a:off x="97925" y="868325"/>
            <a:ext cx="5250900" cy="3050100"/>
          </a:xfrm>
          <a:prstGeom prst="rect">
            <a:avLst/>
          </a:prstGeom>
          <a:noFill/>
          <a:ln>
            <a:noFill/>
          </a:ln>
        </p:spPr>
        <p:txBody>
          <a:bodyPr anchorCtr="0" anchor="t" bIns="91425" lIns="91425" spcFirstLastPara="1" rIns="91425" wrap="square" tIns="91425">
            <a:noAutofit/>
          </a:bodyPr>
          <a:lstStyle/>
          <a:p>
            <a:pPr indent="0" lvl="0" marL="0" rtl="0" algn="l">
              <a:lnSpc>
                <a:spcPct val="114000"/>
              </a:lnSpc>
              <a:spcBef>
                <a:spcPts val="0"/>
              </a:spcBef>
              <a:spcAft>
                <a:spcPts val="0"/>
              </a:spcAft>
              <a:buSzPts val="1800"/>
              <a:buNone/>
            </a:pPr>
            <a:r>
              <a:rPr lang="en-GB"/>
              <a:t>Minimise the runtime memory allocation. To prevent Xen from running out of memory</a:t>
            </a:r>
            <a:endParaRPr/>
          </a:p>
          <a:p>
            <a:pPr indent="-317500" lvl="0" marL="457200" rtl="0" algn="l">
              <a:lnSpc>
                <a:spcPct val="115000"/>
              </a:lnSpc>
              <a:spcBef>
                <a:spcPts val="1100"/>
              </a:spcBef>
              <a:spcAft>
                <a:spcPts val="0"/>
              </a:spcAft>
              <a:buClr>
                <a:schemeClr val="dk1"/>
              </a:buClr>
              <a:buSzPts val="1400"/>
              <a:buChar char="●"/>
            </a:pPr>
            <a:r>
              <a:rPr lang="en-GB" sz="1400">
                <a:solidFill>
                  <a:schemeClr val="dk1"/>
                </a:solidFill>
              </a:rPr>
              <a:t>Xen has a </a:t>
            </a:r>
            <a:r>
              <a:rPr b="1" lang="en-GB" sz="1400">
                <a:solidFill>
                  <a:schemeClr val="dk1"/>
                </a:solidFill>
              </a:rPr>
              <a:t>shared heap</a:t>
            </a:r>
            <a:r>
              <a:rPr lang="en-GB" sz="1400">
                <a:solidFill>
                  <a:schemeClr val="dk1"/>
                </a:solidFill>
              </a:rPr>
              <a:t> → source of </a:t>
            </a:r>
            <a:r>
              <a:rPr i="1" lang="en-GB" sz="1400">
                <a:solidFill>
                  <a:schemeClr val="dk1"/>
                </a:solidFill>
              </a:rPr>
              <a:t>anonymous allocations</a:t>
            </a:r>
            <a:endParaRPr sz="1400" u="sng">
              <a:solidFill>
                <a:schemeClr val="hlink"/>
              </a:solidFill>
            </a:endParaRPr>
          </a:p>
          <a:p>
            <a:pPr indent="-317500" lvl="0" marL="457200" rtl="0" algn="l">
              <a:lnSpc>
                <a:spcPct val="115000"/>
              </a:lnSpc>
              <a:spcBef>
                <a:spcPts val="0"/>
              </a:spcBef>
              <a:spcAft>
                <a:spcPts val="0"/>
              </a:spcAft>
              <a:buClr>
                <a:schemeClr val="dk1"/>
              </a:buClr>
              <a:buSzPts val="1400"/>
              <a:buChar char="●"/>
            </a:pPr>
            <a:r>
              <a:rPr lang="en-GB" sz="1400">
                <a:solidFill>
                  <a:schemeClr val="dk1"/>
                </a:solidFill>
              </a:rPr>
              <a:t>Domains (d0, d1, …) trigger allocations indirectly via Xen</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GB" sz="1400">
                <a:solidFill>
                  <a:schemeClr val="dk1"/>
                </a:solidFill>
              </a:rPr>
              <a:t>Tool instruments </a:t>
            </a:r>
            <a:r>
              <a:rPr b="1" lang="en-GB" sz="1400">
                <a:solidFill>
                  <a:schemeClr val="dk1"/>
                </a:solidFill>
              </a:rPr>
              <a:t>core allocators (TLSF + page allocator)</a:t>
            </a:r>
            <a:endParaRPr b="1"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GB" sz="1400">
                <a:solidFill>
                  <a:schemeClr val="dk1"/>
                </a:solidFill>
              </a:rPr>
              <a:t>Runtime → </a:t>
            </a:r>
            <a:r>
              <a:rPr b="1" lang="en-GB" sz="1400">
                <a:solidFill>
                  <a:schemeClr val="dk1"/>
                </a:solidFill>
              </a:rPr>
              <a:t>after </a:t>
            </a:r>
            <a:r>
              <a:rPr b="1" lang="en-GB" sz="1400">
                <a:solidFill>
                  <a:srgbClr val="188038"/>
                </a:solidFill>
                <a:latin typeface="Roboto Mono"/>
                <a:ea typeface="Roboto Mono"/>
                <a:cs typeface="Roboto Mono"/>
                <a:sym typeface="Roboto Mono"/>
              </a:rPr>
              <a:t>SYS_STATE_active</a:t>
            </a:r>
            <a:r>
              <a:rPr b="1" lang="en-GB" sz="1400">
                <a:solidFill>
                  <a:schemeClr val="dk1"/>
                </a:solidFill>
              </a:rPr>
              <a:t> (post-boot steady state)</a:t>
            </a:r>
            <a:endParaRPr b="1"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GB" sz="1400">
                <a:solidFill>
                  <a:schemeClr val="dk1"/>
                </a:solidFill>
              </a:rPr>
              <a:t>Output → </a:t>
            </a:r>
            <a:r>
              <a:rPr b="1" lang="en-GB" sz="1400">
                <a:solidFill>
                  <a:schemeClr val="dk1"/>
                </a:solidFill>
              </a:rPr>
              <a:t>logs + stack traces + domain attribution + matching frees</a:t>
            </a:r>
            <a:endParaRPr b="1" sz="1400">
              <a:solidFill>
                <a:schemeClr val="dk1"/>
              </a:solidFill>
            </a:endParaRPr>
          </a:p>
          <a:p>
            <a:pPr indent="0" lvl="0" marL="0" rtl="0" algn="l">
              <a:lnSpc>
                <a:spcPct val="115000"/>
              </a:lnSpc>
              <a:spcBef>
                <a:spcPts val="1100"/>
              </a:spcBef>
              <a:spcAft>
                <a:spcPts val="0"/>
              </a:spcAft>
              <a:buSzPts val="1800"/>
              <a:buNone/>
            </a:pPr>
            <a:r>
              <a:rPr lang="en-GB" sz="1400" u="sng">
                <a:solidFill>
                  <a:schemeClr val="hlink"/>
                </a:solidFill>
                <a:hlinkClick r:id="rId3"/>
              </a:rPr>
              <a:t>https://gitlab.com/minervasys/public/xen/-/blob/minerva/warn/minerva_analysis/README.md</a:t>
            </a:r>
            <a:endParaRPr sz="1400">
              <a:solidFill>
                <a:schemeClr val="dk1"/>
              </a:solidFill>
            </a:endParaRPr>
          </a:p>
          <a:p>
            <a:pPr indent="0" lvl="0" marL="0" rtl="0" algn="l">
              <a:lnSpc>
                <a:spcPct val="114000"/>
              </a:lnSpc>
              <a:spcBef>
                <a:spcPts val="1100"/>
              </a:spcBef>
              <a:spcAft>
                <a:spcPts val="0"/>
              </a:spcAft>
              <a:buSzPts val="1800"/>
              <a:buNone/>
            </a:pPr>
            <a:r>
              <a:t/>
            </a:r>
            <a:endParaRPr/>
          </a:p>
        </p:txBody>
      </p:sp>
      <p:sp>
        <p:nvSpPr>
          <p:cNvPr id="441" name="Google Shape;441;p36"/>
          <p:cNvSpPr txBox="1"/>
          <p:nvPr/>
        </p:nvSpPr>
        <p:spPr>
          <a:xfrm>
            <a:off x="7838900" y="4435075"/>
            <a:ext cx="1316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Arial"/>
              <a:ea typeface="Arial"/>
              <a:cs typeface="Arial"/>
              <a:sym typeface="Arial"/>
            </a:endParaRPr>
          </a:p>
        </p:txBody>
      </p:sp>
      <p:pic>
        <p:nvPicPr>
          <p:cNvPr id="442" name="Google Shape;442;p36" title="Designer (2).png"/>
          <p:cNvPicPr preferRelativeResize="0"/>
          <p:nvPr/>
        </p:nvPicPr>
        <p:blipFill rotWithShape="1">
          <a:blip r:embed="rId4">
            <a:alphaModFix/>
          </a:blip>
          <a:srcRect b="0" l="0" r="0" t="0"/>
          <a:stretch/>
        </p:blipFill>
        <p:spPr>
          <a:xfrm>
            <a:off x="5223150" y="629385"/>
            <a:ext cx="3860774" cy="38685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3ed2fd4185b_0_0"/>
          <p:cNvSpPr txBox="1"/>
          <p:nvPr>
            <p:ph type="title"/>
          </p:nvPr>
        </p:nvSpPr>
        <p:spPr>
          <a:xfrm>
            <a:off x="287550" y="215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From logs to a corpus assurance</a:t>
            </a:r>
            <a:endParaRPr/>
          </a:p>
        </p:txBody>
      </p:sp>
      <p:sp>
        <p:nvSpPr>
          <p:cNvPr id="448" name="Google Shape;448;g3ed2fd4185b_0_0"/>
          <p:cNvSpPr txBox="1"/>
          <p:nvPr>
            <p:ph idx="1" type="body"/>
          </p:nvPr>
        </p:nvSpPr>
        <p:spPr>
          <a:xfrm>
            <a:off x="311700" y="1397300"/>
            <a:ext cx="5088900" cy="3171600"/>
          </a:xfrm>
          <a:prstGeom prst="rect">
            <a:avLst/>
          </a:prstGeom>
        </p:spPr>
        <p:txBody>
          <a:bodyPr anchorCtr="0" anchor="t" bIns="91425" lIns="91425" spcFirstLastPara="1" rIns="91425" wrap="square" tIns="91425">
            <a:normAutofit/>
          </a:bodyPr>
          <a:lstStyle/>
          <a:p>
            <a:pPr indent="-323850" lvl="0" marL="457200" rtl="0" algn="l">
              <a:lnSpc>
                <a:spcPct val="95000"/>
              </a:lnSpc>
              <a:spcBef>
                <a:spcPts val="0"/>
              </a:spcBef>
              <a:spcAft>
                <a:spcPts val="0"/>
              </a:spcAft>
              <a:buClr>
                <a:srgbClr val="404040"/>
              </a:buClr>
              <a:buSzPts val="1500"/>
              <a:buFont typeface="Calibri"/>
              <a:buChar char="●"/>
            </a:pPr>
            <a:r>
              <a:rPr b="1" lang="en-GB" sz="1500">
                <a:solidFill>
                  <a:srgbClr val="404040"/>
                </a:solidFill>
                <a:latin typeface="Calibri"/>
                <a:ea typeface="Calibri"/>
                <a:cs typeface="Calibri"/>
                <a:sym typeface="Calibri"/>
              </a:rPr>
              <a:t>Static reachability join</a:t>
            </a:r>
            <a:r>
              <a:rPr lang="en-GB" sz="1500">
                <a:solidFill>
                  <a:srgbClr val="404040"/>
                </a:solidFill>
                <a:latin typeface="Calibri"/>
                <a:ea typeface="Calibri"/>
                <a:cs typeface="Calibri"/>
                <a:sym typeface="Calibri"/>
              </a:rPr>
              <a:t> — every runtime allocation is matched against which callers can </a:t>
            </a:r>
            <a:r>
              <a:rPr i="1" lang="en-GB" sz="1500">
                <a:solidFill>
                  <a:srgbClr val="404040"/>
                </a:solidFill>
                <a:latin typeface="Calibri"/>
                <a:ea typeface="Calibri"/>
                <a:cs typeface="Calibri"/>
                <a:sym typeface="Calibri"/>
              </a:rPr>
              <a:t>statically reach</a:t>
            </a:r>
            <a:r>
              <a:rPr lang="en-GB" sz="1500">
                <a:solidFill>
                  <a:srgbClr val="404040"/>
                </a:solidFill>
                <a:latin typeface="Calibri"/>
                <a:ea typeface="Calibri"/>
                <a:cs typeface="Calibri"/>
                <a:sym typeface="Calibri"/>
              </a:rPr>
              <a:t> its allocator</a:t>
            </a:r>
            <a:endParaRPr sz="1500">
              <a:solidFill>
                <a:srgbClr val="404040"/>
              </a:solidFill>
              <a:latin typeface="Calibri"/>
              <a:ea typeface="Calibri"/>
              <a:cs typeface="Calibri"/>
              <a:sym typeface="Calibri"/>
            </a:endParaRPr>
          </a:p>
          <a:p>
            <a:pPr indent="-323850" lvl="0" marL="457200" rtl="0" algn="l">
              <a:lnSpc>
                <a:spcPct val="95000"/>
              </a:lnSpc>
              <a:spcBef>
                <a:spcPts val="0"/>
              </a:spcBef>
              <a:spcAft>
                <a:spcPts val="0"/>
              </a:spcAft>
              <a:buClr>
                <a:srgbClr val="404040"/>
              </a:buClr>
              <a:buSzPts val="1500"/>
              <a:buFont typeface="Calibri"/>
              <a:buChar char="●"/>
            </a:pPr>
            <a:r>
              <a:rPr b="1" lang="en-GB" sz="1500">
                <a:solidFill>
                  <a:srgbClr val="404040"/>
                </a:solidFill>
                <a:latin typeface="Calibri"/>
                <a:ea typeface="Calibri"/>
                <a:cs typeface="Calibri"/>
                <a:sym typeface="Calibri"/>
              </a:rPr>
              <a:t>Canonical scenarios</a:t>
            </a:r>
            <a:r>
              <a:rPr lang="en-GB" sz="1500">
                <a:solidFill>
                  <a:srgbClr val="404040"/>
                </a:solidFill>
                <a:latin typeface="Calibri"/>
                <a:ea typeface="Calibri"/>
                <a:cs typeface="Calibri"/>
                <a:sym typeface="Calibri"/>
              </a:rPr>
              <a:t> — duplicate stacks collapse into </a:t>
            </a:r>
            <a:r>
              <a:rPr b="1" lang="en-GB" sz="1500">
                <a:solidFill>
                  <a:srgbClr val="404040"/>
                </a:solidFill>
                <a:latin typeface="Calibri"/>
                <a:ea typeface="Calibri"/>
                <a:cs typeface="Calibri"/>
                <a:sym typeface="Calibri"/>
              </a:rPr>
              <a:t>one reviewable scenario</a:t>
            </a:r>
            <a:r>
              <a:rPr lang="en-GB" sz="1500">
                <a:solidFill>
                  <a:srgbClr val="404040"/>
                </a:solidFill>
                <a:latin typeface="Calibri"/>
                <a:ea typeface="Calibri"/>
                <a:cs typeface="Calibri"/>
                <a:sym typeface="Calibri"/>
              </a:rPr>
              <a:t> each</a:t>
            </a:r>
            <a:endParaRPr sz="1500">
              <a:solidFill>
                <a:srgbClr val="404040"/>
              </a:solidFill>
              <a:latin typeface="Calibri"/>
              <a:ea typeface="Calibri"/>
              <a:cs typeface="Calibri"/>
              <a:sym typeface="Calibri"/>
            </a:endParaRPr>
          </a:p>
          <a:p>
            <a:pPr indent="-323850" lvl="0" marL="457200" rtl="0" algn="l">
              <a:lnSpc>
                <a:spcPct val="95000"/>
              </a:lnSpc>
              <a:spcBef>
                <a:spcPts val="0"/>
              </a:spcBef>
              <a:spcAft>
                <a:spcPts val="0"/>
              </a:spcAft>
              <a:buClr>
                <a:srgbClr val="404040"/>
              </a:buClr>
              <a:buSzPts val="1500"/>
              <a:buFont typeface="Calibri"/>
              <a:buChar char="●"/>
            </a:pPr>
            <a:r>
              <a:rPr b="1" lang="en-GB" sz="1500">
                <a:solidFill>
                  <a:srgbClr val="404040"/>
                </a:solidFill>
                <a:latin typeface="Calibri"/>
                <a:ea typeface="Calibri"/>
                <a:cs typeface="Calibri"/>
                <a:sym typeface="Calibri"/>
              </a:rPr>
              <a:t>Cause / effect safety model</a:t>
            </a:r>
            <a:r>
              <a:rPr lang="en-GB" sz="1500">
                <a:solidFill>
                  <a:srgbClr val="404040"/>
                </a:solidFill>
                <a:latin typeface="Calibri"/>
                <a:ea typeface="Calibri"/>
                <a:cs typeface="Calibri"/>
                <a:sym typeface="Calibri"/>
              </a:rPr>
              <a:t> — accept only if the cause is </a:t>
            </a:r>
            <a:r>
              <a:rPr i="1" lang="en-GB" sz="1500">
                <a:solidFill>
                  <a:srgbClr val="404040"/>
                </a:solidFill>
                <a:latin typeface="Calibri"/>
                <a:ea typeface="Calibri"/>
                <a:cs typeface="Calibri"/>
                <a:sym typeface="Calibri"/>
              </a:rPr>
              <a:t>bounded</a:t>
            </a:r>
            <a:r>
              <a:rPr lang="en-GB" sz="1500">
                <a:solidFill>
                  <a:srgbClr val="404040"/>
                </a:solidFill>
                <a:latin typeface="Calibri"/>
                <a:ea typeface="Calibri"/>
                <a:cs typeface="Calibri"/>
                <a:sym typeface="Calibri"/>
              </a:rPr>
              <a:t> or the effect is </a:t>
            </a:r>
            <a:r>
              <a:rPr i="1" lang="en-GB" sz="1500">
                <a:solidFill>
                  <a:srgbClr val="404040"/>
                </a:solidFill>
                <a:latin typeface="Calibri"/>
                <a:ea typeface="Calibri"/>
                <a:cs typeface="Calibri"/>
                <a:sym typeface="Calibri"/>
              </a:rPr>
              <a:t>freed before return</a:t>
            </a:r>
            <a:endParaRPr i="1" sz="1500">
              <a:solidFill>
                <a:srgbClr val="404040"/>
              </a:solidFill>
              <a:latin typeface="Calibri"/>
              <a:ea typeface="Calibri"/>
              <a:cs typeface="Calibri"/>
              <a:sym typeface="Calibri"/>
            </a:endParaRPr>
          </a:p>
          <a:p>
            <a:pPr indent="-323850" lvl="0" marL="457200" rtl="0" algn="l">
              <a:lnSpc>
                <a:spcPct val="95000"/>
              </a:lnSpc>
              <a:spcBef>
                <a:spcPts val="0"/>
              </a:spcBef>
              <a:spcAft>
                <a:spcPts val="0"/>
              </a:spcAft>
              <a:buClr>
                <a:srgbClr val="404040"/>
              </a:buClr>
              <a:buSzPts val="1500"/>
              <a:buFont typeface="Calibri"/>
              <a:buChar char="●"/>
            </a:pPr>
            <a:r>
              <a:rPr b="1" lang="en-GB" sz="1500">
                <a:solidFill>
                  <a:srgbClr val="404040"/>
                </a:solidFill>
                <a:latin typeface="Calibri"/>
                <a:ea typeface="Calibri"/>
                <a:cs typeface="Calibri"/>
                <a:sym typeface="Calibri"/>
              </a:rPr>
              <a:t>Curated annotations</a:t>
            </a:r>
            <a:r>
              <a:rPr lang="en-GB" sz="1500">
                <a:solidFill>
                  <a:srgbClr val="404040"/>
                </a:solidFill>
                <a:latin typeface="Calibri"/>
                <a:ea typeface="Calibri"/>
                <a:cs typeface="Calibri"/>
                <a:sym typeface="Calibri"/>
              </a:rPr>
              <a:t> — acceptance requires a </a:t>
            </a:r>
            <a:r>
              <a:rPr b="1" lang="en-GB" sz="1500">
                <a:solidFill>
                  <a:srgbClr val="404040"/>
                </a:solidFill>
                <a:latin typeface="Calibri"/>
                <a:ea typeface="Calibri"/>
                <a:cs typeface="Calibri"/>
                <a:sym typeface="Calibri"/>
              </a:rPr>
              <a:t>human </a:t>
            </a:r>
            <a:r>
              <a:rPr b="1" lang="en-GB" sz="1500">
                <a:solidFill>
                  <a:srgbClr val="404040"/>
                </a:solidFill>
                <a:latin typeface="Calibri"/>
                <a:ea typeface="Calibri"/>
                <a:cs typeface="Calibri"/>
                <a:sym typeface="Calibri"/>
              </a:rPr>
              <a:t>j</a:t>
            </a:r>
            <a:r>
              <a:rPr b="1" lang="en-GB" sz="1500">
                <a:solidFill>
                  <a:srgbClr val="404040"/>
                </a:solidFill>
                <a:latin typeface="Calibri"/>
                <a:ea typeface="Calibri"/>
                <a:cs typeface="Calibri"/>
                <a:sym typeface="Calibri"/>
              </a:rPr>
              <a:t>ustification</a:t>
            </a:r>
            <a:r>
              <a:rPr lang="en-GB" sz="1500">
                <a:solidFill>
                  <a:srgbClr val="404040"/>
                </a:solidFill>
                <a:latin typeface="Calibri"/>
                <a:ea typeface="Calibri"/>
                <a:cs typeface="Calibri"/>
                <a:sym typeface="Calibri"/>
              </a:rPr>
              <a:t> (never auto-accepted)</a:t>
            </a:r>
            <a:endParaRPr sz="1500">
              <a:solidFill>
                <a:srgbClr val="404040"/>
              </a:solidFill>
              <a:latin typeface="Calibri"/>
              <a:ea typeface="Calibri"/>
              <a:cs typeface="Calibri"/>
              <a:sym typeface="Calibri"/>
            </a:endParaRPr>
          </a:p>
          <a:p>
            <a:pPr indent="-323850" lvl="0" marL="457200" rtl="0" algn="l">
              <a:lnSpc>
                <a:spcPct val="95000"/>
              </a:lnSpc>
              <a:spcBef>
                <a:spcPts val="0"/>
              </a:spcBef>
              <a:spcAft>
                <a:spcPts val="0"/>
              </a:spcAft>
              <a:buClr>
                <a:srgbClr val="404040"/>
              </a:buClr>
              <a:buSzPts val="1500"/>
              <a:buFont typeface="Calibri"/>
              <a:buChar char="●"/>
            </a:pPr>
            <a:r>
              <a:rPr b="1" lang="en-GB" sz="1500">
                <a:solidFill>
                  <a:srgbClr val="404040"/>
                </a:solidFill>
                <a:latin typeface="Calibri"/>
                <a:ea typeface="Calibri"/>
                <a:cs typeface="Calibri"/>
                <a:sym typeface="Calibri"/>
              </a:rPr>
              <a:t>Honest residue</a:t>
            </a:r>
            <a:r>
              <a:rPr lang="en-GB" sz="1500">
                <a:solidFill>
                  <a:srgbClr val="404040"/>
                </a:solidFill>
                <a:latin typeface="Calibri"/>
                <a:ea typeface="Calibri"/>
                <a:cs typeface="Calibri"/>
                <a:sym typeface="Calibri"/>
              </a:rPr>
              <a:t> — caller-less &amp; softirq/RCU paths labelled by capture-fidelity reason, not guessed</a:t>
            </a:r>
            <a:endParaRPr sz="1500">
              <a:solidFill>
                <a:srgbClr val="404040"/>
              </a:solidFill>
              <a:latin typeface="Calibri"/>
              <a:ea typeface="Calibri"/>
              <a:cs typeface="Calibri"/>
              <a:sym typeface="Calibri"/>
            </a:endParaRPr>
          </a:p>
          <a:p>
            <a:pPr indent="-323850" lvl="0" marL="457200" rtl="0" algn="l">
              <a:lnSpc>
                <a:spcPct val="95000"/>
              </a:lnSpc>
              <a:spcBef>
                <a:spcPts val="0"/>
              </a:spcBef>
              <a:spcAft>
                <a:spcPts val="0"/>
              </a:spcAft>
              <a:buClr>
                <a:srgbClr val="404040"/>
              </a:buClr>
              <a:buSzPts val="1500"/>
              <a:buFont typeface="Calibri"/>
              <a:buChar char="●"/>
            </a:pPr>
            <a:r>
              <a:rPr b="1" lang="en-GB" sz="1500">
                <a:solidFill>
                  <a:srgbClr val="404040"/>
                </a:solidFill>
                <a:latin typeface="Calibri"/>
                <a:ea typeface="Calibri"/>
                <a:cs typeface="Calibri"/>
                <a:sym typeface="Calibri"/>
              </a:rPr>
              <a:t>Verdict + audit trail</a:t>
            </a:r>
            <a:r>
              <a:rPr lang="en-GB" sz="1500">
                <a:solidFill>
                  <a:srgbClr val="404040"/>
                </a:solidFill>
                <a:latin typeface="Calibri"/>
                <a:ea typeface="Calibri"/>
                <a:cs typeface="Calibri"/>
                <a:sym typeface="Calibri"/>
              </a:rPr>
              <a:t> — accepted / rejected / needs-review with a reduction report</a:t>
            </a:r>
            <a:endParaRPr sz="1500"/>
          </a:p>
        </p:txBody>
      </p:sp>
      <p:sp>
        <p:nvSpPr>
          <p:cNvPr id="449" name="Google Shape;449;g3ed2fd4185b_0_0"/>
          <p:cNvSpPr txBox="1"/>
          <p:nvPr/>
        </p:nvSpPr>
        <p:spPr>
          <a:xfrm>
            <a:off x="336600" y="676050"/>
            <a:ext cx="4740600" cy="52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rgbClr val="0000FF"/>
                </a:solidFill>
                <a:latin typeface="Calibri"/>
                <a:ea typeface="Calibri"/>
                <a:cs typeface="Calibri"/>
                <a:sym typeface="Calibri"/>
              </a:rPr>
              <a:t>Runtime traces turned into an auditable </a:t>
            </a:r>
            <a:r>
              <a:rPr b="1" lang="en-GB" sz="1600">
                <a:solidFill>
                  <a:srgbClr val="0000FF"/>
                </a:solidFill>
                <a:latin typeface="Calibri"/>
                <a:ea typeface="Calibri"/>
                <a:cs typeface="Calibri"/>
                <a:sym typeface="Calibri"/>
              </a:rPr>
              <a:t>safety claim</a:t>
            </a:r>
            <a:endParaRPr b="1" sz="1600">
              <a:solidFill>
                <a:srgbClr val="0000FF"/>
              </a:solidFill>
              <a:latin typeface="Calibri"/>
              <a:ea typeface="Calibri"/>
              <a:cs typeface="Calibri"/>
              <a:sym typeface="Calibri"/>
            </a:endParaRPr>
          </a:p>
          <a:p>
            <a:pPr indent="0" lvl="0" marL="0" rtl="0" algn="l">
              <a:spcBef>
                <a:spcPts val="0"/>
              </a:spcBef>
              <a:spcAft>
                <a:spcPts val="0"/>
              </a:spcAft>
              <a:buNone/>
            </a:pPr>
            <a:r>
              <a:t/>
            </a:r>
            <a:endParaRPr sz="1500">
              <a:solidFill>
                <a:srgbClr val="0000FF"/>
              </a:solidFill>
            </a:endParaRPr>
          </a:p>
        </p:txBody>
      </p:sp>
      <p:pic>
        <p:nvPicPr>
          <p:cNvPr id="450" name="Google Shape;450;g3ed2fd4185b_0_0"/>
          <p:cNvPicPr preferRelativeResize="0"/>
          <p:nvPr/>
        </p:nvPicPr>
        <p:blipFill>
          <a:blip r:embed="rId3">
            <a:alphaModFix/>
          </a:blip>
          <a:stretch>
            <a:fillRect/>
          </a:stretch>
        </p:blipFill>
        <p:spPr>
          <a:xfrm>
            <a:off x="5664975" y="642375"/>
            <a:ext cx="3095941" cy="4050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3eca4397e55_1_50"/>
          <p:cNvSpPr txBox="1"/>
          <p:nvPr>
            <p:ph type="title"/>
          </p:nvPr>
        </p:nvSpPr>
        <p:spPr>
          <a:xfrm>
            <a:off x="311700" y="14718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Going from Out of Context to “In </a:t>
            </a:r>
            <a:r>
              <a:rPr lang="en-GB">
                <a:extLst>
                  <a:ext uri="http://customooxmlschemas.google.com/">
                    <go:slidesCustomData xmlns:go="http://customooxmlschemas.google.com/" textRoundtripDataId="0"/>
                  </a:ext>
                </a:extLst>
              </a:rPr>
              <a:t>context</a:t>
            </a:r>
            <a:r>
              <a:rPr lang="en-GB"/>
              <a:t>”</a:t>
            </a:r>
            <a:endParaRPr/>
          </a:p>
        </p:txBody>
      </p:sp>
      <p:sp>
        <p:nvSpPr>
          <p:cNvPr id="456" name="Google Shape;456;g3eca4397e55_1_50"/>
          <p:cNvSpPr txBox="1"/>
          <p:nvPr>
            <p:ph idx="1" type="body"/>
          </p:nvPr>
        </p:nvSpPr>
        <p:spPr>
          <a:xfrm>
            <a:off x="311700" y="864975"/>
            <a:ext cx="8520600" cy="370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DO-178C certification is within the context of a system**.  It consists of objectives which are met by completing activities</a:t>
            </a:r>
            <a:r>
              <a:rPr lang="en-GB"/>
              <a:t> (possibly with independence) </a:t>
            </a:r>
            <a:r>
              <a:rPr lang="en-GB"/>
              <a:t>to produce specific artifacts. This complements FUSA efforts as follows.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b="1" lang="en-GB"/>
              <a:t>More stringent system failure target</a:t>
            </a:r>
            <a:r>
              <a:rPr lang="en-GB"/>
              <a:t> - Catastrophic failure** conditions (driving SWL-A) require ≤1E-9 per flight hour vs ASIL-D ≤1E-8 per hour</a:t>
            </a:r>
            <a:br>
              <a:rPr lang="en-GB"/>
            </a:br>
            <a:endParaRPr/>
          </a:p>
          <a:p>
            <a:pPr indent="-342900" lvl="0" marL="457200" rtl="0" algn="l">
              <a:spcBef>
                <a:spcPts val="0"/>
              </a:spcBef>
              <a:spcAft>
                <a:spcPts val="0"/>
              </a:spcAft>
              <a:buSzPts val="1800"/>
              <a:buChar char="-"/>
            </a:pPr>
            <a:r>
              <a:rPr b="1" lang="en-GB"/>
              <a:t>Deeper verification rigor</a:t>
            </a:r>
            <a:r>
              <a:rPr lang="en-GB"/>
              <a:t> - Strengthens the certification evidence</a:t>
            </a:r>
            <a:br>
              <a:rPr lang="en-GB"/>
            </a:br>
            <a:endParaRPr/>
          </a:p>
          <a:p>
            <a:pPr indent="-342900" lvl="0" marL="457200" rtl="0" algn="l">
              <a:spcBef>
                <a:spcPts val="0"/>
              </a:spcBef>
              <a:spcAft>
                <a:spcPts val="0"/>
              </a:spcAft>
              <a:buSzPts val="1800"/>
              <a:buChar char="-"/>
            </a:pPr>
            <a:r>
              <a:rPr b="1" lang="en-GB"/>
              <a:t>Evergreen-friendly</a:t>
            </a:r>
            <a:r>
              <a:rPr lang="en-GB"/>
              <a:t> - Supports continuous upstream development; certification artifacts remain maintainable as the codebase evolves</a:t>
            </a:r>
            <a:endParaRPr/>
          </a:p>
        </p:txBody>
      </p:sp>
      <p:sp>
        <p:nvSpPr>
          <p:cNvPr id="457" name="Google Shape;457;g3eca4397e55_1_50"/>
          <p:cNvSpPr txBox="1"/>
          <p:nvPr/>
        </p:nvSpPr>
        <p:spPr>
          <a:xfrm>
            <a:off x="4704400" y="4771775"/>
            <a:ext cx="4323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t>**</a:t>
            </a:r>
            <a:r>
              <a:rPr lang="en-GB" sz="800"/>
              <a:t>system-level concern from ARP 4754A/4761 drives this and sets the SWL</a:t>
            </a:r>
            <a:endParaRPr sz="800"/>
          </a:p>
        </p:txBody>
      </p:sp>
      <p:pic>
        <p:nvPicPr>
          <p:cNvPr id="458" name="Google Shape;458;g3eca4397e55_1_50"/>
          <p:cNvPicPr preferRelativeResize="0"/>
          <p:nvPr/>
        </p:nvPicPr>
        <p:blipFill>
          <a:blip r:embed="rId3">
            <a:alphaModFix/>
          </a:blip>
          <a:stretch>
            <a:fillRect/>
          </a:stretch>
        </p:blipFill>
        <p:spPr>
          <a:xfrm>
            <a:off x="8128975" y="86750"/>
            <a:ext cx="899325" cy="899325"/>
          </a:xfrm>
          <a:prstGeom prst="rect">
            <a:avLst/>
          </a:prstGeom>
          <a:noFill/>
          <a:ln>
            <a:noFill/>
          </a:ln>
        </p:spPr>
      </p:pic>
      <p:sp>
        <p:nvSpPr>
          <p:cNvPr id="459" name="Google Shape;459;g3eca4397e55_1_50"/>
          <p:cNvSpPr txBox="1"/>
          <p:nvPr/>
        </p:nvSpPr>
        <p:spPr>
          <a:xfrm>
            <a:off x="8911725" y="147175"/>
            <a:ext cx="763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t>**</a:t>
            </a:r>
            <a:endParaRPr sz="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e5c2ad4d7e_0_58"/>
          <p:cNvSpPr txBox="1"/>
          <p:nvPr>
            <p:ph type="title"/>
          </p:nvPr>
        </p:nvSpPr>
        <p:spPr>
          <a:xfrm>
            <a:off x="311700" y="147175"/>
            <a:ext cx="2989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Additions to the FuSa Software Lifecycle</a:t>
            </a:r>
            <a:endParaRPr/>
          </a:p>
        </p:txBody>
      </p:sp>
      <p:pic>
        <p:nvPicPr>
          <p:cNvPr id="465" name="Google Shape;465;g3e5c2ad4d7e_0_58"/>
          <p:cNvPicPr preferRelativeResize="0"/>
          <p:nvPr/>
        </p:nvPicPr>
        <p:blipFill>
          <a:blip r:embed="rId3">
            <a:alphaModFix/>
          </a:blip>
          <a:stretch>
            <a:fillRect/>
          </a:stretch>
        </p:blipFill>
        <p:spPr>
          <a:xfrm>
            <a:off x="3453300" y="152400"/>
            <a:ext cx="5538301" cy="472948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3eca4397e55_1_87"/>
          <p:cNvSpPr txBox="1"/>
          <p:nvPr>
            <p:ph type="title"/>
          </p:nvPr>
        </p:nvSpPr>
        <p:spPr>
          <a:xfrm>
            <a:off x="311700" y="147175"/>
            <a:ext cx="2989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Additions to the FuSa Software Lifecycle:</a:t>
            </a:r>
            <a:br>
              <a:rPr lang="en-GB"/>
            </a:br>
            <a:br>
              <a:rPr lang="en-GB"/>
            </a:br>
            <a:r>
              <a:rPr lang="en-GB"/>
              <a:t>Low Level Requirements</a:t>
            </a:r>
            <a:endParaRPr/>
          </a:p>
        </p:txBody>
      </p:sp>
      <p:pic>
        <p:nvPicPr>
          <p:cNvPr id="471" name="Google Shape;471;g3eca4397e55_1_87"/>
          <p:cNvPicPr preferRelativeResize="0"/>
          <p:nvPr/>
        </p:nvPicPr>
        <p:blipFill>
          <a:blip r:embed="rId3">
            <a:alphaModFix/>
          </a:blip>
          <a:stretch>
            <a:fillRect/>
          </a:stretch>
        </p:blipFill>
        <p:spPr>
          <a:xfrm>
            <a:off x="3453300" y="152400"/>
            <a:ext cx="5538301" cy="4729489"/>
          </a:xfrm>
          <a:prstGeom prst="rect">
            <a:avLst/>
          </a:prstGeom>
          <a:noFill/>
          <a:ln>
            <a:noFill/>
          </a:ln>
        </p:spPr>
      </p:pic>
      <p:sp>
        <p:nvSpPr>
          <p:cNvPr id="472" name="Google Shape;472;g3eca4397e55_1_87"/>
          <p:cNvSpPr/>
          <p:nvPr/>
        </p:nvSpPr>
        <p:spPr>
          <a:xfrm>
            <a:off x="6196025" y="617850"/>
            <a:ext cx="2795700" cy="15348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g3eca4397e55_1_87"/>
          <p:cNvSpPr txBox="1"/>
          <p:nvPr/>
        </p:nvSpPr>
        <p:spPr>
          <a:xfrm>
            <a:off x="44125" y="285087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474" name="Google Shape;474;g3eca4397e55_1_87"/>
          <p:cNvSpPr txBox="1"/>
          <p:nvPr/>
        </p:nvSpPr>
        <p:spPr>
          <a:xfrm>
            <a:off x="242250" y="3530500"/>
            <a:ext cx="1632900" cy="127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900">
              <a:solidFill>
                <a:schemeClr val="dk2"/>
              </a:solidFill>
            </a:endParaRPr>
          </a:p>
          <a:p>
            <a:pPr indent="0" lvl="0" marL="0" rtl="0" algn="l">
              <a:lnSpc>
                <a:spcPct val="115000"/>
              </a:lnSpc>
              <a:spcBef>
                <a:spcPts val="0"/>
              </a:spcBef>
              <a:spcAft>
                <a:spcPts val="0"/>
              </a:spcAft>
              <a:buNone/>
            </a:pPr>
            <a:r>
              <a:rPr lang="en-GB" sz="900" u="sng">
                <a:solidFill>
                  <a:schemeClr val="accent5"/>
                </a:solidFill>
                <a:hlinkClick r:id="rId4">
                  <a:extLst>
                    <a:ext uri="{A12FA001-AC4F-418D-AE19-62706E023703}">
                      <ahyp:hlinkClr val="tx"/>
                    </a:ext>
                  </a:extLst>
                </a:hlinkClick>
              </a:rPr>
              <a:t>https://gitlab.com/xen-project/fusa/requirements/-/tree/master/design_reqs/domain_creation_and_runtime/physical_resources/arm64/mmu/pt</a:t>
            </a:r>
            <a:endParaRPr sz="900">
              <a:solidFill>
                <a:schemeClr val="dk2"/>
              </a:solidFill>
            </a:endParaRPr>
          </a:p>
          <a:p>
            <a:pPr indent="0" lvl="0" marL="0" rtl="0" algn="l">
              <a:lnSpc>
                <a:spcPct val="115000"/>
              </a:lnSpc>
              <a:spcBef>
                <a:spcPts val="0"/>
              </a:spcBef>
              <a:spcAft>
                <a:spcPts val="0"/>
              </a:spcAft>
              <a:buNone/>
            </a:pPr>
            <a:r>
              <a:t/>
            </a:r>
            <a:endParaRPr sz="900">
              <a:solidFill>
                <a:schemeClr val="dk2"/>
              </a:solidFill>
            </a:endParaRPr>
          </a:p>
        </p:txBody>
      </p:sp>
      <p:pic>
        <p:nvPicPr>
          <p:cNvPr id="475" name="Google Shape;475;g3eca4397e55_1_87"/>
          <p:cNvPicPr preferRelativeResize="0"/>
          <p:nvPr/>
        </p:nvPicPr>
        <p:blipFill>
          <a:blip r:embed="rId5">
            <a:alphaModFix/>
          </a:blip>
          <a:stretch>
            <a:fillRect/>
          </a:stretch>
        </p:blipFill>
        <p:spPr>
          <a:xfrm>
            <a:off x="2042800" y="3793750"/>
            <a:ext cx="803200" cy="803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3eca4397e55_1_94"/>
          <p:cNvSpPr txBox="1"/>
          <p:nvPr>
            <p:ph type="title"/>
          </p:nvPr>
        </p:nvSpPr>
        <p:spPr>
          <a:xfrm>
            <a:off x="311700" y="147175"/>
            <a:ext cx="2989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Additions to the FuSa Software Lifecycle:</a:t>
            </a:r>
            <a:br>
              <a:rPr lang="en-GB"/>
            </a:br>
            <a:br>
              <a:rPr lang="en-GB"/>
            </a:br>
            <a:r>
              <a:rPr lang="en-GB"/>
              <a:t>Unit Testing of LLRs for Coverage</a:t>
            </a:r>
            <a:endParaRPr/>
          </a:p>
          <a:p>
            <a:pPr indent="0" lvl="0" marL="0" rtl="0" algn="l">
              <a:spcBef>
                <a:spcPts val="0"/>
              </a:spcBef>
              <a:spcAft>
                <a:spcPts val="0"/>
              </a:spcAft>
              <a:buNone/>
            </a:pPr>
            <a:r>
              <a:t/>
            </a:r>
            <a:endParaRPr/>
          </a:p>
        </p:txBody>
      </p:sp>
      <p:pic>
        <p:nvPicPr>
          <p:cNvPr id="481" name="Google Shape;481;g3eca4397e55_1_94"/>
          <p:cNvPicPr preferRelativeResize="0"/>
          <p:nvPr/>
        </p:nvPicPr>
        <p:blipFill>
          <a:blip r:embed="rId3">
            <a:alphaModFix/>
          </a:blip>
          <a:stretch>
            <a:fillRect/>
          </a:stretch>
        </p:blipFill>
        <p:spPr>
          <a:xfrm>
            <a:off x="3453300" y="152400"/>
            <a:ext cx="5538301" cy="4729489"/>
          </a:xfrm>
          <a:prstGeom prst="rect">
            <a:avLst/>
          </a:prstGeom>
          <a:noFill/>
          <a:ln>
            <a:noFill/>
          </a:ln>
        </p:spPr>
      </p:pic>
      <p:sp>
        <p:nvSpPr>
          <p:cNvPr id="482" name="Google Shape;482;g3eca4397e55_1_94"/>
          <p:cNvSpPr/>
          <p:nvPr/>
        </p:nvSpPr>
        <p:spPr>
          <a:xfrm flipH="1" rot="10800000">
            <a:off x="6196025" y="2753850"/>
            <a:ext cx="2795700" cy="14298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g3eca4397e55_1_94"/>
          <p:cNvSpPr txBox="1"/>
          <p:nvPr/>
        </p:nvSpPr>
        <p:spPr>
          <a:xfrm>
            <a:off x="258750" y="3661350"/>
            <a:ext cx="1632900" cy="111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u="sng">
                <a:solidFill>
                  <a:schemeClr val="accent5"/>
                </a:solidFill>
                <a:hlinkClick r:id="rId4">
                  <a:extLst>
                    <a:ext uri="{A12FA001-AC4F-418D-AE19-62706E023703}">
                      <ahyp:hlinkClr val="tx"/>
                    </a:ext>
                  </a:extLst>
                </a:hlinkClick>
              </a:rPr>
              <a:t>https://gitlab.com/xen-project/fusa/test_specifications/-/blob/master/dom</a:t>
            </a:r>
            <a:r>
              <a:rPr lang="en-GB" sz="900" u="sng">
                <a:solidFill>
                  <a:schemeClr val="accent5"/>
                </a:solidFill>
                <a:hlinkClick r:id="rId5">
                  <a:extLst>
                    <a:ext uri="{A12FA001-AC4F-418D-AE19-62706E023703}">
                      <ahyp:hlinkClr val="tx"/>
                    </a:ext>
                  </a:extLst>
                </a:hlinkClick>
              </a:rPr>
              <a:t>ain_creation_and_runtime/physical_resources/arm64/mmu/pt/pt.tc</a:t>
            </a:r>
            <a:r>
              <a:rPr lang="en-GB" sz="900" u="sng">
                <a:solidFill>
                  <a:schemeClr val="accent5"/>
                </a:solidFill>
                <a:hlinkClick r:id="rId6">
                  <a:extLst>
                    <a:ext uri="{A12FA001-AC4F-418D-AE19-62706E023703}">
                      <ahyp:hlinkClr val="tx"/>
                    </a:ext>
                  </a:extLst>
                </a:hlinkClick>
              </a:rPr>
              <a:t>.md</a:t>
            </a:r>
            <a:endParaRPr sz="900">
              <a:solidFill>
                <a:schemeClr val="dk2"/>
              </a:solidFill>
            </a:endParaRPr>
          </a:p>
          <a:p>
            <a:pPr indent="0" lvl="0" marL="0" rtl="0" algn="l">
              <a:lnSpc>
                <a:spcPct val="115000"/>
              </a:lnSpc>
              <a:spcBef>
                <a:spcPts val="0"/>
              </a:spcBef>
              <a:spcAft>
                <a:spcPts val="0"/>
              </a:spcAft>
              <a:buClr>
                <a:schemeClr val="dk1"/>
              </a:buClr>
              <a:buSzPts val="1100"/>
              <a:buFont typeface="Arial"/>
              <a:buNone/>
            </a:pPr>
            <a:r>
              <a:t/>
            </a:r>
            <a:endParaRPr sz="900">
              <a:solidFill>
                <a:schemeClr val="dk2"/>
              </a:solidFill>
            </a:endParaRPr>
          </a:p>
        </p:txBody>
      </p:sp>
      <p:pic>
        <p:nvPicPr>
          <p:cNvPr id="484" name="Google Shape;484;g3eca4397e55_1_94"/>
          <p:cNvPicPr preferRelativeResize="0"/>
          <p:nvPr/>
        </p:nvPicPr>
        <p:blipFill>
          <a:blip r:embed="rId7">
            <a:alphaModFix/>
          </a:blip>
          <a:stretch>
            <a:fillRect/>
          </a:stretch>
        </p:blipFill>
        <p:spPr>
          <a:xfrm>
            <a:off x="2024000" y="3749625"/>
            <a:ext cx="803200" cy="803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g3eca4397e55_1_125"/>
          <p:cNvSpPr txBox="1"/>
          <p:nvPr>
            <p:ph type="title"/>
          </p:nvPr>
        </p:nvSpPr>
        <p:spPr>
          <a:xfrm>
            <a:off x="311700" y="14718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Unit testing(whitebox) of Xen Page Table</a:t>
            </a:r>
            <a:endParaRPr/>
          </a:p>
        </p:txBody>
      </p:sp>
      <p:sp>
        <p:nvSpPr>
          <p:cNvPr id="490" name="Google Shape;490;g3eca4397e55_1_125"/>
          <p:cNvSpPr txBox="1"/>
          <p:nvPr>
            <p:ph idx="1" type="body"/>
          </p:nvPr>
        </p:nvSpPr>
        <p:spPr>
          <a:xfrm>
            <a:off x="311700" y="909100"/>
            <a:ext cx="2883300" cy="3138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GB"/>
              <a:t>Goals:</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GB"/>
              <a:t>Automated regression signals</a:t>
            </a:r>
            <a:r>
              <a:rPr lang="en-GB"/>
              <a:t> - Coverage and CI results provide early indicators of impactful changes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Non-intrusive testing</a:t>
            </a:r>
            <a:r>
              <a:rPr lang="en-GB"/>
              <a:t> - Validates and measures coverage without modifying production code, keeping the software under test identical to what deploys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Massive Scale</a:t>
            </a:r>
            <a:r>
              <a:rPr lang="en-GB"/>
              <a:t> - Supports thousands of low level tests, fails fast, and minimizes required compute time</a:t>
            </a:r>
            <a:endParaRPr/>
          </a:p>
        </p:txBody>
      </p:sp>
      <p:sp>
        <p:nvSpPr>
          <p:cNvPr id="491" name="Google Shape;491;g3eca4397e55_1_125"/>
          <p:cNvSpPr txBox="1"/>
          <p:nvPr/>
        </p:nvSpPr>
        <p:spPr>
          <a:xfrm>
            <a:off x="311700" y="4237225"/>
            <a:ext cx="1632900" cy="64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u="sng">
                <a:solidFill>
                  <a:schemeClr val="accent5"/>
                </a:solidFill>
                <a:hlinkClick r:id="rId3">
                  <a:extLst>
                    <a:ext uri="{A12FA001-AC4F-418D-AE19-62706E023703}">
                      <ahyp:hlinkClr val="tx"/>
                    </a:ext>
                  </a:extLst>
                </a:hlinkClick>
              </a:rPr>
              <a:t>https://gitlab.com/xen-project/fusa/xen-integration/-/merge_requests/20</a:t>
            </a:r>
            <a:endParaRPr sz="900">
              <a:solidFill>
                <a:schemeClr val="dk2"/>
              </a:solidFill>
            </a:endParaRPr>
          </a:p>
        </p:txBody>
      </p:sp>
      <p:pic>
        <p:nvPicPr>
          <p:cNvPr id="492" name="Google Shape;492;g3eca4397e55_1_125"/>
          <p:cNvPicPr preferRelativeResize="0"/>
          <p:nvPr/>
        </p:nvPicPr>
        <p:blipFill>
          <a:blip r:embed="rId4">
            <a:alphaModFix/>
          </a:blip>
          <a:stretch>
            <a:fillRect/>
          </a:stretch>
        </p:blipFill>
        <p:spPr>
          <a:xfrm>
            <a:off x="2030025" y="4237225"/>
            <a:ext cx="856150" cy="856150"/>
          </a:xfrm>
          <a:prstGeom prst="rect">
            <a:avLst/>
          </a:prstGeom>
          <a:noFill/>
          <a:ln>
            <a:noFill/>
          </a:ln>
        </p:spPr>
      </p:pic>
      <p:pic>
        <p:nvPicPr>
          <p:cNvPr id="493" name="Google Shape;493;g3eca4397e55_1_125"/>
          <p:cNvPicPr preferRelativeResize="0"/>
          <p:nvPr/>
        </p:nvPicPr>
        <p:blipFill>
          <a:blip r:embed="rId5">
            <a:alphaModFix/>
          </a:blip>
          <a:stretch>
            <a:fillRect/>
          </a:stretch>
        </p:blipFill>
        <p:spPr>
          <a:xfrm>
            <a:off x="3157915" y="847300"/>
            <a:ext cx="5986085" cy="33899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3eca4397e55_1_30"/>
          <p:cNvSpPr txBox="1"/>
          <p:nvPr>
            <p:ph type="title"/>
          </p:nvPr>
        </p:nvSpPr>
        <p:spPr>
          <a:xfrm>
            <a:off x="90300" y="273625"/>
            <a:ext cx="1906800" cy="2418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Example: </a:t>
            </a:r>
            <a:r>
              <a:rPr lang="en-GB" sz="2700"/>
              <a:t>DO-178C Mixed Criticality</a:t>
            </a:r>
            <a:endParaRPr sz="2700"/>
          </a:p>
          <a:p>
            <a:pPr indent="0" lvl="0" marL="0" rtl="0" algn="l">
              <a:lnSpc>
                <a:spcPct val="100000"/>
              </a:lnSpc>
              <a:spcBef>
                <a:spcPts val="0"/>
              </a:spcBef>
              <a:spcAft>
                <a:spcPts val="0"/>
              </a:spcAft>
              <a:buSzPts val="2800"/>
              <a:buNone/>
            </a:pPr>
            <a:r>
              <a:rPr lang="en-GB" sz="2700"/>
              <a:t>System</a:t>
            </a:r>
            <a:endParaRPr sz="2700"/>
          </a:p>
        </p:txBody>
      </p:sp>
      <p:sp>
        <p:nvSpPr>
          <p:cNvPr id="499" name="Google Shape;499;g3eca4397e55_1_30"/>
          <p:cNvSpPr txBox="1"/>
          <p:nvPr>
            <p:ph type="title"/>
          </p:nvPr>
        </p:nvSpPr>
        <p:spPr>
          <a:xfrm>
            <a:off x="370500" y="3755850"/>
            <a:ext cx="8621100" cy="102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000"/>
              <a:t>(DO-178C Sec. 2.3)</a:t>
            </a:r>
            <a:r>
              <a:rPr lang="en-GB" sz="1000"/>
              <a:t> </a:t>
            </a:r>
            <a:r>
              <a:rPr i="1" lang="en-GB" sz="1000"/>
              <a:t>“only partitioned (time&amp;space) software components can be assigned individual SWL by the system safety assessment Process.“</a:t>
            </a:r>
            <a:br>
              <a:rPr i="1" lang="en-GB" sz="1000"/>
            </a:br>
            <a:endParaRPr i="1" sz="1000"/>
          </a:p>
          <a:p>
            <a:pPr indent="0" lvl="0" marL="0" rtl="0" algn="l">
              <a:spcBef>
                <a:spcPts val="0"/>
              </a:spcBef>
              <a:spcAft>
                <a:spcPts val="0"/>
              </a:spcAft>
              <a:buClr>
                <a:schemeClr val="dk1"/>
              </a:buClr>
              <a:buSzPts val="1100"/>
              <a:buFont typeface="Arial"/>
              <a:buNone/>
            </a:pPr>
            <a:r>
              <a:rPr b="1" lang="en-GB" sz="1000"/>
              <a:t>(DO-178C Sec. 2.4)</a:t>
            </a:r>
            <a:r>
              <a:rPr b="1" i="1" lang="en-GB" sz="1000"/>
              <a:t> </a:t>
            </a:r>
            <a:r>
              <a:rPr i="1" lang="en-GB" sz="1000"/>
              <a:t>“if partitioning and independence between software components cannot be demonstrated, all components are assigned the SWL associated with the most severe failure condition to which the software can contribute”</a:t>
            </a:r>
            <a:endParaRPr i="1" sz="1000"/>
          </a:p>
          <a:p>
            <a:pPr indent="0" lvl="0" marL="0" rtl="0" algn="l">
              <a:lnSpc>
                <a:spcPct val="100000"/>
              </a:lnSpc>
              <a:spcBef>
                <a:spcPts val="0"/>
              </a:spcBef>
              <a:spcAft>
                <a:spcPts val="0"/>
              </a:spcAft>
              <a:buSzPts val="2800"/>
              <a:buNone/>
            </a:pPr>
            <a:r>
              <a:t/>
            </a:r>
            <a:endParaRPr sz="1700"/>
          </a:p>
        </p:txBody>
      </p:sp>
      <p:pic>
        <p:nvPicPr>
          <p:cNvPr id="500" name="Google Shape;500;g3eca4397e55_1_30"/>
          <p:cNvPicPr preferRelativeResize="0"/>
          <p:nvPr/>
        </p:nvPicPr>
        <p:blipFill>
          <a:blip r:embed="rId3">
            <a:alphaModFix/>
          </a:blip>
          <a:stretch>
            <a:fillRect/>
          </a:stretch>
        </p:blipFill>
        <p:spPr>
          <a:xfrm>
            <a:off x="1997100" y="73794"/>
            <a:ext cx="6994500" cy="3607681"/>
          </a:xfrm>
          <a:prstGeom prst="rect">
            <a:avLst/>
          </a:prstGeom>
          <a:noFill/>
          <a:ln>
            <a:noFill/>
          </a:ln>
        </p:spPr>
      </p:pic>
      <p:sp>
        <p:nvSpPr>
          <p:cNvPr id="501" name="Google Shape;501;g3eca4397e55_1_30"/>
          <p:cNvSpPr txBox="1"/>
          <p:nvPr/>
        </p:nvSpPr>
        <p:spPr>
          <a:xfrm>
            <a:off x="1032675" y="4854125"/>
            <a:ext cx="8700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1000"/>
              <a:t>Diagram f</a:t>
            </a:r>
            <a:r>
              <a:rPr i="1" lang="en-GB" sz="1000"/>
              <a:t>rom: ELISA Aerospace WG discussions on mixed criticality - </a:t>
            </a:r>
            <a:r>
              <a:rPr i="1" lang="en-GB" sz="1000" u="sng">
                <a:solidFill>
                  <a:schemeClr val="hlink"/>
                </a:solidFill>
                <a:hlinkClick r:id="rId4"/>
              </a:rPr>
              <a:t>https://github.com/elisa-tech/wg-aerospace/pull/177</a:t>
            </a:r>
            <a:endParaRPr i="1" sz="1000"/>
          </a:p>
          <a:p>
            <a:pPr indent="0" lvl="0" marL="0" rtl="0" algn="l">
              <a:spcBef>
                <a:spcPts val="0"/>
              </a:spcBef>
              <a:spcAft>
                <a:spcPts val="0"/>
              </a:spcAft>
              <a:buNone/>
            </a:pPr>
            <a:r>
              <a:t/>
            </a:r>
            <a:endParaRPr i="1" sz="1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9"/>
          <p:cNvSpPr txBox="1"/>
          <p:nvPr/>
        </p:nvSpPr>
        <p:spPr>
          <a:xfrm>
            <a:off x="249975" y="599200"/>
            <a:ext cx="6928500" cy="203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en-GB" sz="1500">
                <a:solidFill>
                  <a:srgbClr val="434343"/>
                </a:solidFill>
              </a:rPr>
              <a:t>Launching a new Xen Project membership Tier for Safety</a:t>
            </a:r>
            <a:endParaRPr sz="1500">
              <a:solidFill>
                <a:srgbClr val="434343"/>
              </a:solidFill>
            </a:endParaRPr>
          </a:p>
          <a:p>
            <a:pPr indent="0" lvl="0" marL="0" marR="0" rtl="0" algn="l">
              <a:lnSpc>
                <a:spcPct val="100000"/>
              </a:lnSpc>
              <a:spcBef>
                <a:spcPts val="0"/>
              </a:spcBef>
              <a:spcAft>
                <a:spcPts val="0"/>
              </a:spcAft>
              <a:buClr>
                <a:srgbClr val="000000"/>
              </a:buClr>
              <a:buSzPts val="1800"/>
              <a:buFont typeface="Arial"/>
              <a:buNone/>
            </a:pPr>
            <a:r>
              <a:rPr lang="en-GB" sz="1500">
                <a:solidFill>
                  <a:srgbClr val="434343"/>
                </a:solidFill>
              </a:rPr>
              <a:t>Defining the Quality Management processes &amp; maintainability</a:t>
            </a:r>
            <a:endParaRPr sz="1500">
              <a:solidFill>
                <a:srgbClr val="434343"/>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rgbClr val="434343"/>
              </a:solidFill>
            </a:endParaRPr>
          </a:p>
          <a:p>
            <a:pPr indent="0" lvl="0" marL="0" marR="0" rtl="0" algn="l">
              <a:lnSpc>
                <a:spcPct val="100000"/>
              </a:lnSpc>
              <a:spcBef>
                <a:spcPts val="0"/>
              </a:spcBef>
              <a:spcAft>
                <a:spcPts val="0"/>
              </a:spcAft>
              <a:buClr>
                <a:srgbClr val="000000"/>
              </a:buClr>
              <a:buSzPts val="1800"/>
              <a:buFont typeface="Arial"/>
              <a:buNone/>
            </a:pPr>
            <a:r>
              <a:t/>
            </a:r>
            <a:endParaRPr sz="1800">
              <a:solidFill>
                <a:srgbClr val="434343"/>
              </a:solidFil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Arial"/>
              <a:ea typeface="Arial"/>
              <a:cs typeface="Arial"/>
              <a:sym typeface="Arial"/>
            </a:endParaRPr>
          </a:p>
        </p:txBody>
      </p:sp>
      <p:sp>
        <p:nvSpPr>
          <p:cNvPr id="507" name="Google Shape;507;p39"/>
          <p:cNvSpPr txBox="1"/>
          <p:nvPr/>
        </p:nvSpPr>
        <p:spPr>
          <a:xfrm>
            <a:off x="198550" y="87825"/>
            <a:ext cx="8717700" cy="41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500">
                <a:solidFill>
                  <a:schemeClr val="dk2"/>
                </a:solidFill>
              </a:rPr>
              <a:t>Adding and </a:t>
            </a:r>
            <a:r>
              <a:rPr b="1" lang="en-GB" sz="2500">
                <a:solidFill>
                  <a:schemeClr val="dk2"/>
                </a:solidFill>
              </a:rPr>
              <a:t>Maintaining</a:t>
            </a:r>
            <a:r>
              <a:rPr b="1" lang="en-GB" sz="2500">
                <a:solidFill>
                  <a:schemeClr val="dk2"/>
                </a:solidFill>
              </a:rPr>
              <a:t> evergreen certification artifacts</a:t>
            </a:r>
            <a:endParaRPr b="1" sz="2500">
              <a:solidFill>
                <a:schemeClr val="dk2"/>
              </a:solidFill>
            </a:endParaRPr>
          </a:p>
        </p:txBody>
      </p:sp>
      <p:pic>
        <p:nvPicPr>
          <p:cNvPr id="508" name="Google Shape;508;p39" title="graph (9).png"/>
          <p:cNvPicPr preferRelativeResize="0"/>
          <p:nvPr/>
        </p:nvPicPr>
        <p:blipFill>
          <a:blip r:embed="rId3">
            <a:alphaModFix/>
          </a:blip>
          <a:stretch>
            <a:fillRect/>
          </a:stretch>
        </p:blipFill>
        <p:spPr>
          <a:xfrm>
            <a:off x="401900" y="1278825"/>
            <a:ext cx="5253925" cy="3629526"/>
          </a:xfrm>
          <a:prstGeom prst="rect">
            <a:avLst/>
          </a:prstGeom>
          <a:noFill/>
          <a:ln>
            <a:noFill/>
          </a:ln>
        </p:spPr>
      </p:pic>
      <p:sp>
        <p:nvSpPr>
          <p:cNvPr id="509" name="Google Shape;509;p39"/>
          <p:cNvSpPr txBox="1"/>
          <p:nvPr/>
        </p:nvSpPr>
        <p:spPr>
          <a:xfrm>
            <a:off x="5825275" y="867325"/>
            <a:ext cx="2989200" cy="1704300"/>
          </a:xfrm>
          <a:prstGeom prst="rect">
            <a:avLst/>
          </a:prstGeom>
          <a:noFill/>
          <a:ln>
            <a:noFill/>
          </a:ln>
        </p:spPr>
        <p:txBody>
          <a:bodyPr anchorCtr="0" anchor="t" bIns="91425" lIns="91425" spcFirstLastPara="1" rIns="91425" wrap="square" tIns="91425">
            <a:noAutofit/>
          </a:bodyPr>
          <a:lstStyle/>
          <a:p>
            <a:pPr indent="-323850" lvl="0" marL="457200" rtl="0" algn="l">
              <a:lnSpc>
                <a:spcPct val="114000"/>
              </a:lnSpc>
              <a:spcBef>
                <a:spcPts val="0"/>
              </a:spcBef>
              <a:spcAft>
                <a:spcPts val="0"/>
              </a:spcAft>
              <a:buClr>
                <a:schemeClr val="dk2"/>
              </a:buClr>
              <a:buSzPts val="1500"/>
              <a:buChar char="●"/>
            </a:pPr>
            <a:r>
              <a:rPr lang="en-GB" sz="1500">
                <a:solidFill>
                  <a:schemeClr val="dk2"/>
                </a:solidFill>
              </a:rPr>
              <a:t>Lightweight QMS process</a:t>
            </a:r>
            <a:endParaRPr sz="1500">
              <a:solidFill>
                <a:schemeClr val="dk2"/>
              </a:solidFill>
            </a:endParaRPr>
          </a:p>
          <a:p>
            <a:pPr indent="-304800" lvl="1" marL="914400" rtl="0" algn="l">
              <a:lnSpc>
                <a:spcPct val="114000"/>
              </a:lnSpc>
              <a:spcBef>
                <a:spcPts val="0"/>
              </a:spcBef>
              <a:spcAft>
                <a:spcPts val="0"/>
              </a:spcAft>
              <a:buClr>
                <a:schemeClr val="dk2"/>
              </a:buClr>
              <a:buSzPts val="1200"/>
              <a:buChar char="○"/>
            </a:pPr>
            <a:r>
              <a:rPr lang="en-GB" sz="1200">
                <a:solidFill>
                  <a:schemeClr val="dk2"/>
                </a:solidFill>
              </a:rPr>
              <a:t>Approach: reStructuredText git-based docs-as-code</a:t>
            </a:r>
            <a:endParaRPr sz="1200">
              <a:solidFill>
                <a:schemeClr val="dk2"/>
              </a:solidFill>
            </a:endParaRPr>
          </a:p>
          <a:p>
            <a:pPr indent="-304800" lvl="1" marL="914400" rtl="0" algn="l">
              <a:lnSpc>
                <a:spcPct val="114000"/>
              </a:lnSpc>
              <a:spcBef>
                <a:spcPts val="0"/>
              </a:spcBef>
              <a:spcAft>
                <a:spcPts val="0"/>
              </a:spcAft>
              <a:buClr>
                <a:schemeClr val="dk2"/>
              </a:buClr>
              <a:buSzPts val="1200"/>
              <a:buChar char="○"/>
            </a:pPr>
            <a:r>
              <a:rPr lang="en-GB" sz="1200">
                <a:solidFill>
                  <a:schemeClr val="dk2"/>
                </a:solidFill>
              </a:rPr>
              <a:t>OpenFasttrace as external traceability engine </a:t>
            </a:r>
            <a:endParaRPr sz="1200">
              <a:solidFill>
                <a:schemeClr val="dk2"/>
              </a:solidFill>
            </a:endParaRPr>
          </a:p>
          <a:p>
            <a:pPr indent="-304800" lvl="1" marL="914400" rtl="0" algn="l">
              <a:lnSpc>
                <a:spcPct val="114000"/>
              </a:lnSpc>
              <a:spcBef>
                <a:spcPts val="0"/>
              </a:spcBef>
              <a:spcAft>
                <a:spcPts val="0"/>
              </a:spcAft>
              <a:buClr>
                <a:schemeClr val="dk2"/>
              </a:buClr>
              <a:buSzPts val="1200"/>
              <a:buChar char="○"/>
            </a:pPr>
            <a:r>
              <a:rPr lang="en-GB" sz="1200">
                <a:solidFill>
                  <a:schemeClr val="dk2"/>
                </a:solidFill>
              </a:rPr>
              <a:t>Sphinx for auditable living documentation rendering</a:t>
            </a:r>
            <a:endParaRPr sz="1200">
              <a:solidFill>
                <a:schemeClr val="dk2"/>
              </a:solidFill>
            </a:endParaRPr>
          </a:p>
          <a:p>
            <a:pPr indent="-323850" lvl="0" marL="457200" rtl="0" algn="l">
              <a:lnSpc>
                <a:spcPct val="114000"/>
              </a:lnSpc>
              <a:spcBef>
                <a:spcPts val="0"/>
              </a:spcBef>
              <a:spcAft>
                <a:spcPts val="0"/>
              </a:spcAft>
              <a:buClr>
                <a:schemeClr val="dk2"/>
              </a:buClr>
              <a:buSzPts val="1500"/>
              <a:buChar char="●"/>
            </a:pPr>
            <a:r>
              <a:rPr lang="en-GB" sz="1500">
                <a:solidFill>
                  <a:schemeClr val="dk2"/>
                </a:solidFill>
              </a:rPr>
              <a:t>Mapping existing Xen community processes to standards</a:t>
            </a:r>
            <a:endParaRPr sz="1500">
              <a:solidFill>
                <a:schemeClr val="dk2"/>
              </a:solidFill>
            </a:endParaRPr>
          </a:p>
          <a:p>
            <a:pPr indent="-304800" lvl="1" marL="914400" rtl="0" algn="l">
              <a:lnSpc>
                <a:spcPct val="114000"/>
              </a:lnSpc>
              <a:spcBef>
                <a:spcPts val="0"/>
              </a:spcBef>
              <a:spcAft>
                <a:spcPts val="0"/>
              </a:spcAft>
              <a:buClr>
                <a:schemeClr val="dk2"/>
              </a:buClr>
              <a:buSzPts val="1200"/>
              <a:buChar char="○"/>
            </a:pPr>
            <a:r>
              <a:rPr lang="en-GB" sz="1200">
                <a:solidFill>
                  <a:schemeClr val="dk2"/>
                </a:solidFill>
              </a:rPr>
              <a:t>Use lightweight ISO/IEC 12207 for supporting processes</a:t>
            </a:r>
            <a:endParaRPr sz="1200">
              <a:solidFill>
                <a:schemeClr val="dk2"/>
              </a:solidFill>
            </a:endParaRPr>
          </a:p>
          <a:p>
            <a:pPr indent="-304800" lvl="1" marL="914400" rtl="0" algn="l">
              <a:lnSpc>
                <a:spcPct val="114000"/>
              </a:lnSpc>
              <a:spcBef>
                <a:spcPts val="0"/>
              </a:spcBef>
              <a:spcAft>
                <a:spcPts val="0"/>
              </a:spcAft>
              <a:buClr>
                <a:schemeClr val="dk2"/>
              </a:buClr>
              <a:buSzPts val="1200"/>
              <a:buChar char="○"/>
            </a:pPr>
            <a:r>
              <a:rPr lang="en-GB" sz="1200">
                <a:solidFill>
                  <a:schemeClr val="dk2"/>
                </a:solidFill>
              </a:rPr>
              <a:t>FuSa SIG implements limited &amp; tailiored safety processes</a:t>
            </a:r>
            <a:endParaRPr sz="12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e8ad9642dd_0_19"/>
          <p:cNvSpPr txBox="1"/>
          <p:nvPr>
            <p:ph type="title"/>
          </p:nvPr>
        </p:nvSpPr>
        <p:spPr>
          <a:xfrm>
            <a:off x="311700" y="256388"/>
            <a:ext cx="8520600" cy="5727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SzPts val="2800"/>
              <a:buNone/>
            </a:pPr>
            <a:r>
              <a:rPr lang="en-GB"/>
              <a:t>Collaboration</a:t>
            </a:r>
            <a:endParaRPr/>
          </a:p>
        </p:txBody>
      </p:sp>
      <p:sp>
        <p:nvSpPr>
          <p:cNvPr id="515" name="Google Shape;515;g3e8ad9642dd_0_19"/>
          <p:cNvSpPr txBox="1"/>
          <p:nvPr>
            <p:ph idx="4294967295" type="body"/>
          </p:nvPr>
        </p:nvSpPr>
        <p:spPr>
          <a:xfrm>
            <a:off x="311700" y="1007025"/>
            <a:ext cx="4069800" cy="32643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4000"/>
              </a:lnSpc>
              <a:spcBef>
                <a:spcPts val="0"/>
              </a:spcBef>
              <a:spcAft>
                <a:spcPts val="0"/>
              </a:spcAft>
              <a:buSzPct val="108108"/>
              <a:buNone/>
            </a:pPr>
            <a:r>
              <a:rPr lang="en-GB"/>
              <a:t>To develop an open source, upstream safe hypervisor requires a lot of community effort</a:t>
            </a:r>
            <a:endParaRPr/>
          </a:p>
          <a:p>
            <a:pPr indent="0" lvl="0" marL="0" rtl="0" algn="l">
              <a:lnSpc>
                <a:spcPct val="114000"/>
              </a:lnSpc>
              <a:spcBef>
                <a:spcPts val="0"/>
              </a:spcBef>
              <a:spcAft>
                <a:spcPts val="0"/>
              </a:spcAft>
              <a:buSzPct val="108108"/>
              <a:buNone/>
            </a:pPr>
            <a:r>
              <a:t/>
            </a:r>
            <a:endParaRPr/>
          </a:p>
          <a:p>
            <a:pPr indent="-334328" lvl="0" marL="457200" rtl="0" algn="l">
              <a:lnSpc>
                <a:spcPct val="114000"/>
              </a:lnSpc>
              <a:spcBef>
                <a:spcPts val="0"/>
              </a:spcBef>
              <a:spcAft>
                <a:spcPts val="0"/>
              </a:spcAft>
              <a:buClr>
                <a:srgbClr val="000000"/>
              </a:buClr>
              <a:buSzPct val="100000"/>
              <a:buChar char="●"/>
            </a:pPr>
            <a:r>
              <a:rPr b="0" i="0" lang="en-GB" u="none" cap="none" strike="noStrike"/>
              <a:t>Join xen-devel mailing list – All discussion. Reviews happen on the mailing list</a:t>
            </a:r>
            <a:endParaRPr/>
          </a:p>
          <a:p>
            <a:pPr indent="-334328" lvl="0" marL="457200" rtl="0" algn="l">
              <a:lnSpc>
                <a:spcPct val="114000"/>
              </a:lnSpc>
              <a:spcBef>
                <a:spcPts val="600"/>
              </a:spcBef>
              <a:spcAft>
                <a:spcPts val="0"/>
              </a:spcAft>
              <a:buClr>
                <a:srgbClr val="000000"/>
              </a:buClr>
              <a:buSzPct val="100000"/>
              <a:buChar char="●"/>
            </a:pPr>
            <a:r>
              <a:rPr b="0" i="0" lang="en-GB" u="none" cap="none" strike="noStrike"/>
              <a:t>Join Xen Functional Safety matrix channel</a:t>
            </a:r>
            <a:endParaRPr/>
          </a:p>
          <a:p>
            <a:pPr indent="-334328" lvl="0" marL="457200" rtl="0" algn="l">
              <a:lnSpc>
                <a:spcPct val="114000"/>
              </a:lnSpc>
              <a:spcBef>
                <a:spcPts val="600"/>
              </a:spcBef>
              <a:spcAft>
                <a:spcPts val="600"/>
              </a:spcAft>
              <a:buClr>
                <a:srgbClr val="000000"/>
              </a:buClr>
              <a:buSzPct val="100000"/>
              <a:buChar char="●"/>
            </a:pPr>
            <a:r>
              <a:rPr b="0" i="0" lang="en-GB" u="none" cap="none" strike="noStrike"/>
              <a:t>Calls every other Tuesday for members actively working on Xen FuSa</a:t>
            </a:r>
            <a:endParaRPr/>
          </a:p>
        </p:txBody>
      </p:sp>
      <p:pic>
        <p:nvPicPr>
          <p:cNvPr id="516" name="Google Shape;516;g3e8ad9642dd_0_19" title="1778408979361.png"/>
          <p:cNvPicPr preferRelativeResize="0"/>
          <p:nvPr/>
        </p:nvPicPr>
        <p:blipFill rotWithShape="1">
          <a:blip r:embed="rId3">
            <a:alphaModFix/>
          </a:blip>
          <a:srcRect b="0" l="0" r="0" t="0"/>
          <a:stretch/>
        </p:blipFill>
        <p:spPr>
          <a:xfrm>
            <a:off x="4330275" y="981500"/>
            <a:ext cx="4661324" cy="35541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g3e5c2ad4d7e_0_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Thanks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g3e8ad9642dd_0_43"/>
          <p:cNvSpPr txBox="1"/>
          <p:nvPr>
            <p:ph type="title"/>
          </p:nvPr>
        </p:nvSpPr>
        <p:spPr>
          <a:xfrm>
            <a:off x="1899325" y="2097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Backup slides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3e5c2ad4d7e_0_71"/>
          <p:cNvSpPr txBox="1"/>
          <p:nvPr>
            <p:ph type="title"/>
          </p:nvPr>
        </p:nvSpPr>
        <p:spPr>
          <a:xfrm>
            <a:off x="311700" y="2117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Call for collaboration</a:t>
            </a:r>
            <a:endParaRPr/>
          </a:p>
        </p:txBody>
      </p:sp>
      <p:sp>
        <p:nvSpPr>
          <p:cNvPr id="532" name="Google Shape;532;g3e5c2ad4d7e_0_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533" name="Google Shape;533;g3e5c2ad4d7e_0_71" title="1000141975.png"/>
          <p:cNvPicPr preferRelativeResize="0"/>
          <p:nvPr/>
        </p:nvPicPr>
        <p:blipFill>
          <a:blip r:embed="rId3">
            <a:alphaModFix/>
          </a:blip>
          <a:stretch>
            <a:fillRect/>
          </a:stretch>
        </p:blipFill>
        <p:spPr>
          <a:xfrm>
            <a:off x="311700" y="546050"/>
            <a:ext cx="8520601" cy="43813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eb5b8f7ee9_0_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Let’s plug Xen in SODEV, etc</a:t>
            </a:r>
            <a:endParaRPr/>
          </a:p>
        </p:txBody>
      </p:sp>
      <p:sp>
        <p:nvSpPr>
          <p:cNvPr id="539" name="Google Shape;539;g3eb5b8f7ee9_0_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Do the minimal isolation with the features</a:t>
            </a:r>
            <a:endParaRPr/>
          </a:p>
          <a:p>
            <a:pPr indent="0" lvl="0" marL="0" rtl="0" algn="l">
              <a:spcBef>
                <a:spcPts val="0"/>
              </a:spcBef>
              <a:spcAft>
                <a:spcPts val="0"/>
              </a:spcAft>
              <a:buNone/>
            </a:pPr>
            <a:r>
              <a:rPr lang="en-GB"/>
              <a:t>Get audience involved in Xen FuSa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Concerns — Avoid fork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Quality metrics , integrate into safety system, call to action (last slide)</a:t>
            </a:r>
            <a:endParaRPr/>
          </a:p>
          <a:p>
            <a:pPr indent="-342900" lvl="0" marL="457200" rtl="0" algn="l">
              <a:spcBef>
                <a:spcPts val="0"/>
              </a:spcBef>
              <a:spcAft>
                <a:spcPts val="0"/>
              </a:spcAft>
              <a:buSzPts val="1800"/>
              <a:buChar char="-"/>
            </a:pPr>
            <a:r>
              <a:rPr lang="en-GB"/>
              <a:t>Join xen-devel</a:t>
            </a:r>
            <a:endParaRPr/>
          </a:p>
          <a:p>
            <a:pPr indent="-342900" lvl="0" marL="457200" rtl="0" algn="l">
              <a:spcBef>
                <a:spcPts val="0"/>
              </a:spcBef>
              <a:spcAft>
                <a:spcPts val="0"/>
              </a:spcAft>
              <a:buSzPts val="1800"/>
              <a:buChar char="-"/>
            </a:pPr>
            <a:r>
              <a:rPr lang="en-GB"/>
              <a:t>Join FuSa meeting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44"/>
          <p:cNvSpPr txBox="1"/>
          <p:nvPr>
            <p:ph idx="1" type="body"/>
          </p:nvPr>
        </p:nvSpPr>
        <p:spPr>
          <a:xfrm>
            <a:off x="525500" y="926125"/>
            <a:ext cx="8520600" cy="305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Conclusion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5"/>
          <p:cNvSpPr txBox="1"/>
          <p:nvPr>
            <p:ph type="title"/>
          </p:nvPr>
        </p:nvSpPr>
        <p:spPr>
          <a:xfrm>
            <a:off x="311700" y="256388"/>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Keeping safety cert evergreen (Loud thinking)</a:t>
            </a:r>
            <a:endParaRPr/>
          </a:p>
        </p:txBody>
      </p:sp>
      <p:sp>
        <p:nvSpPr>
          <p:cNvPr id="550" name="Google Shape;550;p45"/>
          <p:cNvSpPr txBox="1"/>
          <p:nvPr>
            <p:ph idx="1" type="body"/>
          </p:nvPr>
        </p:nvSpPr>
        <p:spPr>
          <a:xfrm>
            <a:off x="198500" y="951275"/>
            <a:ext cx="5666100" cy="3050100"/>
          </a:xfrm>
          <a:prstGeom prst="rect">
            <a:avLst/>
          </a:prstGeom>
          <a:noFill/>
          <a:ln>
            <a:noFill/>
          </a:ln>
        </p:spPr>
        <p:txBody>
          <a:bodyPr anchorCtr="0" anchor="t" bIns="91425" lIns="91425" spcFirstLastPara="1" rIns="91425" wrap="square" tIns="91425">
            <a:noAutofit/>
          </a:bodyPr>
          <a:lstStyle/>
          <a:p>
            <a:pPr indent="-323850" lvl="0" marL="457200" rtl="0" algn="l">
              <a:lnSpc>
                <a:spcPct val="114000"/>
              </a:lnSpc>
              <a:spcBef>
                <a:spcPts val="0"/>
              </a:spcBef>
              <a:spcAft>
                <a:spcPts val="0"/>
              </a:spcAft>
              <a:buSzPts val="1500"/>
              <a:buChar char="●"/>
            </a:pPr>
            <a:r>
              <a:rPr lang="en-GB" sz="1500"/>
              <a:t>Upstreaming requirements, arch specs and tests</a:t>
            </a:r>
            <a:endParaRPr sz="1500"/>
          </a:p>
          <a:p>
            <a:pPr indent="-323850" lvl="0" marL="457200" rtl="0" algn="l">
              <a:lnSpc>
                <a:spcPct val="114000"/>
              </a:lnSpc>
              <a:spcBef>
                <a:spcPts val="0"/>
              </a:spcBef>
              <a:spcAft>
                <a:spcPts val="0"/>
              </a:spcAft>
              <a:buSzPts val="1500"/>
              <a:buChar char="●"/>
            </a:pPr>
            <a:r>
              <a:rPr lang="en-GB" sz="1500"/>
              <a:t>Onboarding new maintainers for the safety artifacts</a:t>
            </a:r>
            <a:endParaRPr sz="1500"/>
          </a:p>
          <a:p>
            <a:pPr indent="-298450" lvl="1" marL="914400" marR="0" rtl="0" algn="l">
              <a:lnSpc>
                <a:spcPct val="114000"/>
              </a:lnSpc>
              <a:spcBef>
                <a:spcPts val="0"/>
              </a:spcBef>
              <a:spcAft>
                <a:spcPts val="0"/>
              </a:spcAft>
              <a:buSzPts val="1100"/>
              <a:buChar char="○"/>
            </a:pPr>
            <a:r>
              <a:rPr lang="en-GB" sz="1100"/>
              <a:t>Code maintainers should not be overburdened</a:t>
            </a:r>
            <a:endParaRPr sz="1100"/>
          </a:p>
          <a:p>
            <a:pPr indent="-323850" lvl="0" marL="457200" rtl="0" algn="l">
              <a:lnSpc>
                <a:spcPct val="114000"/>
              </a:lnSpc>
              <a:spcBef>
                <a:spcPts val="0"/>
              </a:spcBef>
              <a:spcAft>
                <a:spcPts val="0"/>
              </a:spcAft>
              <a:buSzPts val="1500"/>
              <a:buChar char="●"/>
            </a:pPr>
            <a:r>
              <a:rPr lang="en-GB" sz="1500"/>
              <a:t>Keeping the code as pristine as possible</a:t>
            </a:r>
            <a:endParaRPr sz="1500"/>
          </a:p>
          <a:p>
            <a:pPr indent="-323850" lvl="0" marL="457200" rtl="0" algn="l">
              <a:lnSpc>
                <a:spcPct val="114000"/>
              </a:lnSpc>
              <a:spcBef>
                <a:spcPts val="0"/>
              </a:spcBef>
              <a:spcAft>
                <a:spcPts val="0"/>
              </a:spcAft>
              <a:buSzPts val="1500"/>
              <a:buChar char="●"/>
            </a:pPr>
            <a:r>
              <a:rPr lang="en-GB" sz="1500"/>
              <a:t>Lightweight QMS process</a:t>
            </a:r>
            <a:endParaRPr sz="1500"/>
          </a:p>
          <a:p>
            <a:pPr indent="-298450" lvl="1" marL="914400" marR="0" rtl="0" algn="l">
              <a:lnSpc>
                <a:spcPct val="114000"/>
              </a:lnSpc>
              <a:spcBef>
                <a:spcPts val="0"/>
              </a:spcBef>
              <a:spcAft>
                <a:spcPts val="0"/>
              </a:spcAft>
              <a:buSzPts val="1100"/>
              <a:buChar char="○"/>
            </a:pPr>
            <a:r>
              <a:rPr lang="en-GB" sz="1100"/>
              <a:t>Approach: reStructuredText </a:t>
            </a:r>
            <a:r>
              <a:rPr lang="en-GB" sz="1100"/>
              <a:t>git-based d</a:t>
            </a:r>
            <a:r>
              <a:rPr lang="en-GB" sz="1100"/>
              <a:t>ocs-as-code</a:t>
            </a:r>
            <a:endParaRPr sz="1100"/>
          </a:p>
          <a:p>
            <a:pPr indent="-298450" lvl="1" marL="914400" marR="0" rtl="0" algn="l">
              <a:lnSpc>
                <a:spcPct val="114000"/>
              </a:lnSpc>
              <a:spcBef>
                <a:spcPts val="0"/>
              </a:spcBef>
              <a:spcAft>
                <a:spcPts val="0"/>
              </a:spcAft>
              <a:buSzPts val="1100"/>
              <a:buChar char="○"/>
            </a:pPr>
            <a:r>
              <a:rPr lang="en-GB" sz="1100"/>
              <a:t>OpenFasttrace as external traceability engine </a:t>
            </a:r>
            <a:endParaRPr sz="1100"/>
          </a:p>
          <a:p>
            <a:pPr indent="-298450" lvl="1" marL="914400" marR="0" rtl="0" algn="l">
              <a:lnSpc>
                <a:spcPct val="114000"/>
              </a:lnSpc>
              <a:spcBef>
                <a:spcPts val="0"/>
              </a:spcBef>
              <a:spcAft>
                <a:spcPts val="0"/>
              </a:spcAft>
              <a:buSzPts val="1100"/>
              <a:buChar char="○"/>
            </a:pPr>
            <a:r>
              <a:rPr lang="en-GB" sz="1100"/>
              <a:t>Sphinx for auditable living documentation rendering</a:t>
            </a:r>
            <a:endParaRPr sz="1100"/>
          </a:p>
          <a:p>
            <a:pPr indent="-323850" lvl="0" marL="457200" rtl="0" algn="l">
              <a:lnSpc>
                <a:spcPct val="114000"/>
              </a:lnSpc>
              <a:spcBef>
                <a:spcPts val="0"/>
              </a:spcBef>
              <a:spcAft>
                <a:spcPts val="0"/>
              </a:spcAft>
              <a:buSzPts val="1500"/>
              <a:buChar char="●"/>
            </a:pPr>
            <a:r>
              <a:rPr lang="en-GB" sz="1500"/>
              <a:t>Mapping existing Xen community processes to standards</a:t>
            </a:r>
            <a:endParaRPr sz="1500"/>
          </a:p>
          <a:p>
            <a:pPr indent="-298450" lvl="1" marL="914400" rtl="0" algn="l">
              <a:lnSpc>
                <a:spcPct val="114000"/>
              </a:lnSpc>
              <a:spcBef>
                <a:spcPts val="0"/>
              </a:spcBef>
              <a:spcAft>
                <a:spcPts val="0"/>
              </a:spcAft>
              <a:buSzPts val="1100"/>
              <a:buChar char="○"/>
            </a:pPr>
            <a:r>
              <a:rPr lang="en-GB" sz="1100"/>
              <a:t>Use lightweight ISO/IEC 12207 for supporting processes</a:t>
            </a:r>
            <a:endParaRPr sz="1100"/>
          </a:p>
          <a:p>
            <a:pPr indent="-298450" lvl="1" marL="914400" rtl="0" algn="l">
              <a:lnSpc>
                <a:spcPct val="114000"/>
              </a:lnSpc>
              <a:spcBef>
                <a:spcPts val="0"/>
              </a:spcBef>
              <a:spcAft>
                <a:spcPts val="0"/>
              </a:spcAft>
              <a:buSzPts val="1100"/>
              <a:buChar char="○"/>
            </a:pPr>
            <a:r>
              <a:rPr lang="en-GB" sz="1100"/>
              <a:t>FuSa SIG implements limited &amp; tailiored safety processes</a:t>
            </a:r>
            <a:endParaRPr sz="1100"/>
          </a:p>
          <a:p>
            <a:pPr indent="-323850" lvl="0" marL="457200" rtl="0" algn="l">
              <a:lnSpc>
                <a:spcPct val="114000"/>
              </a:lnSpc>
              <a:spcBef>
                <a:spcPts val="0"/>
              </a:spcBef>
              <a:spcAft>
                <a:spcPts val="0"/>
              </a:spcAft>
              <a:buSzPts val="1500"/>
              <a:buChar char="●"/>
            </a:pPr>
            <a:r>
              <a:rPr lang="en-GB" sz="1500"/>
              <a:t>Join us at Xen summit where we align our safety efforts with the wider Xen community</a:t>
            </a:r>
            <a:endParaRPr sz="1500"/>
          </a:p>
        </p:txBody>
      </p:sp>
      <p:sp>
        <p:nvSpPr>
          <p:cNvPr id="551" name="Google Shape;551;p45"/>
          <p:cNvSpPr/>
          <p:nvPr/>
        </p:nvSpPr>
        <p:spPr>
          <a:xfrm>
            <a:off x="5751300" y="1723000"/>
            <a:ext cx="3018300" cy="2812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45"/>
          <p:cNvSpPr txBox="1"/>
          <p:nvPr/>
        </p:nvSpPr>
        <p:spPr>
          <a:xfrm>
            <a:off x="6329800" y="3881725"/>
            <a:ext cx="2586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434343"/>
                </a:solidFill>
                <a:latin typeface="Arial"/>
                <a:ea typeface="Arial"/>
                <a:cs typeface="Arial"/>
                <a:sym typeface="Arial"/>
              </a:rPr>
              <a:t>Upstream Xen.git</a:t>
            </a:r>
            <a:endParaRPr b="0" i="0" sz="1800" u="none" cap="none" strike="noStrike">
              <a:solidFill>
                <a:srgbClr val="434343"/>
              </a:solidFill>
              <a:latin typeface="Arial"/>
              <a:ea typeface="Arial"/>
              <a:cs typeface="Arial"/>
              <a:sym typeface="Arial"/>
            </a:endParaRPr>
          </a:p>
        </p:txBody>
      </p:sp>
      <p:sp>
        <p:nvSpPr>
          <p:cNvPr id="553" name="Google Shape;553;p45"/>
          <p:cNvSpPr/>
          <p:nvPr/>
        </p:nvSpPr>
        <p:spPr>
          <a:xfrm>
            <a:off x="6292100" y="2284600"/>
            <a:ext cx="1823400" cy="1282800"/>
          </a:xfrm>
          <a:prstGeom prst="rect">
            <a:avLst/>
          </a:prstGeom>
          <a:solidFill>
            <a:srgbClr val="FFF1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Fusa</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Reqs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Arch specs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Tests</a:t>
            </a:r>
            <a:endParaRPr b="0" i="0" sz="1400" u="none" cap="none" strike="noStrike">
              <a:solidFill>
                <a:srgbClr val="000000"/>
              </a:solidFill>
              <a:latin typeface="Arial"/>
              <a:ea typeface="Arial"/>
              <a:cs typeface="Arial"/>
              <a:sym typeface="Arial"/>
            </a:endParaRPr>
          </a:p>
        </p:txBody>
      </p:sp>
      <p:sp>
        <p:nvSpPr>
          <p:cNvPr id="554" name="Google Shape;554;p45"/>
          <p:cNvSpPr/>
          <p:nvPr/>
        </p:nvSpPr>
        <p:spPr>
          <a:xfrm>
            <a:off x="3449950" y="4271575"/>
            <a:ext cx="1559400" cy="70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Xen FuSa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(staging repo)</a:t>
            </a:r>
            <a:endParaRPr b="0" i="0" sz="1400" u="none" cap="none" strike="noStrike">
              <a:solidFill>
                <a:srgbClr val="000000"/>
              </a:solidFill>
              <a:latin typeface="Arial"/>
              <a:ea typeface="Arial"/>
              <a:cs typeface="Arial"/>
              <a:sym typeface="Arial"/>
            </a:endParaRPr>
          </a:p>
        </p:txBody>
      </p:sp>
      <p:cxnSp>
        <p:nvCxnSpPr>
          <p:cNvPr id="555" name="Google Shape;555;p45"/>
          <p:cNvCxnSpPr>
            <a:stCxn id="554" idx="3"/>
          </p:cNvCxnSpPr>
          <p:nvPr/>
        </p:nvCxnSpPr>
        <p:spPr>
          <a:xfrm flipH="1" rot="10800000">
            <a:off x="5009350" y="3869275"/>
            <a:ext cx="968400" cy="754500"/>
          </a:xfrm>
          <a:prstGeom prst="straightConnector1">
            <a:avLst/>
          </a:prstGeom>
          <a:noFill/>
          <a:ln cap="flat" cmpd="sng" w="9525">
            <a:solidFill>
              <a:schemeClr val="dk2"/>
            </a:solidFill>
            <a:prstDash val="solid"/>
            <a:round/>
            <a:headEnd len="sm" w="sm" type="none"/>
            <a:tailEnd len="med" w="med" type="triangle"/>
          </a:ln>
        </p:spPr>
      </p:cxnSp>
      <p:sp>
        <p:nvSpPr>
          <p:cNvPr id="556" name="Google Shape;556;p45"/>
          <p:cNvSpPr txBox="1"/>
          <p:nvPr/>
        </p:nvSpPr>
        <p:spPr>
          <a:xfrm>
            <a:off x="5179181" y="4535800"/>
            <a:ext cx="3558900" cy="42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434343"/>
                </a:solidFill>
                <a:latin typeface="Arial"/>
                <a:ea typeface="Arial"/>
                <a:cs typeface="Arial"/>
                <a:sym typeface="Arial"/>
              </a:rPr>
              <a:t>To help with upstreaming and show the FuSa dependencies</a:t>
            </a:r>
            <a:endParaRPr b="0" i="0" sz="1200" u="none" cap="none" strike="noStrike">
              <a:solidFill>
                <a:srgbClr val="434343"/>
              </a:solidFill>
              <a:latin typeface="Arial"/>
              <a:ea typeface="Arial"/>
              <a:cs typeface="Arial"/>
              <a:sym typeface="Arial"/>
            </a:endParaRPr>
          </a:p>
        </p:txBody>
      </p:sp>
      <p:sp>
        <p:nvSpPr>
          <p:cNvPr id="557" name="Google Shape;557;p45"/>
          <p:cNvSpPr txBox="1"/>
          <p:nvPr/>
        </p:nvSpPr>
        <p:spPr>
          <a:xfrm>
            <a:off x="7788600" y="5654925"/>
            <a:ext cx="7243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7"/>
          <p:cNvSpPr txBox="1"/>
          <p:nvPr>
            <p:ph idx="1" type="body"/>
          </p:nvPr>
        </p:nvSpPr>
        <p:spPr>
          <a:xfrm>
            <a:off x="489930" y="493797"/>
            <a:ext cx="3999900" cy="3060900"/>
          </a:xfrm>
          <a:prstGeom prst="rect">
            <a:avLst/>
          </a:prstGeom>
          <a:noFill/>
          <a:ln>
            <a:noFill/>
          </a:ln>
        </p:spPr>
        <p:txBody>
          <a:bodyPr anchorCtr="0" anchor="t" bIns="91425" lIns="91425" spcFirstLastPara="1" rIns="91425" wrap="square" tIns="91425">
            <a:noAutofit/>
          </a:bodyPr>
          <a:lstStyle/>
          <a:p>
            <a:pPr indent="0" lvl="0" marL="0" rtl="0" algn="l">
              <a:lnSpc>
                <a:spcPct val="114000"/>
              </a:lnSpc>
              <a:spcBef>
                <a:spcPts val="0"/>
              </a:spcBef>
              <a:spcAft>
                <a:spcPts val="800"/>
              </a:spcAft>
              <a:buSzPts val="1400"/>
              <a:buNone/>
            </a:pPr>
            <a:r>
              <a:rPr lang="en-GB"/>
              <a:t>Thanks and Questions. (15 mins)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ed1c26bf42_0_18"/>
          <p:cNvSpPr/>
          <p:nvPr/>
        </p:nvSpPr>
        <p:spPr>
          <a:xfrm>
            <a:off x="128587" y="888712"/>
            <a:ext cx="8872500" cy="3630600"/>
          </a:xfrm>
          <a:prstGeom prst="roundRect">
            <a:avLst>
              <a:gd fmla="val 2860" name="adj"/>
            </a:avLst>
          </a:prstGeom>
          <a:solidFill>
            <a:schemeClr val="lt1">
              <a:alpha val="92160"/>
            </a:schemeClr>
          </a:solidFill>
          <a:ln cap="flat" cmpd="sng" w="9525">
            <a:solidFill>
              <a:schemeClr val="accent4"/>
            </a:solidFill>
            <a:prstDash val="dash"/>
            <a:round/>
            <a:headEnd len="sm" w="sm" type="none"/>
            <a:tailEnd len="sm" w="sm" type="none"/>
          </a:ln>
          <a:effectLst>
            <a:outerShdw blurRad="50800" rotWithShape="0" algn="tl" dir="2700000" dist="38100">
              <a:srgbClr val="000000">
                <a:alpha val="14900"/>
              </a:srgbClr>
            </a:outerShdw>
          </a:effectLst>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100"/>
              <a:buFont typeface="Arial"/>
              <a:buNone/>
            </a:pPr>
            <a:r>
              <a:t/>
            </a:r>
            <a:endParaRPr b="1" i="1" sz="2100" u="none" cap="none" strike="noStrike">
              <a:solidFill>
                <a:srgbClr val="FFC000"/>
              </a:solidFill>
              <a:latin typeface="Arial"/>
              <a:ea typeface="Arial"/>
              <a:cs typeface="Arial"/>
              <a:sym typeface="Arial"/>
            </a:endParaRPr>
          </a:p>
        </p:txBody>
      </p:sp>
      <p:sp>
        <p:nvSpPr>
          <p:cNvPr id="568" name="Google Shape;568;g3ed1c26bf42_0_18"/>
          <p:cNvSpPr/>
          <p:nvPr/>
        </p:nvSpPr>
        <p:spPr>
          <a:xfrm>
            <a:off x="4590212" y="1023528"/>
            <a:ext cx="756000" cy="1815900"/>
          </a:xfrm>
          <a:prstGeom prst="rect">
            <a:avLst/>
          </a:prstGeom>
          <a:solidFill>
            <a:schemeClr val="dk1">
              <a:alpha val="21960"/>
            </a:schemeClr>
          </a:solidFill>
          <a:ln cap="flat" cmpd="sng" w="9525">
            <a:solidFill>
              <a:schemeClr val="dk1">
                <a:alpha val="651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t" bIns="0" lIns="0" spcFirstLastPara="1" rIns="0" wrap="square" tIns="480050">
            <a:noAutofit/>
          </a:bodyPr>
          <a:lstStyle/>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SURROUND</a:t>
            </a:r>
            <a:br>
              <a:rPr b="1" i="0" lang="en-GB" sz="750" u="none" cap="none" strike="noStrike">
                <a:solidFill>
                  <a:srgbClr val="00EDFD"/>
                </a:solidFill>
                <a:latin typeface="Arial Narrow"/>
                <a:ea typeface="Arial Narrow"/>
                <a:cs typeface="Arial Narrow"/>
                <a:sym typeface="Arial Narrow"/>
              </a:rPr>
            </a:br>
            <a:r>
              <a:rPr b="1" i="0" lang="en-GB" sz="750" u="none" cap="none" strike="noStrike">
                <a:solidFill>
                  <a:srgbClr val="00EDFD"/>
                </a:solidFill>
                <a:latin typeface="Arial Narrow"/>
                <a:ea typeface="Arial Narrow"/>
                <a:cs typeface="Arial Narrow"/>
                <a:sym typeface="Arial Narrow"/>
              </a:rPr>
              <a:t>VIEW</a:t>
            </a:r>
            <a:endParaRPr b="0" i="0" sz="1400" u="none" cap="none" strike="noStrike">
              <a:solidFill>
                <a:srgbClr val="000000"/>
              </a:solidFill>
              <a:latin typeface="Arial"/>
              <a:ea typeface="Arial"/>
              <a:cs typeface="Arial"/>
              <a:sym typeface="Arial"/>
            </a:endParaRPr>
          </a:p>
        </p:txBody>
      </p:sp>
      <p:sp>
        <p:nvSpPr>
          <p:cNvPr id="569" name="Google Shape;569;g3ed1c26bf42_0_18"/>
          <p:cNvSpPr/>
          <p:nvPr/>
        </p:nvSpPr>
        <p:spPr>
          <a:xfrm>
            <a:off x="5389711" y="1023528"/>
            <a:ext cx="756000" cy="1815000"/>
          </a:xfrm>
          <a:prstGeom prst="rect">
            <a:avLst/>
          </a:prstGeom>
          <a:solidFill>
            <a:schemeClr val="dk1">
              <a:alpha val="21960"/>
            </a:schemeClr>
          </a:solidFill>
          <a:ln cap="flat" cmpd="sng" w="9525">
            <a:solidFill>
              <a:schemeClr val="dk1">
                <a:alpha val="651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t" bIns="0" lIns="0" spcFirstLastPara="1" rIns="0" wrap="square" tIns="480050">
            <a:noAutofit/>
          </a:bodyPr>
          <a:lstStyle/>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IN CABIN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MONITORING</a:t>
            </a:r>
            <a:endParaRPr b="0" i="0" sz="1400" u="none" cap="none" strike="noStrike">
              <a:solidFill>
                <a:srgbClr val="000000"/>
              </a:solidFill>
              <a:latin typeface="Arial"/>
              <a:ea typeface="Arial"/>
              <a:cs typeface="Arial"/>
              <a:sym typeface="Arial"/>
            </a:endParaRPr>
          </a:p>
        </p:txBody>
      </p:sp>
      <p:sp>
        <p:nvSpPr>
          <p:cNvPr id="570" name="Google Shape;570;g3ed1c26bf42_0_18"/>
          <p:cNvSpPr/>
          <p:nvPr/>
        </p:nvSpPr>
        <p:spPr>
          <a:xfrm>
            <a:off x="6189210" y="1023528"/>
            <a:ext cx="756000" cy="1818600"/>
          </a:xfrm>
          <a:prstGeom prst="rect">
            <a:avLst/>
          </a:prstGeom>
          <a:solidFill>
            <a:schemeClr val="dk1">
              <a:alpha val="21960"/>
            </a:schemeClr>
          </a:solidFill>
          <a:ln cap="flat" cmpd="sng" w="9525">
            <a:solidFill>
              <a:schemeClr val="dk1">
                <a:alpha val="651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t" bIns="0" lIns="0" spcFirstLastPara="1" rIns="0" wrap="square" tIns="480050">
            <a:noAutofit/>
          </a:bodyPr>
          <a:lstStyle/>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CUSTOM WORKLOAD</a:t>
            </a:r>
            <a:endParaRPr b="0" i="0" sz="1400" u="none" cap="none" strike="noStrike">
              <a:solidFill>
                <a:srgbClr val="000000"/>
              </a:solidFill>
              <a:latin typeface="Arial"/>
              <a:ea typeface="Arial"/>
              <a:cs typeface="Arial"/>
              <a:sym typeface="Arial"/>
            </a:endParaRPr>
          </a:p>
        </p:txBody>
      </p:sp>
      <p:sp>
        <p:nvSpPr>
          <p:cNvPr id="571" name="Google Shape;571;g3ed1c26bf42_0_18"/>
          <p:cNvSpPr/>
          <p:nvPr/>
        </p:nvSpPr>
        <p:spPr>
          <a:xfrm>
            <a:off x="1047935" y="3356554"/>
            <a:ext cx="3113700" cy="1030800"/>
          </a:xfrm>
          <a:prstGeom prst="rect">
            <a:avLst/>
          </a:prstGeom>
          <a:solidFill>
            <a:srgbClr val="3A484F">
              <a:alpha val="43140"/>
            </a:srgb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b" bIns="6857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rgbClr val="00EDFD"/>
                </a:solidFill>
                <a:latin typeface="Arial"/>
                <a:ea typeface="Arial"/>
                <a:cs typeface="Arial"/>
                <a:sym typeface="Arial"/>
              </a:rPr>
              <a:t>Application Processing Unit: AMD x86 Ryzen Embedded</a:t>
            </a:r>
            <a:endParaRPr b="0" i="0" sz="1400" u="none" cap="none" strike="noStrike">
              <a:solidFill>
                <a:srgbClr val="000000"/>
              </a:solidFill>
              <a:latin typeface="Arial"/>
              <a:ea typeface="Arial"/>
              <a:cs typeface="Arial"/>
              <a:sym typeface="Arial"/>
            </a:endParaRPr>
          </a:p>
        </p:txBody>
      </p:sp>
      <p:sp>
        <p:nvSpPr>
          <p:cNvPr id="572" name="Google Shape;572;g3ed1c26bf42_0_18"/>
          <p:cNvSpPr txBox="1"/>
          <p:nvPr>
            <p:ph type="title"/>
          </p:nvPr>
        </p:nvSpPr>
        <p:spPr>
          <a:xfrm>
            <a:off x="274492" y="203518"/>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sz="1950">
                <a:solidFill>
                  <a:schemeClr val="dk1"/>
                </a:solidFill>
              </a:rPr>
              <a:t>Using Xen as a Unified Runtime Manager</a:t>
            </a:r>
            <a:endParaRPr/>
          </a:p>
        </p:txBody>
      </p:sp>
      <p:sp>
        <p:nvSpPr>
          <p:cNvPr id="573" name="Google Shape;573;g3ed1c26bf42_0_18"/>
          <p:cNvSpPr/>
          <p:nvPr/>
        </p:nvSpPr>
        <p:spPr>
          <a:xfrm>
            <a:off x="274492" y="2887169"/>
            <a:ext cx="8586300" cy="194400"/>
          </a:xfrm>
          <a:prstGeom prst="rect">
            <a:avLst/>
          </a:prstGeom>
          <a:solidFill>
            <a:schemeClr val="dk1">
              <a:alpha val="588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Xen Hypervisor Abstraction</a:t>
            </a:r>
            <a:endParaRPr b="0" i="0" sz="1400" u="none" cap="none" strike="noStrike">
              <a:solidFill>
                <a:srgbClr val="000000"/>
              </a:solidFill>
              <a:latin typeface="Arial"/>
              <a:ea typeface="Arial"/>
              <a:cs typeface="Arial"/>
              <a:sym typeface="Arial"/>
            </a:endParaRPr>
          </a:p>
        </p:txBody>
      </p:sp>
      <p:sp>
        <p:nvSpPr>
          <p:cNvPr id="574" name="Google Shape;574;g3ed1c26bf42_0_18"/>
          <p:cNvSpPr/>
          <p:nvPr/>
        </p:nvSpPr>
        <p:spPr>
          <a:xfrm>
            <a:off x="266718" y="1023528"/>
            <a:ext cx="756000" cy="1812900"/>
          </a:xfrm>
          <a:prstGeom prst="rect">
            <a:avLst/>
          </a:prstGeom>
          <a:solidFill>
            <a:schemeClr val="dk1">
              <a:alpha val="21960"/>
            </a:schemeClr>
          </a:solidFill>
          <a:ln cap="flat" cmpd="sng" w="9525">
            <a:solidFill>
              <a:schemeClr val="dk1">
                <a:alpha val="651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t" bIns="0" lIns="0" spcFirstLastPara="1" rIns="0" wrap="square" tIns="137150">
            <a:noAutofit/>
          </a:bodyPr>
          <a:lstStyle/>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GAMING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“AAA”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Ubuntu</a:t>
            </a:r>
            <a:endParaRPr b="0" i="0" sz="1400" u="none" cap="none" strike="noStrike">
              <a:solidFill>
                <a:srgbClr val="000000"/>
              </a:solidFill>
              <a:latin typeface="Arial"/>
              <a:ea typeface="Arial"/>
              <a:cs typeface="Arial"/>
              <a:sym typeface="Arial"/>
            </a:endParaRPr>
          </a:p>
        </p:txBody>
      </p:sp>
      <p:sp>
        <p:nvSpPr>
          <p:cNvPr id="575" name="Google Shape;575;g3ed1c26bf42_0_18"/>
          <p:cNvSpPr/>
          <p:nvPr/>
        </p:nvSpPr>
        <p:spPr>
          <a:xfrm>
            <a:off x="2620474" y="1029635"/>
            <a:ext cx="756000" cy="1804800"/>
          </a:xfrm>
          <a:prstGeom prst="rect">
            <a:avLst/>
          </a:prstGeom>
          <a:solidFill>
            <a:schemeClr val="dk1">
              <a:alpha val="21960"/>
            </a:schemeClr>
          </a:solidFill>
          <a:ln cap="flat" cmpd="sng" w="9525">
            <a:solidFill>
              <a:schemeClr val="dk1">
                <a:alpha val="651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t" bIns="0" lIns="0" spcFirstLastPara="1" rIns="0" wrap="square" tIns="137150">
            <a:noAutofit/>
          </a:bodyPr>
          <a:lstStyle/>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CUSTOM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WORKLOAD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Minimal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Linux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FFFFFF"/>
              </a:solidFill>
              <a:latin typeface="Arial Narrow"/>
              <a:ea typeface="Arial Narrow"/>
              <a:cs typeface="Arial Narrow"/>
              <a:sym typeface="Arial Narrow"/>
            </a:endParaRPr>
          </a:p>
        </p:txBody>
      </p:sp>
      <p:sp>
        <p:nvSpPr>
          <p:cNvPr id="576" name="Google Shape;576;g3ed1c26bf42_0_18"/>
          <p:cNvSpPr/>
          <p:nvPr/>
        </p:nvSpPr>
        <p:spPr>
          <a:xfrm>
            <a:off x="2620474" y="3422066"/>
            <a:ext cx="1516200" cy="297000"/>
          </a:xfrm>
          <a:prstGeom prst="rect">
            <a:avLst/>
          </a:prstGeom>
          <a:solidFill>
            <a:schemeClr val="dk1">
              <a:alpha val="1216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Integrated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GPU</a:t>
            </a:r>
            <a:endParaRPr b="0" i="0" sz="1400" u="none" cap="none" strike="noStrike">
              <a:solidFill>
                <a:srgbClr val="000000"/>
              </a:solidFill>
              <a:latin typeface="Arial"/>
              <a:ea typeface="Arial"/>
              <a:cs typeface="Arial"/>
              <a:sym typeface="Arial"/>
            </a:endParaRPr>
          </a:p>
        </p:txBody>
      </p:sp>
      <p:sp>
        <p:nvSpPr>
          <p:cNvPr id="577" name="Google Shape;577;g3ed1c26bf42_0_18"/>
          <p:cNvSpPr/>
          <p:nvPr/>
        </p:nvSpPr>
        <p:spPr>
          <a:xfrm>
            <a:off x="1090339" y="1077840"/>
            <a:ext cx="703500" cy="1490700"/>
          </a:xfrm>
          <a:prstGeom prst="rect">
            <a:avLst/>
          </a:prstGeom>
          <a:solidFill>
            <a:schemeClr val="dk1">
              <a:alpha val="21960"/>
            </a:schemeClr>
          </a:solidFill>
          <a:ln cap="flat" cmpd="sng" w="9525">
            <a:solidFill>
              <a:schemeClr val="dk1">
                <a:alpha val="651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t" bIns="0" lIns="0" spcFirstLastPara="1" rIns="0" wrap="square" tIns="137150">
            <a:noAutofit/>
          </a:bodyPr>
          <a:lstStyle/>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ENTERTAINMENT</a:t>
            </a:r>
            <a:endParaRPr b="0"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Android Automotive</a:t>
            </a:r>
            <a:endParaRPr b="0" i="0" sz="1400" u="none" cap="none" strike="noStrike">
              <a:solidFill>
                <a:srgbClr val="000000"/>
              </a:solidFill>
              <a:latin typeface="Arial"/>
              <a:ea typeface="Arial"/>
              <a:cs typeface="Arial"/>
              <a:sym typeface="Arial"/>
            </a:endParaRPr>
          </a:p>
        </p:txBody>
      </p:sp>
      <p:sp>
        <p:nvSpPr>
          <p:cNvPr id="578" name="Google Shape;578;g3ed1c26bf42_0_18"/>
          <p:cNvSpPr/>
          <p:nvPr/>
        </p:nvSpPr>
        <p:spPr>
          <a:xfrm>
            <a:off x="1090339" y="3422066"/>
            <a:ext cx="1500000" cy="297000"/>
          </a:xfrm>
          <a:prstGeom prst="rect">
            <a:avLst/>
          </a:prstGeom>
          <a:solidFill>
            <a:schemeClr val="dk1">
              <a:alpha val="1216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CPU Cores</a:t>
            </a:r>
            <a:endParaRPr b="0" i="0" sz="1400" u="none" cap="none" strike="noStrike">
              <a:solidFill>
                <a:srgbClr val="000000"/>
              </a:solidFill>
              <a:latin typeface="Arial"/>
              <a:ea typeface="Arial"/>
              <a:cs typeface="Arial"/>
              <a:sym typeface="Arial"/>
            </a:endParaRPr>
          </a:p>
        </p:txBody>
      </p:sp>
      <p:sp>
        <p:nvSpPr>
          <p:cNvPr id="579" name="Google Shape;579;g3ed1c26bf42_0_18"/>
          <p:cNvSpPr/>
          <p:nvPr/>
        </p:nvSpPr>
        <p:spPr>
          <a:xfrm>
            <a:off x="1090339" y="3750263"/>
            <a:ext cx="3046500" cy="324000"/>
          </a:xfrm>
          <a:prstGeom prst="rect">
            <a:avLst/>
          </a:prstGeom>
          <a:solidFill>
            <a:schemeClr val="dk1">
              <a:alpha val="12160"/>
            </a:schemeClr>
          </a:solidFill>
          <a:ln cap="flat" cmpd="sng" w="9525">
            <a:solidFill>
              <a:schemeClr val="dk1">
                <a:alpha val="74900"/>
              </a:schemeClr>
            </a:solidFill>
            <a:prstDash val="dash"/>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GB" sz="600" u="none" cap="none" strike="noStrike">
                <a:solidFill>
                  <a:srgbClr val="FFFFFF"/>
                </a:solidFill>
                <a:latin typeface="Arial"/>
                <a:ea typeface="Arial"/>
                <a:cs typeface="Arial"/>
                <a:sym typeface="Arial"/>
              </a:rPr>
              <a:t>Integrated Subsystems’ – Audio, Video &amp; more</a:t>
            </a:r>
            <a:endParaRPr b="0" i="0" sz="1400" u="none" cap="none" strike="noStrike">
              <a:solidFill>
                <a:srgbClr val="000000"/>
              </a:solidFill>
              <a:latin typeface="Arial"/>
              <a:ea typeface="Arial"/>
              <a:cs typeface="Arial"/>
              <a:sym typeface="Arial"/>
            </a:endParaRPr>
          </a:p>
        </p:txBody>
      </p:sp>
      <p:sp>
        <p:nvSpPr>
          <p:cNvPr id="580" name="Google Shape;580;g3ed1c26bf42_0_18"/>
          <p:cNvSpPr/>
          <p:nvPr/>
        </p:nvSpPr>
        <p:spPr>
          <a:xfrm>
            <a:off x="1047936" y="1029635"/>
            <a:ext cx="1545600" cy="1804800"/>
          </a:xfrm>
          <a:prstGeom prst="rect">
            <a:avLst/>
          </a:prstGeom>
          <a:solidFill>
            <a:schemeClr val="dk1">
              <a:alpha val="21960"/>
            </a:schemeClr>
          </a:solidFill>
          <a:ln cap="flat" cmpd="sng" w="9525">
            <a:solidFill>
              <a:schemeClr val="dk1">
                <a:alpha val="65100"/>
              </a:schemeClr>
            </a:solidFill>
            <a:prstDash val="lgDash"/>
            <a:round/>
            <a:headEnd len="sm" w="sm" type="none"/>
            <a:tailEnd len="sm" w="sm" type="none"/>
          </a:ln>
          <a:effectLst>
            <a:outerShdw blurRad="50800" rotWithShape="0" algn="tl" dir="2700000" dist="38100">
              <a:srgbClr val="000000">
                <a:alpha val="14900"/>
              </a:srgbClr>
            </a:outerShdw>
          </a:effectLst>
        </p:spPr>
        <p:txBody>
          <a:bodyPr anchorCtr="0" anchor="t" bIns="0" lIns="0" spcFirstLastPara="1" rIns="0" wrap="square" tIns="137150">
            <a:noAutofit/>
          </a:bodyPr>
          <a:lstStyle/>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739379"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CLUSTER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a:ea typeface="Arial"/>
              <a:cs typeface="Arial"/>
              <a:sym typeface="Arial"/>
            </a:endParaRPr>
          </a:p>
          <a:p>
            <a:pPr indent="0" lvl="0" marL="739379"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Advanced UI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p:txBody>
      </p:sp>
      <p:sp>
        <p:nvSpPr>
          <p:cNvPr id="581" name="Google Shape;581;g3ed1c26bf42_0_18"/>
          <p:cNvSpPr/>
          <p:nvPr/>
        </p:nvSpPr>
        <p:spPr>
          <a:xfrm>
            <a:off x="431011" y="1202071"/>
            <a:ext cx="432300" cy="29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2" name="Google Shape;582;g3ed1c26bf42_0_18"/>
          <p:cNvSpPr/>
          <p:nvPr/>
        </p:nvSpPr>
        <p:spPr>
          <a:xfrm>
            <a:off x="1239204" y="1202071"/>
            <a:ext cx="371100" cy="29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3" name="Google Shape;583;g3ed1c26bf42_0_18"/>
          <p:cNvSpPr/>
          <p:nvPr/>
        </p:nvSpPr>
        <p:spPr>
          <a:xfrm>
            <a:off x="1948260" y="1213929"/>
            <a:ext cx="530400" cy="284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4" name="Google Shape;584;g3ed1c26bf42_0_18"/>
          <p:cNvSpPr/>
          <p:nvPr/>
        </p:nvSpPr>
        <p:spPr>
          <a:xfrm>
            <a:off x="4590212" y="3356554"/>
            <a:ext cx="4263000" cy="1030800"/>
          </a:xfrm>
          <a:prstGeom prst="rect">
            <a:avLst/>
          </a:prstGeom>
          <a:solidFill>
            <a:srgbClr val="3A484F">
              <a:alpha val="43140"/>
            </a:srgb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rgbClr val="00EDFD"/>
                </a:solidFill>
                <a:latin typeface="Arial"/>
                <a:ea typeface="Arial"/>
                <a:cs typeface="Arial"/>
                <a:sym typeface="Arial"/>
              </a:rPr>
              <a:t>Vision Hub: ARM-based Versal AI Edge Gen 2</a:t>
            </a:r>
            <a:endParaRPr b="0" i="0" sz="1400" u="none" cap="none" strike="noStrike">
              <a:solidFill>
                <a:srgbClr val="000000"/>
              </a:solidFill>
              <a:latin typeface="Arial"/>
              <a:ea typeface="Arial"/>
              <a:cs typeface="Arial"/>
              <a:sym typeface="Arial"/>
            </a:endParaRPr>
          </a:p>
        </p:txBody>
      </p:sp>
      <p:sp>
        <p:nvSpPr>
          <p:cNvPr id="585" name="Google Shape;585;g3ed1c26bf42_0_18"/>
          <p:cNvSpPr/>
          <p:nvPr/>
        </p:nvSpPr>
        <p:spPr>
          <a:xfrm>
            <a:off x="7037024" y="3422066"/>
            <a:ext cx="1749900" cy="297000"/>
          </a:xfrm>
          <a:prstGeom prst="rect">
            <a:avLst/>
          </a:prstGeom>
          <a:solidFill>
            <a:schemeClr val="dk1">
              <a:alpha val="1216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Cortex-R</a:t>
            </a:r>
            <a:endParaRPr b="0" i="0" sz="1400" u="none" cap="none" strike="noStrike">
              <a:solidFill>
                <a:srgbClr val="000000"/>
              </a:solidFill>
              <a:latin typeface="Arial"/>
              <a:ea typeface="Arial"/>
              <a:cs typeface="Arial"/>
              <a:sym typeface="Arial"/>
            </a:endParaRPr>
          </a:p>
        </p:txBody>
      </p:sp>
      <p:sp>
        <p:nvSpPr>
          <p:cNvPr id="586" name="Google Shape;586;g3ed1c26bf42_0_18"/>
          <p:cNvSpPr/>
          <p:nvPr/>
        </p:nvSpPr>
        <p:spPr>
          <a:xfrm>
            <a:off x="4646524" y="3422066"/>
            <a:ext cx="2262900" cy="297000"/>
          </a:xfrm>
          <a:prstGeom prst="rect">
            <a:avLst/>
          </a:prstGeom>
          <a:solidFill>
            <a:schemeClr val="dk1">
              <a:alpha val="1216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Cortex-A</a:t>
            </a:r>
            <a:endParaRPr b="0" i="0" sz="1400" u="none" cap="none" strike="noStrike">
              <a:solidFill>
                <a:srgbClr val="000000"/>
              </a:solidFill>
              <a:latin typeface="Arial"/>
              <a:ea typeface="Arial"/>
              <a:cs typeface="Arial"/>
              <a:sym typeface="Arial"/>
            </a:endParaRPr>
          </a:p>
        </p:txBody>
      </p:sp>
      <p:sp>
        <p:nvSpPr>
          <p:cNvPr id="587" name="Google Shape;587;g3ed1c26bf42_0_18"/>
          <p:cNvSpPr/>
          <p:nvPr/>
        </p:nvSpPr>
        <p:spPr>
          <a:xfrm>
            <a:off x="7027644" y="3757794"/>
            <a:ext cx="1134000" cy="324000"/>
          </a:xfrm>
          <a:prstGeom prst="rect">
            <a:avLst/>
          </a:prstGeom>
          <a:solidFill>
            <a:schemeClr val="dk1">
              <a:alpha val="1216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00"/>
              <a:buFont typeface="Arial"/>
              <a:buNone/>
            </a:pPr>
            <a:r>
              <a:rPr b="0" i="0" lang="en-GB" sz="600" u="none" cap="none" strike="noStrike">
                <a:solidFill>
                  <a:srgbClr val="FFFFFF"/>
                </a:solidFill>
                <a:latin typeface="Arial"/>
                <a:ea typeface="Arial"/>
                <a:cs typeface="Arial"/>
                <a:sym typeface="Arial"/>
              </a:rPr>
              <a:t>Platform Mgmt</a:t>
            </a:r>
            <a:endParaRPr b="0" i="0" sz="600" u="none" cap="none" strike="noStrike">
              <a:solidFill>
                <a:srgbClr val="FFFFFF"/>
              </a:solidFill>
              <a:latin typeface="Arial"/>
              <a:ea typeface="Arial"/>
              <a:cs typeface="Arial"/>
              <a:sym typeface="Arial"/>
            </a:endParaRPr>
          </a:p>
        </p:txBody>
      </p:sp>
      <p:sp>
        <p:nvSpPr>
          <p:cNvPr id="588" name="Google Shape;588;g3ed1c26bf42_0_18"/>
          <p:cNvSpPr/>
          <p:nvPr/>
        </p:nvSpPr>
        <p:spPr>
          <a:xfrm>
            <a:off x="4646522" y="3757794"/>
            <a:ext cx="1134000" cy="324000"/>
          </a:xfrm>
          <a:prstGeom prst="rect">
            <a:avLst/>
          </a:prstGeom>
          <a:solidFill>
            <a:schemeClr val="dk1">
              <a:alpha val="1216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00"/>
              <a:buFont typeface="Arial"/>
              <a:buNone/>
            </a:pPr>
            <a:r>
              <a:rPr b="0" i="0" lang="en-GB" sz="600" u="none" cap="none" strike="noStrike">
                <a:solidFill>
                  <a:srgbClr val="FFFFFF"/>
                </a:solidFill>
                <a:latin typeface="Arial"/>
                <a:ea typeface="Arial"/>
                <a:cs typeface="Arial"/>
                <a:sym typeface="Arial"/>
              </a:rPr>
              <a:t>Programmable Logic</a:t>
            </a:r>
            <a:endParaRPr b="0" i="0" sz="600" u="none" cap="none" strike="noStrike">
              <a:solidFill>
                <a:srgbClr val="FFFFFF"/>
              </a:solidFill>
              <a:latin typeface="Arial"/>
              <a:ea typeface="Arial"/>
              <a:cs typeface="Arial"/>
              <a:sym typeface="Arial"/>
            </a:endParaRPr>
          </a:p>
        </p:txBody>
      </p:sp>
      <p:sp>
        <p:nvSpPr>
          <p:cNvPr id="589" name="Google Shape;589;g3ed1c26bf42_0_18"/>
          <p:cNvSpPr/>
          <p:nvPr/>
        </p:nvSpPr>
        <p:spPr>
          <a:xfrm>
            <a:off x="4626690" y="2617127"/>
            <a:ext cx="695100" cy="216000"/>
          </a:xfrm>
          <a:prstGeom prst="rect">
            <a:avLst/>
          </a:prstGeom>
          <a:solidFill>
            <a:schemeClr val="dk1">
              <a:alpha val="16079"/>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25"/>
              <a:buFont typeface="Arial"/>
              <a:buNone/>
            </a:pPr>
            <a:r>
              <a:rPr b="0" i="0" lang="en-GB" sz="525" u="none" cap="none" strike="noStrike">
                <a:solidFill>
                  <a:srgbClr val="FFFFFF"/>
                </a:solidFill>
                <a:latin typeface="Arial"/>
                <a:ea typeface="Arial"/>
                <a:cs typeface="Arial"/>
                <a:sym typeface="Arial"/>
              </a:rPr>
              <a:t>RTOS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25"/>
              <a:buFont typeface="Arial"/>
              <a:buNone/>
            </a:pPr>
            <a:r>
              <a:rPr b="0" i="0" lang="en-GB" sz="525" u="none" cap="none" strike="noStrike">
                <a:solidFill>
                  <a:srgbClr val="FFFFFF"/>
                </a:solidFill>
                <a:latin typeface="Arial"/>
                <a:ea typeface="Arial"/>
                <a:cs typeface="Arial"/>
                <a:sym typeface="Arial"/>
              </a:rPr>
              <a:t>or Linux</a:t>
            </a:r>
            <a:endParaRPr b="1" i="0" sz="525" u="none" cap="none" strike="noStrike">
              <a:solidFill>
                <a:srgbClr val="FFFFFF"/>
              </a:solidFill>
              <a:latin typeface="Arial"/>
              <a:ea typeface="Arial"/>
              <a:cs typeface="Arial"/>
              <a:sym typeface="Arial"/>
            </a:endParaRPr>
          </a:p>
        </p:txBody>
      </p:sp>
      <p:sp>
        <p:nvSpPr>
          <p:cNvPr id="590" name="Google Shape;590;g3ed1c26bf42_0_18"/>
          <p:cNvSpPr/>
          <p:nvPr/>
        </p:nvSpPr>
        <p:spPr>
          <a:xfrm>
            <a:off x="6988710" y="2374625"/>
            <a:ext cx="584700" cy="460800"/>
          </a:xfrm>
          <a:prstGeom prst="rect">
            <a:avLst/>
          </a:prstGeom>
          <a:solidFill>
            <a:schemeClr val="dk1">
              <a:alpha val="588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13715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88"/>
              <a:buFont typeface="Arial"/>
              <a:buNone/>
            </a:pPr>
            <a:r>
              <a:t/>
            </a:r>
            <a:endParaRPr b="0" i="0" sz="788" u="none" cap="none" strike="noStrike">
              <a:solidFill>
                <a:srgbClr val="FFFFFF"/>
              </a:solidFill>
              <a:latin typeface="Architects Daughter"/>
              <a:ea typeface="Architects Daughter"/>
              <a:cs typeface="Architects Daughter"/>
              <a:sym typeface="Architects Daughter"/>
            </a:endParaRPr>
          </a:p>
          <a:p>
            <a:pPr indent="0" lvl="0" marL="0" marR="0" rtl="0" algn="ctr">
              <a:lnSpc>
                <a:spcPct val="100000"/>
              </a:lnSpc>
              <a:spcBef>
                <a:spcPts val="0"/>
              </a:spcBef>
              <a:spcAft>
                <a:spcPts val="0"/>
              </a:spcAft>
              <a:buClr>
                <a:srgbClr val="000000"/>
              </a:buClr>
              <a:buSzPts val="788"/>
              <a:buFont typeface="Arial"/>
              <a:buNone/>
            </a:pPr>
            <a:r>
              <a:rPr b="0" i="0" lang="en-GB" sz="788" u="none" cap="none" strike="noStrike">
                <a:solidFill>
                  <a:srgbClr val="FFFFFF"/>
                </a:solidFill>
                <a:latin typeface="Architects Daughter"/>
                <a:ea typeface="Architects Daughter"/>
                <a:cs typeface="Architects Daughter"/>
                <a:sym typeface="Architects Daughter"/>
              </a:rPr>
              <a:t>Classic</a:t>
            </a:r>
            <a:endParaRPr b="0" i="0" sz="1400" u="none" cap="none" strike="noStrike">
              <a:solidFill>
                <a:srgbClr val="000000"/>
              </a:solidFill>
              <a:latin typeface="Arial"/>
              <a:ea typeface="Arial"/>
              <a:cs typeface="Arial"/>
              <a:sym typeface="Arial"/>
            </a:endParaRPr>
          </a:p>
        </p:txBody>
      </p:sp>
      <p:sp>
        <p:nvSpPr>
          <p:cNvPr id="591" name="Google Shape;591;g3ed1c26bf42_0_18"/>
          <p:cNvSpPr/>
          <p:nvPr/>
        </p:nvSpPr>
        <p:spPr>
          <a:xfrm>
            <a:off x="7616815" y="2374624"/>
            <a:ext cx="602100" cy="463800"/>
          </a:xfrm>
          <a:prstGeom prst="rect">
            <a:avLst/>
          </a:prstGeom>
          <a:solidFill>
            <a:schemeClr val="dk1">
              <a:alpha val="588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RTOS</a:t>
            </a:r>
            <a:endParaRPr b="0" i="0" sz="1400" u="none" cap="none" strike="noStrike">
              <a:solidFill>
                <a:srgbClr val="000000"/>
              </a:solidFill>
              <a:latin typeface="Arial"/>
              <a:ea typeface="Arial"/>
              <a:cs typeface="Arial"/>
              <a:sym typeface="Arial"/>
            </a:endParaRPr>
          </a:p>
        </p:txBody>
      </p:sp>
      <p:sp>
        <p:nvSpPr>
          <p:cNvPr id="592" name="Google Shape;592;g3ed1c26bf42_0_18"/>
          <p:cNvSpPr/>
          <p:nvPr/>
        </p:nvSpPr>
        <p:spPr>
          <a:xfrm>
            <a:off x="7616815" y="2371638"/>
            <a:ext cx="602100" cy="198600"/>
          </a:xfrm>
          <a:prstGeom prst="rect">
            <a:avLst/>
          </a:prstGeom>
          <a:solidFill>
            <a:schemeClr val="dk1">
              <a:alpha val="16079"/>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Middleware</a:t>
            </a:r>
            <a:endParaRPr b="0" i="0" sz="1400" u="none" cap="none" strike="noStrike">
              <a:solidFill>
                <a:srgbClr val="000000"/>
              </a:solidFill>
              <a:latin typeface="Arial"/>
              <a:ea typeface="Arial"/>
              <a:cs typeface="Arial"/>
              <a:sym typeface="Arial"/>
            </a:endParaRPr>
          </a:p>
        </p:txBody>
      </p:sp>
      <p:sp>
        <p:nvSpPr>
          <p:cNvPr id="593" name="Google Shape;593;g3ed1c26bf42_0_18"/>
          <p:cNvSpPr/>
          <p:nvPr/>
        </p:nvSpPr>
        <p:spPr>
          <a:xfrm>
            <a:off x="7616814" y="1023528"/>
            <a:ext cx="602100" cy="1351200"/>
          </a:xfrm>
          <a:prstGeom prst="rect">
            <a:avLst/>
          </a:prstGeom>
          <a:solidFill>
            <a:schemeClr val="dk1">
              <a:alpha val="21960"/>
            </a:schemeClr>
          </a:solidFill>
          <a:ln cap="flat" cmpd="sng" w="9525">
            <a:solidFill>
              <a:schemeClr val="dk1">
                <a:alpha val="651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205725">
            <a:noAutofit/>
          </a:bodyPr>
          <a:lstStyle/>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CUSTOM WORKLOAD</a:t>
            </a:r>
            <a:endParaRPr b="0" i="0" sz="1400" u="none" cap="none" strike="noStrike">
              <a:solidFill>
                <a:srgbClr val="000000"/>
              </a:solidFill>
              <a:latin typeface="Arial"/>
              <a:ea typeface="Arial"/>
              <a:cs typeface="Arial"/>
              <a:sym typeface="Arial"/>
            </a:endParaRPr>
          </a:p>
        </p:txBody>
      </p:sp>
      <p:sp>
        <p:nvSpPr>
          <p:cNvPr id="594" name="Google Shape;594;g3ed1c26bf42_0_18"/>
          <p:cNvSpPr/>
          <p:nvPr/>
        </p:nvSpPr>
        <p:spPr>
          <a:xfrm>
            <a:off x="6988710" y="2371638"/>
            <a:ext cx="584700" cy="195600"/>
          </a:xfrm>
          <a:prstGeom prst="rect">
            <a:avLst/>
          </a:prstGeom>
          <a:solidFill>
            <a:schemeClr val="dk1">
              <a:alpha val="16079"/>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Middleware</a:t>
            </a:r>
            <a:endParaRPr b="0" i="0" sz="1400" u="none" cap="none" strike="noStrike">
              <a:solidFill>
                <a:srgbClr val="000000"/>
              </a:solidFill>
              <a:latin typeface="Arial"/>
              <a:ea typeface="Arial"/>
              <a:cs typeface="Arial"/>
              <a:sym typeface="Arial"/>
            </a:endParaRPr>
          </a:p>
        </p:txBody>
      </p:sp>
      <p:sp>
        <p:nvSpPr>
          <p:cNvPr id="595" name="Google Shape;595;g3ed1c26bf42_0_18"/>
          <p:cNvSpPr/>
          <p:nvPr/>
        </p:nvSpPr>
        <p:spPr>
          <a:xfrm>
            <a:off x="6988710" y="1023527"/>
            <a:ext cx="584700" cy="1346100"/>
          </a:xfrm>
          <a:prstGeom prst="rect">
            <a:avLst/>
          </a:prstGeom>
          <a:solidFill>
            <a:schemeClr val="dk1">
              <a:alpha val="21960"/>
            </a:schemeClr>
          </a:solidFill>
          <a:ln cap="flat" cmpd="sng" w="9525">
            <a:solidFill>
              <a:schemeClr val="dk1">
                <a:alpha val="651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205725">
            <a:noAutofit/>
          </a:bodyPr>
          <a:lstStyle/>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VEHICLE</a:t>
            </a:r>
            <a:br>
              <a:rPr b="1" i="0" lang="en-GB" sz="750" u="none" cap="none" strike="noStrike">
                <a:solidFill>
                  <a:srgbClr val="00EDFD"/>
                </a:solidFill>
                <a:latin typeface="Arial Narrow"/>
                <a:ea typeface="Arial Narrow"/>
                <a:cs typeface="Arial Narrow"/>
                <a:sym typeface="Arial Narrow"/>
              </a:rPr>
            </a:br>
            <a:r>
              <a:rPr b="1" i="0" lang="en-GB" sz="750" u="none" cap="none" strike="noStrike">
                <a:solidFill>
                  <a:srgbClr val="00EDFD"/>
                </a:solidFill>
                <a:latin typeface="Arial Narrow"/>
                <a:ea typeface="Arial Narrow"/>
                <a:cs typeface="Arial Narrow"/>
                <a:sym typeface="Arial Narrow"/>
              </a:rPr>
              <a:t>CONTROL</a:t>
            </a:r>
            <a:endParaRPr b="0" i="0" sz="1400" u="none" cap="none" strike="noStrike">
              <a:solidFill>
                <a:srgbClr val="000000"/>
              </a:solidFill>
              <a:latin typeface="Arial"/>
              <a:ea typeface="Arial"/>
              <a:cs typeface="Arial"/>
              <a:sym typeface="Arial"/>
            </a:endParaRPr>
          </a:p>
        </p:txBody>
      </p:sp>
      <p:sp>
        <p:nvSpPr>
          <p:cNvPr id="596" name="Google Shape;596;g3ed1c26bf42_0_18"/>
          <p:cNvSpPr/>
          <p:nvPr/>
        </p:nvSpPr>
        <p:spPr>
          <a:xfrm>
            <a:off x="5424493" y="2617127"/>
            <a:ext cx="695100" cy="216000"/>
          </a:xfrm>
          <a:prstGeom prst="rect">
            <a:avLst/>
          </a:prstGeom>
          <a:solidFill>
            <a:schemeClr val="dk1">
              <a:alpha val="16079"/>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25"/>
              <a:buFont typeface="Arial"/>
              <a:buNone/>
            </a:pPr>
            <a:r>
              <a:rPr b="0" i="0" lang="en-GB" sz="525" u="none" cap="none" strike="noStrike">
                <a:solidFill>
                  <a:srgbClr val="FFFFFF"/>
                </a:solidFill>
                <a:latin typeface="Arial"/>
                <a:ea typeface="Arial"/>
                <a:cs typeface="Arial"/>
                <a:sym typeface="Arial"/>
              </a:rPr>
              <a:t>RTOS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25"/>
              <a:buFont typeface="Arial"/>
              <a:buNone/>
            </a:pPr>
            <a:r>
              <a:rPr b="0" i="0" lang="en-GB" sz="525" u="none" cap="none" strike="noStrike">
                <a:solidFill>
                  <a:srgbClr val="FFFFFF"/>
                </a:solidFill>
                <a:latin typeface="Arial"/>
                <a:ea typeface="Arial"/>
                <a:cs typeface="Arial"/>
                <a:sym typeface="Arial"/>
              </a:rPr>
              <a:t>or Linux</a:t>
            </a:r>
            <a:endParaRPr b="1" i="0" sz="525" u="none" cap="none" strike="noStrike">
              <a:solidFill>
                <a:srgbClr val="FFFFFF"/>
              </a:solidFill>
              <a:latin typeface="Arial"/>
              <a:ea typeface="Arial"/>
              <a:cs typeface="Arial"/>
              <a:sym typeface="Arial"/>
            </a:endParaRPr>
          </a:p>
        </p:txBody>
      </p:sp>
      <p:sp>
        <p:nvSpPr>
          <p:cNvPr id="597" name="Google Shape;597;g3ed1c26bf42_0_18"/>
          <p:cNvSpPr/>
          <p:nvPr/>
        </p:nvSpPr>
        <p:spPr>
          <a:xfrm>
            <a:off x="6215376" y="2617127"/>
            <a:ext cx="695100" cy="216000"/>
          </a:xfrm>
          <a:prstGeom prst="rect">
            <a:avLst/>
          </a:prstGeom>
          <a:solidFill>
            <a:schemeClr val="dk1">
              <a:alpha val="16079"/>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25"/>
              <a:buFont typeface="Arial"/>
              <a:buNone/>
            </a:pPr>
            <a:r>
              <a:rPr b="0" i="0" lang="en-GB" sz="525" u="none" cap="none" strike="noStrike">
                <a:solidFill>
                  <a:srgbClr val="FFFFFF"/>
                </a:solidFill>
                <a:latin typeface="Arial"/>
                <a:ea typeface="Arial"/>
                <a:cs typeface="Arial"/>
                <a:sym typeface="Arial"/>
              </a:rPr>
              <a:t>RTOS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25"/>
              <a:buFont typeface="Arial"/>
              <a:buNone/>
            </a:pPr>
            <a:r>
              <a:rPr b="0" i="0" lang="en-GB" sz="525" u="none" cap="none" strike="noStrike">
                <a:solidFill>
                  <a:srgbClr val="FFFFFF"/>
                </a:solidFill>
                <a:latin typeface="Arial"/>
                <a:ea typeface="Arial"/>
                <a:cs typeface="Arial"/>
                <a:sym typeface="Arial"/>
              </a:rPr>
              <a:t>or Linux</a:t>
            </a:r>
            <a:endParaRPr b="1" i="0" sz="525" u="none" cap="none" strike="noStrike">
              <a:solidFill>
                <a:srgbClr val="FFFFFF"/>
              </a:solidFill>
              <a:latin typeface="Arial"/>
              <a:ea typeface="Arial"/>
              <a:cs typeface="Arial"/>
              <a:sym typeface="Arial"/>
            </a:endParaRPr>
          </a:p>
        </p:txBody>
      </p:sp>
      <p:pic>
        <p:nvPicPr>
          <p:cNvPr id="598" name="Google Shape;598;g3ed1c26bf42_0_18"/>
          <p:cNvPicPr preferRelativeResize="0"/>
          <p:nvPr/>
        </p:nvPicPr>
        <p:blipFill rotWithShape="1">
          <a:blip r:embed="rId3">
            <a:alphaModFix/>
          </a:blip>
          <a:srcRect b="0" l="0" r="0" t="0"/>
          <a:stretch/>
        </p:blipFill>
        <p:spPr>
          <a:xfrm>
            <a:off x="7027644" y="2685335"/>
            <a:ext cx="492412" cy="50793"/>
          </a:xfrm>
          <a:prstGeom prst="rect">
            <a:avLst/>
          </a:prstGeom>
          <a:noFill/>
          <a:ln>
            <a:noFill/>
          </a:ln>
        </p:spPr>
      </p:pic>
      <p:sp>
        <p:nvSpPr>
          <p:cNvPr id="599" name="Google Shape;599;g3ed1c26bf42_0_18"/>
          <p:cNvSpPr/>
          <p:nvPr/>
        </p:nvSpPr>
        <p:spPr>
          <a:xfrm>
            <a:off x="4753501" y="1232939"/>
            <a:ext cx="445200" cy="28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0" name="Google Shape;600;g3ed1c26bf42_0_18"/>
          <p:cNvSpPr/>
          <p:nvPr/>
        </p:nvSpPr>
        <p:spPr>
          <a:xfrm>
            <a:off x="5583619" y="1187980"/>
            <a:ext cx="361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1" name="Google Shape;601;g3ed1c26bf42_0_18"/>
          <p:cNvSpPr/>
          <p:nvPr/>
        </p:nvSpPr>
        <p:spPr>
          <a:xfrm rot="-5400000">
            <a:off x="6370636" y="1178999"/>
            <a:ext cx="426000" cy="38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2" name="Google Shape;602;g3ed1c26bf42_0_18"/>
          <p:cNvSpPr/>
          <p:nvPr/>
        </p:nvSpPr>
        <p:spPr>
          <a:xfrm>
            <a:off x="7150848" y="1188835"/>
            <a:ext cx="258600" cy="363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3" name="Google Shape;603;g3ed1c26bf42_0_18"/>
          <p:cNvSpPr/>
          <p:nvPr/>
        </p:nvSpPr>
        <p:spPr>
          <a:xfrm>
            <a:off x="7752170" y="1193399"/>
            <a:ext cx="328200" cy="35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4" name="Google Shape;604;g3ed1c26bf42_0_18"/>
          <p:cNvSpPr/>
          <p:nvPr/>
        </p:nvSpPr>
        <p:spPr>
          <a:xfrm>
            <a:off x="8250898" y="2374624"/>
            <a:ext cx="602100" cy="461400"/>
          </a:xfrm>
          <a:prstGeom prst="rect">
            <a:avLst/>
          </a:prstGeom>
          <a:solidFill>
            <a:schemeClr val="dk1">
              <a:alpha val="588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RTOS</a:t>
            </a:r>
            <a:endParaRPr b="0" i="0" sz="1400" u="none" cap="none" strike="noStrike">
              <a:solidFill>
                <a:srgbClr val="000000"/>
              </a:solidFill>
              <a:latin typeface="Arial"/>
              <a:ea typeface="Arial"/>
              <a:cs typeface="Arial"/>
              <a:sym typeface="Arial"/>
            </a:endParaRPr>
          </a:p>
        </p:txBody>
      </p:sp>
      <p:sp>
        <p:nvSpPr>
          <p:cNvPr id="605" name="Google Shape;605;g3ed1c26bf42_0_18"/>
          <p:cNvSpPr/>
          <p:nvPr/>
        </p:nvSpPr>
        <p:spPr>
          <a:xfrm>
            <a:off x="8250899" y="2374625"/>
            <a:ext cx="602100" cy="190800"/>
          </a:xfrm>
          <a:prstGeom prst="rect">
            <a:avLst/>
          </a:prstGeom>
          <a:solidFill>
            <a:schemeClr val="dk1">
              <a:alpha val="16079"/>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Middleware</a:t>
            </a:r>
            <a:endParaRPr b="0" i="0" sz="1400" u="none" cap="none" strike="noStrike">
              <a:solidFill>
                <a:srgbClr val="000000"/>
              </a:solidFill>
              <a:latin typeface="Arial"/>
              <a:ea typeface="Arial"/>
              <a:cs typeface="Arial"/>
              <a:sym typeface="Arial"/>
            </a:endParaRPr>
          </a:p>
        </p:txBody>
      </p:sp>
      <p:sp>
        <p:nvSpPr>
          <p:cNvPr id="606" name="Google Shape;606;g3ed1c26bf42_0_18"/>
          <p:cNvSpPr/>
          <p:nvPr/>
        </p:nvSpPr>
        <p:spPr>
          <a:xfrm>
            <a:off x="8250898" y="1018646"/>
            <a:ext cx="602100" cy="1350900"/>
          </a:xfrm>
          <a:prstGeom prst="rect">
            <a:avLst/>
          </a:prstGeom>
          <a:solidFill>
            <a:schemeClr val="dk1">
              <a:alpha val="21960"/>
            </a:schemeClr>
          </a:solidFill>
          <a:ln cap="flat" cmpd="sng" w="9525">
            <a:solidFill>
              <a:schemeClr val="dk1">
                <a:alpha val="651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205725">
            <a:noAutofit/>
          </a:bodyPr>
          <a:lstStyle/>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ISP STACK / OTHER</a:t>
            </a:r>
            <a:endParaRPr b="0" i="0" sz="1400" u="none" cap="none" strike="noStrike">
              <a:solidFill>
                <a:srgbClr val="000000"/>
              </a:solidFill>
              <a:latin typeface="Arial"/>
              <a:ea typeface="Arial"/>
              <a:cs typeface="Arial"/>
              <a:sym typeface="Arial"/>
            </a:endParaRPr>
          </a:p>
        </p:txBody>
      </p:sp>
      <p:sp>
        <p:nvSpPr>
          <p:cNvPr id="607" name="Google Shape;607;g3ed1c26bf42_0_18"/>
          <p:cNvSpPr/>
          <p:nvPr/>
        </p:nvSpPr>
        <p:spPr>
          <a:xfrm>
            <a:off x="8386254" y="1188518"/>
            <a:ext cx="328200" cy="35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8" name="Google Shape;608;g3ed1c26bf42_0_18"/>
          <p:cNvSpPr/>
          <p:nvPr/>
        </p:nvSpPr>
        <p:spPr>
          <a:xfrm>
            <a:off x="8219027" y="3757794"/>
            <a:ext cx="567900" cy="324000"/>
          </a:xfrm>
          <a:prstGeom prst="rect">
            <a:avLst/>
          </a:prstGeom>
          <a:solidFill>
            <a:schemeClr val="dk1">
              <a:alpha val="1216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00"/>
              <a:buFont typeface="Arial"/>
              <a:buNone/>
            </a:pPr>
            <a:r>
              <a:rPr b="0" i="0" lang="en-GB" sz="600" u="none" cap="none" strike="noStrike">
                <a:solidFill>
                  <a:srgbClr val="FFFFFF"/>
                </a:solidFill>
                <a:latin typeface="Arial"/>
                <a:ea typeface="Arial"/>
                <a:cs typeface="Arial"/>
                <a:sym typeface="Arial"/>
              </a:rPr>
              <a:t>HSM</a:t>
            </a:r>
            <a:endParaRPr b="0" i="0" sz="600" u="none" cap="none" strike="noStrike">
              <a:solidFill>
                <a:srgbClr val="FFFFFF"/>
              </a:solidFill>
              <a:latin typeface="Arial"/>
              <a:ea typeface="Arial"/>
              <a:cs typeface="Arial"/>
              <a:sym typeface="Arial"/>
            </a:endParaRPr>
          </a:p>
        </p:txBody>
      </p:sp>
      <p:sp>
        <p:nvSpPr>
          <p:cNvPr id="609" name="Google Shape;609;g3ed1c26bf42_0_18"/>
          <p:cNvSpPr/>
          <p:nvPr/>
        </p:nvSpPr>
        <p:spPr>
          <a:xfrm>
            <a:off x="4161780" y="3702288"/>
            <a:ext cx="427800" cy="214200"/>
          </a:xfrm>
          <a:prstGeom prst="leftRightArrow">
            <a:avLst>
              <a:gd fmla="val 50000" name="adj1"/>
              <a:gd fmla="val 50000" name="adj2"/>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00"/>
              <a:buFont typeface="Arial"/>
              <a:buNone/>
            </a:pPr>
            <a:r>
              <a:rPr b="0" i="0" lang="en-GB" sz="600" u="none" cap="none" strike="noStrike">
                <a:solidFill>
                  <a:schemeClr val="dk1"/>
                </a:solidFill>
                <a:latin typeface="Arial"/>
                <a:ea typeface="Arial"/>
                <a:cs typeface="Arial"/>
                <a:sym typeface="Arial"/>
              </a:rPr>
              <a:t>PCIe</a:t>
            </a:r>
            <a:endParaRPr b="0" i="0" sz="1400" u="none" cap="none" strike="noStrike">
              <a:solidFill>
                <a:srgbClr val="000000"/>
              </a:solidFill>
              <a:latin typeface="Arial"/>
              <a:ea typeface="Arial"/>
              <a:cs typeface="Arial"/>
              <a:sym typeface="Arial"/>
            </a:endParaRPr>
          </a:p>
        </p:txBody>
      </p:sp>
      <p:sp>
        <p:nvSpPr>
          <p:cNvPr id="610" name="Google Shape;610;g3ed1c26bf42_0_18"/>
          <p:cNvSpPr/>
          <p:nvPr/>
        </p:nvSpPr>
        <p:spPr>
          <a:xfrm>
            <a:off x="5837905" y="3757794"/>
            <a:ext cx="460500" cy="324000"/>
          </a:xfrm>
          <a:prstGeom prst="rect">
            <a:avLst/>
          </a:prstGeom>
          <a:solidFill>
            <a:schemeClr val="dk1">
              <a:alpha val="12160"/>
            </a:schemeClr>
          </a:solidFill>
          <a:ln cap="flat" cmpd="sng" w="9525">
            <a:solidFill>
              <a:schemeClr val="dk1">
                <a:alpha val="74900"/>
              </a:schemeClr>
            </a:solidFill>
            <a:prstDash val="dash"/>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GB" sz="600" u="none" cap="none" strike="noStrike">
                <a:solidFill>
                  <a:srgbClr val="FFFFFF"/>
                </a:solidFill>
                <a:latin typeface="Arial"/>
                <a:ea typeface="Arial"/>
                <a:cs typeface="Arial"/>
                <a:sym typeface="Arial"/>
              </a:rPr>
              <a:t>Integrated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00"/>
              <a:buFont typeface="Arial"/>
              <a:buNone/>
            </a:pPr>
            <a:r>
              <a:rPr b="0" i="0" lang="en-GB" sz="600" u="none" cap="none" strike="noStrike">
                <a:solidFill>
                  <a:srgbClr val="FFFFFF"/>
                </a:solidFill>
                <a:latin typeface="Arial"/>
                <a:ea typeface="Arial"/>
                <a:cs typeface="Arial"/>
                <a:sym typeface="Arial"/>
              </a:rPr>
              <a:t>GPU, VCU, ISP</a:t>
            </a:r>
            <a:endParaRPr b="0" i="0" sz="1400" u="none" cap="none" strike="noStrike">
              <a:solidFill>
                <a:srgbClr val="000000"/>
              </a:solidFill>
              <a:latin typeface="Arial"/>
              <a:ea typeface="Arial"/>
              <a:cs typeface="Arial"/>
              <a:sym typeface="Arial"/>
            </a:endParaRPr>
          </a:p>
        </p:txBody>
      </p:sp>
      <p:sp>
        <p:nvSpPr>
          <p:cNvPr id="611" name="Google Shape;611;g3ed1c26bf42_0_18"/>
          <p:cNvSpPr/>
          <p:nvPr/>
        </p:nvSpPr>
        <p:spPr>
          <a:xfrm>
            <a:off x="6331744" y="3757794"/>
            <a:ext cx="581100" cy="324000"/>
          </a:xfrm>
          <a:prstGeom prst="rect">
            <a:avLst/>
          </a:prstGeom>
          <a:solidFill>
            <a:schemeClr val="dk1">
              <a:alpha val="1216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00"/>
              <a:buFont typeface="Arial"/>
              <a:buNone/>
            </a:pPr>
            <a:r>
              <a:rPr b="0" i="0" lang="en-GB" sz="600" u="none" cap="none" strike="noStrike">
                <a:solidFill>
                  <a:srgbClr val="FFFFFF"/>
                </a:solidFill>
                <a:latin typeface="Arial"/>
                <a:ea typeface="Arial"/>
                <a:cs typeface="Arial"/>
                <a:sym typeface="Arial"/>
              </a:rPr>
              <a:t>AI/ML</a:t>
            </a:r>
            <a:endParaRPr b="0" i="0" sz="600" u="none" cap="none" strike="noStrike">
              <a:solidFill>
                <a:srgbClr val="FFFFFF"/>
              </a:solidFill>
              <a:latin typeface="Arial"/>
              <a:ea typeface="Arial"/>
              <a:cs typeface="Arial"/>
              <a:sym typeface="Arial"/>
            </a:endParaRPr>
          </a:p>
        </p:txBody>
      </p:sp>
      <p:sp>
        <p:nvSpPr>
          <p:cNvPr id="612" name="Google Shape;612;g3ed1c26bf42_0_18"/>
          <p:cNvSpPr/>
          <p:nvPr/>
        </p:nvSpPr>
        <p:spPr>
          <a:xfrm>
            <a:off x="1047936" y="2649837"/>
            <a:ext cx="1542600" cy="184500"/>
          </a:xfrm>
          <a:prstGeom prst="rect">
            <a:avLst/>
          </a:prstGeom>
          <a:solidFill>
            <a:schemeClr val="dk1">
              <a:alpha val="21960"/>
            </a:schemeClr>
          </a:solidFill>
          <a:ln cap="flat" cmpd="sng" w="9525">
            <a:solidFill>
              <a:schemeClr val="dk1">
                <a:alpha val="65100"/>
              </a:schemeClr>
            </a:solidFill>
            <a:prstDash val="lgDash"/>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Linux</a:t>
            </a:r>
            <a:endParaRPr b="0" i="0" sz="1400" u="none" cap="none" strike="noStrike">
              <a:solidFill>
                <a:srgbClr val="000000"/>
              </a:solidFill>
              <a:latin typeface="Arial"/>
              <a:ea typeface="Arial"/>
              <a:cs typeface="Arial"/>
              <a:sym typeface="Arial"/>
            </a:endParaRPr>
          </a:p>
        </p:txBody>
      </p:sp>
      <p:sp>
        <p:nvSpPr>
          <p:cNvPr id="613" name="Google Shape;613;g3ed1c26bf42_0_18"/>
          <p:cNvSpPr/>
          <p:nvPr/>
        </p:nvSpPr>
        <p:spPr>
          <a:xfrm>
            <a:off x="3406391" y="1029635"/>
            <a:ext cx="756000" cy="1804800"/>
          </a:xfrm>
          <a:prstGeom prst="rect">
            <a:avLst/>
          </a:prstGeom>
          <a:solidFill>
            <a:schemeClr val="dk1">
              <a:alpha val="21960"/>
            </a:schemeClr>
          </a:solidFill>
          <a:ln cap="flat" cmpd="sng" w="9525">
            <a:solidFill>
              <a:schemeClr val="dk1">
                <a:alpha val="651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t" bIns="0" lIns="0" spcFirstLastPara="1" rIns="0" wrap="square" tIns="137150">
            <a:noAutofit/>
          </a:bodyPr>
          <a:lstStyle/>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1" i="0" sz="750" u="none" cap="none" strike="noStrike">
              <a:solidFill>
                <a:srgbClr val="00EDFD"/>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rPr b="1" i="0" lang="en-GB" sz="750" u="none" cap="none" strike="noStrike">
                <a:solidFill>
                  <a:srgbClr val="00EDFD"/>
                </a:solidFill>
                <a:latin typeface="Arial Narrow"/>
                <a:ea typeface="Arial Narrow"/>
                <a:cs typeface="Arial Narrow"/>
                <a:sym typeface="Arial Narrow"/>
              </a:rPr>
              <a:t>SAFETY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Narrow"/>
              <a:ea typeface="Arial Narrow"/>
              <a:cs typeface="Arial Narrow"/>
              <a:sym typeface="Arial Narrow"/>
            </a:endParaRPr>
          </a:p>
          <a:p>
            <a:pPr indent="0" lvl="0" marL="0" marR="0" rtl="0" algn="ctr">
              <a:lnSpc>
                <a:spcPct val="100000"/>
              </a:lnSpc>
              <a:spcBef>
                <a:spcPts val="0"/>
              </a:spcBef>
              <a:spcAft>
                <a:spcPts val="0"/>
              </a:spcAft>
              <a:buClr>
                <a:srgbClr val="000000"/>
              </a:buClr>
              <a:buSzPts val="750"/>
              <a:buFont typeface="Arial"/>
              <a:buNone/>
            </a:pPr>
            <a:r>
              <a:t/>
            </a:r>
            <a:endParaRPr b="0" i="0" sz="75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Minimal UI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(Safety)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14" name="Google Shape;614;g3ed1c26bf42_0_18"/>
          <p:cNvSpPr/>
          <p:nvPr/>
        </p:nvSpPr>
        <p:spPr>
          <a:xfrm>
            <a:off x="3406391" y="2645396"/>
            <a:ext cx="756000" cy="189000"/>
          </a:xfrm>
          <a:prstGeom prst="rect">
            <a:avLst/>
          </a:prstGeom>
          <a:solidFill>
            <a:schemeClr val="dk1">
              <a:alpha val="21960"/>
            </a:schemeClr>
          </a:solidFill>
          <a:ln cap="flat" cmpd="sng" w="9525">
            <a:solidFill>
              <a:schemeClr val="dk1">
                <a:alpha val="65100"/>
              </a:schemeClr>
            </a:solidFill>
            <a:prstDash val="lgDash"/>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RTOS</a:t>
            </a:r>
            <a:endParaRPr b="0" i="0" sz="750" u="none" cap="none" strike="noStrike">
              <a:solidFill>
                <a:srgbClr val="FFFFFF"/>
              </a:solidFill>
              <a:latin typeface="Arial"/>
              <a:ea typeface="Arial"/>
              <a:cs typeface="Arial"/>
              <a:sym typeface="Arial"/>
            </a:endParaRPr>
          </a:p>
        </p:txBody>
      </p:sp>
      <p:sp>
        <p:nvSpPr>
          <p:cNvPr id="615" name="Google Shape;615;g3ed1c26bf42_0_18"/>
          <p:cNvSpPr/>
          <p:nvPr/>
        </p:nvSpPr>
        <p:spPr>
          <a:xfrm>
            <a:off x="3638955" y="1202070"/>
            <a:ext cx="354600" cy="30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6" name="Google Shape;616;g3ed1c26bf42_0_18"/>
          <p:cNvSpPr/>
          <p:nvPr/>
        </p:nvSpPr>
        <p:spPr>
          <a:xfrm rot="-5400000">
            <a:off x="2788695" y="1214851"/>
            <a:ext cx="426000" cy="38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617" name="Google Shape;617;g3ed1c26bf42_0_18"/>
          <p:cNvPicPr preferRelativeResize="0"/>
          <p:nvPr/>
        </p:nvPicPr>
        <p:blipFill rotWithShape="1">
          <a:blip r:embed="rId3">
            <a:alphaModFix/>
          </a:blip>
          <a:srcRect b="0" l="0" r="0" t="0"/>
          <a:stretch/>
        </p:blipFill>
        <p:spPr>
          <a:xfrm>
            <a:off x="3522757" y="2334582"/>
            <a:ext cx="492412" cy="50793"/>
          </a:xfrm>
          <a:prstGeom prst="rect">
            <a:avLst/>
          </a:prstGeom>
          <a:noFill/>
          <a:ln>
            <a:noFill/>
          </a:ln>
        </p:spPr>
      </p:pic>
      <p:sp>
        <p:nvSpPr>
          <p:cNvPr id="618" name="Google Shape;618;g3ed1c26bf42_0_18"/>
          <p:cNvSpPr txBox="1"/>
          <p:nvPr/>
        </p:nvSpPr>
        <p:spPr>
          <a:xfrm>
            <a:off x="3751794" y="2364751"/>
            <a:ext cx="4047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25"/>
              <a:buFont typeface="Arial"/>
              <a:buNone/>
            </a:pPr>
            <a:r>
              <a:rPr b="0" i="0" lang="en-GB" sz="525" u="none" cap="none" strike="noStrike">
                <a:solidFill>
                  <a:srgbClr val="FFFFFF"/>
                </a:solidFill>
                <a:latin typeface="Architects Daughter"/>
                <a:ea typeface="Architects Daughter"/>
                <a:cs typeface="Architects Daughter"/>
                <a:sym typeface="Architects Daughter"/>
              </a:rPr>
              <a:t>Adaptive</a:t>
            </a:r>
            <a:endParaRPr b="0" i="0" sz="525" u="none" cap="none" strike="noStrike">
              <a:solidFill>
                <a:srgbClr val="FFFFFF"/>
              </a:solidFill>
              <a:latin typeface="Architects Daughter"/>
              <a:ea typeface="Architects Daughter"/>
              <a:cs typeface="Architects Daughter"/>
              <a:sym typeface="Architects Daughter"/>
            </a:endParaRPr>
          </a:p>
        </p:txBody>
      </p:sp>
      <p:pic>
        <p:nvPicPr>
          <p:cNvPr descr="LXC - Wikipedia" id="619" name="Google Shape;619;g3ed1c26bf42_0_18"/>
          <p:cNvPicPr preferRelativeResize="0"/>
          <p:nvPr/>
        </p:nvPicPr>
        <p:blipFill rotWithShape="1">
          <a:blip r:embed="rId4">
            <a:alphaModFix/>
          </a:blip>
          <a:srcRect b="0" l="0" r="0" t="0"/>
          <a:stretch/>
        </p:blipFill>
        <p:spPr>
          <a:xfrm>
            <a:off x="1473308" y="2274278"/>
            <a:ext cx="290729" cy="265025"/>
          </a:xfrm>
          <a:prstGeom prst="rect">
            <a:avLst/>
          </a:prstGeom>
          <a:noFill/>
          <a:ln>
            <a:noFill/>
          </a:ln>
        </p:spPr>
      </p:pic>
      <p:pic>
        <p:nvPicPr>
          <p:cNvPr id="620" name="Google Shape;620;g3ed1c26bf42_0_18"/>
          <p:cNvPicPr preferRelativeResize="0"/>
          <p:nvPr/>
        </p:nvPicPr>
        <p:blipFill rotWithShape="1">
          <a:blip r:embed="rId3">
            <a:alphaModFix/>
          </a:blip>
          <a:srcRect b="0" l="0" r="0" t="0"/>
          <a:stretch/>
        </p:blipFill>
        <p:spPr>
          <a:xfrm>
            <a:off x="6270978" y="2062763"/>
            <a:ext cx="492412" cy="50793"/>
          </a:xfrm>
          <a:prstGeom prst="rect">
            <a:avLst/>
          </a:prstGeom>
          <a:noFill/>
          <a:ln>
            <a:noFill/>
          </a:ln>
        </p:spPr>
      </p:pic>
      <p:sp>
        <p:nvSpPr>
          <p:cNvPr id="621" name="Google Shape;621;g3ed1c26bf42_0_18"/>
          <p:cNvSpPr txBox="1"/>
          <p:nvPr/>
        </p:nvSpPr>
        <p:spPr>
          <a:xfrm>
            <a:off x="6500015" y="2092932"/>
            <a:ext cx="4047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25"/>
              <a:buFont typeface="Arial"/>
              <a:buNone/>
            </a:pPr>
            <a:r>
              <a:rPr b="0" i="0" lang="en-GB" sz="525" u="none" cap="none" strike="noStrike">
                <a:solidFill>
                  <a:srgbClr val="FFFFFF"/>
                </a:solidFill>
                <a:latin typeface="Architects Daughter"/>
                <a:ea typeface="Architects Daughter"/>
                <a:cs typeface="Architects Daughter"/>
                <a:sym typeface="Architects Daughter"/>
              </a:rPr>
              <a:t>Adaptive</a:t>
            </a:r>
            <a:endParaRPr b="0" i="0" sz="525" u="none" cap="none" strike="noStrike">
              <a:solidFill>
                <a:srgbClr val="FFFFFF"/>
              </a:solidFill>
              <a:latin typeface="Architects Daughter"/>
              <a:ea typeface="Architects Daughter"/>
              <a:cs typeface="Architects Daughter"/>
              <a:sym typeface="Architects Daughter"/>
            </a:endParaRPr>
          </a:p>
        </p:txBody>
      </p:sp>
      <p:sp>
        <p:nvSpPr>
          <p:cNvPr id="622" name="Google Shape;622;g3ed1c26bf42_0_18"/>
          <p:cNvSpPr/>
          <p:nvPr/>
        </p:nvSpPr>
        <p:spPr>
          <a:xfrm>
            <a:off x="4625741" y="2366498"/>
            <a:ext cx="2283900" cy="216000"/>
          </a:xfrm>
          <a:prstGeom prst="rect">
            <a:avLst/>
          </a:prstGeom>
          <a:solidFill>
            <a:schemeClr val="dk1">
              <a:alpha val="16079"/>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Middleware – ROS2,DDS &amp; more</a:t>
            </a:r>
            <a:endParaRPr b="0" i="0" sz="1400" u="none" cap="none" strike="noStrike">
              <a:solidFill>
                <a:srgbClr val="000000"/>
              </a:solidFill>
              <a:latin typeface="Arial"/>
              <a:ea typeface="Arial"/>
              <a:cs typeface="Arial"/>
              <a:sym typeface="Arial"/>
            </a:endParaRPr>
          </a:p>
        </p:txBody>
      </p:sp>
      <p:pic>
        <p:nvPicPr>
          <p:cNvPr descr="docker - Official Image | Docker Hub" id="623" name="Google Shape;623;g3ed1c26bf42_0_18"/>
          <p:cNvPicPr preferRelativeResize="0"/>
          <p:nvPr/>
        </p:nvPicPr>
        <p:blipFill rotWithShape="1">
          <a:blip r:embed="rId5">
            <a:alphaModFix/>
          </a:blip>
          <a:srcRect b="0" l="0" r="0" t="0"/>
          <a:stretch/>
        </p:blipFill>
        <p:spPr>
          <a:xfrm>
            <a:off x="1084244" y="2225681"/>
            <a:ext cx="415403" cy="370951"/>
          </a:xfrm>
          <a:prstGeom prst="rect">
            <a:avLst/>
          </a:prstGeom>
          <a:noFill/>
          <a:ln>
            <a:noFill/>
          </a:ln>
        </p:spPr>
      </p:pic>
      <p:sp>
        <p:nvSpPr>
          <p:cNvPr id="624" name="Google Shape;624;g3ed1c26bf42_0_18"/>
          <p:cNvSpPr/>
          <p:nvPr/>
        </p:nvSpPr>
        <p:spPr>
          <a:xfrm>
            <a:off x="274492" y="3354626"/>
            <a:ext cx="748200" cy="1030800"/>
          </a:xfrm>
          <a:prstGeom prst="rect">
            <a:avLst/>
          </a:prstGeom>
          <a:solidFill>
            <a:srgbClr val="3A484F">
              <a:alpha val="43140"/>
            </a:srgb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6857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rgbClr val="FF0000"/>
                </a:solidFill>
                <a:latin typeface="Arial"/>
                <a:ea typeface="Arial"/>
                <a:cs typeface="Arial"/>
                <a:sym typeface="Arial"/>
              </a:rPr>
              <a:t>Discrete GPU</a:t>
            </a:r>
            <a:endParaRPr b="0" i="0" sz="1400" u="none" cap="none" strike="noStrike">
              <a:solidFill>
                <a:srgbClr val="000000"/>
              </a:solidFill>
              <a:latin typeface="Arial"/>
              <a:ea typeface="Arial"/>
              <a:cs typeface="Arial"/>
              <a:sym typeface="Arial"/>
            </a:endParaRPr>
          </a:p>
        </p:txBody>
      </p:sp>
      <p:sp>
        <p:nvSpPr>
          <p:cNvPr id="625" name="Google Shape;625;g3ed1c26bf42_0_18"/>
          <p:cNvSpPr/>
          <p:nvPr/>
        </p:nvSpPr>
        <p:spPr>
          <a:xfrm>
            <a:off x="4161780" y="3397758"/>
            <a:ext cx="427800" cy="214200"/>
          </a:xfrm>
          <a:prstGeom prst="leftRightArrow">
            <a:avLst>
              <a:gd fmla="val 50000" name="adj1"/>
              <a:gd fmla="val 50000" name="adj2"/>
            </a:avLst>
          </a:prstGeom>
          <a:solidFill>
            <a:schemeClr val="accent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25"/>
              <a:buFont typeface="Arial"/>
              <a:buNone/>
            </a:pPr>
            <a:r>
              <a:rPr b="0" i="0" lang="en-GB" sz="525" u="none" cap="none" strike="noStrike">
                <a:solidFill>
                  <a:schemeClr val="dk1"/>
                </a:solidFill>
                <a:latin typeface="Arial"/>
                <a:ea typeface="Arial"/>
                <a:cs typeface="Arial"/>
                <a:sym typeface="Arial"/>
              </a:rPr>
              <a:t>SideBand</a:t>
            </a:r>
            <a:endParaRPr b="0" i="0" sz="525" u="none" cap="none" strike="noStrike">
              <a:solidFill>
                <a:schemeClr val="dk1"/>
              </a:solidFill>
              <a:latin typeface="Arial"/>
              <a:ea typeface="Arial"/>
              <a:cs typeface="Arial"/>
              <a:sym typeface="Arial"/>
            </a:endParaRPr>
          </a:p>
        </p:txBody>
      </p:sp>
      <p:sp>
        <p:nvSpPr>
          <p:cNvPr id="626" name="Google Shape;626;g3ed1c26bf42_0_18"/>
          <p:cNvSpPr txBox="1"/>
          <p:nvPr/>
        </p:nvSpPr>
        <p:spPr>
          <a:xfrm>
            <a:off x="904795" y="4722491"/>
            <a:ext cx="6913500" cy="2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1" lang="en-GB" sz="1350" u="none" cap="none" strike="noStrike">
                <a:solidFill>
                  <a:srgbClr val="E15310"/>
                </a:solidFill>
                <a:latin typeface="Arial"/>
                <a:ea typeface="Arial"/>
                <a:cs typeface="Arial"/>
                <a:sym typeface="Arial"/>
              </a:rPr>
              <a:t>A Common Hypervisor Layer across Clusters</a:t>
            </a:r>
            <a:endParaRPr b="0" i="0" sz="1400" u="none" cap="none" strike="noStrike">
              <a:solidFill>
                <a:srgbClr val="000000"/>
              </a:solidFill>
              <a:latin typeface="Arial"/>
              <a:ea typeface="Arial"/>
              <a:cs typeface="Arial"/>
              <a:sym typeface="Arial"/>
            </a:endParaRPr>
          </a:p>
        </p:txBody>
      </p:sp>
      <p:sp>
        <p:nvSpPr>
          <p:cNvPr id="627" name="Google Shape;627;g3ed1c26bf42_0_18"/>
          <p:cNvSpPr/>
          <p:nvPr/>
        </p:nvSpPr>
        <p:spPr>
          <a:xfrm>
            <a:off x="278244" y="3120249"/>
            <a:ext cx="3889800" cy="196500"/>
          </a:xfrm>
          <a:prstGeom prst="rect">
            <a:avLst/>
          </a:prstGeom>
          <a:solidFill>
            <a:schemeClr val="dk1">
              <a:alpha val="588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Xen Instance</a:t>
            </a:r>
            <a:endParaRPr b="0" i="0" sz="1400" u="none" cap="none" strike="noStrike">
              <a:solidFill>
                <a:srgbClr val="000000"/>
              </a:solidFill>
              <a:latin typeface="Arial"/>
              <a:ea typeface="Arial"/>
              <a:cs typeface="Arial"/>
              <a:sym typeface="Arial"/>
            </a:endParaRPr>
          </a:p>
        </p:txBody>
      </p:sp>
      <p:sp>
        <p:nvSpPr>
          <p:cNvPr id="628" name="Google Shape;628;g3ed1c26bf42_0_18"/>
          <p:cNvSpPr/>
          <p:nvPr/>
        </p:nvSpPr>
        <p:spPr>
          <a:xfrm>
            <a:off x="4183946" y="3120248"/>
            <a:ext cx="441300" cy="196500"/>
          </a:xfrm>
          <a:prstGeom prst="rect">
            <a:avLst/>
          </a:prstGeom>
          <a:solidFill>
            <a:schemeClr val="dk1">
              <a:alpha val="588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OpenAMP</a:t>
            </a:r>
            <a:endParaRPr b="0" i="0" sz="750" u="none" cap="none" strike="noStrike">
              <a:solidFill>
                <a:srgbClr val="FFFFFF"/>
              </a:solidFill>
              <a:latin typeface="Arial"/>
              <a:ea typeface="Arial"/>
              <a:cs typeface="Arial"/>
              <a:sym typeface="Arial"/>
            </a:endParaRPr>
          </a:p>
        </p:txBody>
      </p:sp>
      <p:sp>
        <p:nvSpPr>
          <p:cNvPr id="629" name="Google Shape;629;g3ed1c26bf42_0_18"/>
          <p:cNvSpPr/>
          <p:nvPr/>
        </p:nvSpPr>
        <p:spPr>
          <a:xfrm>
            <a:off x="4637267" y="3119232"/>
            <a:ext cx="2137500" cy="196500"/>
          </a:xfrm>
          <a:prstGeom prst="rect">
            <a:avLst/>
          </a:prstGeom>
          <a:solidFill>
            <a:schemeClr val="dk1">
              <a:alpha val="588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Xen Instance</a:t>
            </a:r>
            <a:endParaRPr b="0" i="0" sz="1400" u="none" cap="none" strike="noStrike">
              <a:solidFill>
                <a:srgbClr val="000000"/>
              </a:solidFill>
              <a:latin typeface="Arial"/>
              <a:ea typeface="Arial"/>
              <a:cs typeface="Arial"/>
              <a:sym typeface="Arial"/>
            </a:endParaRPr>
          </a:p>
        </p:txBody>
      </p:sp>
      <p:sp>
        <p:nvSpPr>
          <p:cNvPr id="630" name="Google Shape;630;g3ed1c26bf42_0_18"/>
          <p:cNvSpPr/>
          <p:nvPr/>
        </p:nvSpPr>
        <p:spPr>
          <a:xfrm>
            <a:off x="6774916" y="3119064"/>
            <a:ext cx="441300" cy="196500"/>
          </a:xfrm>
          <a:prstGeom prst="rect">
            <a:avLst/>
          </a:prstGeom>
          <a:solidFill>
            <a:schemeClr val="dk1">
              <a:alpha val="588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OpenAMP</a:t>
            </a:r>
            <a:endParaRPr b="0" i="0" sz="750" u="none" cap="none" strike="noStrike">
              <a:solidFill>
                <a:srgbClr val="FFFFFF"/>
              </a:solidFill>
              <a:latin typeface="Arial"/>
              <a:ea typeface="Arial"/>
              <a:cs typeface="Arial"/>
              <a:sym typeface="Arial"/>
            </a:endParaRPr>
          </a:p>
        </p:txBody>
      </p:sp>
      <p:sp>
        <p:nvSpPr>
          <p:cNvPr id="631" name="Google Shape;631;g3ed1c26bf42_0_18"/>
          <p:cNvSpPr/>
          <p:nvPr/>
        </p:nvSpPr>
        <p:spPr>
          <a:xfrm>
            <a:off x="7232042" y="3117272"/>
            <a:ext cx="1632600" cy="196500"/>
          </a:xfrm>
          <a:prstGeom prst="rect">
            <a:avLst/>
          </a:prstGeom>
          <a:solidFill>
            <a:schemeClr val="dk1">
              <a:alpha val="5880"/>
            </a:schemeClr>
          </a:solidFill>
          <a:ln cap="flat" cmpd="sng" w="9525">
            <a:solidFill>
              <a:schemeClr val="dk1">
                <a:alpha val="74900"/>
              </a:schemeClr>
            </a:solidFill>
            <a:prstDash val="solid"/>
            <a:round/>
            <a:headEnd len="sm" w="sm" type="none"/>
            <a:tailEnd len="sm" w="sm" type="none"/>
          </a:ln>
          <a:effectLst>
            <a:outerShdw blurRad="50800" rotWithShape="0" algn="tl" dir="2700000" dist="38100">
              <a:srgbClr val="000000">
                <a:alpha val="149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GB" sz="750" u="none" cap="none" strike="noStrike">
                <a:solidFill>
                  <a:srgbClr val="FFFFFF"/>
                </a:solidFill>
                <a:latin typeface="Arial"/>
                <a:ea typeface="Arial"/>
                <a:cs typeface="Arial"/>
                <a:sym typeface="Arial"/>
              </a:rPr>
              <a:t>Xen Instance</a:t>
            </a:r>
            <a:endParaRPr b="0" i="0" sz="1400" u="none" cap="none" strike="noStrike">
              <a:solidFill>
                <a:srgbClr val="000000"/>
              </a:solidFill>
              <a:latin typeface="Arial"/>
              <a:ea typeface="Arial"/>
              <a:cs typeface="Arial"/>
              <a:sym typeface="Arial"/>
            </a:endParaRPr>
          </a:p>
        </p:txBody>
      </p:sp>
      <p:sp>
        <p:nvSpPr>
          <p:cNvPr id="632" name="Google Shape;632;g3ed1c26bf42_0_18"/>
          <p:cNvSpPr/>
          <p:nvPr/>
        </p:nvSpPr>
        <p:spPr>
          <a:xfrm>
            <a:off x="1838375" y="2096954"/>
            <a:ext cx="703500" cy="2574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Virtio-frontend</a:t>
            </a:r>
            <a:endParaRPr b="0" i="0" sz="1400" u="none" cap="none" strike="noStrike">
              <a:solidFill>
                <a:srgbClr val="000000"/>
              </a:solidFill>
              <a:latin typeface="Arial"/>
              <a:ea typeface="Arial"/>
              <a:cs typeface="Arial"/>
              <a:sym typeface="Arial"/>
            </a:endParaRPr>
          </a:p>
        </p:txBody>
      </p:sp>
      <p:sp>
        <p:nvSpPr>
          <p:cNvPr id="633" name="Google Shape;633;g3ed1c26bf42_0_18"/>
          <p:cNvSpPr/>
          <p:nvPr/>
        </p:nvSpPr>
        <p:spPr>
          <a:xfrm>
            <a:off x="1840526" y="2369878"/>
            <a:ext cx="703500" cy="2574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Virtio-frontend</a:t>
            </a:r>
            <a:endParaRPr b="0" i="0" sz="1400" u="none" cap="none" strike="noStrike">
              <a:solidFill>
                <a:srgbClr val="000000"/>
              </a:solidFill>
              <a:latin typeface="Arial"/>
              <a:ea typeface="Arial"/>
              <a:cs typeface="Arial"/>
              <a:sym typeface="Arial"/>
            </a:endParaRPr>
          </a:p>
        </p:txBody>
      </p:sp>
      <p:sp>
        <p:nvSpPr>
          <p:cNvPr id="634" name="Google Shape;634;g3ed1c26bf42_0_18"/>
          <p:cNvSpPr/>
          <p:nvPr/>
        </p:nvSpPr>
        <p:spPr>
          <a:xfrm>
            <a:off x="2648304" y="2364774"/>
            <a:ext cx="703500" cy="257400"/>
          </a:xfrm>
          <a:prstGeom prst="rect">
            <a:avLst/>
          </a:prstGeom>
          <a:solidFill>
            <a:srgbClr val="EF8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Virtio-backend</a:t>
            </a:r>
            <a:endParaRPr b="0" i="0" sz="1400" u="none" cap="none" strike="noStrike">
              <a:solidFill>
                <a:srgbClr val="000000"/>
              </a:solidFill>
              <a:latin typeface="Arial"/>
              <a:ea typeface="Arial"/>
              <a:cs typeface="Arial"/>
              <a:sym typeface="Arial"/>
            </a:endParaRPr>
          </a:p>
        </p:txBody>
      </p:sp>
      <p:sp>
        <p:nvSpPr>
          <p:cNvPr id="635" name="Google Shape;635;g3ed1c26bf42_0_18"/>
          <p:cNvSpPr/>
          <p:nvPr/>
        </p:nvSpPr>
        <p:spPr>
          <a:xfrm>
            <a:off x="4625129" y="2096953"/>
            <a:ext cx="703500" cy="257400"/>
          </a:xfrm>
          <a:prstGeom prst="rect">
            <a:avLst/>
          </a:prstGeom>
          <a:solidFill>
            <a:srgbClr val="EF8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Virtio-backend</a:t>
            </a:r>
            <a:endParaRPr b="0" i="0" sz="1400" u="none" cap="none" strike="noStrike">
              <a:solidFill>
                <a:srgbClr val="000000"/>
              </a:solidFill>
              <a:latin typeface="Arial"/>
              <a:ea typeface="Arial"/>
              <a:cs typeface="Arial"/>
              <a:sym typeface="Arial"/>
            </a:endParaRPr>
          </a:p>
        </p:txBody>
      </p:sp>
      <p:sp>
        <p:nvSpPr>
          <p:cNvPr id="636" name="Google Shape;636;g3ed1c26bf42_0_18"/>
          <p:cNvSpPr/>
          <p:nvPr/>
        </p:nvSpPr>
        <p:spPr>
          <a:xfrm>
            <a:off x="2551398" y="2126875"/>
            <a:ext cx="2073600" cy="222300"/>
          </a:xfrm>
          <a:prstGeom prst="leftRightArrow">
            <a:avLst>
              <a:gd fmla="val 50000" name="adj1"/>
              <a:gd fmla="val 50000" name="adj2"/>
            </a:avLst>
          </a:prstGeom>
          <a:solidFill>
            <a:schemeClr val="dk1"/>
          </a:solidFill>
          <a:ln cap="flat" cmpd="sng" w="12700">
            <a:solidFill>
              <a:srgbClr val="576C7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637" name="Google Shape;637;g3ed1c26bf42_0_18"/>
          <p:cNvSpPr/>
          <p:nvPr/>
        </p:nvSpPr>
        <p:spPr>
          <a:xfrm>
            <a:off x="2420139" y="2371203"/>
            <a:ext cx="331200" cy="260400"/>
          </a:xfrm>
          <a:prstGeom prst="leftRightArrow">
            <a:avLst>
              <a:gd fmla="val 50000" name="adj1"/>
              <a:gd fmla="val 50000" name="adj2"/>
            </a:avLst>
          </a:prstGeom>
          <a:solidFill>
            <a:schemeClr val="dk1"/>
          </a:solidFill>
          <a:ln cap="flat" cmpd="sng" w="12700">
            <a:solidFill>
              <a:srgbClr val="576C7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pic>
        <p:nvPicPr>
          <p:cNvPr id="638" name="Google Shape;638;g3ed1c26bf42_0_18"/>
          <p:cNvPicPr preferRelativeResize="0"/>
          <p:nvPr/>
        </p:nvPicPr>
        <p:blipFill rotWithShape="1">
          <a:blip r:embed="rId6">
            <a:alphaModFix/>
          </a:blip>
          <a:srcRect b="0" l="0" r="0" t="0"/>
          <a:stretch/>
        </p:blipFill>
        <p:spPr>
          <a:xfrm>
            <a:off x="128587" y="704040"/>
            <a:ext cx="8953419" cy="384658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g3eca4397e55_1_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Civil</a:t>
            </a:r>
            <a:r>
              <a:rPr lang="en-GB"/>
              <a:t> aviation has standardized computing</a:t>
            </a:r>
            <a:endParaRPr/>
          </a:p>
        </p:txBody>
      </p:sp>
      <p:sp>
        <p:nvSpPr>
          <p:cNvPr id="644" name="Google Shape;644;g3eca4397e55_1_34"/>
          <p:cNvSpPr txBox="1"/>
          <p:nvPr>
            <p:ph idx="1" type="body"/>
          </p:nvPr>
        </p:nvSpPr>
        <p:spPr>
          <a:xfrm>
            <a:off x="311700" y="1124075"/>
            <a:ext cx="8265300" cy="36783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b="1" i="1" lang="en-GB" sz="1100"/>
              <a:t>“</a:t>
            </a:r>
            <a:r>
              <a:rPr b="1" lang="en-GB" sz="1200">
                <a:solidFill>
                  <a:srgbClr val="202122"/>
                </a:solidFill>
                <a:highlight>
                  <a:srgbClr val="FFFFFF"/>
                </a:highlight>
              </a:rPr>
              <a:t>Guidelines for Development of Civil Aircraft and Systems</a:t>
            </a:r>
            <a:r>
              <a:rPr lang="en-GB" sz="1100">
                <a:solidFill>
                  <a:schemeClr val="dk1"/>
                </a:solidFill>
              </a:rPr>
              <a:t>” ARP4754 - </a:t>
            </a:r>
            <a:r>
              <a:rPr lang="en-GB" sz="1200">
                <a:solidFill>
                  <a:srgbClr val="202122"/>
                </a:solidFill>
                <a:highlight>
                  <a:srgbClr val="FFFFFF"/>
                </a:highlight>
              </a:rPr>
              <a:t>addressing "the system"</a:t>
            </a:r>
            <a:r>
              <a:rPr lang="en-GB" sz="1100">
                <a:solidFill>
                  <a:schemeClr val="dk1"/>
                </a:solidFill>
              </a:rPr>
              <a:t> - </a:t>
            </a:r>
            <a:r>
              <a:rPr lang="en-GB" sz="900" u="sng">
                <a:solidFill>
                  <a:schemeClr val="hlink"/>
                </a:solidFill>
                <a:hlinkClick r:id="rId3"/>
              </a:rPr>
              <a:t>https://en.wikipedia.org/wiki/ARP4754</a:t>
            </a:r>
            <a:endParaRPr sz="900">
              <a:solidFill>
                <a:schemeClr val="dk1"/>
              </a:solidFill>
            </a:endParaRPr>
          </a:p>
          <a:p>
            <a:pPr indent="0" lvl="0" marL="457200" rtl="0" algn="l">
              <a:lnSpc>
                <a:spcPct val="115000"/>
              </a:lnSpc>
              <a:spcBef>
                <a:spcPts val="0"/>
              </a:spcBef>
              <a:spcAft>
                <a:spcPts val="0"/>
              </a:spcAft>
              <a:buNone/>
            </a:pPr>
            <a:r>
              <a:t/>
            </a:r>
            <a:endParaRPr sz="1100">
              <a:solidFill>
                <a:schemeClr val="dk1"/>
              </a:solidFill>
            </a:endParaRPr>
          </a:p>
          <a:p>
            <a:pPr indent="0" lvl="0" marL="457200" rtl="0" algn="l">
              <a:lnSpc>
                <a:spcPct val="115000"/>
              </a:lnSpc>
              <a:spcBef>
                <a:spcPts val="0"/>
              </a:spcBef>
              <a:spcAft>
                <a:spcPts val="0"/>
              </a:spcAft>
              <a:buNone/>
            </a:pPr>
            <a:r>
              <a:rPr lang="en-GB" sz="1100">
                <a:solidFill>
                  <a:schemeClr val="dk1"/>
                </a:solidFill>
              </a:rPr>
              <a:t>“</a:t>
            </a:r>
            <a:r>
              <a:rPr b="1" lang="en-GB" sz="1200">
                <a:solidFill>
                  <a:srgbClr val="202122"/>
                </a:solidFill>
                <a:highlight>
                  <a:srgbClr val="FFFFFF"/>
                </a:highlight>
              </a:rPr>
              <a:t>Software Considerations in Airborne Systems and Equipment Certification</a:t>
            </a:r>
            <a:r>
              <a:rPr lang="en-GB" sz="1200">
                <a:solidFill>
                  <a:srgbClr val="202122"/>
                </a:solidFill>
                <a:highlight>
                  <a:srgbClr val="FFFFFF"/>
                </a:highlight>
              </a:rPr>
              <a:t>”  DO-178C -  software-based aerospace systems</a:t>
            </a:r>
            <a:r>
              <a:rPr lang="en-GB" sz="1100">
                <a:solidFill>
                  <a:schemeClr val="dk1"/>
                </a:solidFill>
              </a:rPr>
              <a:t> - </a:t>
            </a:r>
            <a:r>
              <a:rPr lang="en-GB" sz="1100" u="sng">
                <a:solidFill>
                  <a:schemeClr val="hlink"/>
                </a:solidFill>
                <a:hlinkClick r:id="rId4"/>
              </a:rPr>
              <a:t>https://en.wikipedia.org/wiki/DO-178C</a:t>
            </a:r>
            <a:endParaRPr sz="1100">
              <a:solidFill>
                <a:schemeClr val="dk1"/>
              </a:solidFill>
            </a:endParaRPr>
          </a:p>
          <a:p>
            <a:pPr indent="0" lvl="0" marL="457200" rtl="0" algn="l">
              <a:lnSpc>
                <a:spcPct val="115000"/>
              </a:lnSpc>
              <a:spcBef>
                <a:spcPts val="0"/>
              </a:spcBef>
              <a:spcAft>
                <a:spcPts val="0"/>
              </a:spcAft>
              <a:buNone/>
            </a:pPr>
            <a:r>
              <a:t/>
            </a:r>
            <a:endParaRPr sz="1100">
              <a:solidFill>
                <a:schemeClr val="dk1"/>
              </a:solidFill>
            </a:endParaRPr>
          </a:p>
          <a:p>
            <a:pPr indent="0" lvl="0" marL="457200" rtl="0" algn="l">
              <a:lnSpc>
                <a:spcPct val="115000"/>
              </a:lnSpc>
              <a:spcBef>
                <a:spcPts val="0"/>
              </a:spcBef>
              <a:spcAft>
                <a:spcPts val="0"/>
              </a:spcAft>
              <a:buNone/>
            </a:pPr>
            <a:r>
              <a:rPr b="1" i="1" lang="en-GB" sz="1100"/>
              <a:t>“</a:t>
            </a:r>
            <a:r>
              <a:rPr b="1" i="1" lang="en-GB" sz="1100">
                <a:solidFill>
                  <a:srgbClr val="202122"/>
                </a:solidFill>
                <a:highlight>
                  <a:srgbClr val="FFFFFF"/>
                </a:highlight>
              </a:rPr>
              <a:t>Avionics Application Software Standard Interface</a:t>
            </a:r>
            <a:r>
              <a:rPr b="1" i="1" lang="en-GB" sz="1100">
                <a:solidFill>
                  <a:schemeClr val="dk1"/>
                </a:solidFill>
              </a:rPr>
              <a:t>“</a:t>
            </a:r>
            <a:r>
              <a:rPr b="1" lang="en-GB" sz="900">
                <a:solidFill>
                  <a:schemeClr val="dk1"/>
                </a:solidFill>
              </a:rPr>
              <a:t> </a:t>
            </a:r>
            <a:r>
              <a:rPr lang="en-GB" sz="1000" u="sng">
                <a:solidFill>
                  <a:schemeClr val="accent5"/>
                </a:solidFill>
                <a:hlinkClick r:id="rId5">
                  <a:extLst>
                    <a:ext uri="{A12FA001-AC4F-418D-AE19-62706E023703}">
                      <ahyp:hlinkClr val="tx"/>
                    </a:ext>
                  </a:extLst>
                </a:hlinkClick>
              </a:rPr>
              <a:t>https://en.wikipedia.org/wiki/ARINC_653</a:t>
            </a:r>
            <a:r>
              <a:rPr lang="en-GB" sz="1200"/>
              <a:t> for the </a:t>
            </a:r>
            <a:br>
              <a:rPr lang="en-GB" sz="1200"/>
            </a:br>
            <a:r>
              <a:rPr lang="en-GB" sz="1200"/>
              <a:t>o</a:t>
            </a:r>
            <a:r>
              <a:rPr lang="en-GB" sz="1200"/>
              <a:t>perating environment. See </a:t>
            </a:r>
            <a:r>
              <a:rPr lang="en-GB" sz="1100"/>
              <a:t>“</a:t>
            </a:r>
            <a:r>
              <a:rPr b="1" i="1" lang="en-GB" sz="1100"/>
              <a:t>ARINC 653 hypervisor</a:t>
            </a:r>
            <a:r>
              <a:rPr lang="en-GB" sz="1100"/>
              <a:t>” </a:t>
            </a:r>
            <a:r>
              <a:rPr lang="en-GB" sz="1200"/>
              <a:t>ref on the linked page for details.)</a:t>
            </a:r>
            <a:endParaRPr b="1" i="1" sz="1300" u="sng"/>
          </a:p>
          <a:p>
            <a:pPr indent="0" lvl="0" marL="457200" rtl="0" algn="l">
              <a:lnSpc>
                <a:spcPct val="115000"/>
              </a:lnSpc>
              <a:spcBef>
                <a:spcPts val="0"/>
              </a:spcBef>
              <a:spcAft>
                <a:spcPts val="0"/>
              </a:spcAft>
              <a:buNone/>
            </a:pPr>
            <a:r>
              <a:t/>
            </a:r>
            <a:endParaRPr b="1" i="1" sz="1100"/>
          </a:p>
          <a:p>
            <a:pPr indent="0" lvl="0" marL="457200" rtl="0" algn="l">
              <a:lnSpc>
                <a:spcPct val="115000"/>
              </a:lnSpc>
              <a:spcBef>
                <a:spcPts val="0"/>
              </a:spcBef>
              <a:spcAft>
                <a:spcPts val="0"/>
              </a:spcAft>
              <a:buNone/>
            </a:pPr>
            <a:r>
              <a:rPr b="1" i="1" lang="en-GB" sz="1100"/>
              <a:t>“</a:t>
            </a:r>
            <a:r>
              <a:rPr b="1" i="1" lang="en-GB" sz="1100"/>
              <a:t>Int</a:t>
            </a:r>
            <a:r>
              <a:rPr b="1" i="1" lang="en-GB" sz="1100"/>
              <a:t>egrated Modular Avionics(IMA)” DO-297 - </a:t>
            </a:r>
            <a:r>
              <a:rPr lang="en-GB" sz="1100"/>
              <a:t>System level guidance for mixed safety-criticality - </a:t>
            </a:r>
            <a:r>
              <a:rPr lang="en-GB" sz="1100" u="sng">
                <a:solidFill>
                  <a:schemeClr val="hlink"/>
                </a:solidFill>
                <a:hlinkClick r:id="rId6"/>
              </a:rPr>
              <a:t>https://en.wikipedia.org/wiki/DO-297</a:t>
            </a:r>
            <a:endParaRPr sz="1100"/>
          </a:p>
          <a:p>
            <a:pPr indent="0" lvl="0" marL="457200" rtl="0" algn="l">
              <a:spcBef>
                <a:spcPts val="0"/>
              </a:spcBef>
              <a:spcAft>
                <a:spcPts val="0"/>
              </a:spcAft>
              <a:buNone/>
            </a:pPr>
            <a:r>
              <a:t/>
            </a:r>
            <a:endParaRPr b="1" i="1" sz="1100"/>
          </a:p>
          <a:p>
            <a:pPr indent="0" lvl="0" marL="457200" rtl="0" algn="l">
              <a:spcBef>
                <a:spcPts val="0"/>
              </a:spcBef>
              <a:spcAft>
                <a:spcPts val="0"/>
              </a:spcAft>
              <a:buNone/>
            </a:pPr>
            <a:r>
              <a:rPr b="1" i="1" lang="en-GB" sz="1100"/>
              <a:t>“Use of Multi-Core Processors” AC 20-193 - </a:t>
            </a:r>
            <a:r>
              <a:rPr lang="en-GB" sz="900" u="sng">
                <a:solidFill>
                  <a:schemeClr val="hlink"/>
                </a:solidFill>
                <a:hlinkClick r:id="rId7"/>
              </a:rPr>
              <a:t>https://www.faa.gov/documentLibrary/media/Advisory_Circular/AC_20-193.pdf</a:t>
            </a:r>
            <a:endParaRPr sz="900"/>
          </a:p>
          <a:p>
            <a:pPr indent="0" lvl="0" marL="457200" rtl="0" algn="l">
              <a:spcBef>
                <a:spcPts val="0"/>
              </a:spcBef>
              <a:spcAft>
                <a:spcPts val="0"/>
              </a:spcAft>
              <a:buNone/>
            </a:pPr>
            <a:r>
              <a:t/>
            </a:r>
            <a:endParaRPr sz="1200"/>
          </a:p>
          <a:p>
            <a:pPr indent="0" lvl="0" marL="457200" rtl="0" algn="l">
              <a:spcBef>
                <a:spcPts val="0"/>
              </a:spcBef>
              <a:spcAft>
                <a:spcPts val="0"/>
              </a:spcAft>
              <a:buNone/>
            </a:pPr>
            <a:r>
              <a:rPr lang="en-GB" sz="1200"/>
              <a:t>Standardized safety computing I/O and peripherals - </a:t>
            </a:r>
            <a:r>
              <a:rPr lang="en-GB" sz="1200" u="sng">
                <a:solidFill>
                  <a:schemeClr val="accent5"/>
                </a:solidFill>
                <a:hlinkClick r:id="rId8">
                  <a:extLst>
                    <a:ext uri="{A12FA001-AC4F-418D-AE19-62706E023703}">
                      <ahyp:hlinkClr val="tx"/>
                    </a:ext>
                  </a:extLst>
                </a:hlinkClick>
              </a:rPr>
              <a:t>https://en.wikipedia.org/wiki/ARINC#Standards</a:t>
            </a:r>
            <a:endParaRPr sz="900"/>
          </a:p>
          <a:p>
            <a:pPr indent="0" lvl="0" marL="0" rtl="0" algn="l">
              <a:lnSpc>
                <a:spcPct val="114000"/>
              </a:lnSpc>
              <a:spcBef>
                <a:spcPts val="0"/>
              </a:spcBef>
              <a:spcAft>
                <a:spcPts val="0"/>
              </a:spcAft>
              <a:buNone/>
            </a:pPr>
            <a:r>
              <a:t/>
            </a:r>
            <a:endParaRPr b="1"/>
          </a:p>
          <a:p>
            <a:pPr indent="0" lvl="0" marL="0" rtl="0" algn="l">
              <a:lnSpc>
                <a:spcPct val="114000"/>
              </a:lnSpc>
              <a:spcBef>
                <a:spcPts val="0"/>
              </a:spcBef>
              <a:spcAft>
                <a:spcPts val="0"/>
              </a:spcAft>
              <a:buNone/>
            </a:pPr>
            <a:r>
              <a:t/>
            </a:r>
            <a:endParaRPr b="1"/>
          </a:p>
          <a:p>
            <a:pPr indent="0" lvl="0" marL="0" rtl="0" algn="l">
              <a:lnSpc>
                <a:spcPct val="114000"/>
              </a:lnSpc>
              <a:spcBef>
                <a:spcPts val="0"/>
              </a:spcBef>
              <a:spcAft>
                <a:spcPts val="0"/>
              </a:spcAft>
              <a:buNone/>
            </a:pPr>
            <a:r>
              <a:t/>
            </a:r>
            <a:endParaRPr b="1"/>
          </a:p>
        </p:txBody>
      </p:sp>
      <p:pic>
        <p:nvPicPr>
          <p:cNvPr id="645" name="Google Shape;645;g3eca4397e55_1_34"/>
          <p:cNvPicPr preferRelativeResize="0"/>
          <p:nvPr/>
        </p:nvPicPr>
        <p:blipFill>
          <a:blip r:embed="rId9">
            <a:alphaModFix/>
          </a:blip>
          <a:stretch>
            <a:fillRect/>
          </a:stretch>
        </p:blipFill>
        <p:spPr>
          <a:xfrm>
            <a:off x="7867500" y="199875"/>
            <a:ext cx="1063000" cy="10630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48"/>
          <p:cNvSpPr txBox="1"/>
          <p:nvPr/>
        </p:nvSpPr>
        <p:spPr>
          <a:xfrm>
            <a:off x="691408" y="821410"/>
            <a:ext cx="3880592"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Ayan to do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FF0000"/>
                </a:solidFill>
                <a:latin typeface="Arial"/>
                <a:ea typeface="Arial"/>
                <a:cs typeface="Arial"/>
                <a:sym typeface="Arial"/>
              </a:rPr>
              <a:t>URLs to xen-devel, xen-project, QR code on each slide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FF0000"/>
                </a:solidFill>
                <a:latin typeface="Arial"/>
                <a:ea typeface="Arial"/>
                <a:cs typeface="Arial"/>
                <a:sym typeface="Arial"/>
              </a:rPr>
              <a:t>Linux/Zephyr collaboration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GB" sz="1400" u="none" cap="none" strike="noStrike">
                <a:solidFill>
                  <a:srgbClr val="FF0000"/>
                </a:solidFill>
                <a:latin typeface="Arial"/>
                <a:ea typeface="Arial"/>
                <a:cs typeface="Arial"/>
                <a:sym typeface="Arial"/>
              </a:rPr>
              <a:t>Grammer, fonts, diagrams check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Additional slides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50"/>
          <p:cNvSpPr txBox="1"/>
          <p:nvPr>
            <p:ph type="title"/>
          </p:nvPr>
        </p:nvSpPr>
        <p:spPr>
          <a:xfrm>
            <a:off x="311700" y="282292"/>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Non blocking virtIO</a:t>
            </a:r>
            <a:endParaRPr/>
          </a:p>
        </p:txBody>
      </p:sp>
      <p:sp>
        <p:nvSpPr>
          <p:cNvPr id="661" name="Google Shape;661;p50"/>
          <p:cNvSpPr txBox="1"/>
          <p:nvPr>
            <p:ph idx="1" type="body"/>
          </p:nvPr>
        </p:nvSpPr>
        <p:spPr>
          <a:xfrm>
            <a:off x="311700" y="1046700"/>
            <a:ext cx="8520600" cy="3050100"/>
          </a:xfrm>
          <a:prstGeom prst="rect">
            <a:avLst/>
          </a:prstGeom>
          <a:noFill/>
          <a:ln>
            <a:noFill/>
          </a:ln>
        </p:spPr>
        <p:txBody>
          <a:bodyPr anchorCtr="0" anchor="t" bIns="91425" lIns="91425" spcFirstLastPara="1" rIns="91425" wrap="square" tIns="91425">
            <a:noAutofit/>
          </a:bodyPr>
          <a:lstStyle/>
          <a:p>
            <a:pPr indent="0" lvl="0" marL="114300" rtl="0" algn="l">
              <a:lnSpc>
                <a:spcPct val="114000"/>
              </a:lnSpc>
              <a:spcBef>
                <a:spcPts val="0"/>
              </a:spcBef>
              <a:spcAft>
                <a:spcPts val="0"/>
              </a:spcAft>
              <a:buSzPts val="1800"/>
              <a:buNone/>
            </a:pPr>
            <a:r>
              <a:rPr lang="en-GB"/>
              <a:t>Traditionally</a:t>
            </a:r>
            <a:endParaRPr/>
          </a:p>
          <a:p>
            <a:pPr indent="0" lvl="0" marL="114300" rtl="0" algn="l">
              <a:lnSpc>
                <a:spcPct val="114000"/>
              </a:lnSpc>
              <a:spcBef>
                <a:spcPts val="0"/>
              </a:spcBef>
              <a:spcAft>
                <a:spcPts val="0"/>
              </a:spcAft>
              <a:buSzPts val="1800"/>
              <a:buNone/>
            </a:pPr>
            <a:r>
              <a:rPr lang="en-GB"/>
              <a:t>The regular domain is blocked until the hardware domain returns a response.</a:t>
            </a:r>
            <a:endParaRPr/>
          </a:p>
          <a:p>
            <a:pPr indent="0" lvl="0" marL="114300" rtl="0" algn="l">
              <a:lnSpc>
                <a:spcPct val="114000"/>
              </a:lnSpc>
              <a:spcBef>
                <a:spcPts val="0"/>
              </a:spcBef>
              <a:spcAft>
                <a:spcPts val="0"/>
              </a:spcAft>
              <a:buSzPts val="1800"/>
              <a:buNone/>
            </a:pPr>
            <a:r>
              <a:t/>
            </a:r>
            <a:endParaRPr/>
          </a:p>
          <a:p>
            <a:pPr indent="342900" lvl="0" marL="5600700" rtl="0" algn="l">
              <a:lnSpc>
                <a:spcPct val="114000"/>
              </a:lnSpc>
              <a:spcBef>
                <a:spcPts val="0"/>
              </a:spcBef>
              <a:spcAft>
                <a:spcPts val="0"/>
              </a:spcAft>
              <a:buSzPts val="1800"/>
              <a:buNone/>
            </a:pPr>
            <a:r>
              <a:rPr lang="en-GB"/>
              <a:t>					</a:t>
            </a:r>
            <a:endParaRPr/>
          </a:p>
        </p:txBody>
      </p:sp>
      <p:sp>
        <p:nvSpPr>
          <p:cNvPr id="662" name="Google Shape;662;p50"/>
          <p:cNvSpPr txBox="1"/>
          <p:nvPr/>
        </p:nvSpPr>
        <p:spPr>
          <a:xfrm>
            <a:off x="311700" y="4021810"/>
            <a:ext cx="4020300" cy="511500"/>
          </a:xfrm>
          <a:prstGeom prst="rect">
            <a:avLst/>
          </a:prstGeom>
          <a:gradFill>
            <a:gsLst>
              <a:gs pos="0">
                <a:srgbClr val="BBBBBB"/>
              </a:gs>
              <a:gs pos="35000">
                <a:srgbClr val="CFCFCF"/>
              </a:gs>
              <a:gs pos="100000">
                <a:srgbClr val="EDEDED"/>
              </a:gs>
            </a:gsLst>
            <a:lin ang="16200038" scaled="0"/>
          </a:gradFill>
          <a:ln cap="flat" cmpd="sng" w="9525">
            <a:solidFill>
              <a:srgbClr val="202020"/>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91425" lIns="91425" spcFirstLastPara="1" rIns="91425" wrap="square" tIns="91425">
            <a:noAutofit/>
          </a:bodyPr>
          <a:lstStyle/>
          <a:p>
            <a:pPr indent="0" lvl="0" marL="114300" marR="0" rtl="0" algn="ctr">
              <a:lnSpc>
                <a:spcPct val="114000"/>
              </a:lnSpc>
              <a:spcBef>
                <a:spcPts val="0"/>
              </a:spcBef>
              <a:spcAft>
                <a:spcPts val="0"/>
              </a:spcAft>
              <a:buClr>
                <a:srgbClr val="434343"/>
              </a:buClr>
              <a:buSzPts val="1800"/>
              <a:buFont typeface="Arial"/>
              <a:buNone/>
            </a:pPr>
            <a:r>
              <a:rPr b="0" i="0" lang="en-GB" sz="1800" u="none" cap="none" strike="noStrike">
                <a:solidFill>
                  <a:srgbClr val="434343"/>
                </a:solidFill>
                <a:latin typeface="Arial"/>
                <a:ea typeface="Arial"/>
                <a:cs typeface="Arial"/>
                <a:sym typeface="Arial"/>
              </a:rPr>
              <a:t>Safety certified Xen – ASIL D / SIL3</a:t>
            </a:r>
            <a:endParaRPr b="0" i="0" sz="1400" u="none" cap="none" strike="noStrike">
              <a:solidFill>
                <a:srgbClr val="000000"/>
              </a:solidFill>
              <a:latin typeface="Arial"/>
              <a:ea typeface="Arial"/>
              <a:cs typeface="Arial"/>
              <a:sym typeface="Arial"/>
            </a:endParaRPr>
          </a:p>
        </p:txBody>
      </p:sp>
      <p:sp>
        <p:nvSpPr>
          <p:cNvPr id="663" name="Google Shape;663;p50"/>
          <p:cNvSpPr/>
          <p:nvPr/>
        </p:nvSpPr>
        <p:spPr>
          <a:xfrm>
            <a:off x="327184" y="1790055"/>
            <a:ext cx="1232100" cy="2136000"/>
          </a:xfrm>
          <a:prstGeom prst="rect">
            <a:avLst/>
          </a:prstGeom>
          <a:gradFill>
            <a:gsLst>
              <a:gs pos="0">
                <a:srgbClr val="9CE7F5"/>
              </a:gs>
              <a:gs pos="35000">
                <a:srgbClr val="BBEAF6"/>
              </a:gs>
              <a:gs pos="100000">
                <a:srgbClr val="E4F9FC"/>
              </a:gs>
            </a:gsLst>
            <a:lin ang="16200038" scaled="0"/>
          </a:gradFill>
          <a:ln cap="flat" cmpd="sng" w="9525">
            <a:solidFill>
              <a:srgbClr val="0096A7"/>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Arial"/>
                <a:ea typeface="Arial"/>
                <a:cs typeface="Arial"/>
                <a:sym typeface="Arial"/>
              </a:rPr>
              <a:t>Control domain - Zephyr</a:t>
            </a:r>
            <a:endParaRPr b="0" i="0" sz="1400" u="none" cap="none" strike="noStrike">
              <a:solidFill>
                <a:srgbClr val="000000"/>
              </a:solidFill>
              <a:latin typeface="Arial"/>
              <a:ea typeface="Arial"/>
              <a:cs typeface="Arial"/>
              <a:sym typeface="Arial"/>
            </a:endParaRPr>
          </a:p>
        </p:txBody>
      </p:sp>
      <p:sp>
        <p:nvSpPr>
          <p:cNvPr id="664" name="Google Shape;664;p50"/>
          <p:cNvSpPr/>
          <p:nvPr/>
        </p:nvSpPr>
        <p:spPr>
          <a:xfrm>
            <a:off x="1674531" y="1790054"/>
            <a:ext cx="1232100" cy="2136000"/>
          </a:xfrm>
          <a:prstGeom prst="rect">
            <a:avLst/>
          </a:prstGeom>
          <a:gradFill>
            <a:gsLst>
              <a:gs pos="0">
                <a:srgbClr val="FFD17D"/>
              </a:gs>
              <a:gs pos="35000">
                <a:srgbClr val="FFDCA3"/>
              </a:gs>
              <a:gs pos="100000">
                <a:srgbClr val="FFF1D8"/>
              </a:gs>
            </a:gsLst>
            <a:lin ang="16200038" scaled="0"/>
          </a:gradFill>
          <a:ln cap="flat" cmpd="sng" w="9525">
            <a:solidFill>
              <a:srgbClr val="FDA739"/>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Arial"/>
                <a:ea typeface="Arial"/>
                <a:cs typeface="Arial"/>
                <a:sym typeface="Arial"/>
              </a:rPr>
              <a:t>Hardware domain – VirtIO backend</a:t>
            </a:r>
            <a:endParaRPr b="0" i="0" sz="1400" u="none" cap="none" strike="noStrike">
              <a:solidFill>
                <a:srgbClr val="000000"/>
              </a:solidFill>
              <a:latin typeface="Arial"/>
              <a:ea typeface="Arial"/>
              <a:cs typeface="Arial"/>
              <a:sym typeface="Arial"/>
            </a:endParaRPr>
          </a:p>
        </p:txBody>
      </p:sp>
      <p:sp>
        <p:nvSpPr>
          <p:cNvPr id="665" name="Google Shape;665;p50"/>
          <p:cNvSpPr/>
          <p:nvPr/>
        </p:nvSpPr>
        <p:spPr>
          <a:xfrm>
            <a:off x="3021878" y="1790054"/>
            <a:ext cx="1308000" cy="2136000"/>
          </a:xfrm>
          <a:prstGeom prst="rect">
            <a:avLst/>
          </a:prstGeom>
          <a:gradFill>
            <a:gsLst>
              <a:gs pos="0">
                <a:srgbClr val="F8F8F8"/>
              </a:gs>
              <a:gs pos="40000">
                <a:srgbClr val="F6F6F6"/>
              </a:gs>
              <a:gs pos="100000">
                <a:srgbClr val="727272"/>
              </a:gs>
            </a:gsLst>
            <a:path path="circle">
              <a:fillToRect b="50%" l="50%" r="50%" t="50%"/>
            </a:path>
            <a:tileRect/>
          </a:gradFill>
          <a:ln cap="flat" cmpd="sng" w="9525">
            <a:solidFill>
              <a:srgbClr val="FDA739"/>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Arial"/>
                <a:ea typeface="Arial"/>
                <a:cs typeface="Arial"/>
                <a:sym typeface="Arial"/>
              </a:rPr>
              <a:t>Targetable regular domain – VirtIO frontend</a:t>
            </a:r>
            <a:endParaRPr b="0" i="0" sz="1400" u="none" cap="none" strike="noStrike">
              <a:solidFill>
                <a:srgbClr val="000000"/>
              </a:solidFill>
              <a:latin typeface="Arial"/>
              <a:ea typeface="Arial"/>
              <a:cs typeface="Arial"/>
              <a:sym typeface="Arial"/>
            </a:endParaRPr>
          </a:p>
        </p:txBody>
      </p:sp>
      <p:sp>
        <p:nvSpPr>
          <p:cNvPr id="666" name="Google Shape;666;p50"/>
          <p:cNvSpPr txBox="1"/>
          <p:nvPr/>
        </p:nvSpPr>
        <p:spPr>
          <a:xfrm>
            <a:off x="3137110" y="3311515"/>
            <a:ext cx="1308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Arial"/>
                <a:ea typeface="Arial"/>
                <a:cs typeface="Arial"/>
                <a:sym typeface="Arial"/>
              </a:rPr>
              <a:t>IO request to the backkend</a:t>
            </a:r>
            <a:endParaRPr b="0" i="0" sz="900" u="none" cap="none" strike="noStrike">
              <a:solidFill>
                <a:srgbClr val="000000"/>
              </a:solidFill>
              <a:latin typeface="Arial"/>
              <a:ea typeface="Arial"/>
              <a:cs typeface="Arial"/>
              <a:sym typeface="Arial"/>
            </a:endParaRPr>
          </a:p>
        </p:txBody>
      </p:sp>
      <p:cxnSp>
        <p:nvCxnSpPr>
          <p:cNvPr id="667" name="Google Shape;667;p50"/>
          <p:cNvCxnSpPr/>
          <p:nvPr/>
        </p:nvCxnSpPr>
        <p:spPr>
          <a:xfrm>
            <a:off x="3567343" y="3680847"/>
            <a:ext cx="0" cy="472800"/>
          </a:xfrm>
          <a:prstGeom prst="straightConnector1">
            <a:avLst/>
          </a:prstGeom>
          <a:noFill/>
          <a:ln cap="flat" cmpd="sng" w="38100">
            <a:solidFill>
              <a:schemeClr val="accent2"/>
            </a:solidFill>
            <a:prstDash val="solid"/>
            <a:round/>
            <a:headEnd len="sm" w="sm" type="none"/>
            <a:tailEnd len="med" w="med" type="triangle"/>
          </a:ln>
          <a:effectLst>
            <a:outerShdw blurRad="40000" rotWithShape="0" dir="5400000" dist="23000">
              <a:srgbClr val="000000">
                <a:alpha val="34901"/>
              </a:srgbClr>
            </a:outerShdw>
          </a:effectLst>
        </p:spPr>
      </p:cxnSp>
      <p:sp>
        <p:nvSpPr>
          <p:cNvPr id="668" name="Google Shape;668;p50"/>
          <p:cNvSpPr/>
          <p:nvPr/>
        </p:nvSpPr>
        <p:spPr>
          <a:xfrm>
            <a:off x="1797802" y="3231397"/>
            <a:ext cx="680100" cy="584400"/>
          </a:xfrm>
          <a:prstGeom prst="rect">
            <a:avLst/>
          </a:prstGeom>
          <a:solidFill>
            <a:schemeClr val="accent1"/>
          </a:solidFill>
          <a:ln cap="flat" cmpd="sng" w="25400">
            <a:solidFill>
              <a:srgbClr val="6B48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chemeClr val="lt1"/>
                </a:solidFill>
                <a:latin typeface="Arial"/>
                <a:ea typeface="Arial"/>
                <a:cs typeface="Arial"/>
                <a:sym typeface="Arial"/>
              </a:rPr>
              <a:t>Device emulation using Qemu</a:t>
            </a:r>
            <a:endParaRPr b="0" i="0" sz="900" u="none" cap="none" strike="noStrike">
              <a:solidFill>
                <a:schemeClr val="lt1"/>
              </a:solidFill>
              <a:latin typeface="Arial"/>
              <a:ea typeface="Arial"/>
              <a:cs typeface="Arial"/>
              <a:sym typeface="Arial"/>
            </a:endParaRPr>
          </a:p>
        </p:txBody>
      </p:sp>
      <p:cxnSp>
        <p:nvCxnSpPr>
          <p:cNvPr id="669" name="Google Shape;669;p50"/>
          <p:cNvCxnSpPr>
            <a:stCxn id="668" idx="2"/>
          </p:cNvCxnSpPr>
          <p:nvPr/>
        </p:nvCxnSpPr>
        <p:spPr>
          <a:xfrm>
            <a:off x="2137852" y="3815797"/>
            <a:ext cx="0" cy="337500"/>
          </a:xfrm>
          <a:prstGeom prst="straightConnector1">
            <a:avLst/>
          </a:prstGeom>
          <a:noFill/>
          <a:ln cap="flat" cmpd="sng" w="25400">
            <a:solidFill>
              <a:schemeClr val="accent2"/>
            </a:solidFill>
            <a:prstDash val="solid"/>
            <a:round/>
            <a:headEnd len="sm" w="sm" type="none"/>
            <a:tailEnd len="med" w="med" type="triangle"/>
          </a:ln>
          <a:effectLst>
            <a:outerShdw blurRad="40000" rotWithShape="0" dir="5400000" dist="20000">
              <a:srgbClr val="000000">
                <a:alpha val="38039"/>
              </a:srgbClr>
            </a:outerShdw>
          </a:effectLst>
        </p:spPr>
      </p:cxnSp>
      <p:sp>
        <p:nvSpPr>
          <p:cNvPr id="670" name="Google Shape;670;p50"/>
          <p:cNvSpPr txBox="1"/>
          <p:nvPr/>
        </p:nvSpPr>
        <p:spPr>
          <a:xfrm>
            <a:off x="6201469" y="4304006"/>
            <a:ext cx="13080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Arial"/>
                <a:ea typeface="Arial"/>
                <a:cs typeface="Arial"/>
                <a:sym typeface="Arial"/>
              </a:rPr>
              <a:t>Forwards the </a:t>
            </a:r>
            <a:endParaRPr b="0" i="0" sz="1400" u="none" cap="none" strike="noStrike">
              <a:solidFill>
                <a:srgbClr val="000000"/>
              </a:solidFill>
              <a:latin typeface="Arial"/>
              <a:ea typeface="Arial"/>
              <a:cs typeface="Arial"/>
              <a:sym typeface="Arial"/>
            </a:endParaRPr>
          </a:p>
        </p:txBody>
      </p:sp>
      <p:cxnSp>
        <p:nvCxnSpPr>
          <p:cNvPr id="671" name="Google Shape;671;p50"/>
          <p:cNvCxnSpPr/>
          <p:nvPr/>
        </p:nvCxnSpPr>
        <p:spPr>
          <a:xfrm rot="10800000">
            <a:off x="2379043" y="4096800"/>
            <a:ext cx="1188300" cy="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8039"/>
              </a:srgbClr>
            </a:outerShdw>
          </a:effectLst>
        </p:spPr>
      </p:cxnSp>
      <p:cxnSp>
        <p:nvCxnSpPr>
          <p:cNvPr id="672" name="Google Shape;672;p50"/>
          <p:cNvCxnSpPr/>
          <p:nvPr/>
        </p:nvCxnSpPr>
        <p:spPr>
          <a:xfrm rot="10800000">
            <a:off x="2378990" y="3789600"/>
            <a:ext cx="0" cy="307200"/>
          </a:xfrm>
          <a:prstGeom prst="straightConnector1">
            <a:avLst/>
          </a:prstGeom>
          <a:noFill/>
          <a:ln cap="flat" cmpd="sng" w="25400">
            <a:solidFill>
              <a:schemeClr val="accent2"/>
            </a:solidFill>
            <a:prstDash val="solid"/>
            <a:round/>
            <a:headEnd len="sm" w="sm" type="none"/>
            <a:tailEnd len="med" w="med" type="triangle"/>
          </a:ln>
          <a:effectLst>
            <a:outerShdw blurRad="40000" rotWithShape="0" dir="5400000" dist="20000">
              <a:srgbClr val="000000">
                <a:alpha val="38039"/>
              </a:srgbClr>
            </a:outerShdw>
          </a:effectLst>
        </p:spPr>
      </p:cxnSp>
      <p:sp>
        <p:nvSpPr>
          <p:cNvPr id="673" name="Google Shape;673;p50"/>
          <p:cNvSpPr txBox="1"/>
          <p:nvPr/>
        </p:nvSpPr>
        <p:spPr>
          <a:xfrm>
            <a:off x="5185400" y="2044325"/>
            <a:ext cx="2779200" cy="126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434343"/>
                </a:solidFill>
                <a:latin typeface="Arial"/>
                <a:ea typeface="Arial"/>
                <a:cs typeface="Arial"/>
                <a:sym typeface="Arial"/>
              </a:rPr>
              <a:t>Non blocking virtIO allows the communication to be asynchronous</a:t>
            </a:r>
            <a:endParaRPr b="0" i="0" sz="1800" u="none" cap="none" strike="noStrike">
              <a:solidFill>
                <a:srgbClr val="434343"/>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1"/>
          <p:cNvSpPr txBox="1"/>
          <p:nvPr>
            <p:ph type="title"/>
          </p:nvPr>
        </p:nvSpPr>
        <p:spPr>
          <a:xfrm>
            <a:off x="311700"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Real Time - Cache coloring</a:t>
            </a:r>
            <a:endParaRPr/>
          </a:p>
        </p:txBody>
      </p:sp>
      <p:sp>
        <p:nvSpPr>
          <p:cNvPr id="679" name="Google Shape;679;p51"/>
          <p:cNvSpPr txBox="1"/>
          <p:nvPr/>
        </p:nvSpPr>
        <p:spPr>
          <a:xfrm>
            <a:off x="140452" y="572700"/>
            <a:ext cx="6206100" cy="3263400"/>
          </a:xfrm>
          <a:prstGeom prst="rect">
            <a:avLst/>
          </a:prstGeom>
          <a:noFill/>
          <a:ln>
            <a:noFill/>
          </a:ln>
        </p:spPr>
        <p:txBody>
          <a:bodyPr anchorCtr="0" anchor="t" bIns="91425" lIns="91425" spcFirstLastPara="1" rIns="91425" wrap="square" tIns="91425">
            <a:noAutofit/>
          </a:bodyPr>
          <a:lstStyle/>
          <a:p>
            <a:pPr indent="-176213" lvl="0" marL="176213" marR="0" rtl="0" algn="l">
              <a:lnSpc>
                <a:spcPct val="114000"/>
              </a:lnSpc>
              <a:spcBef>
                <a:spcPts val="0"/>
              </a:spcBef>
              <a:spcAft>
                <a:spcPts val="0"/>
              </a:spcAft>
              <a:buClr>
                <a:srgbClr val="434343"/>
              </a:buClr>
              <a:buSzPts val="1800"/>
              <a:buFont typeface="Arial"/>
              <a:buChar char="●"/>
            </a:pPr>
            <a:r>
              <a:rPr b="0" i="0" lang="en-GB" sz="1800" u="none" cap="none" strike="noStrike">
                <a:solidFill>
                  <a:srgbClr val="434343"/>
                </a:solidFill>
                <a:latin typeface="Arial"/>
                <a:ea typeface="Arial"/>
                <a:cs typeface="Arial"/>
                <a:sym typeface="Arial"/>
              </a:rPr>
              <a:t>CPUs clusters often share L2 cache</a:t>
            </a:r>
            <a:endParaRPr b="0" i="0" sz="1400" u="none" cap="none" strike="noStrike">
              <a:solidFill>
                <a:srgbClr val="000000"/>
              </a:solidFill>
              <a:latin typeface="Arial"/>
              <a:ea typeface="Arial"/>
              <a:cs typeface="Arial"/>
              <a:sym typeface="Arial"/>
            </a:endParaRPr>
          </a:p>
          <a:p>
            <a:pPr indent="-176213" lvl="0" marL="176213" marR="0" rtl="0" algn="l">
              <a:lnSpc>
                <a:spcPct val="114000"/>
              </a:lnSpc>
              <a:spcBef>
                <a:spcPts val="0"/>
              </a:spcBef>
              <a:spcAft>
                <a:spcPts val="0"/>
              </a:spcAft>
              <a:buClr>
                <a:srgbClr val="434343"/>
              </a:buClr>
              <a:buSzPts val="1800"/>
              <a:buFont typeface="Arial"/>
              <a:buChar char="●"/>
            </a:pPr>
            <a:r>
              <a:rPr b="0" i="0" lang="en-GB" sz="1800" u="none" cap="none" strike="noStrike">
                <a:solidFill>
                  <a:srgbClr val="434343"/>
                </a:solidFill>
                <a:latin typeface="Arial"/>
                <a:ea typeface="Arial"/>
                <a:cs typeface="Arial"/>
                <a:sym typeface="Arial"/>
              </a:rPr>
              <a:t>Interference via L2 cache affects performance</a:t>
            </a:r>
            <a:endParaRPr b="0" i="0" sz="1400" u="none" cap="none" strike="noStrike">
              <a:solidFill>
                <a:srgbClr val="000000"/>
              </a:solidFill>
              <a:latin typeface="Arial"/>
              <a:ea typeface="Arial"/>
              <a:cs typeface="Arial"/>
              <a:sym typeface="Arial"/>
            </a:endParaRPr>
          </a:p>
          <a:p>
            <a:pPr indent="-164784" lvl="1" marL="339566" marR="0" rtl="0" algn="l">
              <a:lnSpc>
                <a:spcPct val="114000"/>
              </a:lnSpc>
              <a:spcBef>
                <a:spcPts val="800"/>
              </a:spcBef>
              <a:spcAft>
                <a:spcPts val="0"/>
              </a:spcAft>
              <a:buClr>
                <a:srgbClr val="434343"/>
              </a:buClr>
              <a:buSzPts val="1400"/>
              <a:buFont typeface="Arial"/>
              <a:buChar char="○"/>
            </a:pPr>
            <a:r>
              <a:rPr b="0" i="0" lang="en-GB" sz="1350" u="none" cap="none" strike="noStrike">
                <a:solidFill>
                  <a:srgbClr val="434343"/>
                </a:solidFill>
                <a:latin typeface="Arial"/>
                <a:ea typeface="Arial"/>
                <a:cs typeface="Arial"/>
                <a:sym typeface="Arial"/>
              </a:rPr>
              <a:t>App0 running on CPU0 can cause cache entries evictions, which affect App1 running on CPU1</a:t>
            </a:r>
            <a:endParaRPr b="0" i="0" sz="1400" u="none" cap="none" strike="noStrike">
              <a:solidFill>
                <a:srgbClr val="000000"/>
              </a:solidFill>
              <a:latin typeface="Arial"/>
              <a:ea typeface="Arial"/>
              <a:cs typeface="Arial"/>
              <a:sym typeface="Arial"/>
            </a:endParaRPr>
          </a:p>
          <a:p>
            <a:pPr indent="-164784" lvl="1" marL="339566" marR="0" rtl="0" algn="l">
              <a:lnSpc>
                <a:spcPct val="114000"/>
              </a:lnSpc>
              <a:spcBef>
                <a:spcPts val="800"/>
              </a:spcBef>
              <a:spcAft>
                <a:spcPts val="0"/>
              </a:spcAft>
              <a:buClr>
                <a:srgbClr val="434343"/>
              </a:buClr>
              <a:buSzPts val="1400"/>
              <a:buFont typeface="Arial"/>
              <a:buChar char="○"/>
            </a:pPr>
            <a:r>
              <a:rPr b="0" i="0" lang="en-GB" sz="1350" u="none" cap="none" strike="noStrike">
                <a:solidFill>
                  <a:srgbClr val="434343"/>
                </a:solidFill>
                <a:latin typeface="Arial"/>
                <a:ea typeface="Arial"/>
                <a:cs typeface="Arial"/>
                <a:sym typeface="Arial"/>
              </a:rPr>
              <a:t>App1 running on CPU1 could miss a deadline due to App0’s behavior</a:t>
            </a:r>
            <a:endParaRPr b="0" i="0" sz="1400" u="none" cap="none" strike="noStrike">
              <a:solidFill>
                <a:srgbClr val="000000"/>
              </a:solidFill>
              <a:latin typeface="Arial"/>
              <a:ea typeface="Arial"/>
              <a:cs typeface="Arial"/>
              <a:sym typeface="Arial"/>
            </a:endParaRPr>
          </a:p>
          <a:p>
            <a:pPr indent="-164784" lvl="1" marL="339566" marR="0" rtl="0" algn="l">
              <a:lnSpc>
                <a:spcPct val="114000"/>
              </a:lnSpc>
              <a:spcBef>
                <a:spcPts val="800"/>
              </a:spcBef>
              <a:spcAft>
                <a:spcPts val="0"/>
              </a:spcAft>
              <a:buClr>
                <a:srgbClr val="434343"/>
              </a:buClr>
              <a:buSzPts val="1400"/>
              <a:buFont typeface="Arial"/>
              <a:buChar char="○"/>
            </a:pPr>
            <a:r>
              <a:rPr b="0" i="0" lang="en-GB" sz="1350" u="none" cap="none" strike="noStrike">
                <a:solidFill>
                  <a:srgbClr val="434343"/>
                </a:solidFill>
                <a:latin typeface="Arial"/>
                <a:ea typeface="Arial"/>
                <a:cs typeface="Arial"/>
                <a:sym typeface="Arial"/>
              </a:rPr>
              <a:t>It can happen between Apps running on the same OS &amp; between VMs on the same hypervisor</a:t>
            </a:r>
            <a:endParaRPr b="0" i="0" sz="1400" u="none" cap="none" strike="noStrike">
              <a:solidFill>
                <a:srgbClr val="000000"/>
              </a:solidFill>
              <a:latin typeface="Arial"/>
              <a:ea typeface="Arial"/>
              <a:cs typeface="Arial"/>
              <a:sym typeface="Arial"/>
            </a:endParaRPr>
          </a:p>
          <a:p>
            <a:pPr indent="-176213" lvl="0" marL="176213" marR="0" rtl="0" algn="l">
              <a:lnSpc>
                <a:spcPct val="114000"/>
              </a:lnSpc>
              <a:spcBef>
                <a:spcPts val="0"/>
              </a:spcBef>
              <a:spcAft>
                <a:spcPts val="0"/>
              </a:spcAft>
              <a:buClr>
                <a:srgbClr val="434343"/>
              </a:buClr>
              <a:buSzPts val="1800"/>
              <a:buFont typeface="Arial"/>
              <a:buChar char="●"/>
            </a:pPr>
            <a:r>
              <a:rPr b="0" i="0" lang="en-GB" sz="1800" u="none" cap="none" strike="noStrike">
                <a:solidFill>
                  <a:srgbClr val="434343"/>
                </a:solidFill>
                <a:latin typeface="Arial"/>
                <a:ea typeface="Arial"/>
                <a:cs typeface="Arial"/>
                <a:sym typeface="Arial"/>
              </a:rPr>
              <a:t>Hypervisor Solution: Cache Partitioning,</a:t>
            </a:r>
            <a:br>
              <a:rPr b="0" i="0" lang="en-GB" sz="1800" u="none" cap="none" strike="noStrike">
                <a:solidFill>
                  <a:srgbClr val="434343"/>
                </a:solidFill>
                <a:latin typeface="Arial"/>
                <a:ea typeface="Arial"/>
                <a:cs typeface="Arial"/>
                <a:sym typeface="Arial"/>
              </a:rPr>
            </a:br>
            <a:r>
              <a:rPr b="0" i="0" lang="en-GB" sz="1800" u="none" cap="none" strike="noStrike">
                <a:solidFill>
                  <a:srgbClr val="434343"/>
                </a:solidFill>
                <a:latin typeface="Arial"/>
                <a:ea typeface="Arial"/>
                <a:cs typeface="Arial"/>
                <a:sym typeface="Arial"/>
              </a:rPr>
              <a:t>AKA </a:t>
            </a:r>
            <a:r>
              <a:rPr b="1" i="0" lang="en-GB" sz="1800" u="none" cap="none" strike="noStrike">
                <a:solidFill>
                  <a:srgbClr val="434343"/>
                </a:solidFill>
                <a:latin typeface="Arial"/>
                <a:ea typeface="Arial"/>
                <a:cs typeface="Arial"/>
                <a:sym typeface="Arial"/>
              </a:rPr>
              <a:t>Cache Coloring</a:t>
            </a:r>
            <a:endParaRPr b="0" i="0" sz="1400" u="none" cap="none" strike="noStrike">
              <a:solidFill>
                <a:srgbClr val="000000"/>
              </a:solidFill>
              <a:latin typeface="Arial"/>
              <a:ea typeface="Arial"/>
              <a:cs typeface="Arial"/>
              <a:sym typeface="Arial"/>
            </a:endParaRPr>
          </a:p>
          <a:p>
            <a:pPr indent="-164784" lvl="1" marL="339566" marR="0" rtl="0" algn="l">
              <a:lnSpc>
                <a:spcPct val="114000"/>
              </a:lnSpc>
              <a:spcBef>
                <a:spcPts val="800"/>
              </a:spcBef>
              <a:spcAft>
                <a:spcPts val="0"/>
              </a:spcAft>
              <a:buClr>
                <a:srgbClr val="434343"/>
              </a:buClr>
              <a:buSzPts val="1400"/>
              <a:buFont typeface="Arial"/>
              <a:buChar char="○"/>
            </a:pPr>
            <a:r>
              <a:rPr b="0" i="0" lang="en-GB" sz="1350" u="none" cap="none" strike="noStrike">
                <a:solidFill>
                  <a:srgbClr val="434343"/>
                </a:solidFill>
                <a:latin typeface="Arial"/>
                <a:ea typeface="Arial"/>
                <a:cs typeface="Arial"/>
                <a:sym typeface="Arial"/>
              </a:rPr>
              <a:t>Each VM gets its own allocation of cache entries</a:t>
            </a:r>
            <a:endParaRPr b="0" i="0" sz="1400" u="none" cap="none" strike="noStrike">
              <a:solidFill>
                <a:srgbClr val="000000"/>
              </a:solidFill>
              <a:latin typeface="Arial"/>
              <a:ea typeface="Arial"/>
              <a:cs typeface="Arial"/>
              <a:sym typeface="Arial"/>
            </a:endParaRPr>
          </a:p>
          <a:p>
            <a:pPr indent="-164784" lvl="1" marL="339566" marR="0" rtl="0" algn="l">
              <a:lnSpc>
                <a:spcPct val="114000"/>
              </a:lnSpc>
              <a:spcBef>
                <a:spcPts val="800"/>
              </a:spcBef>
              <a:spcAft>
                <a:spcPts val="0"/>
              </a:spcAft>
              <a:buClr>
                <a:srgbClr val="434343"/>
              </a:buClr>
              <a:buSzPts val="1400"/>
              <a:buFont typeface="Arial"/>
              <a:buChar char="○"/>
            </a:pPr>
            <a:r>
              <a:rPr b="0" i="0" lang="en-GB" sz="1350" u="none" cap="none" strike="noStrike">
                <a:solidFill>
                  <a:srgbClr val="434343"/>
                </a:solidFill>
                <a:latin typeface="Arial"/>
                <a:ea typeface="Arial"/>
                <a:cs typeface="Arial"/>
                <a:sym typeface="Arial"/>
              </a:rPr>
              <a:t>No shared cache entries between VMs</a:t>
            </a:r>
            <a:endParaRPr b="0" i="0" sz="1400" u="none" cap="none" strike="noStrike">
              <a:solidFill>
                <a:srgbClr val="000000"/>
              </a:solidFill>
              <a:latin typeface="Arial"/>
              <a:ea typeface="Arial"/>
              <a:cs typeface="Arial"/>
              <a:sym typeface="Arial"/>
            </a:endParaRPr>
          </a:p>
          <a:p>
            <a:pPr indent="-164784" lvl="1" marL="339566" marR="0" rtl="0" algn="l">
              <a:lnSpc>
                <a:spcPct val="114000"/>
              </a:lnSpc>
              <a:spcBef>
                <a:spcPts val="800"/>
              </a:spcBef>
              <a:spcAft>
                <a:spcPts val="0"/>
              </a:spcAft>
              <a:buClr>
                <a:srgbClr val="434343"/>
              </a:buClr>
              <a:buSzPts val="1400"/>
              <a:buFont typeface="Arial"/>
              <a:buChar char="○"/>
            </a:pPr>
            <a:r>
              <a:rPr b="0" i="0" lang="en-GB" sz="1350" u="none" cap="none" strike="noStrike">
                <a:solidFill>
                  <a:srgbClr val="434343"/>
                </a:solidFill>
                <a:latin typeface="Arial"/>
                <a:ea typeface="Arial"/>
                <a:cs typeface="Arial"/>
                <a:sym typeface="Arial"/>
              </a:rPr>
              <a:t>Allows real-time apps to run with deterministic IRQ latency</a:t>
            </a:r>
            <a:endParaRPr b="0" i="0" sz="1400" u="none" cap="none" strike="noStrike">
              <a:solidFill>
                <a:srgbClr val="000000"/>
              </a:solidFill>
              <a:latin typeface="Arial"/>
              <a:ea typeface="Arial"/>
              <a:cs typeface="Arial"/>
              <a:sym typeface="Arial"/>
            </a:endParaRPr>
          </a:p>
        </p:txBody>
      </p:sp>
      <p:pic>
        <p:nvPicPr>
          <p:cNvPr id="680" name="Google Shape;680;p51"/>
          <p:cNvPicPr preferRelativeResize="0"/>
          <p:nvPr/>
        </p:nvPicPr>
        <p:blipFill rotWithShape="1">
          <a:blip r:embed="rId3">
            <a:alphaModFix/>
          </a:blip>
          <a:srcRect b="0" l="0" r="0" t="0"/>
          <a:stretch/>
        </p:blipFill>
        <p:spPr>
          <a:xfrm>
            <a:off x="5949252" y="715300"/>
            <a:ext cx="2883048" cy="297830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2"/>
          <p:cNvSpPr txBox="1"/>
          <p:nvPr>
            <p:ph type="title"/>
          </p:nvPr>
        </p:nvSpPr>
        <p:spPr>
          <a:xfrm>
            <a:off x="79225"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Fine Granular configs to reduce SLoC</a:t>
            </a:r>
            <a:endParaRPr/>
          </a:p>
        </p:txBody>
      </p:sp>
      <p:sp>
        <p:nvSpPr>
          <p:cNvPr id="686" name="Google Shape;686;p52"/>
          <p:cNvSpPr txBox="1"/>
          <p:nvPr>
            <p:ph idx="1" type="body"/>
          </p:nvPr>
        </p:nvSpPr>
        <p:spPr>
          <a:xfrm>
            <a:off x="5145439" y="3254644"/>
            <a:ext cx="4151700" cy="893700"/>
          </a:xfrm>
          <a:prstGeom prst="rect">
            <a:avLst/>
          </a:prstGeom>
          <a:noFill/>
          <a:ln>
            <a:noFill/>
          </a:ln>
        </p:spPr>
        <p:txBody>
          <a:bodyPr anchorCtr="0" anchor="t" bIns="91425" lIns="91425" spcFirstLastPara="1" rIns="91425" wrap="square" tIns="91425">
            <a:noAutofit/>
          </a:bodyPr>
          <a:lstStyle/>
          <a:p>
            <a:pPr indent="-342900" lvl="0" marL="457200" rtl="0" algn="l">
              <a:lnSpc>
                <a:spcPct val="114000"/>
              </a:lnSpc>
              <a:spcBef>
                <a:spcPts val="0"/>
              </a:spcBef>
              <a:spcAft>
                <a:spcPts val="0"/>
              </a:spcAft>
              <a:buSzPts val="1800"/>
              <a:buChar char="●"/>
            </a:pPr>
            <a:r>
              <a:rPr lang="en-GB" sz="1200"/>
              <a:t>Add configs to eliminate code related to unsupported hardware features</a:t>
            </a:r>
            <a:endParaRPr/>
          </a:p>
          <a:p>
            <a:pPr indent="-317500" lvl="1" marL="914400" rtl="0" algn="l">
              <a:lnSpc>
                <a:spcPct val="114000"/>
              </a:lnSpc>
              <a:spcBef>
                <a:spcPts val="800"/>
              </a:spcBef>
              <a:spcAft>
                <a:spcPts val="0"/>
              </a:spcAft>
              <a:buSzPts val="1400"/>
              <a:buChar char="○"/>
            </a:pPr>
            <a:r>
              <a:rPr lang="en-GB" sz="1200"/>
              <a:t>GICv3 NR_LRS</a:t>
            </a:r>
            <a:endParaRPr/>
          </a:p>
          <a:p>
            <a:pPr indent="-317500" lvl="1" marL="914400" rtl="0" algn="l">
              <a:lnSpc>
                <a:spcPct val="114000"/>
              </a:lnSpc>
              <a:spcBef>
                <a:spcPts val="800"/>
              </a:spcBef>
              <a:spcAft>
                <a:spcPts val="0"/>
              </a:spcAft>
              <a:buSzPts val="1400"/>
              <a:buChar char="○"/>
            </a:pPr>
            <a:r>
              <a:rPr lang="en-GB" sz="1200"/>
              <a:t>GICv3 Num of priorities</a:t>
            </a:r>
            <a:endParaRPr/>
          </a:p>
        </p:txBody>
      </p:sp>
      <p:pic>
        <p:nvPicPr>
          <p:cNvPr id="687" name="Google Shape;687;p52"/>
          <p:cNvPicPr preferRelativeResize="0"/>
          <p:nvPr/>
        </p:nvPicPr>
        <p:blipFill rotWithShape="1">
          <a:blip r:embed="rId3">
            <a:alphaModFix/>
          </a:blip>
          <a:srcRect b="0" l="0" r="0" t="0"/>
          <a:stretch/>
        </p:blipFill>
        <p:spPr>
          <a:xfrm>
            <a:off x="195183" y="572699"/>
            <a:ext cx="4950255" cy="2588956"/>
          </a:xfrm>
          <a:prstGeom prst="rect">
            <a:avLst/>
          </a:prstGeom>
          <a:noFill/>
          <a:ln>
            <a:noFill/>
          </a:ln>
        </p:spPr>
      </p:pic>
      <p:pic>
        <p:nvPicPr>
          <p:cNvPr id="688" name="Google Shape;688;p52"/>
          <p:cNvPicPr preferRelativeResize="0"/>
          <p:nvPr/>
        </p:nvPicPr>
        <p:blipFill rotWithShape="1">
          <a:blip r:embed="rId4">
            <a:alphaModFix/>
          </a:blip>
          <a:srcRect b="0" l="0" r="0" t="0"/>
          <a:stretch/>
        </p:blipFill>
        <p:spPr>
          <a:xfrm>
            <a:off x="4865601" y="568294"/>
            <a:ext cx="4246537" cy="2686349"/>
          </a:xfrm>
          <a:prstGeom prst="rect">
            <a:avLst/>
          </a:prstGeom>
          <a:noFill/>
          <a:ln>
            <a:noFill/>
          </a:ln>
        </p:spPr>
      </p:pic>
      <p:pic>
        <p:nvPicPr>
          <p:cNvPr id="689" name="Google Shape;689;p52"/>
          <p:cNvPicPr preferRelativeResize="0"/>
          <p:nvPr/>
        </p:nvPicPr>
        <p:blipFill rotWithShape="1">
          <a:blip r:embed="rId5">
            <a:alphaModFix/>
          </a:blip>
          <a:srcRect b="0" l="0" r="0" t="0"/>
          <a:stretch/>
        </p:blipFill>
        <p:spPr>
          <a:xfrm>
            <a:off x="1237106" y="3377527"/>
            <a:ext cx="2578233" cy="1054154"/>
          </a:xfrm>
          <a:prstGeom prst="rect">
            <a:avLst/>
          </a:prstGeom>
          <a:noFill/>
          <a:ln>
            <a:noFill/>
          </a:ln>
        </p:spPr>
      </p:pic>
      <p:sp>
        <p:nvSpPr>
          <p:cNvPr id="690" name="Google Shape;690;p52"/>
          <p:cNvSpPr txBox="1"/>
          <p:nvPr/>
        </p:nvSpPr>
        <p:spPr>
          <a:xfrm>
            <a:off x="3009429" y="4534368"/>
            <a:ext cx="6350700" cy="5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sng" cap="none" strike="noStrike">
                <a:solidFill>
                  <a:schemeClr val="hlink"/>
                </a:solidFill>
                <a:latin typeface="Arial"/>
                <a:ea typeface="Arial"/>
                <a:cs typeface="Arial"/>
                <a:sym typeface="Arial"/>
                <a:hlinkClick r:id="rId6"/>
              </a:rPr>
              <a:t>https://patchew.org/Xen/20260318140900.3795710-1-ayan.kumar.halder@amd.com/</a:t>
            </a:r>
            <a:endParaRPr b="0" i="0" sz="1200" u="none" cap="none" strike="noStrike">
              <a:solidFill>
                <a:srgbClr val="434343"/>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53"/>
          <p:cNvSpPr txBox="1"/>
          <p:nvPr/>
        </p:nvSpPr>
        <p:spPr>
          <a:xfrm>
            <a:off x="311760" y="444960"/>
            <a:ext cx="8520000" cy="5724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800"/>
              <a:buFont typeface="Arial"/>
              <a:buNone/>
            </a:pPr>
            <a:r>
              <a:rPr lang="en-GB" sz="2800">
                <a:solidFill>
                  <a:schemeClr val="dk1"/>
                </a:solidFill>
              </a:rPr>
              <a:t>F</a:t>
            </a:r>
            <a:r>
              <a:rPr lang="en-GB" sz="2800">
                <a:solidFill>
                  <a:schemeClr val="dk1"/>
                </a:solidFill>
              </a:rPr>
              <a:t>uzzing testing: </a:t>
            </a:r>
            <a:r>
              <a:rPr b="0" i="0" lang="en-GB" sz="2800" u="none" cap="none" strike="noStrike">
                <a:solidFill>
                  <a:srgbClr val="000000"/>
                </a:solidFill>
                <a:latin typeface="Arial"/>
                <a:ea typeface="Arial"/>
                <a:cs typeface="Arial"/>
                <a:sym typeface="Arial"/>
              </a:rPr>
              <a:t>LibAFL + QEMU​</a:t>
            </a:r>
            <a:endParaRPr b="0" i="0" sz="2800" u="none" cap="none" strike="noStrike">
              <a:solidFill>
                <a:srgbClr val="000000"/>
              </a:solidFill>
              <a:latin typeface="Arial"/>
              <a:ea typeface="Arial"/>
              <a:cs typeface="Arial"/>
              <a:sym typeface="Arial"/>
            </a:endParaRPr>
          </a:p>
        </p:txBody>
      </p:sp>
      <p:sp>
        <p:nvSpPr>
          <p:cNvPr id="696" name="Google Shape;696;p53"/>
          <p:cNvSpPr txBox="1"/>
          <p:nvPr/>
        </p:nvSpPr>
        <p:spPr>
          <a:xfrm>
            <a:off x="311760" y="1152360"/>
            <a:ext cx="8520000" cy="3416100"/>
          </a:xfrm>
          <a:prstGeom prst="rect">
            <a:avLst/>
          </a:prstGeom>
          <a:noFill/>
          <a:ln>
            <a:noFill/>
          </a:ln>
        </p:spPr>
        <p:txBody>
          <a:bodyPr anchorCtr="0" anchor="t" bIns="91425" lIns="91425" spcFirstLastPara="1" rIns="91425" wrap="square" tIns="91425">
            <a:normAutofit/>
          </a:bodyPr>
          <a:lstStyle/>
          <a:p>
            <a:pPr indent="0" lvl="0" marL="0" marR="0" rtl="0" algn="l">
              <a:lnSpc>
                <a:spcPct val="90000"/>
              </a:lnSpc>
              <a:spcBef>
                <a:spcPts val="0"/>
              </a:spcBef>
              <a:spcAft>
                <a:spcPts val="0"/>
              </a:spcAft>
              <a:buNone/>
            </a:pPr>
            <a:r>
              <a:rPr b="0" i="0" lang="en-GB" sz="1800" u="none" cap="none" strike="noStrike">
                <a:solidFill>
                  <a:srgbClr val="000000"/>
                </a:solidFill>
                <a:latin typeface="Arial"/>
                <a:ea typeface="Arial"/>
                <a:cs typeface="Arial"/>
                <a:sym typeface="Arial"/>
              </a:rPr>
              <a:t>QEMU provides "snapshot" feature which allows us tighten main loop, as no reboots are needed:​</a:t>
            </a:r>
            <a:endParaRPr b="0" i="0" sz="1400" u="none" cap="none" strike="noStrike">
              <a:solidFill>
                <a:srgbClr val="000000"/>
              </a:solidFill>
              <a:latin typeface="Arial"/>
              <a:ea typeface="Arial"/>
              <a:cs typeface="Arial"/>
              <a:sym typeface="Arial"/>
            </a:endParaRPr>
          </a:p>
          <a:p>
            <a:pPr indent="-342900" lvl="1" marL="800100" marR="0" rtl="0" algn="l">
              <a:lnSpc>
                <a:spcPct val="90000"/>
              </a:lnSpc>
              <a:spcBef>
                <a:spcPts val="50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​Spawn QEMU​</a:t>
            </a:r>
            <a:endParaRPr b="0" i="0" sz="1400" u="none" cap="none" strike="noStrike">
              <a:solidFill>
                <a:srgbClr val="000000"/>
              </a:solidFill>
              <a:latin typeface="Arial"/>
              <a:ea typeface="Arial"/>
              <a:cs typeface="Arial"/>
              <a:sym typeface="Arial"/>
            </a:endParaRPr>
          </a:p>
          <a:p>
            <a:pPr indent="-342900" lvl="1" marL="800100" marR="0" rtl="0" algn="l">
              <a:lnSpc>
                <a:spcPct val="90000"/>
              </a:lnSpc>
              <a:spcBef>
                <a:spcPts val="50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Boot SUT (Xen + XTF test harness in our case)​</a:t>
            </a:r>
            <a:endParaRPr b="0" i="0" sz="1400" u="none" cap="none" strike="noStrike">
              <a:solidFill>
                <a:srgbClr val="000000"/>
              </a:solidFill>
              <a:latin typeface="Arial"/>
              <a:ea typeface="Arial"/>
              <a:cs typeface="Arial"/>
              <a:sym typeface="Arial"/>
            </a:endParaRPr>
          </a:p>
          <a:p>
            <a:pPr indent="-342900" lvl="1" marL="800100" marR="0" rtl="0" algn="l">
              <a:lnSpc>
                <a:spcPct val="90000"/>
              </a:lnSpc>
              <a:spcBef>
                <a:spcPts val="50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Test harness requests test input. At this point snapshot is created​</a:t>
            </a:r>
            <a:endParaRPr b="0" i="0" sz="1400" u="none" cap="none" strike="noStrike">
              <a:solidFill>
                <a:srgbClr val="000000"/>
              </a:solidFill>
              <a:latin typeface="Arial"/>
              <a:ea typeface="Arial"/>
              <a:cs typeface="Arial"/>
              <a:sym typeface="Arial"/>
            </a:endParaRPr>
          </a:p>
          <a:p>
            <a:pPr indent="-342900" lvl="1" marL="800100" marR="0" rtl="0" algn="l">
              <a:lnSpc>
                <a:spcPct val="90000"/>
              </a:lnSpc>
              <a:spcBef>
                <a:spcPts val="50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Fuzzer provides input to the test harness​</a:t>
            </a:r>
            <a:endParaRPr b="0" i="0" sz="1400" u="none" cap="none" strike="noStrike">
              <a:solidFill>
                <a:srgbClr val="000000"/>
              </a:solidFill>
              <a:latin typeface="Arial"/>
              <a:ea typeface="Arial"/>
              <a:cs typeface="Arial"/>
              <a:sym typeface="Arial"/>
            </a:endParaRPr>
          </a:p>
          <a:p>
            <a:pPr indent="-342900" lvl="1" marL="800100" marR="0" rtl="0" algn="l">
              <a:lnSpc>
                <a:spcPct val="90000"/>
              </a:lnSpc>
              <a:spcBef>
                <a:spcPts val="50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Input is passed to Xen. Code coverage is measured​</a:t>
            </a:r>
            <a:endParaRPr b="0" i="0" sz="1400" u="none" cap="none" strike="noStrike">
              <a:solidFill>
                <a:srgbClr val="000000"/>
              </a:solidFill>
              <a:latin typeface="Arial"/>
              <a:ea typeface="Arial"/>
              <a:cs typeface="Arial"/>
              <a:sym typeface="Arial"/>
            </a:endParaRPr>
          </a:p>
          <a:p>
            <a:pPr indent="-342900" lvl="1" marL="800100" marR="0" rtl="0" algn="l">
              <a:lnSpc>
                <a:spcPct val="90000"/>
              </a:lnSpc>
              <a:spcBef>
                <a:spcPts val="50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Test harness submits test result (fail/no fail) + code coverage data to the fuzzer​</a:t>
            </a:r>
            <a:endParaRPr b="0" i="0" sz="1400" u="none" cap="none" strike="noStrike">
              <a:solidFill>
                <a:srgbClr val="000000"/>
              </a:solidFill>
              <a:latin typeface="Arial"/>
              <a:ea typeface="Arial"/>
              <a:cs typeface="Arial"/>
              <a:sym typeface="Arial"/>
            </a:endParaRPr>
          </a:p>
          <a:p>
            <a:pPr indent="-342900" lvl="1" marL="800100" marR="0" rtl="0" algn="l">
              <a:lnSpc>
                <a:spcPct val="90000"/>
              </a:lnSpc>
              <a:spcBef>
                <a:spcPts val="500"/>
              </a:spcBef>
              <a:spcAft>
                <a:spcPts val="0"/>
              </a:spcAft>
              <a:buClr>
                <a:srgbClr val="000000"/>
              </a:buClr>
              <a:buSzPts val="1400"/>
              <a:buFont typeface="Arial"/>
              <a:buAutoNum type="arabicPeriod"/>
            </a:pPr>
            <a:r>
              <a:rPr b="0" i="0" lang="en-GB" sz="1400" u="none" cap="none" strike="noStrike">
                <a:solidFill>
                  <a:srgbClr val="000000"/>
                </a:solidFill>
                <a:latin typeface="Arial"/>
                <a:ea typeface="Arial"/>
                <a:cs typeface="Arial"/>
                <a:sym typeface="Arial"/>
              </a:rPr>
              <a:t>Fuzzer prepares new input ​using structured mutat</a:t>
            </a:r>
            <a:r>
              <a:rPr lang="en-GB"/>
              <a:t>ion</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697" name="Google Shape;697;p53"/>
          <p:cNvSpPr/>
          <p:nvPr/>
        </p:nvSpPr>
        <p:spPr>
          <a:xfrm flipH="1" rot="5400000">
            <a:off x="6128150" y="1979750"/>
            <a:ext cx="1105200" cy="1870200"/>
          </a:xfrm>
          <a:prstGeom prst="uturnArrow">
            <a:avLst>
              <a:gd fmla="val 4675" name="adj1"/>
              <a:gd fmla="val 5542" name="adj2"/>
              <a:gd fmla="val 14457" name="adj3"/>
              <a:gd fmla="val 22248" name="adj4"/>
              <a:gd fmla="val 65208" name="adj5"/>
            </a:avLst>
          </a:prstGeom>
          <a:solidFill>
            <a:srgbClr val="77777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8" name="Google Shape;698;p53"/>
          <p:cNvSpPr txBox="1"/>
          <p:nvPr/>
        </p:nvSpPr>
        <p:spPr>
          <a:xfrm>
            <a:off x="7615850" y="2574050"/>
            <a:ext cx="1047900" cy="57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500"/>
              </a:spcBef>
              <a:spcAft>
                <a:spcPts val="0"/>
              </a:spcAft>
              <a:buNone/>
            </a:pPr>
            <a:r>
              <a:rPr lang="en-GB">
                <a:solidFill>
                  <a:schemeClr val="dk1"/>
                </a:solidFill>
              </a:rPr>
              <a:t>r</a:t>
            </a:r>
            <a:r>
              <a:rPr lang="en-GB">
                <a:solidFill>
                  <a:schemeClr val="dk1"/>
                </a:solidFill>
              </a:rPr>
              <a:t>estore</a:t>
            </a:r>
            <a:br>
              <a:rPr lang="en-GB">
                <a:solidFill>
                  <a:schemeClr val="dk1"/>
                </a:solidFill>
              </a:rPr>
            </a:br>
            <a:r>
              <a:rPr lang="en-GB">
                <a:solidFill>
                  <a:schemeClr val="dk1"/>
                </a:solidFill>
              </a:rPr>
              <a:t>snapshot</a:t>
            </a:r>
            <a:endParaRPr/>
          </a:p>
        </p:txBody>
      </p:sp>
      <p:sp>
        <p:nvSpPr>
          <p:cNvPr id="699" name="Google Shape;699;p53"/>
          <p:cNvSpPr txBox="1"/>
          <p:nvPr/>
        </p:nvSpPr>
        <p:spPr>
          <a:xfrm>
            <a:off x="6125301" y="3610625"/>
            <a:ext cx="2287500" cy="1284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GB" sz="1100">
                <a:solidFill>
                  <a:schemeClr val="dk1"/>
                </a:solidFill>
              </a:rPr>
              <a:t>Test harness u</a:t>
            </a:r>
            <a:r>
              <a:rPr b="1" i="0" lang="en-GB" sz="1100" u="none" cap="none" strike="noStrike">
                <a:solidFill>
                  <a:schemeClr val="dk1"/>
                </a:solidFill>
                <a:latin typeface="Arial"/>
                <a:ea typeface="Arial"/>
                <a:cs typeface="Arial"/>
                <a:sym typeface="Arial"/>
              </a:rPr>
              <a:t>ses</a:t>
            </a:r>
            <a:r>
              <a:rPr b="0" i="0" lang="en-GB"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Domain-based testing</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HW/SW interface testing</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Internal interface testing</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Fault injection</a:t>
            </a:r>
            <a:endParaRPr b="0" i="0" sz="1500" u="none" cap="none" strike="noStrike">
              <a:solidFill>
                <a:srgbClr val="434343"/>
              </a:solidFill>
              <a:latin typeface="Arial"/>
              <a:ea typeface="Arial"/>
              <a:cs typeface="Arial"/>
              <a:sym typeface="Arial"/>
            </a:endParaRPr>
          </a:p>
        </p:txBody>
      </p:sp>
      <p:cxnSp>
        <p:nvCxnSpPr>
          <p:cNvPr id="700" name="Google Shape;700;p53"/>
          <p:cNvCxnSpPr/>
          <p:nvPr/>
        </p:nvCxnSpPr>
        <p:spPr>
          <a:xfrm>
            <a:off x="4534225" y="2674875"/>
            <a:ext cx="1612500" cy="1114500"/>
          </a:xfrm>
          <a:prstGeom prst="bentConnector3">
            <a:avLst>
              <a:gd fmla="val 91115" name="adj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54"/>
          <p:cNvSpPr txBox="1"/>
          <p:nvPr/>
        </p:nvSpPr>
        <p:spPr>
          <a:xfrm>
            <a:off x="311760" y="444960"/>
            <a:ext cx="8520000" cy="5724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rgbClr val="000000"/>
                </a:solidFill>
                <a:latin typeface="Arial"/>
                <a:ea typeface="Arial"/>
                <a:cs typeface="Arial"/>
                <a:sym typeface="Arial"/>
              </a:rPr>
              <a:t>Structured fuzzing​</a:t>
            </a:r>
            <a:endParaRPr b="0" i="0" sz="2800" u="none" cap="none" strike="noStrike">
              <a:solidFill>
                <a:srgbClr val="000000"/>
              </a:solidFill>
              <a:latin typeface="Arial"/>
              <a:ea typeface="Arial"/>
              <a:cs typeface="Arial"/>
              <a:sym typeface="Arial"/>
            </a:endParaRPr>
          </a:p>
        </p:txBody>
      </p:sp>
      <p:sp>
        <p:nvSpPr>
          <p:cNvPr id="706" name="Google Shape;706;p54"/>
          <p:cNvSpPr txBox="1"/>
          <p:nvPr/>
        </p:nvSpPr>
        <p:spPr>
          <a:xfrm>
            <a:off x="311760" y="1152360"/>
            <a:ext cx="8520000" cy="3416100"/>
          </a:xfrm>
          <a:prstGeom prst="rect">
            <a:avLst/>
          </a:prstGeom>
          <a:noFill/>
          <a:ln>
            <a:noFill/>
          </a:ln>
        </p:spPr>
        <p:txBody>
          <a:bodyPr anchorCtr="0" anchor="t" bIns="91425" lIns="91425" spcFirstLastPara="1" rIns="91425" wrap="square" tIns="91425">
            <a:normAutofit/>
          </a:bodyPr>
          <a:lstStyle/>
          <a:p>
            <a:pPr indent="-228600" lvl="0" marL="228600" marR="0" rtl="0" algn="l">
              <a:lnSpc>
                <a:spcPct val="90000"/>
              </a:lnSpc>
              <a:spcBef>
                <a:spcPts val="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The simplest type of input is homogenous byte buffer without internal structure. We hope that fuzzer will determine structure by itself. Works surprisingly well (we even found some crashes using this technique)​</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Structured fuzzing: fuzzer is aware of internal structure of a request, which allows it to submit more valid requests and mutate them in a meaningful way:​</a:t>
            </a:r>
            <a:endParaRPr b="0" i="0" sz="1800" u="none" cap="none" strike="noStrike">
              <a:solidFill>
                <a:srgbClr val="000000"/>
              </a:solidFill>
              <a:latin typeface="Arial"/>
              <a:ea typeface="Arial"/>
              <a:cs typeface="Arial"/>
              <a:sym typeface="Arial"/>
            </a:endParaRPr>
          </a:p>
        </p:txBody>
      </p:sp>
      <p:sp>
        <p:nvSpPr>
          <p:cNvPr id="707" name="Google Shape;707;p54"/>
          <p:cNvSpPr txBox="1"/>
          <p:nvPr/>
        </p:nvSpPr>
        <p:spPr>
          <a:xfrm>
            <a:off x="5131652" y="2867586"/>
            <a:ext cx="2555100" cy="89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GB" sz="1300" u="none" cap="none" strike="noStrike">
                <a:solidFill>
                  <a:srgbClr val="000000"/>
                </a:solidFill>
                <a:latin typeface="Arial"/>
                <a:ea typeface="Arial"/>
                <a:cs typeface="Arial"/>
                <a:sym typeface="Arial"/>
              </a:rPr>
              <a:t>For example, fuzzer can target specifically "remote_dom" field and use special values like DOMID_SELF​</a:t>
            </a:r>
            <a:endParaRPr b="0" i="0" sz="1300" u="none" cap="none" strike="noStrike">
              <a:solidFill>
                <a:srgbClr val="000000"/>
              </a:solidFill>
              <a:latin typeface="Arial"/>
              <a:ea typeface="Arial"/>
              <a:cs typeface="Arial"/>
              <a:sym typeface="Arial"/>
            </a:endParaRPr>
          </a:p>
        </p:txBody>
      </p:sp>
      <p:sp>
        <p:nvSpPr>
          <p:cNvPr id="708" name="Google Shape;708;p54"/>
          <p:cNvSpPr txBox="1"/>
          <p:nvPr/>
        </p:nvSpPr>
        <p:spPr>
          <a:xfrm>
            <a:off x="1118452" y="2821589"/>
            <a:ext cx="2611200" cy="1146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struct evtchn_bind_interdomain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    /* IN parameters.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    domid_t remote_dom;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    evtchn_port_t remote_port;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    /* OUT parameters.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    evtchn_port_t local_port;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cxnSp>
        <p:nvCxnSpPr>
          <p:cNvPr id="709" name="Google Shape;709;p54"/>
          <p:cNvCxnSpPr/>
          <p:nvPr/>
        </p:nvCxnSpPr>
        <p:spPr>
          <a:xfrm rot="10800000">
            <a:off x="2865889" y="3250511"/>
            <a:ext cx="2066400" cy="0"/>
          </a:xfrm>
          <a:prstGeom prst="straightConnector1">
            <a:avLst/>
          </a:prstGeom>
          <a:noFill/>
          <a:ln cap="flat" cmpd="sng" w="9525">
            <a:solidFill>
              <a:srgbClr val="000000"/>
            </a:solidFill>
            <a:prstDash val="solid"/>
            <a:round/>
            <a:headEnd len="sm" w="sm" type="none"/>
            <a:tailEnd len="med" w="med" type="triangle"/>
          </a:ln>
        </p:spPr>
      </p:cxnSp>
      <p:sp>
        <p:nvSpPr>
          <p:cNvPr id="710" name="Google Shape;710;p54"/>
          <p:cNvSpPr/>
          <p:nvPr/>
        </p:nvSpPr>
        <p:spPr>
          <a:xfrm>
            <a:off x="5034145" y="2922763"/>
            <a:ext cx="45600" cy="832200"/>
          </a:xfrm>
          <a:prstGeom prst="leftBracket">
            <a:avLst>
              <a:gd fmla="val 0" name="adj"/>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55"/>
          <p:cNvSpPr txBox="1"/>
          <p:nvPr/>
        </p:nvSpPr>
        <p:spPr>
          <a:xfrm>
            <a:off x="311760" y="444960"/>
            <a:ext cx="8520000" cy="5724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rgbClr val="000000"/>
                </a:solidFill>
                <a:latin typeface="Arial"/>
                <a:ea typeface="Arial"/>
                <a:cs typeface="Arial"/>
                <a:sym typeface="Arial"/>
              </a:rPr>
              <a:t>Coverage​</a:t>
            </a:r>
            <a:endParaRPr b="0" i="0" sz="2800" u="none" cap="none" strike="noStrike">
              <a:solidFill>
                <a:srgbClr val="000000"/>
              </a:solidFill>
              <a:latin typeface="Arial"/>
              <a:ea typeface="Arial"/>
              <a:cs typeface="Arial"/>
              <a:sym typeface="Arial"/>
            </a:endParaRPr>
          </a:p>
        </p:txBody>
      </p:sp>
      <p:sp>
        <p:nvSpPr>
          <p:cNvPr id="716" name="Google Shape;716;p55"/>
          <p:cNvSpPr txBox="1"/>
          <p:nvPr/>
        </p:nvSpPr>
        <p:spPr>
          <a:xfrm>
            <a:off x="311760" y="1152360"/>
            <a:ext cx="8520000" cy="3416100"/>
          </a:xfrm>
          <a:prstGeom prst="rect">
            <a:avLst/>
          </a:prstGeom>
          <a:noFill/>
          <a:ln>
            <a:noFill/>
          </a:ln>
        </p:spPr>
        <p:txBody>
          <a:bodyPr anchorCtr="0" anchor="t" bIns="91425" lIns="91425" spcFirstLastPara="1" rIns="91425" wrap="square" tIns="91425">
            <a:normAutofit/>
          </a:bodyPr>
          <a:lstStyle/>
          <a:p>
            <a:pPr indent="-228600" lvl="0" marL="228600" marR="0" rtl="0" algn="l">
              <a:lnSpc>
                <a:spcPct val="90000"/>
              </a:lnSpc>
              <a:spcBef>
                <a:spcPts val="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LibAFL can collect coverage data on machine instruction level using QEMUs own JIT translator (TCG). ​</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But we use Xen's own coverage collection mechanism "xencov", both as fuzzer feedback and as metrics to evaluate fuzzing session.​</a:t>
            </a:r>
            <a:endParaRPr b="0" i="0" sz="1400" u="none" cap="none" strike="noStrike">
              <a:solidFill>
                <a:srgbClr val="000000"/>
              </a:solidFill>
              <a:latin typeface="Arial"/>
              <a:ea typeface="Arial"/>
              <a:cs typeface="Arial"/>
              <a:sym typeface="Arial"/>
            </a:endParaRPr>
          </a:p>
          <a:p>
            <a:pPr indent="-114300" lvl="0" marL="228600" marR="0" rtl="0" algn="l">
              <a:lnSpc>
                <a:spcPct val="90000"/>
              </a:lnSpc>
              <a:spcBef>
                <a:spcPts val="100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17" name="Google Shape;717;p55" title="libafl-qemu-xen.png"/>
          <p:cNvPicPr preferRelativeResize="0"/>
          <p:nvPr/>
        </p:nvPicPr>
        <p:blipFill rotWithShape="1">
          <a:blip r:embed="rId3">
            <a:alphaModFix/>
          </a:blip>
          <a:srcRect b="0" l="0" r="0" t="0"/>
          <a:stretch/>
        </p:blipFill>
        <p:spPr>
          <a:xfrm>
            <a:off x="2052075" y="2512625"/>
            <a:ext cx="4311575" cy="20747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56"/>
          <p:cNvSpPr txBox="1"/>
          <p:nvPr/>
        </p:nvSpPr>
        <p:spPr>
          <a:xfrm>
            <a:off x="311760" y="444960"/>
            <a:ext cx="8520000" cy="5724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rgbClr val="000000"/>
                </a:solidFill>
                <a:latin typeface="Arial"/>
                <a:ea typeface="Arial"/>
                <a:cs typeface="Arial"/>
                <a:sym typeface="Arial"/>
              </a:rPr>
              <a:t>External MC/DC collection workflow</a:t>
            </a:r>
            <a:endParaRPr b="0" i="0" sz="1400" u="none" cap="none" strike="noStrike">
              <a:solidFill>
                <a:srgbClr val="000000"/>
              </a:solidFill>
              <a:latin typeface="Arial"/>
              <a:ea typeface="Arial"/>
              <a:cs typeface="Arial"/>
              <a:sym typeface="Arial"/>
            </a:endParaRPr>
          </a:p>
        </p:txBody>
      </p:sp>
      <p:sp>
        <p:nvSpPr>
          <p:cNvPr id="723" name="Google Shape;723;p56"/>
          <p:cNvSpPr txBox="1"/>
          <p:nvPr/>
        </p:nvSpPr>
        <p:spPr>
          <a:xfrm>
            <a:off x="311760" y="1152360"/>
            <a:ext cx="8520000" cy="3416100"/>
          </a:xfrm>
          <a:prstGeom prst="rect">
            <a:avLst/>
          </a:prstGeom>
          <a:noFill/>
          <a:ln>
            <a:noFill/>
          </a:ln>
        </p:spPr>
        <p:txBody>
          <a:bodyPr anchorCtr="0" anchor="t" bIns="91425" lIns="91425" spcFirstLastPara="1" rIns="91425" wrap="square" tIns="91425">
            <a:normAutofit lnSpcReduction="10000"/>
          </a:bodyPr>
          <a:lstStyle/>
          <a:p>
            <a:pPr indent="-228600" lvl="0" marL="228600" marR="0" rtl="0" algn="l">
              <a:lnSpc>
                <a:spcPct val="90000"/>
              </a:lnSpc>
              <a:spcBef>
                <a:spcPts val="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Analyze AST to find decisions and conditions, collect expression structure, variable names, code locations</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Combine this data with DWARF information to identify binary code ranges that correspond to boolean expressions</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Disassemble binary code and match it to structure of boolean expressions of interest </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Use data from the previous step to generate list of PC locations (and corresponding auxiliary data) for QEMU plugin</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QEMU plugin traces code execution, uses auxiliary data to determine result of each condition and provides tracing output</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Separate tool analyzes trace to provide MC/DC report</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57"/>
          <p:cNvSpPr txBox="1"/>
          <p:nvPr/>
        </p:nvSpPr>
        <p:spPr>
          <a:xfrm>
            <a:off x="629841" y="273844"/>
            <a:ext cx="7886700" cy="9942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rgbClr val="000000"/>
                </a:solidFill>
                <a:latin typeface="Arial"/>
                <a:ea typeface="Arial"/>
                <a:cs typeface="Arial"/>
                <a:sym typeface="Arial"/>
              </a:rPr>
              <a:t>Implementation nuances</a:t>
            </a:r>
            <a:endParaRPr b="0" i="0" sz="1400" u="none" cap="none" strike="noStrike">
              <a:solidFill>
                <a:srgbClr val="000000"/>
              </a:solidFill>
              <a:latin typeface="Arial"/>
              <a:ea typeface="Arial"/>
              <a:cs typeface="Arial"/>
              <a:sym typeface="Arial"/>
            </a:endParaRPr>
          </a:p>
        </p:txBody>
      </p:sp>
      <p:sp>
        <p:nvSpPr>
          <p:cNvPr id="729" name="Google Shape;729;p57"/>
          <p:cNvSpPr txBox="1"/>
          <p:nvPr/>
        </p:nvSpPr>
        <p:spPr>
          <a:xfrm>
            <a:off x="629842" y="1095179"/>
            <a:ext cx="3868200" cy="618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rgbClr val="000000"/>
                </a:solidFill>
                <a:latin typeface="Arial"/>
                <a:ea typeface="Arial"/>
                <a:cs typeface="Arial"/>
                <a:sym typeface="Arial"/>
              </a:rPr>
              <a:t>Caveats</a:t>
            </a:r>
            <a:endParaRPr b="1" i="0" sz="1800" u="none" cap="none" strike="noStrike">
              <a:solidFill>
                <a:srgbClr val="000000"/>
              </a:solidFill>
              <a:latin typeface="Arial"/>
              <a:ea typeface="Arial"/>
              <a:cs typeface="Arial"/>
              <a:sym typeface="Arial"/>
            </a:endParaRPr>
          </a:p>
        </p:txBody>
      </p:sp>
      <p:sp>
        <p:nvSpPr>
          <p:cNvPr id="730" name="Google Shape;730;p57"/>
          <p:cNvSpPr txBox="1"/>
          <p:nvPr/>
        </p:nvSpPr>
        <p:spPr>
          <a:xfrm>
            <a:off x="629842" y="1713113"/>
            <a:ext cx="3868200" cy="2763300"/>
          </a:xfrm>
          <a:prstGeom prst="rect">
            <a:avLst/>
          </a:prstGeom>
          <a:noFill/>
          <a:ln>
            <a:noFill/>
          </a:ln>
        </p:spPr>
        <p:txBody>
          <a:bodyPr anchorCtr="0" anchor="t" bIns="91425" lIns="91425" spcFirstLastPara="1" rIns="91425" wrap="square" tIns="91425">
            <a:normAutofit/>
          </a:bodyPr>
          <a:lstStyle/>
          <a:p>
            <a:pPr indent="-171450" lvl="0" marL="171450" marR="0" rtl="0" algn="l">
              <a:lnSpc>
                <a:spcPct val="90000"/>
              </a:lnSpc>
              <a:spcBef>
                <a:spcPts val="0"/>
              </a:spcBef>
              <a:spcAft>
                <a:spcPts val="0"/>
              </a:spcAft>
              <a:buClr>
                <a:srgbClr val="000000"/>
              </a:buClr>
              <a:buSzPts val="1600"/>
              <a:buFont typeface="Arial"/>
              <a:buChar char="•"/>
            </a:pPr>
            <a:r>
              <a:rPr b="0" i="0" lang="en-GB" sz="1600" u="none" cap="none" strike="noStrike">
                <a:solidFill>
                  <a:srgbClr val="000000"/>
                </a:solidFill>
                <a:latin typeface="Arial"/>
                <a:ea typeface="Arial"/>
                <a:cs typeface="Arial"/>
                <a:sym typeface="Arial"/>
              </a:rPr>
              <a:t>Requires binary to be built without any optimizations (-O0)</a:t>
            </a:r>
            <a:endParaRPr b="0" i="0" sz="1400" u="none" cap="none" strike="noStrike">
              <a:solidFill>
                <a:srgbClr val="000000"/>
              </a:solidFill>
              <a:latin typeface="Arial"/>
              <a:ea typeface="Arial"/>
              <a:cs typeface="Arial"/>
              <a:sym typeface="Arial"/>
            </a:endParaRPr>
          </a:p>
          <a:p>
            <a:pPr indent="-171450" lvl="0" marL="171450" marR="0" rtl="0" algn="l">
              <a:lnSpc>
                <a:spcPct val="90000"/>
              </a:lnSpc>
              <a:spcBef>
                <a:spcPts val="750"/>
              </a:spcBef>
              <a:spcAft>
                <a:spcPts val="0"/>
              </a:spcAft>
              <a:buClr>
                <a:srgbClr val="000000"/>
              </a:buClr>
              <a:buSzPts val="1600"/>
              <a:buFont typeface="Arial"/>
              <a:buChar char="•"/>
            </a:pPr>
            <a:r>
              <a:rPr b="0" i="0" lang="en-GB" sz="1600" u="none" cap="none" strike="noStrike">
                <a:solidFill>
                  <a:srgbClr val="000000"/>
                </a:solidFill>
                <a:latin typeface="Arial"/>
                <a:ea typeface="Arial"/>
                <a:cs typeface="Arial"/>
                <a:sym typeface="Arial"/>
              </a:rPr>
              <a:t>Will depend on compiler (we are focusing on Arm Compiler for Embedded, which is based on clang 22.1)</a:t>
            </a:r>
            <a:endParaRPr b="0" i="0" sz="1400" u="none" cap="none" strike="noStrike">
              <a:solidFill>
                <a:srgbClr val="000000"/>
              </a:solidFill>
              <a:latin typeface="Arial"/>
              <a:ea typeface="Arial"/>
              <a:cs typeface="Arial"/>
              <a:sym typeface="Arial"/>
            </a:endParaRPr>
          </a:p>
          <a:p>
            <a:pPr indent="-171450" lvl="0" marL="171450" marR="0" rtl="0" algn="l">
              <a:lnSpc>
                <a:spcPct val="90000"/>
              </a:lnSpc>
              <a:spcBef>
                <a:spcPts val="750"/>
              </a:spcBef>
              <a:spcAft>
                <a:spcPts val="0"/>
              </a:spcAft>
              <a:buClr>
                <a:srgbClr val="000000"/>
              </a:buClr>
              <a:buSzPts val="1600"/>
              <a:buFont typeface="Arial"/>
              <a:buChar char="•"/>
            </a:pPr>
            <a:r>
              <a:rPr b="0" i="0" lang="en-GB" sz="1600" u="none" cap="none" strike="noStrike">
                <a:solidFill>
                  <a:srgbClr val="000000"/>
                </a:solidFill>
                <a:latin typeface="Arial"/>
                <a:ea typeface="Arial"/>
                <a:cs typeface="Arial"/>
                <a:sym typeface="Arial"/>
              </a:rPr>
              <a:t>Cannot easily handle complex macros (TBH, GCC's own analyzer struggles with this as well)</a:t>
            </a:r>
            <a:endParaRPr b="0" i="0" sz="1400" u="none" cap="none" strike="noStrike">
              <a:solidFill>
                <a:srgbClr val="000000"/>
              </a:solidFill>
              <a:latin typeface="Arial"/>
              <a:ea typeface="Arial"/>
              <a:cs typeface="Arial"/>
              <a:sym typeface="Arial"/>
            </a:endParaRPr>
          </a:p>
          <a:p>
            <a:pPr indent="-69850" lvl="0" marL="171450" marR="0" rtl="0" algn="l">
              <a:lnSpc>
                <a:spcPct val="90000"/>
              </a:lnSpc>
              <a:spcBef>
                <a:spcPts val="75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31" name="Google Shape;731;p57"/>
          <p:cNvSpPr txBox="1"/>
          <p:nvPr/>
        </p:nvSpPr>
        <p:spPr>
          <a:xfrm>
            <a:off x="4629150" y="1095179"/>
            <a:ext cx="3887400" cy="6180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rgbClr val="000000"/>
                </a:solidFill>
                <a:latin typeface="Arial"/>
                <a:ea typeface="Arial"/>
                <a:cs typeface="Arial"/>
                <a:sym typeface="Arial"/>
              </a:rPr>
              <a:t>Pros</a:t>
            </a:r>
            <a:endParaRPr b="1" i="0" sz="1800" u="none" cap="none" strike="noStrike">
              <a:solidFill>
                <a:srgbClr val="000000"/>
              </a:solidFill>
              <a:latin typeface="Arial"/>
              <a:ea typeface="Arial"/>
              <a:cs typeface="Arial"/>
              <a:sym typeface="Arial"/>
            </a:endParaRPr>
          </a:p>
        </p:txBody>
      </p:sp>
      <p:sp>
        <p:nvSpPr>
          <p:cNvPr id="732" name="Google Shape;732;p57"/>
          <p:cNvSpPr txBox="1"/>
          <p:nvPr/>
        </p:nvSpPr>
        <p:spPr>
          <a:xfrm>
            <a:off x="4629150" y="1713113"/>
            <a:ext cx="3887400" cy="27633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000000"/>
              </a:buClr>
              <a:buSzPts val="1600"/>
              <a:buFont typeface="Arial"/>
              <a:buChar char="•"/>
            </a:pPr>
            <a:r>
              <a:rPr b="0" i="0" lang="en-GB" sz="1600" u="none" cap="none" strike="noStrike">
                <a:solidFill>
                  <a:srgbClr val="000000"/>
                </a:solidFill>
                <a:latin typeface="Arial"/>
                <a:ea typeface="Arial"/>
                <a:cs typeface="Arial"/>
                <a:sym typeface="Arial"/>
              </a:rPr>
              <a:t>Does not require code modification (except enabling compilation with -O0)</a:t>
            </a:r>
            <a:endParaRPr b="0" i="0" sz="1400" u="none" cap="none" strike="noStrike">
              <a:solidFill>
                <a:srgbClr val="000000"/>
              </a:solidFill>
              <a:latin typeface="Arial"/>
              <a:ea typeface="Arial"/>
              <a:cs typeface="Arial"/>
              <a:sym typeface="Arial"/>
            </a:endParaRPr>
          </a:p>
          <a:p>
            <a:pPr indent="-171450" lvl="0" marL="171450" marR="0" rtl="0" algn="l">
              <a:lnSpc>
                <a:spcPct val="90000"/>
              </a:lnSpc>
              <a:spcBef>
                <a:spcPts val="750"/>
              </a:spcBef>
              <a:spcAft>
                <a:spcPts val="0"/>
              </a:spcAft>
              <a:buClr>
                <a:srgbClr val="000000"/>
              </a:buClr>
              <a:buSzPts val="1600"/>
              <a:buFont typeface="Arial"/>
              <a:buChar char="•"/>
            </a:pPr>
            <a:r>
              <a:rPr b="0" i="0" lang="en-GB" sz="1600" u="none" cap="none" strike="noStrike">
                <a:solidFill>
                  <a:srgbClr val="000000"/>
                </a:solidFill>
                <a:latin typeface="Arial"/>
                <a:ea typeface="Arial"/>
                <a:cs typeface="Arial"/>
                <a:sym typeface="Arial"/>
              </a:rPr>
              <a:t>Should provide better results than LLVM's own MC/DC analyzer</a:t>
            </a:r>
            <a:endParaRPr b="0" i="0" sz="1400" u="none" cap="none" strike="noStrike">
              <a:solidFill>
                <a:srgbClr val="000000"/>
              </a:solidFill>
              <a:latin typeface="Arial"/>
              <a:ea typeface="Arial"/>
              <a:cs typeface="Arial"/>
              <a:sym typeface="Arial"/>
            </a:endParaRPr>
          </a:p>
          <a:p>
            <a:pPr indent="-171450" lvl="0" marL="171450" marR="0" rtl="0" algn="l">
              <a:lnSpc>
                <a:spcPct val="90000"/>
              </a:lnSpc>
              <a:spcBef>
                <a:spcPts val="750"/>
              </a:spcBef>
              <a:spcAft>
                <a:spcPts val="0"/>
              </a:spcAft>
              <a:buClr>
                <a:srgbClr val="000000"/>
              </a:buClr>
              <a:buSzPts val="1600"/>
              <a:buFont typeface="Arial"/>
              <a:buChar char="•"/>
            </a:pPr>
            <a:r>
              <a:rPr b="0" i="0" lang="en-GB" sz="1600" u="none" cap="none" strike="noStrike">
                <a:solidFill>
                  <a:srgbClr val="000000"/>
                </a:solidFill>
                <a:latin typeface="Arial"/>
                <a:ea typeface="Arial"/>
                <a:cs typeface="Arial"/>
                <a:sym typeface="Arial"/>
              </a:rPr>
              <a:t>Execution is traced externally: Software Under Test can't inadvertently alter counters due to subtle defects</a:t>
            </a:r>
            <a:endParaRPr b="0" i="0" sz="1400" u="none" cap="none" strike="noStrike">
              <a:solidFill>
                <a:srgbClr val="000000"/>
              </a:solidFill>
              <a:latin typeface="Arial"/>
              <a:ea typeface="Arial"/>
              <a:cs typeface="Arial"/>
              <a:sym typeface="Arial"/>
            </a:endParaRPr>
          </a:p>
          <a:p>
            <a:pPr indent="-171450" lvl="0" marL="171450" marR="0" rtl="0" algn="l">
              <a:lnSpc>
                <a:spcPct val="90000"/>
              </a:lnSpc>
              <a:spcBef>
                <a:spcPts val="750"/>
              </a:spcBef>
              <a:spcAft>
                <a:spcPts val="0"/>
              </a:spcAft>
              <a:buClr>
                <a:srgbClr val="000000"/>
              </a:buClr>
              <a:buSzPts val="1600"/>
              <a:buFont typeface="Arial"/>
              <a:buChar char="•"/>
            </a:pPr>
            <a:r>
              <a:rPr b="0" i="0" lang="en-GB" sz="1600" u="none" cap="none" strike="noStrike">
                <a:solidFill>
                  <a:srgbClr val="000000"/>
                </a:solidFill>
                <a:latin typeface="Arial"/>
                <a:ea typeface="Arial"/>
                <a:cs typeface="Arial"/>
                <a:sym typeface="Arial"/>
              </a:rPr>
              <a:t>Execution is traced externally: tracing data will be present even if SUT crashes</a:t>
            </a:r>
            <a:endParaRPr b="0" i="0" sz="1400" u="none" cap="none" strike="noStrike">
              <a:solidFill>
                <a:srgbClr val="000000"/>
              </a:solidFill>
              <a:latin typeface="Arial"/>
              <a:ea typeface="Arial"/>
              <a:cs typeface="Arial"/>
              <a:sym typeface="Arial"/>
            </a:endParaRPr>
          </a:p>
          <a:p>
            <a:pPr indent="-69850" lvl="0" marL="171450" marR="0" rtl="0" algn="l">
              <a:lnSpc>
                <a:spcPct val="90000"/>
              </a:lnSpc>
              <a:spcBef>
                <a:spcPts val="75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58"/>
          <p:cNvSpPr txBox="1"/>
          <p:nvPr/>
        </p:nvSpPr>
        <p:spPr>
          <a:xfrm>
            <a:off x="311760" y="444960"/>
            <a:ext cx="8520000" cy="5724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rgbClr val="000000"/>
                </a:solidFill>
                <a:latin typeface="Arial"/>
                <a:ea typeface="Arial"/>
                <a:cs typeface="Arial"/>
                <a:sym typeface="Arial"/>
              </a:rPr>
              <a:t>Binary code matching</a:t>
            </a:r>
            <a:endParaRPr b="0" i="0" sz="2800" u="none" cap="none" strike="noStrike">
              <a:solidFill>
                <a:srgbClr val="000000"/>
              </a:solidFill>
              <a:latin typeface="Arial"/>
              <a:ea typeface="Arial"/>
              <a:cs typeface="Arial"/>
              <a:sym typeface="Arial"/>
            </a:endParaRPr>
          </a:p>
        </p:txBody>
      </p:sp>
      <p:sp>
        <p:nvSpPr>
          <p:cNvPr id="738" name="Google Shape;738;p58"/>
          <p:cNvSpPr txBox="1"/>
          <p:nvPr/>
        </p:nvSpPr>
        <p:spPr>
          <a:xfrm>
            <a:off x="311760" y="1152361"/>
            <a:ext cx="8520000" cy="3416100"/>
          </a:xfrm>
          <a:prstGeom prst="rect">
            <a:avLst/>
          </a:prstGeom>
          <a:noFill/>
          <a:ln>
            <a:noFill/>
          </a:ln>
        </p:spPr>
        <p:txBody>
          <a:bodyPr anchorCtr="0" anchor="t" bIns="91425" lIns="91425" spcFirstLastPara="1" rIns="91425" wrap="square" tIns="91425">
            <a:normAutofit/>
          </a:bodyPr>
          <a:lstStyle/>
          <a:p>
            <a:pPr indent="-228600" lvl="0" marL="228600" marR="0" rtl="0" algn="l">
              <a:lnSpc>
                <a:spcPct val="90000"/>
              </a:lnSpc>
              <a:spcBef>
                <a:spcPts val="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Thanks to -O0, clang generates very predictable binary code structure:</a:t>
            </a:r>
            <a:endParaRPr b="0" i="0" sz="1400" u="none" cap="none" strike="noStrike">
              <a:solidFill>
                <a:srgbClr val="000000"/>
              </a:solidFill>
              <a:latin typeface="Arial"/>
              <a:ea typeface="Arial"/>
              <a:cs typeface="Arial"/>
              <a:sym typeface="Arial"/>
            </a:endParaRPr>
          </a:p>
          <a:p>
            <a:pPr indent="-114300" lvl="0" marL="228600" marR="0" rtl="0" algn="l">
              <a:lnSpc>
                <a:spcPct val="90000"/>
              </a:lnSpc>
              <a:spcBef>
                <a:spcPts val="100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14300" lvl="0" marL="228600" marR="0" rtl="0" algn="l">
              <a:lnSpc>
                <a:spcPct val="90000"/>
              </a:lnSpc>
              <a:spcBef>
                <a:spcPts val="100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14300" lvl="0" marL="228600" marR="0" rtl="0" algn="l">
              <a:lnSpc>
                <a:spcPct val="90000"/>
              </a:lnSpc>
              <a:spcBef>
                <a:spcPts val="100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114300" lvl="0" marL="228600" marR="0" rtl="0" algn="l">
              <a:lnSpc>
                <a:spcPct val="90000"/>
              </a:lnSpc>
              <a:spcBef>
                <a:spcPts val="100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1800"/>
              <a:buFont typeface="Arial"/>
              <a:buChar char="•"/>
            </a:pPr>
            <a:r>
              <a:rPr b="0" i="0" lang="en-GB" sz="1800" u="none" cap="none" strike="noStrike">
                <a:solidFill>
                  <a:srgbClr val="000000"/>
                </a:solidFill>
                <a:latin typeface="Arial"/>
                <a:ea typeface="Arial"/>
                <a:cs typeface="Arial"/>
                <a:sym typeface="Arial"/>
              </a:rPr>
              <a:t>Thanks to DWARF we can match variables (and cross-check code locations)</a:t>
            </a:r>
            <a:endParaRPr b="0" i="0" sz="1400" u="none" cap="none" strike="noStrike">
              <a:solidFill>
                <a:srgbClr val="000000"/>
              </a:solidFill>
              <a:latin typeface="Arial"/>
              <a:ea typeface="Arial"/>
              <a:cs typeface="Arial"/>
              <a:sym typeface="Arial"/>
            </a:endParaRPr>
          </a:p>
          <a:p>
            <a:pPr indent="-114300" lvl="0" marL="228600" marR="0" rtl="0" algn="l">
              <a:lnSpc>
                <a:spcPct val="90000"/>
              </a:lnSpc>
              <a:spcBef>
                <a:spcPts val="100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9" name="Google Shape;739;p58"/>
          <p:cNvSpPr txBox="1"/>
          <p:nvPr/>
        </p:nvSpPr>
        <p:spPr>
          <a:xfrm>
            <a:off x="512651" y="1626479"/>
            <a:ext cx="4316100" cy="1146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ac4:       385ef3a8        ldurb   w8, [x29, #-17]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ac8:       37000148        tbnz    w8, #0, af0 &lt;main+0x38c&gt;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acc:       14000001        b       ad0 &lt;main+0x36c&gt;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ad0:       385ee3a8        ldurb   w8, [x29, #-18]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ad4:       370000e8        tbnz    w8, #0, af0 &lt;main+0x38c&gt;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ad8:       14000001        b       adc &lt;main+0x378&gt;</a:t>
            </a:r>
            <a:endParaRPr b="0" i="0" sz="1400" u="none" cap="none" strike="noStrike">
              <a:solidFill>
                <a:srgbClr val="000000"/>
              </a:solidFill>
              <a:latin typeface="Arial"/>
              <a:ea typeface="Arial"/>
              <a:cs typeface="Arial"/>
              <a:sym typeface="Arial"/>
            </a:endParaRPr>
          </a:p>
        </p:txBody>
      </p:sp>
      <p:sp>
        <p:nvSpPr>
          <p:cNvPr id="740" name="Google Shape;740;p58"/>
          <p:cNvSpPr txBox="1"/>
          <p:nvPr/>
        </p:nvSpPr>
        <p:spPr>
          <a:xfrm>
            <a:off x="5104508" y="1626479"/>
            <a:ext cx="3098700" cy="531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Roboto"/>
                <a:ea typeface="Roboto"/>
                <a:cs typeface="Roboto"/>
                <a:sym typeface="Roboto"/>
              </a:rPr>
              <a:t>Load variable ( 'a' from the previous slide)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Roboto"/>
                <a:ea typeface="Roboto"/>
                <a:cs typeface="Roboto"/>
                <a:sym typeface="Roboto"/>
              </a:rPr>
              <a:t>Perform op + short circuit ( !a &amp;&amp;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Roboto"/>
                <a:ea typeface="Roboto"/>
                <a:cs typeface="Roboto"/>
                <a:sym typeface="Roboto"/>
              </a:rPr>
              <a:t>Go to next sub-expression</a:t>
            </a:r>
            <a:endParaRPr b="0" i="0" sz="1400" u="none" cap="none" strike="noStrike">
              <a:solidFill>
                <a:srgbClr val="000000"/>
              </a:solidFill>
              <a:latin typeface="Arial"/>
              <a:ea typeface="Arial"/>
              <a:cs typeface="Arial"/>
              <a:sym typeface="Arial"/>
            </a:endParaRPr>
          </a:p>
        </p:txBody>
      </p:sp>
      <p:sp>
        <p:nvSpPr>
          <p:cNvPr id="741" name="Google Shape;741;p58"/>
          <p:cNvSpPr txBox="1"/>
          <p:nvPr/>
        </p:nvSpPr>
        <p:spPr>
          <a:xfrm>
            <a:off x="5104508" y="2242032"/>
            <a:ext cx="3098700" cy="531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Roboto"/>
                <a:ea typeface="Roboto"/>
                <a:cs typeface="Roboto"/>
                <a:sym typeface="Roboto"/>
              </a:rPr>
              <a:t>Load variable ( 'b' from the previous slide example)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Roboto"/>
                <a:ea typeface="Roboto"/>
                <a:cs typeface="Roboto"/>
                <a:sym typeface="Roboto"/>
              </a:rPr>
              <a:t>Perform op + short circuit ( !b &amp;&amp;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Roboto"/>
                <a:ea typeface="Roboto"/>
                <a:cs typeface="Roboto"/>
                <a:sym typeface="Roboto"/>
              </a:rPr>
              <a:t>Go to next sub-expression</a:t>
            </a:r>
            <a:endParaRPr b="0" i="0" sz="1400" u="none" cap="none" strike="noStrike">
              <a:solidFill>
                <a:srgbClr val="000000"/>
              </a:solidFill>
              <a:latin typeface="Arial"/>
              <a:ea typeface="Arial"/>
              <a:cs typeface="Arial"/>
              <a:sym typeface="Arial"/>
            </a:endParaRPr>
          </a:p>
        </p:txBody>
      </p:sp>
      <p:sp>
        <p:nvSpPr>
          <p:cNvPr id="742" name="Google Shape;742;p58"/>
          <p:cNvSpPr txBox="1"/>
          <p:nvPr/>
        </p:nvSpPr>
        <p:spPr>
          <a:xfrm>
            <a:off x="512651" y="3494850"/>
            <a:ext cx="4316100" cy="992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0x000001cc:     DW_TAG_variable</a:t>
            </a:r>
            <a:endParaRPr b="0" i="0" sz="10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                  DW_AT_location        (DW_OP_fbreg -17)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                  DW_AT_name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                  DW_AT_decl_file       ("test2.c")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                  DW_AT_decl_line       (13)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Consolas"/>
                <a:ea typeface="Consolas"/>
                <a:cs typeface="Consolas"/>
                <a:sym typeface="Consolas"/>
              </a:rPr>
              <a:t>                  DW_AT_type    (0x00000228 "_Bool")</a:t>
            </a:r>
            <a:endParaRPr b="0" i="0" sz="1400" u="none" cap="none" strike="noStrike">
              <a:solidFill>
                <a:srgbClr val="000000"/>
              </a:solidFill>
              <a:latin typeface="Arial"/>
              <a:ea typeface="Arial"/>
              <a:cs typeface="Arial"/>
              <a:sym typeface="Arial"/>
            </a:endParaRPr>
          </a:p>
        </p:txBody>
      </p:sp>
      <p:sp>
        <p:nvSpPr>
          <p:cNvPr id="743" name="Google Shape;743;p58"/>
          <p:cNvSpPr txBox="1"/>
          <p:nvPr/>
        </p:nvSpPr>
        <p:spPr>
          <a:xfrm>
            <a:off x="5104508" y="3670029"/>
            <a:ext cx="27717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Roboto"/>
                <a:ea typeface="Roboto"/>
                <a:cs typeface="Roboto"/>
                <a:sym typeface="Roboto"/>
              </a:rPr>
              <a:t>&lt;= matches  [x29, #-17] from disassembly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Roboto"/>
                <a:ea typeface="Roboto"/>
                <a:cs typeface="Roboto"/>
                <a:sym typeface="Roboto"/>
              </a:rPr>
              <a:t>&lt;= variable name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e5c2ad4d7e_0_10"/>
          <p:cNvSpPr txBox="1"/>
          <p:nvPr>
            <p:ph type="title"/>
          </p:nvPr>
        </p:nvSpPr>
        <p:spPr>
          <a:xfrm>
            <a:off x="156717"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Market Requirements</a:t>
            </a:r>
            <a:endParaRPr/>
          </a:p>
        </p:txBody>
      </p:sp>
      <p:sp>
        <p:nvSpPr>
          <p:cNvPr id="753" name="Google Shape;753;g3e5c2ad4d7e_0_10"/>
          <p:cNvSpPr txBox="1"/>
          <p:nvPr/>
        </p:nvSpPr>
        <p:spPr>
          <a:xfrm>
            <a:off x="0" y="631145"/>
            <a:ext cx="8520600" cy="3416400"/>
          </a:xfrm>
          <a:prstGeom prst="rect">
            <a:avLst/>
          </a:prstGeom>
          <a:noFill/>
          <a:ln>
            <a:noFill/>
          </a:ln>
        </p:spPr>
        <p:txBody>
          <a:bodyPr anchorCtr="0" anchor="t" bIns="0" lIns="0" spcFirstLastPara="1" rIns="0" wrap="square" tIns="0">
            <a:noAutofit/>
          </a:bodyPr>
          <a:lstStyle/>
          <a:p>
            <a:pPr indent="-342900" lvl="0" marL="457200" marR="0" rtl="0" algn="l">
              <a:lnSpc>
                <a:spcPct val="114000"/>
              </a:lnSpc>
              <a:spcBef>
                <a:spcPts val="0"/>
              </a:spcBef>
              <a:spcAft>
                <a:spcPts val="0"/>
              </a:spcAft>
              <a:buClr>
                <a:srgbClr val="434343"/>
              </a:buClr>
              <a:buSzPts val="1800"/>
              <a:buFont typeface="Arial"/>
              <a:buChar char="●"/>
            </a:pPr>
            <a:r>
              <a:rPr b="0" i="0" lang="en-GB" sz="1800" u="none" cap="none" strike="noStrike">
                <a:solidFill>
                  <a:srgbClr val="434343"/>
                </a:solidFill>
                <a:latin typeface="Arial"/>
                <a:ea typeface="Arial"/>
                <a:cs typeface="Arial"/>
                <a:sym typeface="Arial"/>
              </a:rPr>
              <a:t>Identify the scope of the safety certification for Xen</a:t>
            </a:r>
            <a:endParaRPr b="0" i="0" sz="1400" u="none" cap="none" strike="noStrike">
              <a:solidFill>
                <a:srgbClr val="000000"/>
              </a:solidFill>
              <a:latin typeface="Arial"/>
              <a:ea typeface="Arial"/>
              <a:cs typeface="Arial"/>
              <a:sym typeface="Arial"/>
            </a:endParaRPr>
          </a:p>
          <a:p>
            <a:pPr indent="-342900" lvl="0" marL="457200" marR="0" rtl="0" algn="l">
              <a:lnSpc>
                <a:spcPct val="114000"/>
              </a:lnSpc>
              <a:spcBef>
                <a:spcPts val="0"/>
              </a:spcBef>
              <a:spcAft>
                <a:spcPts val="0"/>
              </a:spcAft>
              <a:buClr>
                <a:srgbClr val="434343"/>
              </a:buClr>
              <a:buSzPts val="1800"/>
              <a:buFont typeface="Arial"/>
              <a:buChar char="●"/>
            </a:pPr>
            <a:r>
              <a:rPr b="0" i="0" lang="en-GB" sz="1800" u="none" cap="none" strike="noStrike">
                <a:solidFill>
                  <a:srgbClr val="434343"/>
                </a:solidFill>
                <a:latin typeface="Arial"/>
                <a:ea typeface="Arial"/>
                <a:cs typeface="Arial"/>
                <a:sym typeface="Arial"/>
              </a:rPr>
              <a:t>Defines the expectations of Xen for automotive and embedded use cases</a:t>
            </a:r>
            <a:endParaRPr b="0" i="0" sz="1400" u="none" cap="none" strike="noStrike">
              <a:solidFill>
                <a:srgbClr val="000000"/>
              </a:solidFill>
              <a:latin typeface="Arial"/>
              <a:ea typeface="Arial"/>
              <a:cs typeface="Arial"/>
              <a:sym typeface="Arial"/>
            </a:endParaRPr>
          </a:p>
          <a:p>
            <a:pPr indent="-317500" lvl="1" marL="914400" marR="0" rtl="0" algn="l">
              <a:lnSpc>
                <a:spcPct val="114000"/>
              </a:lnSpc>
              <a:spcBef>
                <a:spcPts val="800"/>
              </a:spcBef>
              <a:spcAft>
                <a:spcPts val="0"/>
              </a:spcAft>
              <a:buClr>
                <a:srgbClr val="434343"/>
              </a:buClr>
              <a:buSzPts val="1400"/>
              <a:buFont typeface="Courier New"/>
              <a:buChar char="o"/>
            </a:pPr>
            <a:r>
              <a:rPr b="0" i="0" lang="en-GB" sz="1400" u="none" cap="none" strike="noStrike">
                <a:solidFill>
                  <a:srgbClr val="434343"/>
                </a:solidFill>
                <a:latin typeface="Arial"/>
                <a:ea typeface="Arial"/>
                <a:cs typeface="Arial"/>
                <a:sym typeface="Arial"/>
              </a:rPr>
              <a:t>So, this is mostly of interest to the product marketing or FAE who have expectations from a hypervisor.</a:t>
            </a:r>
            <a:endParaRPr b="0" i="0" sz="1400" u="none" cap="none" strike="noStrike">
              <a:solidFill>
                <a:srgbClr val="000000"/>
              </a:solidFill>
              <a:latin typeface="Arial"/>
              <a:ea typeface="Arial"/>
              <a:cs typeface="Arial"/>
              <a:sym typeface="Arial"/>
            </a:endParaRPr>
          </a:p>
          <a:p>
            <a:pPr indent="-342900" lvl="0" marL="457200" marR="0" rtl="0" algn="l">
              <a:lnSpc>
                <a:spcPct val="114000"/>
              </a:lnSpc>
              <a:spcBef>
                <a:spcPts val="0"/>
              </a:spcBef>
              <a:spcAft>
                <a:spcPts val="0"/>
              </a:spcAft>
              <a:buClr>
                <a:srgbClr val="434343"/>
              </a:buClr>
              <a:buSzPts val="1800"/>
              <a:buFont typeface="Arial"/>
              <a:buChar char="●"/>
            </a:pPr>
            <a:r>
              <a:rPr b="0" i="0" lang="en-GB" sz="1800" u="none" cap="none" strike="noStrike">
                <a:solidFill>
                  <a:srgbClr val="434343"/>
                </a:solidFill>
                <a:latin typeface="Arial"/>
                <a:ea typeface="Arial"/>
                <a:cs typeface="Arial"/>
                <a:sym typeface="Arial"/>
              </a:rPr>
              <a:t>Written with a high-level view of the system</a:t>
            </a:r>
            <a:endParaRPr b="0" i="0" sz="1800" u="none" cap="none" strike="noStrike">
              <a:solidFill>
                <a:srgbClr val="434343"/>
              </a:solidFill>
              <a:latin typeface="Arial"/>
              <a:ea typeface="Arial"/>
              <a:cs typeface="Arial"/>
              <a:sym typeface="Arial"/>
            </a:endParaRPr>
          </a:p>
          <a:p>
            <a:pPr indent="-342900" lvl="0" marL="457200" marR="0" rtl="0" algn="l">
              <a:lnSpc>
                <a:spcPct val="114000"/>
              </a:lnSpc>
              <a:spcBef>
                <a:spcPts val="0"/>
              </a:spcBef>
              <a:spcAft>
                <a:spcPts val="0"/>
              </a:spcAft>
              <a:buClr>
                <a:srgbClr val="434343"/>
              </a:buClr>
              <a:buSzPts val="1800"/>
              <a:buFont typeface="Arial"/>
              <a:buChar char="●"/>
            </a:pPr>
            <a:r>
              <a:rPr b="0" i="0" lang="en-GB" sz="1800" u="none" cap="none" strike="noStrike">
                <a:solidFill>
                  <a:srgbClr val="434343"/>
                </a:solidFill>
                <a:latin typeface="Arial"/>
                <a:ea typeface="Arial"/>
                <a:cs typeface="Arial"/>
                <a:sym typeface="Arial"/>
              </a:rPr>
              <a:t>Example:</a:t>
            </a:r>
            <a:endParaRPr b="0" i="0" sz="1400" u="none" cap="none" strike="noStrike">
              <a:solidFill>
                <a:srgbClr val="000000"/>
              </a:solidFill>
              <a:latin typeface="Arial"/>
              <a:ea typeface="Arial"/>
              <a:cs typeface="Arial"/>
              <a:sym typeface="Arial"/>
            </a:endParaRPr>
          </a:p>
          <a:p>
            <a:pPr indent="-228600" lvl="0" marL="457200" marR="0" rtl="0" algn="l">
              <a:lnSpc>
                <a:spcPct val="114000"/>
              </a:lnSpc>
              <a:spcBef>
                <a:spcPts val="0"/>
              </a:spcBef>
              <a:spcAft>
                <a:spcPts val="0"/>
              </a:spcAft>
              <a:buClr>
                <a:srgbClr val="434343"/>
              </a:buClr>
              <a:buSzPts val="1800"/>
              <a:buFont typeface="Arial"/>
              <a:buNone/>
            </a:pPr>
            <a:r>
              <a:t/>
            </a:r>
            <a:endParaRPr b="0" i="0" sz="1800" u="none" cap="none" strike="noStrike">
              <a:solidFill>
                <a:srgbClr val="434343"/>
              </a:solidFill>
              <a:latin typeface="Arial"/>
              <a:ea typeface="Arial"/>
              <a:cs typeface="Arial"/>
              <a:sym typeface="Arial"/>
            </a:endParaRPr>
          </a:p>
        </p:txBody>
      </p:sp>
      <p:graphicFrame>
        <p:nvGraphicFramePr>
          <p:cNvPr id="754" name="Google Shape;754;g3e5c2ad4d7e_0_10"/>
          <p:cNvGraphicFramePr/>
          <p:nvPr/>
        </p:nvGraphicFramePr>
        <p:xfrm>
          <a:off x="744008" y="2542162"/>
          <a:ext cx="3000000" cy="3000000"/>
        </p:xfrm>
        <a:graphic>
          <a:graphicData uri="http://schemas.openxmlformats.org/drawingml/2006/table">
            <a:tbl>
              <a:tblPr>
                <a:noFill/>
                <a:tableStyleId>{CF888012-E6CA-474D-B1AD-6F53D1D76992}</a:tableStyleId>
              </a:tblPr>
              <a:tblGrid>
                <a:gridCol w="3389525"/>
                <a:gridCol w="4262650"/>
              </a:tblGrid>
              <a:tr h="270925">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Arial"/>
                          <a:ea typeface="Arial"/>
                          <a:cs typeface="Arial"/>
                          <a:sym typeface="Arial"/>
                        </a:rPr>
                        <a:t>Name</a:t>
                      </a:r>
                      <a:endParaRPr sz="1400" u="none" cap="none" strike="noStrike"/>
                    </a:p>
                  </a:txBody>
                  <a:tcPr marT="34300" marB="3430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Arial"/>
                          <a:ea typeface="Arial"/>
                          <a:cs typeface="Arial"/>
                          <a:sym typeface="Arial"/>
                        </a:rPr>
                        <a:t>Description</a:t>
                      </a:r>
                      <a:endParaRPr sz="1400" u="none" cap="none" strike="noStrike"/>
                    </a:p>
                  </a:txBody>
                  <a:tcPr marT="34300" marB="34300" marR="68575" marL="68575"/>
                </a:tc>
              </a:tr>
              <a:tr h="480050">
                <a:tc>
                  <a:txBody>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latin typeface="Arial"/>
                          <a:ea typeface="Arial"/>
                          <a:cs typeface="Arial"/>
                          <a:sym typeface="Arial"/>
                        </a:rPr>
                        <a:t>Static VM definition</a:t>
                      </a:r>
                      <a:endParaRPr sz="1100" u="none" cap="none" strike="noStrike">
                        <a:latin typeface="Arial"/>
                        <a:ea typeface="Arial"/>
                        <a:cs typeface="Arial"/>
                        <a:sym typeface="Arial"/>
                      </a:endParaRPr>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latin typeface="Arial"/>
                          <a:ea typeface="Arial"/>
                          <a:cs typeface="Arial"/>
                          <a:sym typeface="Arial"/>
                        </a:rPr>
                        <a:t>Xen shall specify the resources required to boot and run safe and non-safe VMs.</a:t>
                      </a:r>
                      <a:endParaRPr sz="1100" u="none" cap="none" strike="noStrike">
                        <a:latin typeface="Arial"/>
                        <a:ea typeface="Arial"/>
                        <a:cs typeface="Arial"/>
                        <a:sym typeface="Arial"/>
                      </a:endParaRPr>
                    </a:p>
                  </a:txBody>
                  <a:tcPr marT="34300" marB="34300" marR="68575" marL="68575"/>
                </a:tc>
              </a:tr>
              <a:tr h="278125">
                <a:tc>
                  <a:txBody>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latin typeface="Arial"/>
                          <a:ea typeface="Arial"/>
                          <a:cs typeface="Arial"/>
                          <a:sym typeface="Arial"/>
                        </a:rPr>
                        <a:t>Run Arm64 and AMD-x86 VMs</a:t>
                      </a:r>
                      <a:endParaRPr sz="1100" u="none" cap="none" strike="noStrike">
                        <a:latin typeface="Arial"/>
                        <a:ea typeface="Arial"/>
                        <a:cs typeface="Arial"/>
                        <a:sym typeface="Arial"/>
                      </a:endParaRPr>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latin typeface="Arial"/>
                          <a:ea typeface="Arial"/>
                          <a:cs typeface="Arial"/>
                          <a:sym typeface="Arial"/>
                        </a:rPr>
                        <a:t>Xen shall run Arm64 and AMD x86 VMs.</a:t>
                      </a:r>
                      <a:endParaRPr sz="1100" u="none" cap="none" strike="noStrike">
                        <a:latin typeface="Arial"/>
                        <a:ea typeface="Arial"/>
                        <a:cs typeface="Arial"/>
                        <a:sym typeface="Arial"/>
                      </a:endParaRPr>
                    </a:p>
                  </a:txBody>
                  <a:tcPr marT="34300" marB="34300" marR="68575" marL="68575"/>
                </a:tc>
              </a:tr>
              <a:tr h="891550">
                <a:tc>
                  <a:txBody>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latin typeface="Arial"/>
                          <a:ea typeface="Arial"/>
                          <a:cs typeface="Arial"/>
                          <a:sym typeface="Arial"/>
                        </a:rPr>
                        <a:t>VM device assignment</a:t>
                      </a:r>
                      <a:endParaRPr sz="1100" u="none" cap="none" strike="noStrike">
                        <a:latin typeface="Arial"/>
                        <a:ea typeface="Arial"/>
                        <a:cs typeface="Arial"/>
                        <a:sym typeface="Arial"/>
                      </a:endParaRPr>
                    </a:p>
                  </a:txBody>
                  <a:tcPr marT="34300" marB="34300" marR="68575" marL="68575"/>
                </a:tc>
                <a:tc>
                  <a:txBody>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latin typeface="Arial"/>
                          <a:ea typeface="Arial"/>
                          <a:cs typeface="Arial"/>
                          <a:sym typeface="Arial"/>
                        </a:rPr>
                        <a:t>Xen shall assign devices to each VM. For e.g.: it should be able to assign GPU to VM1, MMC to VM2. Only the VM assigned to a device shall have exclusive access to the device.</a:t>
                      </a:r>
                      <a:endParaRPr sz="1100" u="none" cap="none" strike="noStrike">
                        <a:latin typeface="Arial"/>
                        <a:ea typeface="Arial"/>
                        <a:cs typeface="Arial"/>
                        <a:sym typeface="Arial"/>
                      </a:endParaRPr>
                    </a:p>
                  </a:txBody>
                  <a:tcPr marT="34300" marB="34300" marR="68575" marL="68575"/>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e5c2ad4d7e_0_16"/>
          <p:cNvSpPr txBox="1"/>
          <p:nvPr>
            <p:ph type="title"/>
          </p:nvPr>
        </p:nvSpPr>
        <p:spPr>
          <a:xfrm>
            <a:off x="311700" y="-58671"/>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Product Requirements</a:t>
            </a:r>
            <a:endParaRPr/>
          </a:p>
        </p:txBody>
      </p:sp>
      <p:sp>
        <p:nvSpPr>
          <p:cNvPr id="760" name="Google Shape;760;g3e5c2ad4d7e_0_16"/>
          <p:cNvSpPr txBox="1"/>
          <p:nvPr>
            <p:ph idx="1" type="body"/>
          </p:nvPr>
        </p:nvSpPr>
        <p:spPr>
          <a:xfrm>
            <a:off x="311700" y="514029"/>
            <a:ext cx="8520600" cy="3050100"/>
          </a:xfrm>
          <a:prstGeom prst="rect">
            <a:avLst/>
          </a:prstGeom>
          <a:noFill/>
          <a:ln>
            <a:noFill/>
          </a:ln>
        </p:spPr>
        <p:txBody>
          <a:bodyPr anchorCtr="0" anchor="t" bIns="91425" lIns="91425" spcFirstLastPara="1" rIns="91425" wrap="square" tIns="91425">
            <a:noAutofit/>
          </a:bodyPr>
          <a:lstStyle/>
          <a:p>
            <a:pPr indent="-342900" lvl="0" marL="457200" rtl="0" algn="l">
              <a:lnSpc>
                <a:spcPct val="114000"/>
              </a:lnSpc>
              <a:spcBef>
                <a:spcPts val="0"/>
              </a:spcBef>
              <a:spcAft>
                <a:spcPts val="0"/>
              </a:spcAft>
              <a:buSzPts val="1800"/>
              <a:buChar char="●"/>
            </a:pPr>
            <a:r>
              <a:rPr lang="en-GB" sz="1400"/>
              <a:t>Product Requirements explain how Market Requirements are fulfilled by Xen</a:t>
            </a:r>
            <a:endParaRPr/>
          </a:p>
          <a:p>
            <a:pPr indent="-342900" lvl="0" marL="457200" rtl="0" algn="l">
              <a:lnSpc>
                <a:spcPct val="114000"/>
              </a:lnSpc>
              <a:spcBef>
                <a:spcPts val="0"/>
              </a:spcBef>
              <a:spcAft>
                <a:spcPts val="0"/>
              </a:spcAft>
              <a:buSzPts val="1800"/>
              <a:buChar char="●"/>
            </a:pPr>
            <a:r>
              <a:rPr lang="en-GB" sz="1400"/>
              <a:t>Product Requirements are Xen specific</a:t>
            </a:r>
            <a:endParaRPr/>
          </a:p>
          <a:p>
            <a:pPr indent="-317500" lvl="1" marL="914400" rtl="0" algn="l">
              <a:lnSpc>
                <a:spcPct val="114000"/>
              </a:lnSpc>
              <a:spcBef>
                <a:spcPts val="800"/>
              </a:spcBef>
              <a:spcAft>
                <a:spcPts val="0"/>
              </a:spcAft>
              <a:buSzPts val="1400"/>
              <a:buFont typeface="Courier New"/>
              <a:buChar char="o"/>
            </a:pPr>
            <a:r>
              <a:rPr lang="en-GB"/>
              <a:t>So, this of interest to Xen architects who understand how the requirements are fulfilled by Xen.</a:t>
            </a:r>
            <a:endParaRPr/>
          </a:p>
          <a:p>
            <a:pPr indent="-342900" lvl="0" marL="457200" rtl="0" algn="l">
              <a:lnSpc>
                <a:spcPct val="114000"/>
              </a:lnSpc>
              <a:spcBef>
                <a:spcPts val="0"/>
              </a:spcBef>
              <a:spcAft>
                <a:spcPts val="0"/>
              </a:spcAft>
              <a:buSzPts val="1800"/>
              <a:buChar char="●"/>
            </a:pPr>
            <a:r>
              <a:rPr lang="en-GB" sz="1400"/>
              <a:t>Still written with a high-level view of the system</a:t>
            </a:r>
            <a:endParaRPr sz="1400"/>
          </a:p>
          <a:p>
            <a:pPr indent="-342900" lvl="0" marL="457200" rtl="0" algn="l">
              <a:lnSpc>
                <a:spcPct val="114000"/>
              </a:lnSpc>
              <a:spcBef>
                <a:spcPts val="0"/>
              </a:spcBef>
              <a:spcAft>
                <a:spcPts val="0"/>
              </a:spcAft>
              <a:buSzPts val="1800"/>
              <a:buChar char="●"/>
            </a:pPr>
            <a:r>
              <a:rPr lang="en-GB" sz="1400"/>
              <a:t>Product Requirements can sometimes be linked to more than one Market Requirement</a:t>
            </a:r>
            <a:endParaRPr/>
          </a:p>
          <a:p>
            <a:pPr indent="-228600" lvl="0" marL="457200" rtl="0" algn="l">
              <a:lnSpc>
                <a:spcPct val="114000"/>
              </a:lnSpc>
              <a:spcBef>
                <a:spcPts val="0"/>
              </a:spcBef>
              <a:spcAft>
                <a:spcPts val="0"/>
              </a:spcAft>
              <a:buSzPts val="1800"/>
              <a:buNone/>
            </a:pPr>
            <a:r>
              <a:t/>
            </a:r>
            <a:endParaRPr sz="1400"/>
          </a:p>
        </p:txBody>
      </p:sp>
      <p:grpSp>
        <p:nvGrpSpPr>
          <p:cNvPr id="761" name="Google Shape;761;g3e5c2ad4d7e_0_16"/>
          <p:cNvGrpSpPr/>
          <p:nvPr/>
        </p:nvGrpSpPr>
        <p:grpSpPr>
          <a:xfrm>
            <a:off x="413999" y="2790889"/>
            <a:ext cx="8316025" cy="1467703"/>
            <a:chOff x="573799" y="4263840"/>
            <a:chExt cx="11088034" cy="1956937"/>
          </a:xfrm>
        </p:grpSpPr>
        <p:sp>
          <p:nvSpPr>
            <p:cNvPr id="762" name="Google Shape;762;g3e5c2ad4d7e_0_16"/>
            <p:cNvSpPr/>
            <p:nvPr/>
          </p:nvSpPr>
          <p:spPr>
            <a:xfrm>
              <a:off x="573799" y="4263840"/>
              <a:ext cx="1634400" cy="1108800"/>
            </a:xfrm>
            <a:prstGeom prst="rect">
              <a:avLst/>
            </a:prstGeom>
            <a:solidFill>
              <a:srgbClr val="005594"/>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rgbClr val="FFFFFF"/>
                  </a:solidFill>
                  <a:latin typeface="Arial"/>
                  <a:ea typeface="Arial"/>
                  <a:cs typeface="Arial"/>
                  <a:sym typeface="Arial"/>
                </a:rPr>
                <a:t>Run ARM and AMD x86 VMs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Arial"/>
                <a:ea typeface="Arial"/>
                <a:cs typeface="Arial"/>
                <a:sym typeface="Arial"/>
              </a:endParaRPr>
            </a:p>
          </p:txBody>
        </p:sp>
        <p:sp>
          <p:nvSpPr>
            <p:cNvPr id="763" name="Google Shape;763;g3e5c2ad4d7e_0_16"/>
            <p:cNvSpPr/>
            <p:nvPr/>
          </p:nvSpPr>
          <p:spPr>
            <a:xfrm>
              <a:off x="3570233" y="4264827"/>
              <a:ext cx="8091600" cy="720000"/>
            </a:xfrm>
            <a:prstGeom prst="rect">
              <a:avLst/>
            </a:prstGeom>
            <a:solidFill>
              <a:srgbClr val="0075CB"/>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chemeClr val="lt1"/>
                  </a:solidFill>
                  <a:latin typeface="Arial"/>
                  <a:ea typeface="Arial"/>
                  <a:cs typeface="Arial"/>
                  <a:sym typeface="Arial"/>
                </a:rPr>
                <a:t>Emulated UART</a:t>
              </a:r>
              <a:endParaRPr b="0" i="0" sz="105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rgbClr val="FFFFFF"/>
                  </a:solidFill>
                  <a:latin typeface="Arial"/>
                  <a:ea typeface="Arial"/>
                  <a:cs typeface="Arial"/>
                  <a:sym typeface="Arial"/>
                </a:rPr>
                <a:t>Xen shall emulate UART on behalf of the domains. </a:t>
              </a:r>
              <a:endParaRPr b="0" i="0" sz="1050" u="none" cap="none" strike="noStrike">
                <a:solidFill>
                  <a:schemeClr val="lt1"/>
                </a:solidFill>
                <a:latin typeface="Arial"/>
                <a:ea typeface="Arial"/>
                <a:cs typeface="Arial"/>
                <a:sym typeface="Arial"/>
              </a:endParaRPr>
            </a:p>
          </p:txBody>
        </p:sp>
        <p:sp>
          <p:nvSpPr>
            <p:cNvPr id="764" name="Google Shape;764;g3e5c2ad4d7e_0_16"/>
            <p:cNvSpPr/>
            <p:nvPr/>
          </p:nvSpPr>
          <p:spPr>
            <a:xfrm>
              <a:off x="3565963" y="5348377"/>
              <a:ext cx="8091600" cy="872400"/>
            </a:xfrm>
            <a:prstGeom prst="rect">
              <a:avLst/>
            </a:prstGeom>
            <a:solidFill>
              <a:srgbClr val="0075CB"/>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rgbClr val="FFFFFF"/>
                  </a:solidFill>
                  <a:latin typeface="Arial"/>
                  <a:ea typeface="Arial"/>
                  <a:cs typeface="Arial"/>
                  <a:sym typeface="Arial"/>
                </a:rPr>
                <a:t>Emulated Timer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rgbClr val="FFFFFF"/>
                  </a:solidFill>
                  <a:latin typeface="Arial"/>
                  <a:ea typeface="Arial"/>
                  <a:cs typeface="Arial"/>
                  <a:sym typeface="Arial"/>
                </a:rPr>
                <a:t>Xen shall  emulate timer on behalf of domains.</a:t>
              </a:r>
              <a:endParaRPr b="0" i="0" sz="1050" u="none" cap="none" strike="noStrike">
                <a:solidFill>
                  <a:schemeClr val="lt1"/>
                </a:solidFill>
                <a:latin typeface="Arial"/>
                <a:ea typeface="Arial"/>
                <a:cs typeface="Arial"/>
                <a:sym typeface="Arial"/>
              </a:endParaRPr>
            </a:p>
          </p:txBody>
        </p:sp>
        <p:cxnSp>
          <p:nvCxnSpPr>
            <p:cNvPr id="765" name="Google Shape;765;g3e5c2ad4d7e_0_16"/>
            <p:cNvCxnSpPr/>
            <p:nvPr/>
          </p:nvCxnSpPr>
          <p:spPr>
            <a:xfrm>
              <a:off x="2211113" y="4650425"/>
              <a:ext cx="1340100" cy="10500"/>
            </a:xfrm>
            <a:prstGeom prst="straightConnector1">
              <a:avLst/>
            </a:prstGeom>
            <a:noFill/>
            <a:ln cap="flat" cmpd="sng" w="9525">
              <a:solidFill>
                <a:schemeClr val="dk1"/>
              </a:solidFill>
              <a:prstDash val="solid"/>
              <a:round/>
              <a:headEnd len="med" w="med" type="triangle"/>
              <a:tailEnd len="med" w="med" type="triangle"/>
            </a:ln>
          </p:spPr>
        </p:cxnSp>
        <p:cxnSp>
          <p:nvCxnSpPr>
            <p:cNvPr id="766" name="Google Shape;766;g3e5c2ad4d7e_0_16"/>
            <p:cNvCxnSpPr/>
            <p:nvPr/>
          </p:nvCxnSpPr>
          <p:spPr>
            <a:xfrm>
              <a:off x="2205857" y="5007776"/>
              <a:ext cx="1345200" cy="861900"/>
            </a:xfrm>
            <a:prstGeom prst="straightConnector1">
              <a:avLst/>
            </a:prstGeom>
            <a:noFill/>
            <a:ln cap="flat" cmpd="sng" w="9525">
              <a:solidFill>
                <a:schemeClr val="dk1"/>
              </a:solidFill>
              <a:prstDash val="solid"/>
              <a:round/>
              <a:headEnd len="med" w="med" type="triangle"/>
              <a:tailEnd len="med" w="med" type="triangle"/>
            </a:ln>
          </p:spPr>
        </p:cxn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e5c2ad4d7e_0_27"/>
          <p:cNvSpPr txBox="1"/>
          <p:nvPr>
            <p:ph type="title"/>
          </p:nvPr>
        </p:nvSpPr>
        <p:spPr>
          <a:xfrm>
            <a:off x="179965" y="-81917"/>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1 Product Requirements 🡪 N Software Safety Requirements</a:t>
            </a:r>
            <a:endParaRPr/>
          </a:p>
        </p:txBody>
      </p:sp>
      <p:cxnSp>
        <p:nvCxnSpPr>
          <p:cNvPr id="772" name="Google Shape;772;g3e5c2ad4d7e_0_27"/>
          <p:cNvCxnSpPr/>
          <p:nvPr/>
        </p:nvCxnSpPr>
        <p:spPr>
          <a:xfrm>
            <a:off x="2206595" y="1055142"/>
            <a:ext cx="1005000" cy="7800"/>
          </a:xfrm>
          <a:prstGeom prst="straightConnector1">
            <a:avLst/>
          </a:prstGeom>
          <a:noFill/>
          <a:ln cap="flat" cmpd="sng" w="19050">
            <a:solidFill>
              <a:schemeClr val="accent2"/>
            </a:solidFill>
            <a:prstDash val="solid"/>
            <a:round/>
            <a:headEnd len="med" w="med" type="stealth"/>
            <a:tailEnd len="med" w="med" type="stealth"/>
          </a:ln>
        </p:spPr>
      </p:cxnSp>
      <p:sp>
        <p:nvSpPr>
          <p:cNvPr id="773" name="Google Shape;773;g3e5c2ad4d7e_0_27"/>
          <p:cNvSpPr/>
          <p:nvPr/>
        </p:nvSpPr>
        <p:spPr>
          <a:xfrm>
            <a:off x="580962" y="890629"/>
            <a:ext cx="1593600" cy="334800"/>
          </a:xfrm>
          <a:prstGeom prst="rect">
            <a:avLst/>
          </a:prstGeom>
          <a:solidFill>
            <a:srgbClr val="005EA3"/>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rgbClr val="FFFFFF"/>
                </a:solidFill>
                <a:latin typeface="Arial"/>
                <a:ea typeface="Arial"/>
                <a:cs typeface="Arial"/>
                <a:sym typeface="Arial"/>
              </a:rPr>
              <a:t>Emulated Timer</a:t>
            </a:r>
            <a:endParaRPr b="0" i="0" sz="1050" u="none" cap="none" strike="noStrike">
              <a:solidFill>
                <a:schemeClr val="lt1"/>
              </a:solidFill>
              <a:latin typeface="Arial"/>
              <a:ea typeface="Arial"/>
              <a:cs typeface="Arial"/>
              <a:sym typeface="Arial"/>
            </a:endParaRPr>
          </a:p>
        </p:txBody>
      </p:sp>
      <p:sp>
        <p:nvSpPr>
          <p:cNvPr id="774" name="Google Shape;774;g3e5c2ad4d7e_0_27"/>
          <p:cNvSpPr/>
          <p:nvPr/>
        </p:nvSpPr>
        <p:spPr>
          <a:xfrm>
            <a:off x="3211894" y="826787"/>
            <a:ext cx="5620500" cy="651300"/>
          </a:xfrm>
          <a:prstGeom prst="rect">
            <a:avLst/>
          </a:prstGeom>
          <a:solidFill>
            <a:srgbClr val="0075CB"/>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FFFFFF"/>
                </a:solidFill>
                <a:latin typeface="Arial"/>
                <a:ea typeface="Arial"/>
                <a:cs typeface="Arial"/>
                <a:sym typeface="Arial"/>
              </a:rPr>
              <a:t>Probe the Generic Timer device tree node from a domain</a:t>
            </a:r>
            <a:endParaRPr b="0" i="0" sz="15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rgbClr val="FFFFFF"/>
                </a:solidFill>
                <a:latin typeface="Arial"/>
                <a:ea typeface="Arial"/>
                <a:cs typeface="Arial"/>
                <a:sym typeface="Arial"/>
              </a:rPr>
              <a:t>Xen shall generate a device tree node for the Generic Timer (in accordance to ARM architected timer device tree binding [2]) to allow domains to probe it.</a:t>
            </a:r>
            <a:endParaRPr b="0" i="0" sz="105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FFFF"/>
              </a:solidFill>
              <a:latin typeface="Arial"/>
              <a:ea typeface="Arial"/>
              <a:cs typeface="Arial"/>
              <a:sym typeface="Arial"/>
            </a:endParaRPr>
          </a:p>
        </p:txBody>
      </p:sp>
      <p:sp>
        <p:nvSpPr>
          <p:cNvPr id="775" name="Google Shape;775;g3e5c2ad4d7e_0_27"/>
          <p:cNvSpPr/>
          <p:nvPr/>
        </p:nvSpPr>
        <p:spPr>
          <a:xfrm>
            <a:off x="3211893" y="1689949"/>
            <a:ext cx="5620500" cy="651300"/>
          </a:xfrm>
          <a:prstGeom prst="rect">
            <a:avLst/>
          </a:prstGeom>
          <a:solidFill>
            <a:srgbClr val="0075CB"/>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FFFFFF"/>
                </a:solidFill>
                <a:latin typeface="Arial"/>
                <a:ea typeface="Arial"/>
                <a:cs typeface="Arial"/>
                <a:sym typeface="Arial"/>
              </a:rPr>
              <a:t>Read system counter frequency</a:t>
            </a:r>
            <a:endParaRPr b="0"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chemeClr val="lt1"/>
                </a:solidFill>
                <a:latin typeface="Arial"/>
                <a:ea typeface="Arial"/>
                <a:cs typeface="Arial"/>
                <a:sym typeface="Arial"/>
              </a:rPr>
              <a:t>Xen shall enable domain to read the frequency of the system counter (either via CNTFRQ_EL0 register or "clock-frequency" device tree property if present).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776" name="Google Shape;776;g3e5c2ad4d7e_0_27"/>
          <p:cNvSpPr/>
          <p:nvPr/>
        </p:nvSpPr>
        <p:spPr>
          <a:xfrm>
            <a:off x="3211894" y="2553111"/>
            <a:ext cx="5620500" cy="828000"/>
          </a:xfrm>
          <a:prstGeom prst="rect">
            <a:avLst/>
          </a:prstGeom>
          <a:solidFill>
            <a:srgbClr val="0075CB"/>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Arial"/>
                <a:ea typeface="Arial"/>
                <a:cs typeface="Arial"/>
                <a:sym typeface="Arial"/>
              </a:rPr>
              <a:t>Access virtual timer from a domain</a:t>
            </a:r>
            <a:endParaRPr b="0"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rgbClr val="FFFFFF"/>
                </a:solidFill>
                <a:latin typeface="Arial"/>
                <a:ea typeface="Arial"/>
                <a:cs typeface="Arial"/>
                <a:sym typeface="Arial"/>
              </a:rPr>
              <a:t>Xen shall enable domain to access and make use of the virtual timer by accessing the following system registers: CNTVCT_EL0, CNTV_CTL_EL0, CNTV_CVAL_EL0, CNTV_TVAL_EL0.</a:t>
            </a:r>
            <a:endParaRPr b="0" i="0" sz="105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FFFFFF"/>
              </a:solidFill>
              <a:latin typeface="Arial"/>
              <a:ea typeface="Arial"/>
              <a:cs typeface="Arial"/>
              <a:sym typeface="Arial"/>
            </a:endParaRPr>
          </a:p>
        </p:txBody>
      </p:sp>
      <p:sp>
        <p:nvSpPr>
          <p:cNvPr id="777" name="Google Shape;777;g3e5c2ad4d7e_0_27"/>
          <p:cNvSpPr/>
          <p:nvPr/>
        </p:nvSpPr>
        <p:spPr>
          <a:xfrm>
            <a:off x="3211893" y="3509971"/>
            <a:ext cx="5620500" cy="659100"/>
          </a:xfrm>
          <a:prstGeom prst="rect">
            <a:avLst/>
          </a:prstGeom>
          <a:solidFill>
            <a:srgbClr val="0075CB"/>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Arial"/>
                <a:ea typeface="Arial"/>
                <a:cs typeface="Arial"/>
                <a:sym typeface="Arial"/>
              </a:rPr>
              <a:t>Trigger the physical timer interrupt from a domain</a:t>
            </a:r>
            <a:endParaRPr b="0"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rgbClr val="FFFFFF"/>
                </a:solidFill>
                <a:latin typeface="Arial"/>
                <a:ea typeface="Arial"/>
                <a:cs typeface="Arial"/>
                <a:sym typeface="Arial"/>
              </a:rPr>
              <a:t>Xen shall enable domain to program the physical timer to generate the interrupt when the asserted condition is met.</a:t>
            </a:r>
            <a:endParaRPr b="0" i="0" sz="105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778" name="Google Shape;778;g3e5c2ad4d7e_0_27"/>
          <p:cNvSpPr/>
          <p:nvPr/>
        </p:nvSpPr>
        <p:spPr>
          <a:xfrm>
            <a:off x="3211892" y="4307024"/>
            <a:ext cx="5620500" cy="645900"/>
          </a:xfrm>
          <a:prstGeom prst="rect">
            <a:avLst/>
          </a:prstGeom>
          <a:solidFill>
            <a:srgbClr val="0075CB"/>
          </a:solidFill>
          <a:ln cap="flat" cmpd="sng" w="9525">
            <a:solidFill>
              <a:schemeClr val="accent2"/>
            </a:solidFill>
            <a:prstDash val="solid"/>
            <a:round/>
            <a:headEnd len="sm" w="sm" type="none"/>
            <a:tailEnd len="sm" w="sm" type="none"/>
          </a:ln>
        </p:spPr>
        <p:txBody>
          <a:bodyPr anchorCtr="0" anchor="t" bIns="109725" lIns="137150" spcFirstLastPara="1" rIns="137150" wrap="square" tIns="1097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lt1"/>
                </a:solidFill>
                <a:latin typeface="Arial"/>
                <a:ea typeface="Arial"/>
                <a:cs typeface="Arial"/>
                <a:sym typeface="Arial"/>
              </a:rPr>
              <a:t>Trigger the virtual timer interrupt from a domain</a:t>
            </a:r>
            <a:endParaRPr b="0" i="0" sz="1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0" i="0" lang="en-GB" sz="1050" u="none" cap="none" strike="noStrike">
                <a:solidFill>
                  <a:srgbClr val="FFFFFF"/>
                </a:solidFill>
                <a:latin typeface="Arial"/>
                <a:ea typeface="Arial"/>
                <a:cs typeface="Arial"/>
                <a:sym typeface="Arial"/>
              </a:rPr>
              <a:t>Xen shall enable domain to program the virtual timer to generate the interrupt when the asserted condition is met.</a:t>
            </a:r>
            <a:endParaRPr b="0" i="0" sz="105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cxnSp>
        <p:nvCxnSpPr>
          <p:cNvPr id="779" name="Google Shape;779;g3e5c2ad4d7e_0_27"/>
          <p:cNvCxnSpPr/>
          <p:nvPr/>
        </p:nvCxnSpPr>
        <p:spPr>
          <a:xfrm flipH="1">
            <a:off x="2543106" y="1054846"/>
            <a:ext cx="5700" cy="3583200"/>
          </a:xfrm>
          <a:prstGeom prst="straightConnector1">
            <a:avLst/>
          </a:prstGeom>
          <a:noFill/>
          <a:ln cap="flat" cmpd="sng" w="9525">
            <a:solidFill>
              <a:schemeClr val="dk1"/>
            </a:solidFill>
            <a:prstDash val="solid"/>
            <a:round/>
            <a:headEnd len="sm" w="sm" type="none"/>
            <a:tailEnd len="sm" w="sm" type="none"/>
          </a:ln>
        </p:spPr>
      </p:cxnSp>
      <p:cxnSp>
        <p:nvCxnSpPr>
          <p:cNvPr id="780" name="Google Shape;780;g3e5c2ad4d7e_0_27"/>
          <p:cNvCxnSpPr/>
          <p:nvPr/>
        </p:nvCxnSpPr>
        <p:spPr>
          <a:xfrm>
            <a:off x="2541662" y="2001674"/>
            <a:ext cx="685800" cy="0"/>
          </a:xfrm>
          <a:prstGeom prst="straightConnector1">
            <a:avLst/>
          </a:prstGeom>
          <a:noFill/>
          <a:ln cap="flat" cmpd="sng" w="19050">
            <a:solidFill>
              <a:schemeClr val="accent2"/>
            </a:solidFill>
            <a:prstDash val="solid"/>
            <a:round/>
            <a:headEnd len="med" w="med" type="stealth"/>
            <a:tailEnd len="med" w="med" type="stealth"/>
          </a:ln>
        </p:spPr>
      </p:cxnSp>
      <p:cxnSp>
        <p:nvCxnSpPr>
          <p:cNvPr id="781" name="Google Shape;781;g3e5c2ad4d7e_0_27"/>
          <p:cNvCxnSpPr/>
          <p:nvPr/>
        </p:nvCxnSpPr>
        <p:spPr>
          <a:xfrm>
            <a:off x="2541662" y="2938392"/>
            <a:ext cx="674400" cy="11400"/>
          </a:xfrm>
          <a:prstGeom prst="straightConnector1">
            <a:avLst/>
          </a:prstGeom>
          <a:noFill/>
          <a:ln cap="flat" cmpd="sng" w="19050">
            <a:solidFill>
              <a:schemeClr val="accent2"/>
            </a:solidFill>
            <a:prstDash val="solid"/>
            <a:round/>
            <a:headEnd len="med" w="med" type="stealth"/>
            <a:tailEnd len="med" w="med" type="stealth"/>
          </a:ln>
        </p:spPr>
      </p:cxnSp>
      <p:cxnSp>
        <p:nvCxnSpPr>
          <p:cNvPr id="782" name="Google Shape;782;g3e5c2ad4d7e_0_27"/>
          <p:cNvCxnSpPr/>
          <p:nvPr/>
        </p:nvCxnSpPr>
        <p:spPr>
          <a:xfrm>
            <a:off x="2541662" y="3844488"/>
            <a:ext cx="691500" cy="0"/>
          </a:xfrm>
          <a:prstGeom prst="straightConnector1">
            <a:avLst/>
          </a:prstGeom>
          <a:noFill/>
          <a:ln cap="flat" cmpd="sng" w="19050">
            <a:solidFill>
              <a:schemeClr val="accent2"/>
            </a:solidFill>
            <a:prstDash val="solid"/>
            <a:round/>
            <a:headEnd len="med" w="med" type="stealth"/>
            <a:tailEnd len="med" w="med" type="stealth"/>
          </a:ln>
        </p:spPr>
      </p:cxnSp>
      <p:cxnSp>
        <p:nvCxnSpPr>
          <p:cNvPr id="783" name="Google Shape;783;g3e5c2ad4d7e_0_27"/>
          <p:cNvCxnSpPr/>
          <p:nvPr/>
        </p:nvCxnSpPr>
        <p:spPr>
          <a:xfrm>
            <a:off x="2541662" y="4619577"/>
            <a:ext cx="685800" cy="0"/>
          </a:xfrm>
          <a:prstGeom prst="straightConnector1">
            <a:avLst/>
          </a:prstGeom>
          <a:noFill/>
          <a:ln cap="flat" cmpd="sng" w="19050">
            <a:solidFill>
              <a:schemeClr val="accent2"/>
            </a:solidFill>
            <a:prstDash val="solid"/>
            <a:round/>
            <a:headEnd len="med" w="med" type="stealth"/>
            <a:tailEnd len="med" w="med" type="stealth"/>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g3e5c2ad4d7e_0_43"/>
          <p:cNvSpPr txBox="1"/>
          <p:nvPr>
            <p:ph type="title"/>
          </p:nvPr>
        </p:nvSpPr>
        <p:spPr>
          <a:xfrm>
            <a:off x="133470"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Characteristics of Software Safety Requirements</a:t>
            </a:r>
            <a:endParaRPr/>
          </a:p>
        </p:txBody>
      </p:sp>
      <p:sp>
        <p:nvSpPr>
          <p:cNvPr id="789" name="Google Shape;789;g3e5c2ad4d7e_0_43"/>
          <p:cNvSpPr txBox="1"/>
          <p:nvPr>
            <p:ph idx="1" type="body"/>
          </p:nvPr>
        </p:nvSpPr>
        <p:spPr>
          <a:xfrm>
            <a:off x="311700" y="656529"/>
            <a:ext cx="8520600" cy="3050100"/>
          </a:xfrm>
          <a:prstGeom prst="rect">
            <a:avLst/>
          </a:prstGeom>
          <a:noFill/>
          <a:ln>
            <a:noFill/>
          </a:ln>
        </p:spPr>
        <p:txBody>
          <a:bodyPr anchorCtr="0" anchor="t" bIns="91425" lIns="91425" spcFirstLastPara="1" rIns="91425" wrap="square" tIns="91425">
            <a:noAutofit/>
          </a:bodyPr>
          <a:lstStyle/>
          <a:p>
            <a:pPr indent="-342900" lvl="0" marL="457200" rtl="0" algn="l">
              <a:lnSpc>
                <a:spcPct val="114000"/>
              </a:lnSpc>
              <a:spcBef>
                <a:spcPts val="0"/>
              </a:spcBef>
              <a:spcAft>
                <a:spcPts val="0"/>
              </a:spcAft>
              <a:buSzPts val="1800"/>
              <a:buChar char="●"/>
            </a:pPr>
            <a:r>
              <a:rPr lang="en-GB"/>
              <a:t>The requirements are written in plain English, from the perspective of what Xen is expected to fulfil</a:t>
            </a:r>
            <a:endParaRPr/>
          </a:p>
          <a:p>
            <a:pPr indent="-342900" lvl="0" marL="457200" rtl="0" algn="l">
              <a:lnSpc>
                <a:spcPct val="114000"/>
              </a:lnSpc>
              <a:spcBef>
                <a:spcPts val="0"/>
              </a:spcBef>
              <a:spcAft>
                <a:spcPts val="0"/>
              </a:spcAft>
              <a:buSzPts val="1800"/>
              <a:buChar char="●"/>
            </a:pPr>
            <a:r>
              <a:rPr lang="en-GB"/>
              <a:t>The software safety requirements (SSR) are expected to be the most granular form</a:t>
            </a:r>
            <a:endParaRPr/>
          </a:p>
          <a:p>
            <a:pPr indent="-342900" lvl="0" marL="457200" rtl="0" algn="l">
              <a:lnSpc>
                <a:spcPct val="114000"/>
              </a:lnSpc>
              <a:spcBef>
                <a:spcPts val="0"/>
              </a:spcBef>
              <a:spcAft>
                <a:spcPts val="0"/>
              </a:spcAft>
              <a:buSzPts val="1800"/>
              <a:buChar char="●"/>
            </a:pPr>
            <a:r>
              <a:rPr lang="en-GB"/>
              <a:t>Engineers are expected to refer to a SSR (and architecture spec) to write a test to validate it</a:t>
            </a:r>
            <a:endParaRPr/>
          </a:p>
          <a:p>
            <a:pPr indent="-317500" lvl="1" marL="914400" rtl="0" algn="l">
              <a:lnSpc>
                <a:spcPct val="114000"/>
              </a:lnSpc>
              <a:spcBef>
                <a:spcPts val="800"/>
              </a:spcBef>
              <a:spcAft>
                <a:spcPts val="0"/>
              </a:spcAft>
              <a:buSzPts val="1400"/>
              <a:buFont typeface="Courier New"/>
              <a:buChar char="o"/>
            </a:pPr>
            <a:r>
              <a:rPr lang="en-GB"/>
              <a:t>This is of interest to the subsystem maintainers or folks working on specific parts of Xen (eg generic timer).</a:t>
            </a:r>
            <a:endParaRPr/>
          </a:p>
          <a:p>
            <a:pPr indent="-342900" lvl="0" marL="457200" rtl="0" algn="l">
              <a:lnSpc>
                <a:spcPct val="114000"/>
              </a:lnSpc>
              <a:spcBef>
                <a:spcPts val="0"/>
              </a:spcBef>
              <a:spcAft>
                <a:spcPts val="0"/>
              </a:spcAft>
              <a:buSzPts val="1800"/>
              <a:buChar char="●"/>
            </a:pPr>
            <a:r>
              <a:rPr lang="en-GB"/>
              <a:t>Each SSR should be tested independently </a:t>
            </a:r>
            <a:endParaRPr/>
          </a:p>
          <a:p>
            <a:pPr indent="-342900" lvl="0" marL="457200" rtl="0" algn="l">
              <a:lnSpc>
                <a:spcPct val="114000"/>
              </a:lnSpc>
              <a:spcBef>
                <a:spcPts val="0"/>
              </a:spcBef>
              <a:spcAft>
                <a:spcPts val="0"/>
              </a:spcAft>
              <a:buSzPts val="1800"/>
              <a:buChar char="●"/>
            </a:pPr>
            <a:r>
              <a:rPr lang="en-GB"/>
              <a:t>SSR should be unambiguous, complete, consistent, correct</a:t>
            </a:r>
            <a:endParaRPr/>
          </a:p>
          <a:p>
            <a:pPr indent="-342900" lvl="0" marL="457200" rtl="0" algn="l">
              <a:lnSpc>
                <a:spcPct val="114000"/>
              </a:lnSpc>
              <a:spcBef>
                <a:spcPts val="0"/>
              </a:spcBef>
              <a:spcAft>
                <a:spcPts val="0"/>
              </a:spcAft>
              <a:buSzPts val="1800"/>
              <a:buChar char="●"/>
            </a:pPr>
            <a:r>
              <a:rPr lang="en-GB"/>
              <a:t>SSR should be traceable all the way to market requirements</a:t>
            </a:r>
            <a:endParaRPr/>
          </a:p>
          <a:p>
            <a:pPr indent="-228600" lvl="0" marL="457200" rtl="0" algn="l">
              <a:lnSpc>
                <a:spcPct val="114000"/>
              </a:lnSpc>
              <a:spcBef>
                <a:spcPts val="0"/>
              </a:spcBef>
              <a:spcAft>
                <a:spcPts val="0"/>
              </a:spcAft>
              <a:buSzPts val="1800"/>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95" name="Google Shape;795;p6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
        <p:nvSpPr>
          <p:cNvPr id="796" name="Google Shape;796;p6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
        <p:nvSpPr>
          <p:cNvPr id="797" name="Google Shape;797;p60"/>
          <p:cNvSpPr txBox="1"/>
          <p:nvPr/>
        </p:nvSpPr>
        <p:spPr>
          <a:xfrm>
            <a:off x="3377100" y="4804800"/>
            <a:ext cx="2389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14000"/>
              </a:lnSpc>
              <a:spcBef>
                <a:spcPts val="0"/>
              </a:spcBef>
              <a:spcAft>
                <a:spcPts val="800"/>
              </a:spcAft>
              <a:buClr>
                <a:srgbClr val="000000"/>
              </a:buClr>
              <a:buSzPts val="1000"/>
              <a:buFont typeface="Arial"/>
              <a:buNone/>
            </a:pPr>
            <a:r>
              <a:rPr b="0" i="1" lang="en-GB" sz="1000" u="none" cap="none" strike="noStrike">
                <a:solidFill>
                  <a:srgbClr val="B7B7B7"/>
                </a:solidFill>
                <a:latin typeface="Arial"/>
                <a:ea typeface="Arial"/>
                <a:cs typeface="Arial"/>
                <a:sym typeface="Arial"/>
              </a:rPr>
              <a:t>Work in Progress - License: CC-BY-4.0</a:t>
            </a:r>
            <a:endParaRPr b="0" i="0" sz="600" u="none" cap="none" strike="noStrike">
              <a:solidFill>
                <a:srgbClr val="B7B7B7"/>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803" name="Google Shape;803;p61"/>
          <p:cNvSpPr txBox="1"/>
          <p:nvPr/>
        </p:nvSpPr>
        <p:spPr>
          <a:xfrm>
            <a:off x="3377100" y="4804800"/>
            <a:ext cx="2389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14000"/>
              </a:lnSpc>
              <a:spcBef>
                <a:spcPts val="0"/>
              </a:spcBef>
              <a:spcAft>
                <a:spcPts val="800"/>
              </a:spcAft>
              <a:buClr>
                <a:srgbClr val="000000"/>
              </a:buClr>
              <a:buSzPts val="1000"/>
              <a:buFont typeface="Arial"/>
              <a:buNone/>
            </a:pPr>
            <a:r>
              <a:rPr b="0" i="1" lang="en-GB" sz="1000" u="none" cap="none" strike="noStrike">
                <a:solidFill>
                  <a:srgbClr val="B7B7B7"/>
                </a:solidFill>
                <a:latin typeface="Arial"/>
                <a:ea typeface="Arial"/>
                <a:cs typeface="Arial"/>
                <a:sym typeface="Arial"/>
              </a:rPr>
              <a:t>Work in Progress - License: CC-BY-4.0</a:t>
            </a:r>
            <a:endParaRPr b="0" i="0" sz="600" u="none" cap="none" strike="noStrike">
              <a:solidFill>
                <a:srgbClr val="B7B7B7"/>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62"/>
          <p:cNvSpPr txBox="1"/>
          <p:nvPr/>
        </p:nvSpPr>
        <p:spPr>
          <a:xfrm>
            <a:off x="3377100" y="4804800"/>
            <a:ext cx="2389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14000"/>
              </a:lnSpc>
              <a:spcBef>
                <a:spcPts val="0"/>
              </a:spcBef>
              <a:spcAft>
                <a:spcPts val="800"/>
              </a:spcAft>
              <a:buClr>
                <a:srgbClr val="000000"/>
              </a:buClr>
              <a:buSzPts val="1000"/>
              <a:buFont typeface="Arial"/>
              <a:buNone/>
            </a:pPr>
            <a:r>
              <a:rPr b="0" i="1" lang="en-GB" sz="1000" u="none" cap="none" strike="noStrike">
                <a:solidFill>
                  <a:srgbClr val="B7B7B7"/>
                </a:solidFill>
                <a:latin typeface="Arial"/>
                <a:ea typeface="Arial"/>
                <a:cs typeface="Arial"/>
                <a:sym typeface="Arial"/>
              </a:rPr>
              <a:t>Work in Progress - License: CC-BY-4.0</a:t>
            </a:r>
            <a:endParaRPr b="0" i="0" sz="600" u="none" cap="none" strike="noStrike">
              <a:solidFill>
                <a:srgbClr val="B7B7B7"/>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38"/>
          <p:cNvSpPr txBox="1"/>
          <p:nvPr>
            <p:ph type="title"/>
          </p:nvPr>
        </p:nvSpPr>
        <p:spPr>
          <a:xfrm>
            <a:off x="311700" y="-4407"/>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GB"/>
              <a:t>The missing puzzle</a:t>
            </a:r>
            <a:endParaRPr/>
          </a:p>
        </p:txBody>
      </p:sp>
      <p:sp>
        <p:nvSpPr>
          <p:cNvPr id="814" name="Google Shape;814;p38"/>
          <p:cNvSpPr txBox="1"/>
          <p:nvPr>
            <p:ph idx="1" type="body"/>
          </p:nvPr>
        </p:nvSpPr>
        <p:spPr>
          <a:xfrm>
            <a:off x="311700" y="657497"/>
            <a:ext cx="4386600" cy="350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Space and time partitioning</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GB"/>
              <a:t> </a:t>
            </a:r>
            <a:endParaRPr/>
          </a:p>
        </p:txBody>
      </p:sp>
      <p:sp>
        <p:nvSpPr>
          <p:cNvPr id="815" name="Google Shape;815;p38"/>
          <p:cNvSpPr/>
          <p:nvPr/>
        </p:nvSpPr>
        <p:spPr>
          <a:xfrm>
            <a:off x="478550" y="1069472"/>
            <a:ext cx="3969900" cy="330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38"/>
          <p:cNvSpPr/>
          <p:nvPr/>
        </p:nvSpPr>
        <p:spPr>
          <a:xfrm>
            <a:off x="628377" y="1156890"/>
            <a:ext cx="973800" cy="8739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EL1 stage 2 (P2M) for VM1</a:t>
            </a:r>
            <a:endParaRPr b="0" i="0" sz="1400" u="none" cap="none" strike="noStrike">
              <a:solidFill>
                <a:srgbClr val="000000"/>
              </a:solidFill>
              <a:latin typeface="Arial"/>
              <a:ea typeface="Arial"/>
              <a:cs typeface="Arial"/>
              <a:sym typeface="Arial"/>
            </a:endParaRPr>
          </a:p>
        </p:txBody>
      </p:sp>
      <p:sp>
        <p:nvSpPr>
          <p:cNvPr id="817" name="Google Shape;817;p38"/>
          <p:cNvSpPr/>
          <p:nvPr/>
        </p:nvSpPr>
        <p:spPr>
          <a:xfrm>
            <a:off x="2041700" y="1169374"/>
            <a:ext cx="908700" cy="873900"/>
          </a:xfrm>
          <a:prstGeom prst="rect">
            <a:avLst/>
          </a:prstGeom>
          <a:solidFill>
            <a:srgbClr val="FFE2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EL1 stage 2 (P2M) for VM2</a:t>
            </a:r>
            <a:endParaRPr b="0" i="0" sz="1400" u="none" cap="none" strike="noStrike">
              <a:solidFill>
                <a:srgbClr val="000000"/>
              </a:solidFill>
              <a:latin typeface="Arial"/>
              <a:ea typeface="Arial"/>
              <a:cs typeface="Arial"/>
              <a:sym typeface="Arial"/>
            </a:endParaRPr>
          </a:p>
        </p:txBody>
      </p:sp>
      <p:sp>
        <p:nvSpPr>
          <p:cNvPr id="818" name="Google Shape;818;p38"/>
          <p:cNvSpPr/>
          <p:nvPr/>
        </p:nvSpPr>
        <p:spPr>
          <a:xfrm>
            <a:off x="3442525" y="1181858"/>
            <a:ext cx="908700" cy="873900"/>
          </a:xfrm>
          <a:prstGeom prst="rect">
            <a:avLst/>
          </a:prstGeom>
          <a:solidFill>
            <a:srgbClr val="EADC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EL1 stage 2 (P2M) for VM3</a:t>
            </a:r>
            <a:endParaRPr b="0" i="0" sz="1400" u="none" cap="none" strike="noStrike">
              <a:solidFill>
                <a:srgbClr val="000000"/>
              </a:solidFill>
              <a:latin typeface="Arial"/>
              <a:ea typeface="Arial"/>
              <a:cs typeface="Arial"/>
              <a:sym typeface="Arial"/>
            </a:endParaRPr>
          </a:p>
        </p:txBody>
      </p:sp>
      <p:sp>
        <p:nvSpPr>
          <p:cNvPr id="819" name="Google Shape;819;p38"/>
          <p:cNvSpPr txBox="1"/>
          <p:nvPr/>
        </p:nvSpPr>
        <p:spPr>
          <a:xfrm>
            <a:off x="553475" y="1968351"/>
            <a:ext cx="3797700" cy="34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434343"/>
                </a:solidFill>
                <a:latin typeface="Arial"/>
                <a:ea typeface="Arial"/>
                <a:cs typeface="Arial"/>
                <a:sym typeface="Arial"/>
              </a:rPr>
              <a:t>Testing for isolation between the VMs partitioning in Xen</a:t>
            </a:r>
            <a:endParaRPr b="0" i="0" sz="1100" u="none" cap="none" strike="noStrike">
              <a:solidFill>
                <a:srgbClr val="434343"/>
              </a:solidFill>
              <a:latin typeface="Arial"/>
              <a:ea typeface="Arial"/>
              <a:cs typeface="Arial"/>
              <a:sym typeface="Arial"/>
            </a:endParaRPr>
          </a:p>
        </p:txBody>
      </p:sp>
      <p:sp>
        <p:nvSpPr>
          <p:cNvPr id="820" name="Google Shape;820;p38"/>
          <p:cNvSpPr/>
          <p:nvPr/>
        </p:nvSpPr>
        <p:spPr>
          <a:xfrm>
            <a:off x="1115250" y="3254217"/>
            <a:ext cx="2421900" cy="973800"/>
          </a:xfrm>
          <a:prstGeom prst="rect">
            <a:avLst/>
          </a:prstGeom>
          <a:solidFill>
            <a:srgbClr val="BABAB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EL2 mapping for Xen</a:t>
            </a:r>
            <a:endParaRPr b="0" i="0" sz="1400" u="none" cap="none" strike="noStrike">
              <a:solidFill>
                <a:srgbClr val="000000"/>
              </a:solidFill>
              <a:latin typeface="Arial"/>
              <a:ea typeface="Arial"/>
              <a:cs typeface="Arial"/>
              <a:sym typeface="Arial"/>
            </a:endParaRPr>
          </a:p>
        </p:txBody>
      </p:sp>
      <p:sp>
        <p:nvSpPr>
          <p:cNvPr id="821" name="Google Shape;821;p38"/>
          <p:cNvSpPr/>
          <p:nvPr/>
        </p:nvSpPr>
        <p:spPr>
          <a:xfrm>
            <a:off x="653300" y="2317854"/>
            <a:ext cx="973800" cy="2496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Time slot</a:t>
            </a:r>
            <a:endParaRPr b="0" i="0" sz="1400" u="none" cap="none" strike="noStrike">
              <a:solidFill>
                <a:srgbClr val="000000"/>
              </a:solidFill>
              <a:latin typeface="Arial"/>
              <a:ea typeface="Arial"/>
              <a:cs typeface="Arial"/>
              <a:sym typeface="Arial"/>
            </a:endParaRPr>
          </a:p>
        </p:txBody>
      </p:sp>
      <p:sp>
        <p:nvSpPr>
          <p:cNvPr id="822" name="Google Shape;822;p38"/>
          <p:cNvSpPr/>
          <p:nvPr/>
        </p:nvSpPr>
        <p:spPr>
          <a:xfrm>
            <a:off x="2041700" y="2317958"/>
            <a:ext cx="973800" cy="249600"/>
          </a:xfrm>
          <a:prstGeom prst="rect">
            <a:avLst/>
          </a:prstGeom>
          <a:solidFill>
            <a:srgbClr val="FFE2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Time slot</a:t>
            </a:r>
            <a:endParaRPr b="0" i="0" sz="1400" u="none" cap="none" strike="noStrike">
              <a:solidFill>
                <a:srgbClr val="000000"/>
              </a:solidFill>
              <a:latin typeface="Arial"/>
              <a:ea typeface="Arial"/>
              <a:cs typeface="Arial"/>
              <a:sym typeface="Arial"/>
            </a:endParaRPr>
          </a:p>
        </p:txBody>
      </p:sp>
      <p:sp>
        <p:nvSpPr>
          <p:cNvPr id="823" name="Google Shape;823;p38"/>
          <p:cNvSpPr/>
          <p:nvPr/>
        </p:nvSpPr>
        <p:spPr>
          <a:xfrm>
            <a:off x="3405070" y="2320548"/>
            <a:ext cx="973800" cy="249600"/>
          </a:xfrm>
          <a:prstGeom prst="rect">
            <a:avLst/>
          </a:prstGeom>
          <a:solidFill>
            <a:srgbClr val="EADC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Time slot</a:t>
            </a:r>
            <a:endParaRPr b="0" i="0" sz="1400" u="none" cap="none" strike="noStrike">
              <a:solidFill>
                <a:srgbClr val="000000"/>
              </a:solidFill>
              <a:latin typeface="Arial"/>
              <a:ea typeface="Arial"/>
              <a:cs typeface="Arial"/>
              <a:sym typeface="Arial"/>
            </a:endParaRPr>
          </a:p>
        </p:txBody>
      </p:sp>
      <p:sp>
        <p:nvSpPr>
          <p:cNvPr id="824" name="Google Shape;824;p38"/>
          <p:cNvSpPr txBox="1"/>
          <p:nvPr/>
        </p:nvSpPr>
        <p:spPr>
          <a:xfrm>
            <a:off x="1839315" y="2767300"/>
            <a:ext cx="1835100" cy="24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434343"/>
                </a:solidFill>
                <a:latin typeface="Arial"/>
                <a:ea typeface="Arial"/>
                <a:cs typeface="Arial"/>
                <a:sym typeface="Arial"/>
              </a:rPr>
              <a:t>FuSa XEN</a:t>
            </a:r>
            <a:endParaRPr b="0" i="0" sz="1800" u="none" cap="none" strike="noStrike">
              <a:solidFill>
                <a:srgbClr val="434343"/>
              </a:solidFill>
              <a:latin typeface="Arial"/>
              <a:ea typeface="Arial"/>
              <a:cs typeface="Arial"/>
              <a:sym typeface="Arial"/>
            </a:endParaRPr>
          </a:p>
        </p:txBody>
      </p:sp>
      <p:sp>
        <p:nvSpPr>
          <p:cNvPr id="825" name="Google Shape;825;p38"/>
          <p:cNvSpPr txBox="1"/>
          <p:nvPr>
            <p:ph idx="1" type="body"/>
          </p:nvPr>
        </p:nvSpPr>
        <p:spPr>
          <a:xfrm>
            <a:off x="4572000" y="695493"/>
            <a:ext cx="4386600" cy="350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t>    Defining a FuSa system use case</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GB"/>
              <a:t> </a:t>
            </a:r>
            <a:endParaRPr/>
          </a:p>
        </p:txBody>
      </p:sp>
      <p:sp>
        <p:nvSpPr>
          <p:cNvPr id="826" name="Google Shape;826;p38"/>
          <p:cNvSpPr/>
          <p:nvPr/>
        </p:nvSpPr>
        <p:spPr>
          <a:xfrm>
            <a:off x="4848032" y="2829760"/>
            <a:ext cx="4106700" cy="34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FuSa Xen (SIL-3/ASIL-D/mixed)</a:t>
            </a:r>
            <a:endParaRPr b="0" i="0" sz="1400" u="none" cap="none" strike="noStrike">
              <a:solidFill>
                <a:srgbClr val="000000"/>
              </a:solidFill>
              <a:latin typeface="Arial"/>
              <a:ea typeface="Arial"/>
              <a:cs typeface="Arial"/>
              <a:sym typeface="Arial"/>
            </a:endParaRPr>
          </a:p>
        </p:txBody>
      </p:sp>
      <p:sp>
        <p:nvSpPr>
          <p:cNvPr id="827" name="Google Shape;827;p38"/>
          <p:cNvSpPr/>
          <p:nvPr/>
        </p:nvSpPr>
        <p:spPr>
          <a:xfrm>
            <a:off x="4848031" y="3235160"/>
            <a:ext cx="2421900" cy="461700"/>
          </a:xfrm>
          <a:prstGeom prst="rect">
            <a:avLst/>
          </a:prstGeom>
          <a:solidFill>
            <a:srgbClr val="BDD5E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FuSa Firmware/bootloader</a:t>
            </a:r>
            <a:endParaRPr b="0" i="0" sz="1400" u="none" cap="none" strike="noStrike">
              <a:solidFill>
                <a:srgbClr val="000000"/>
              </a:solidFill>
              <a:latin typeface="Arial"/>
              <a:ea typeface="Arial"/>
              <a:cs typeface="Arial"/>
              <a:sym typeface="Arial"/>
            </a:endParaRPr>
          </a:p>
        </p:txBody>
      </p:sp>
      <p:sp>
        <p:nvSpPr>
          <p:cNvPr id="828" name="Google Shape;828;p38"/>
          <p:cNvSpPr/>
          <p:nvPr/>
        </p:nvSpPr>
        <p:spPr>
          <a:xfrm>
            <a:off x="4827031" y="3752760"/>
            <a:ext cx="4106700" cy="4401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FuSa hardware</a:t>
            </a:r>
            <a:endParaRPr b="0" i="0" sz="1400" u="none" cap="none" strike="noStrike">
              <a:solidFill>
                <a:srgbClr val="000000"/>
              </a:solidFill>
              <a:latin typeface="Arial"/>
              <a:ea typeface="Arial"/>
              <a:cs typeface="Arial"/>
              <a:sym typeface="Arial"/>
            </a:endParaRPr>
          </a:p>
        </p:txBody>
      </p:sp>
      <p:sp>
        <p:nvSpPr>
          <p:cNvPr id="829" name="Google Shape;829;p38"/>
          <p:cNvSpPr/>
          <p:nvPr/>
        </p:nvSpPr>
        <p:spPr>
          <a:xfrm>
            <a:off x="4889442" y="1294210"/>
            <a:ext cx="1157100" cy="1338300"/>
          </a:xfrm>
          <a:prstGeom prst="rect">
            <a:avLst/>
          </a:prstGeom>
          <a:solidFill>
            <a:srgbClr val="C9ED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Safe VM</a:t>
            </a:r>
            <a:endParaRPr b="0" i="0" sz="1400" u="none" cap="none" strike="noStrike">
              <a:solidFill>
                <a:srgbClr val="000000"/>
              </a:solidFill>
              <a:latin typeface="Arial"/>
              <a:ea typeface="Arial"/>
              <a:cs typeface="Arial"/>
              <a:sym typeface="Arial"/>
            </a:endParaRPr>
          </a:p>
        </p:txBody>
      </p:sp>
      <p:sp>
        <p:nvSpPr>
          <p:cNvPr id="830" name="Google Shape;830;p38"/>
          <p:cNvSpPr/>
          <p:nvPr/>
        </p:nvSpPr>
        <p:spPr>
          <a:xfrm>
            <a:off x="7676003" y="1248285"/>
            <a:ext cx="1157100" cy="1338300"/>
          </a:xfrm>
          <a:prstGeom prst="rect">
            <a:avLst/>
          </a:prstGeom>
          <a:solidFill>
            <a:srgbClr val="FFF1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QM VM</a:t>
            </a:r>
            <a:endParaRPr b="0" i="0" sz="1400" u="none" cap="none" strike="noStrike">
              <a:solidFill>
                <a:srgbClr val="000000"/>
              </a:solidFill>
              <a:latin typeface="Arial"/>
              <a:ea typeface="Arial"/>
              <a:cs typeface="Arial"/>
              <a:sym typeface="Arial"/>
            </a:endParaRPr>
          </a:p>
        </p:txBody>
      </p:sp>
      <p:sp>
        <p:nvSpPr>
          <p:cNvPr id="831" name="Google Shape;831;p38"/>
          <p:cNvSpPr/>
          <p:nvPr/>
        </p:nvSpPr>
        <p:spPr>
          <a:xfrm>
            <a:off x="6282729" y="1294210"/>
            <a:ext cx="1157100" cy="1338300"/>
          </a:xfrm>
          <a:prstGeom prst="rect">
            <a:avLst/>
          </a:prstGeom>
          <a:solidFill>
            <a:srgbClr val="EADC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Mixed VM</a:t>
            </a:r>
            <a:endParaRPr b="0" i="0" sz="1400" u="none" cap="none" strike="noStrike">
              <a:solidFill>
                <a:srgbClr val="000000"/>
              </a:solidFill>
              <a:latin typeface="Arial"/>
              <a:ea typeface="Arial"/>
              <a:cs typeface="Arial"/>
              <a:sym typeface="Arial"/>
            </a:endParaRPr>
          </a:p>
        </p:txBody>
      </p:sp>
      <p:sp>
        <p:nvSpPr>
          <p:cNvPr id="832" name="Google Shape;832;p38"/>
          <p:cNvSpPr txBox="1"/>
          <p:nvPr/>
        </p:nvSpPr>
        <p:spPr>
          <a:xfrm>
            <a:off x="2738217" y="4544241"/>
            <a:ext cx="6320400" cy="34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434343"/>
                </a:solidFill>
                <a:latin typeface="Arial"/>
                <a:ea typeface="Arial"/>
                <a:cs typeface="Arial"/>
                <a:sym typeface="Arial"/>
              </a:rPr>
              <a:t>Stay tuned to see how DO-178 addresses these challenges</a:t>
            </a:r>
            <a:endParaRPr b="0" i="0" sz="1800" u="none" cap="none" strike="noStrike">
              <a:solidFill>
                <a:srgbClr val="434343"/>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Licensing of Workshop Results</a:t>
            </a:r>
            <a:endParaRPr/>
          </a:p>
        </p:txBody>
      </p:sp>
      <p:sp>
        <p:nvSpPr>
          <p:cNvPr id="838" name="Google Shape;838;p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0"/>
              </a:spcAft>
              <a:buClr>
                <a:schemeClr val="dk1"/>
              </a:buClr>
              <a:buSzPct val="61111"/>
              <a:buFont typeface="Arial"/>
              <a:buNone/>
            </a:pPr>
            <a:r>
              <a:rPr lang="en-GB"/>
              <a:t>All work created during the workshop is licensed under Creative Commons Attribution 4.0 International (CC-BY-4.0) [</a:t>
            </a:r>
            <a:r>
              <a:rPr lang="en-GB" u="sng">
                <a:solidFill>
                  <a:schemeClr val="hlink"/>
                </a:solidFill>
                <a:hlinkClick r:id="rId3"/>
              </a:rPr>
              <a:t>https://creativecommons.org/licenses/by/4.0/</a:t>
            </a:r>
            <a:r>
              <a:rPr lang="en-GB"/>
              <a:t>] by default, or under another suitable open-source license, e.g., GPL-2.0 for kernel code contributions.</a:t>
            </a:r>
            <a:endParaRPr/>
          </a:p>
          <a:p>
            <a:pPr indent="0" lvl="0" marL="0" rtl="0" algn="l">
              <a:lnSpc>
                <a:spcPct val="115000"/>
              </a:lnSpc>
              <a:spcBef>
                <a:spcPts val="1200"/>
              </a:spcBef>
              <a:spcAft>
                <a:spcPts val="0"/>
              </a:spcAft>
              <a:buClr>
                <a:schemeClr val="dk1"/>
              </a:buClr>
              <a:buSzPct val="61111"/>
              <a:buFont typeface="Arial"/>
              <a:buNone/>
            </a:pPr>
            <a:r>
              <a:rPr lang="en-GB"/>
              <a:t>You are free to:</a:t>
            </a:r>
            <a:endParaRPr/>
          </a:p>
          <a:p>
            <a:pPr indent="-308610" lvl="0" marL="457200" rtl="0" algn="l">
              <a:lnSpc>
                <a:spcPct val="115000"/>
              </a:lnSpc>
              <a:spcBef>
                <a:spcPts val="1200"/>
              </a:spcBef>
              <a:spcAft>
                <a:spcPts val="0"/>
              </a:spcAft>
              <a:buSzPct val="100000"/>
              <a:buChar char="●"/>
            </a:pPr>
            <a:r>
              <a:rPr lang="en-GB"/>
              <a:t>Share — copy and redistribute the material in any medium or format</a:t>
            </a:r>
            <a:endParaRPr/>
          </a:p>
          <a:p>
            <a:pPr indent="-308610" lvl="0" marL="457200" rtl="0" algn="l">
              <a:lnSpc>
                <a:spcPct val="115000"/>
              </a:lnSpc>
              <a:spcBef>
                <a:spcPts val="0"/>
              </a:spcBef>
              <a:spcAft>
                <a:spcPts val="0"/>
              </a:spcAft>
              <a:buSzPct val="100000"/>
              <a:buChar char="●"/>
            </a:pPr>
            <a:r>
              <a:rPr lang="en-GB"/>
              <a:t>Adapt — remix, transform, and build upon the material for any purpose, even commercially.</a:t>
            </a:r>
            <a:endParaRPr/>
          </a:p>
          <a:p>
            <a:pPr indent="0" lvl="0" marL="0" rtl="0" algn="l">
              <a:lnSpc>
                <a:spcPct val="115000"/>
              </a:lnSpc>
              <a:spcBef>
                <a:spcPts val="1200"/>
              </a:spcBef>
              <a:spcAft>
                <a:spcPts val="0"/>
              </a:spcAft>
              <a:buClr>
                <a:schemeClr val="dk1"/>
              </a:buClr>
              <a:buSzPct val="61111"/>
              <a:buFont typeface="Arial"/>
              <a:buNone/>
            </a:pPr>
            <a:r>
              <a:rPr lang="en-GB"/>
              <a:t>The licensor cannot revoke these freedoms as long as you follow the license terms.</a:t>
            </a:r>
            <a:endParaRPr/>
          </a:p>
          <a:p>
            <a:pPr indent="0" lvl="0" marL="0" rtl="0" algn="l">
              <a:lnSpc>
                <a:spcPct val="115000"/>
              </a:lnSpc>
              <a:spcBef>
                <a:spcPts val="1200"/>
              </a:spcBef>
              <a:spcAft>
                <a:spcPts val="0"/>
              </a:spcAft>
              <a:buClr>
                <a:schemeClr val="dk1"/>
              </a:buClr>
              <a:buSzPct val="61111"/>
              <a:buFont typeface="Arial"/>
              <a:buNone/>
            </a:pPr>
            <a:r>
              <a:rPr lang="en-GB"/>
              <a:t>Under the following terms:</a:t>
            </a:r>
            <a:endParaRPr/>
          </a:p>
          <a:p>
            <a:pPr indent="0" lvl="0" marL="0" rtl="0" algn="l">
              <a:lnSpc>
                <a:spcPct val="115000"/>
              </a:lnSpc>
              <a:spcBef>
                <a:spcPts val="1200"/>
              </a:spcBef>
              <a:spcAft>
                <a:spcPts val="0"/>
              </a:spcAft>
              <a:buClr>
                <a:schemeClr val="dk1"/>
              </a:buClr>
              <a:buSzPct val="61111"/>
              <a:buFont typeface="Arial"/>
              <a:buNone/>
            </a:pPr>
            <a:r>
              <a:rPr lang="en-GB"/>
              <a:t>Attribution — You must give appropriate credit, provide a link to the license, and indicate if changes were made. You may do so in any reasonable manner, but not in any way that suggests the licensor endorses you or your use.</a:t>
            </a:r>
            <a:endParaRPr/>
          </a:p>
          <a:p>
            <a:pPr indent="0" lvl="0" marL="0" rtl="0" algn="l">
              <a:lnSpc>
                <a:spcPct val="115000"/>
              </a:lnSpc>
              <a:spcBef>
                <a:spcPts val="1200"/>
              </a:spcBef>
              <a:spcAft>
                <a:spcPts val="1200"/>
              </a:spcAft>
              <a:buClr>
                <a:schemeClr val="dk1"/>
              </a:buClr>
              <a:buSzPct val="61111"/>
              <a:buFont typeface="Arial"/>
              <a:buNone/>
            </a:pPr>
            <a:r>
              <a:rPr lang="en-GB"/>
              <a:t>No additional restrictions — You may not apply legal terms or technological measures that legally restrict others from doing anything the license permits.</a:t>
            </a:r>
            <a:endParaRPr b="1" i="1"/>
          </a:p>
        </p:txBody>
      </p:sp>
      <p:sp>
        <p:nvSpPr>
          <p:cNvPr id="839" name="Google Shape;839;p63"/>
          <p:cNvSpPr txBox="1"/>
          <p:nvPr/>
        </p:nvSpPr>
        <p:spPr>
          <a:xfrm>
            <a:off x="3377100" y="4804800"/>
            <a:ext cx="2389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14000"/>
              </a:lnSpc>
              <a:spcBef>
                <a:spcPts val="0"/>
              </a:spcBef>
              <a:spcAft>
                <a:spcPts val="800"/>
              </a:spcAft>
              <a:buClr>
                <a:srgbClr val="000000"/>
              </a:buClr>
              <a:buSzPts val="1000"/>
              <a:buFont typeface="Arial"/>
              <a:buNone/>
            </a:pPr>
            <a:r>
              <a:rPr b="0" i="1" lang="en-GB" sz="1000" u="none" cap="none" strike="noStrike">
                <a:solidFill>
                  <a:srgbClr val="B7B7B7"/>
                </a:solidFill>
                <a:latin typeface="Arial"/>
                <a:ea typeface="Arial"/>
                <a:cs typeface="Arial"/>
                <a:sym typeface="Arial"/>
              </a:rPr>
              <a:t>Work in Progress - License: CC-BY-4.0</a:t>
            </a:r>
            <a:endParaRPr b="0" i="0" sz="600" u="none" cap="none" strike="noStrike">
              <a:solidFill>
                <a:srgbClr val="B7B7B7"/>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64"/>
          <p:cNvSpPr txBox="1"/>
          <p:nvPr>
            <p:ph type="ctrTitle"/>
          </p:nvPr>
        </p:nvSpPr>
        <p:spPr>
          <a:xfrm>
            <a:off x="319500" y="1783775"/>
            <a:ext cx="8505000" cy="1827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400"/>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g3ed1c26bf42_0_0"/>
          <p:cNvSpPr txBox="1"/>
          <p:nvPr>
            <p:ph type="title"/>
          </p:nvPr>
        </p:nvSpPr>
        <p:spPr>
          <a:xfrm>
            <a:off x="311700" y="55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do we need a hypervisor in </a:t>
            </a:r>
            <a:r>
              <a:rPr lang="en-GB"/>
              <a:t>safety</a:t>
            </a:r>
            <a:r>
              <a:rPr lang="en-GB"/>
              <a:t> critical </a:t>
            </a:r>
            <a:r>
              <a:rPr lang="en-GB">
                <a:extLst>
                  <a:ext uri="http://customooxmlschemas.google.com/">
                    <go:slidesCustomData xmlns:go="http://customooxmlschemas.google.com/" textRoundtripDataId="1"/>
                  </a:ext>
                </a:extLst>
              </a:rPr>
              <a:t>system</a:t>
            </a:r>
            <a:endParaRPr/>
          </a:p>
        </p:txBody>
      </p:sp>
      <p:sp>
        <p:nvSpPr>
          <p:cNvPr id="850" name="Google Shape;850;g3ed1c26bf42_0_0"/>
          <p:cNvSpPr txBox="1"/>
          <p:nvPr>
            <p:ph idx="1" type="body"/>
          </p:nvPr>
        </p:nvSpPr>
        <p:spPr>
          <a:xfrm>
            <a:off x="311700" y="703325"/>
            <a:ext cx="8520600" cy="386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851" name="Google Shape;851;g3ed1c26bf42_0_0" title="graph (1).png"/>
          <p:cNvPicPr preferRelativeResize="0"/>
          <p:nvPr/>
        </p:nvPicPr>
        <p:blipFill>
          <a:blip r:embed="rId3">
            <a:alphaModFix/>
          </a:blip>
          <a:stretch>
            <a:fillRect/>
          </a:stretch>
        </p:blipFill>
        <p:spPr>
          <a:xfrm>
            <a:off x="232900" y="574306"/>
            <a:ext cx="8599399" cy="43514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e8ad9642dd_0_13"/>
          <p:cNvSpPr txBox="1"/>
          <p:nvPr>
            <p:ph type="title"/>
          </p:nvPr>
        </p:nvSpPr>
        <p:spPr>
          <a:xfrm>
            <a:off x="311700" y="105479"/>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the different stakeholders take a part</a:t>
            </a:r>
            <a:endParaRPr/>
          </a:p>
        </p:txBody>
      </p:sp>
      <p:sp>
        <p:nvSpPr>
          <p:cNvPr id="857" name="Google Shape;857;g3e8ad9642dd_0_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858" name="Google Shape;858;g3e8ad9642dd_0_13" title="stakeholders.jpg"/>
          <p:cNvPicPr preferRelativeResize="0"/>
          <p:nvPr/>
        </p:nvPicPr>
        <p:blipFill>
          <a:blip r:embed="rId3">
            <a:alphaModFix/>
          </a:blip>
          <a:stretch>
            <a:fillRect/>
          </a:stretch>
        </p:blipFill>
        <p:spPr>
          <a:xfrm>
            <a:off x="0" y="679093"/>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Simple Light:3</vt:lpwstr>
  </property>
  <property fmtid="{D5CDD505-2E9C-101B-9397-08002B2CF9AE}" pid="3" name="ClassificationContentMarkingHeaderText">
    <vt:lpwstr>Public</vt:lpwstr>
  </property>
</Properties>
</file>